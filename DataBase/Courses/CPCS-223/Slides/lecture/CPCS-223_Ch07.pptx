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49" r:id="rId2"/>
    <p:sldId id="401" r:id="rId3"/>
    <p:sldId id="446" r:id="rId4"/>
    <p:sldId id="447" r:id="rId5"/>
    <p:sldId id="405" r:id="rId6"/>
    <p:sldId id="404" r:id="rId7"/>
    <p:sldId id="406" r:id="rId8"/>
    <p:sldId id="407" r:id="rId9"/>
    <p:sldId id="450" r:id="rId10"/>
    <p:sldId id="449" r:id="rId11"/>
    <p:sldId id="451" r:id="rId12"/>
    <p:sldId id="452" r:id="rId13"/>
    <p:sldId id="408" r:id="rId14"/>
    <p:sldId id="409" r:id="rId15"/>
    <p:sldId id="410" r:id="rId16"/>
    <p:sldId id="411" r:id="rId17"/>
    <p:sldId id="448" r:id="rId18"/>
    <p:sldId id="412" r:id="rId19"/>
    <p:sldId id="413" r:id="rId20"/>
    <p:sldId id="414" r:id="rId21"/>
    <p:sldId id="415" r:id="rId22"/>
    <p:sldId id="416" r:id="rId23"/>
    <p:sldId id="34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49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97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2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61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25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Instructor Dr. Muhammad Umair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CPCS 223</a:t>
            </a:r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2076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>
                <a:solidFill>
                  <a:srgbClr val="00823B"/>
                </a:solidFill>
              </a:rPr>
              <a:t>Algorithm Analysis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Recurrence</a:t>
            </a:r>
          </a:p>
          <a:p>
            <a:pPr algn="r"/>
            <a:r>
              <a:rPr lang="en-US" dirty="0">
                <a:solidFill>
                  <a:srgbClr val="0000FF"/>
                </a:solidFill>
              </a:rPr>
              <a:t>(Formal Analysis)</a:t>
            </a:r>
          </a:p>
        </p:txBody>
      </p:sp>
    </p:spTree>
    <p:extLst>
      <p:ext uri="{BB962C8B-B14F-4D97-AF65-F5344CB8AC3E}">
        <p14:creationId xmlns:p14="http://schemas.microsoft.com/office/powerpoint/2010/main" val="126824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33600"/>
            <a:ext cx="6248400" cy="3657600"/>
          </a:xfrm>
        </p:spPr>
        <p:txBody>
          <a:bodyPr>
            <a:normAutofit fontScale="70000" lnSpcReduction="2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823B"/>
                </a:solidFill>
              </a:rPr>
              <a:t>Iterative Algorithms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dirty="0">
                <a:solidFill>
                  <a:srgbClr val="00823B"/>
                </a:solidFill>
              </a:rPr>
              <a:t>RAM Model Analysis</a:t>
            </a:r>
          </a:p>
          <a:p>
            <a:r>
              <a:rPr lang="en-US" b="1" dirty="0">
                <a:solidFill>
                  <a:srgbClr val="0000FF"/>
                </a:solidFill>
              </a:rPr>
              <a:t>Recursive Algorithm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sz="2500" dirty="0">
                <a:solidFill>
                  <a:srgbClr val="00823B"/>
                </a:solidFill>
              </a:rPr>
              <a:t>Forwards Substitution Method</a:t>
            </a:r>
          </a:p>
          <a:p>
            <a:pPr lvl="2"/>
            <a:r>
              <a:rPr lang="en-US" sz="2500" dirty="0">
                <a:solidFill>
                  <a:srgbClr val="00823B"/>
                </a:solidFill>
              </a:rPr>
              <a:t>Backwards Substitution Method</a:t>
            </a:r>
          </a:p>
          <a:p>
            <a:pPr lvl="2"/>
            <a:r>
              <a:rPr lang="en-US" sz="2500" dirty="0">
                <a:solidFill>
                  <a:srgbClr val="00823B"/>
                </a:solidFill>
              </a:rPr>
              <a:t>Substitution Method</a:t>
            </a:r>
          </a:p>
          <a:p>
            <a:pPr lvl="2"/>
            <a:r>
              <a:rPr lang="en-US" sz="2500" b="1" dirty="0">
                <a:solidFill>
                  <a:srgbClr val="00B0F0"/>
                </a:solidFill>
              </a:rPr>
              <a:t>Recursion Tree Method</a:t>
            </a:r>
          </a:p>
          <a:p>
            <a:pPr lvl="2"/>
            <a:r>
              <a:rPr lang="en-US" sz="2500" dirty="0"/>
              <a:t>Master Theorem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7620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2"/>
                </a:solidFill>
              </a:rPr>
              <a:t>Merge Sort - </a:t>
            </a:r>
            <a:r>
              <a:rPr lang="en-US" sz="2800" b="1" dirty="0">
                <a:solidFill>
                  <a:srgbClr val="00B050"/>
                </a:solidFill>
              </a:rPr>
              <a:t>Recurrence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0" y="3760470"/>
            <a:ext cx="3400425" cy="26098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06" y="1981200"/>
            <a:ext cx="2604708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3981450" y="2057400"/>
            <a:ext cx="3181350" cy="951070"/>
            <a:chOff x="3981450" y="2057400"/>
            <a:chExt cx="3181350" cy="95107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81450" y="2057400"/>
              <a:ext cx="571500" cy="27622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14887" y="2075020"/>
              <a:ext cx="390525" cy="22860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72250" y="2084545"/>
              <a:ext cx="590550" cy="21907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72250" y="2817970"/>
              <a:ext cx="533400" cy="19050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10075" y="2535456"/>
              <a:ext cx="142875" cy="14287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53087" y="2468780"/>
              <a:ext cx="723900" cy="2762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62486" y="2468780"/>
              <a:ext cx="695325" cy="27622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95911" y="2514600"/>
              <a:ext cx="219075" cy="180975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19850" y="2495550"/>
              <a:ext cx="581025" cy="257175"/>
            </a:xfrm>
            <a:prstGeom prst="rect">
              <a:avLst/>
            </a:prstGeom>
          </p:spPr>
        </p:pic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4362" y="3228975"/>
            <a:ext cx="24574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6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017894C-24EF-46C6-A6DD-81D561BFFDF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13449"/>
            <a:ext cx="6248400" cy="69155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dirty="0"/>
              <a:t>Steps for </a:t>
            </a:r>
            <a:r>
              <a:rPr lang="en-US" sz="3600" b="1"/>
              <a:t>Recursion Tree </a:t>
            </a:r>
            <a:r>
              <a:rPr lang="en-US" sz="3600" b="1" dirty="0"/>
              <a:t>Method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35192"/>
            <a:ext cx="7086600" cy="416080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b="1" dirty="0">
                <a:solidFill>
                  <a:srgbClr val="00B0F0"/>
                </a:solidFill>
              </a:rPr>
              <a:t>Construct</a:t>
            </a:r>
            <a:r>
              <a:rPr lang="en-US" sz="2400" dirty="0"/>
              <a:t> the Tree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Find the </a:t>
            </a:r>
            <a:r>
              <a:rPr lang="en-US" sz="2400" b="1" dirty="0">
                <a:solidFill>
                  <a:srgbClr val="00B0F0"/>
                </a:solidFill>
              </a:rPr>
              <a:t>problem size </a:t>
            </a:r>
            <a:r>
              <a:rPr lang="en-US" sz="2400" dirty="0"/>
              <a:t>on each level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Determine the </a:t>
            </a:r>
            <a:r>
              <a:rPr lang="en-US" sz="2400" b="1" dirty="0">
                <a:solidFill>
                  <a:srgbClr val="00B0F0"/>
                </a:solidFill>
              </a:rPr>
              <a:t>cost </a:t>
            </a:r>
            <a:r>
              <a:rPr lang="en-US" sz="2400" dirty="0"/>
              <a:t>for each node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Find </a:t>
            </a:r>
            <a:r>
              <a:rPr lang="en-US" sz="2400" b="1" dirty="0">
                <a:solidFill>
                  <a:srgbClr val="00B0F0"/>
                </a:solidFill>
              </a:rPr>
              <a:t>no. of nodes </a:t>
            </a:r>
            <a:r>
              <a:rPr lang="en-US" sz="2400" dirty="0"/>
              <a:t>on each Level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Determine the </a:t>
            </a:r>
            <a:r>
              <a:rPr lang="en-US" sz="2400" b="1" dirty="0">
                <a:solidFill>
                  <a:srgbClr val="00B0F0"/>
                </a:solidFill>
              </a:rPr>
              <a:t>cost of each level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Determine the </a:t>
            </a:r>
            <a:r>
              <a:rPr lang="en-US" sz="2400" b="1" dirty="0">
                <a:solidFill>
                  <a:srgbClr val="00B0F0"/>
                </a:solidFill>
              </a:rPr>
              <a:t>total no. of levels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Determine the </a:t>
            </a:r>
            <a:r>
              <a:rPr lang="en-US" sz="2400" b="1" dirty="0">
                <a:solidFill>
                  <a:srgbClr val="00B0F0"/>
                </a:solidFill>
              </a:rPr>
              <a:t>last level </a:t>
            </a:r>
            <a:r>
              <a:rPr lang="en-US" sz="2400" dirty="0"/>
              <a:t>and its </a:t>
            </a:r>
            <a:r>
              <a:rPr lang="en-US" sz="2400" b="1" dirty="0">
                <a:solidFill>
                  <a:srgbClr val="00B0F0"/>
                </a:solidFill>
              </a:rPr>
              <a:t>cost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>
                <a:solidFill>
                  <a:srgbClr val="00B0F0"/>
                </a:solidFill>
              </a:rPr>
              <a:t>Sum </a:t>
            </a:r>
            <a:r>
              <a:rPr lang="en-US" sz="2400" dirty="0"/>
              <a:t>the cost of each level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>
                <a:solidFill>
                  <a:srgbClr val="00B0F0"/>
                </a:solidFill>
              </a:rPr>
              <a:t>Verify </a:t>
            </a:r>
            <a:r>
              <a:rPr lang="en-US" sz="2400" dirty="0"/>
              <a:t>the results with help of Substitution Method</a:t>
            </a:r>
          </a:p>
        </p:txBody>
      </p:sp>
    </p:spTree>
    <p:extLst>
      <p:ext uri="{BB962C8B-B14F-4D97-AF65-F5344CB8AC3E}">
        <p14:creationId xmlns:p14="http://schemas.microsoft.com/office/powerpoint/2010/main" val="21757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Recurrence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6" y="3929062"/>
            <a:ext cx="3619500" cy="828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438400"/>
            <a:ext cx="3807779" cy="1143000"/>
          </a:xfrm>
          <a:prstGeom prst="rect">
            <a:avLst/>
          </a:prstGeom>
          <a:ln w="28575">
            <a:solidFill>
              <a:srgbClr val="00823B"/>
            </a:solidFill>
          </a:ln>
        </p:spPr>
      </p:pic>
    </p:spTree>
    <p:extLst>
      <p:ext uri="{BB962C8B-B14F-4D97-AF65-F5344CB8AC3E}">
        <p14:creationId xmlns:p14="http://schemas.microsoft.com/office/powerpoint/2010/main" val="141557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219200"/>
            <a:ext cx="7010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Recursion Tree - </a:t>
            </a:r>
            <a:r>
              <a:rPr lang="en-US" sz="2400" b="1" dirty="0">
                <a:solidFill>
                  <a:srgbClr val="00823B"/>
                </a:solidFill>
              </a:rPr>
              <a:t>T(n) = 2 T(n/2) + c</a:t>
            </a:r>
            <a:r>
              <a:rPr lang="en-US" sz="2400" b="1" baseline="-25000" dirty="0">
                <a:solidFill>
                  <a:srgbClr val="00823B"/>
                </a:solidFill>
              </a:rPr>
              <a:t>2</a:t>
            </a:r>
            <a:r>
              <a:rPr lang="en-US" sz="2400" b="1" dirty="0">
                <a:solidFill>
                  <a:srgbClr val="00823B"/>
                </a:solidFill>
              </a:rPr>
              <a:t>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981200"/>
            <a:ext cx="991569" cy="8293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2133600"/>
            <a:ext cx="1685925" cy="1685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2133600"/>
            <a:ext cx="35623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4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</a:t>
            </a:r>
            <a:r>
              <a:rPr lang="en-US" sz="3600" dirty="0"/>
              <a:t>Tree</a:t>
            </a:r>
            <a:r>
              <a:rPr lang="en-US" sz="2400" dirty="0"/>
              <a:t>(T(n) = 2 T(n/2) + </a:t>
            </a:r>
            <a:r>
              <a:rPr lang="en-US" sz="2400" dirty="0" err="1"/>
              <a:t>cn</a:t>
            </a:r>
            <a:r>
              <a:rPr lang="en-US" sz="2400" dirty="0"/>
              <a:t>)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4461" r="10017"/>
          <a:stretch>
            <a:fillRect/>
          </a:stretch>
        </p:blipFill>
        <p:spPr>
          <a:xfrm>
            <a:off x="990600" y="2206296"/>
            <a:ext cx="35814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46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A1B61-0A29-B48C-3800-C0371FCB9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093C-9802-B33B-0D56-6BFBBB07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</a:t>
            </a:r>
            <a:r>
              <a:rPr lang="en-US" sz="3600" dirty="0"/>
              <a:t>Tree</a:t>
            </a:r>
            <a:r>
              <a:rPr lang="en-US" sz="2400" dirty="0"/>
              <a:t>(T(n) = 2 T(n/2) + </a:t>
            </a:r>
            <a:r>
              <a:rPr lang="en-US" sz="2400" dirty="0" err="1"/>
              <a:t>cn</a:t>
            </a:r>
            <a:r>
              <a:rPr lang="en-US" sz="2400" dirty="0"/>
              <a:t>)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616BE-7770-678C-458E-8D27E944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FDE0C4-7CA0-842D-A16C-5CCCC2EC6A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54"/>
          <a:stretch>
            <a:fillRect/>
          </a:stretch>
        </p:blipFill>
        <p:spPr>
          <a:xfrm>
            <a:off x="914400" y="2206296"/>
            <a:ext cx="413262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65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F07DF-BBC7-91E6-CC2E-6783F3369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B82C-B475-C926-5D6B-E2A962E1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</a:t>
            </a:r>
            <a:r>
              <a:rPr lang="en-US" sz="3600" dirty="0"/>
              <a:t>Tree</a:t>
            </a:r>
            <a:r>
              <a:rPr lang="en-US" sz="2400" dirty="0"/>
              <a:t>(T(n) = 2 T(n/2) + </a:t>
            </a:r>
            <a:r>
              <a:rPr lang="en-US" sz="2400" dirty="0" err="1"/>
              <a:t>cn</a:t>
            </a:r>
            <a:r>
              <a:rPr lang="en-US" sz="2400" dirty="0"/>
              <a:t>)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87FB5F-7CAE-97C5-33DC-7797ABAE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60218B-0D41-5681-BA5E-A85800657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06296"/>
            <a:ext cx="474222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23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D1856-39A4-0EE9-912D-3A236896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13F3-1CE2-69D2-C2CC-031066A3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</a:t>
            </a:r>
            <a:r>
              <a:rPr lang="en-US" sz="3600" dirty="0"/>
              <a:t>Tree</a:t>
            </a:r>
            <a:r>
              <a:rPr lang="en-US" sz="2400" dirty="0"/>
              <a:t>(T(n) = 2 T(n/2) + </a:t>
            </a:r>
            <a:r>
              <a:rPr lang="en-US" sz="2400" dirty="0" err="1"/>
              <a:t>cn</a:t>
            </a:r>
            <a:r>
              <a:rPr lang="en-US" sz="2400" dirty="0"/>
              <a:t>)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95E09-10E0-5D60-A394-A78BF6E82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F96C21-95DA-C3E3-5666-6C4321CBE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06296"/>
            <a:ext cx="4742228" cy="426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C337E9-0729-D6C9-70CB-652AB3A13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3643312"/>
            <a:ext cx="2238375" cy="466725"/>
          </a:xfrm>
          <a:prstGeom prst="rect">
            <a:avLst/>
          </a:prstGeom>
          <a:ln w="28575">
            <a:solidFill>
              <a:srgbClr val="00823B"/>
            </a:solidFill>
          </a:ln>
        </p:spPr>
      </p:pic>
    </p:spTree>
    <p:extLst>
      <p:ext uri="{BB962C8B-B14F-4D97-AF65-F5344CB8AC3E}">
        <p14:creationId xmlns:p14="http://schemas.microsoft.com/office/powerpoint/2010/main" val="3267009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5A39-8C97-D56D-53C6-63482B7D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57400-593E-FA27-5592-98B64A2D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</a:t>
            </a:r>
            <a:r>
              <a:rPr lang="en-US" sz="3600" dirty="0"/>
              <a:t>Tree</a:t>
            </a:r>
            <a:r>
              <a:rPr lang="en-US" sz="2400" dirty="0"/>
              <a:t>(T(n) = 2 T(n/2) + </a:t>
            </a:r>
            <a:r>
              <a:rPr lang="en-US" sz="2400" dirty="0" err="1"/>
              <a:t>cn</a:t>
            </a:r>
            <a:r>
              <a:rPr lang="en-US" sz="2400" dirty="0"/>
              <a:t>)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6BF5A-8671-0D39-194F-05CF6DE2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7724F-7F55-1464-824D-B33A2F0A9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06296"/>
            <a:ext cx="4742228" cy="426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FE4C40-831A-324B-82FC-F9F9203CE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3643312"/>
            <a:ext cx="2238375" cy="466725"/>
          </a:xfrm>
          <a:prstGeom prst="rect">
            <a:avLst/>
          </a:prstGeom>
          <a:ln w="28575">
            <a:solidFill>
              <a:srgbClr val="00823B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E18A45-E483-6A1B-3167-A93709F55ED8}"/>
              </a:ext>
            </a:extLst>
          </p:cNvPr>
          <p:cNvSpPr txBox="1"/>
          <p:nvPr/>
        </p:nvSpPr>
        <p:spPr>
          <a:xfrm>
            <a:off x="5005387" y="4835523"/>
            <a:ext cx="289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(n) = </a:t>
            </a:r>
            <a:r>
              <a:rPr lang="el-GR" sz="28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8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 lg n)</a:t>
            </a:r>
          </a:p>
        </p:txBody>
      </p:sp>
    </p:spTree>
    <p:extLst>
      <p:ext uri="{BB962C8B-B14F-4D97-AF65-F5344CB8AC3E}">
        <p14:creationId xmlns:p14="http://schemas.microsoft.com/office/powerpoint/2010/main" val="3190890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Recursion Tree Method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T(n) = 3 T (n/4) + </a:t>
            </a:r>
            <a:r>
              <a:rPr lang="el-GR" dirty="0">
                <a:cs typeface="Arial" charset="0"/>
              </a:rPr>
              <a:t>Θ</a:t>
            </a:r>
            <a:r>
              <a:rPr lang="en-US" dirty="0">
                <a:cs typeface="Arial" charset="0"/>
              </a:rPr>
              <a:t>(</a:t>
            </a:r>
            <a:r>
              <a:rPr lang="en-US" dirty="0"/>
              <a:t>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eaLnBrk="1" hangingPunct="1"/>
            <a:endParaRPr lang="en-US" baseline="30000" dirty="0"/>
          </a:p>
          <a:p>
            <a:pPr eaLnBrk="1" hangingPunct="1"/>
            <a:endParaRPr lang="en-US" baseline="30000" dirty="0"/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91AD8D5-AE5F-4D2E-9F7B-F457B16F90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13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219200"/>
            <a:ext cx="72390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Recursion Tree – </a:t>
            </a:r>
            <a:r>
              <a:rPr lang="en-US" sz="2700" b="1" dirty="0">
                <a:solidFill>
                  <a:srgbClr val="00823B"/>
                </a:solidFill>
              </a:rPr>
              <a:t>T(n) = 3 T(n/4) + c n</a:t>
            </a:r>
            <a:r>
              <a:rPr lang="en-US" sz="2700" b="1" baseline="30000" dirty="0">
                <a:solidFill>
                  <a:srgbClr val="00823B"/>
                </a:solidFill>
              </a:rPr>
              <a:t>2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9209" y="2325226"/>
            <a:ext cx="1002990" cy="82786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209" y="1939665"/>
            <a:ext cx="2170113" cy="17199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641488"/>
            <a:ext cx="5893332" cy="268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3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2400" y="1219200"/>
            <a:ext cx="72390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Recursion Tree – </a:t>
            </a:r>
            <a:r>
              <a:rPr lang="en-US" sz="2700" b="1" dirty="0">
                <a:solidFill>
                  <a:srgbClr val="00823B"/>
                </a:solidFill>
              </a:rPr>
              <a:t>T(n) = 3 T(n/4) + c n</a:t>
            </a:r>
            <a:r>
              <a:rPr lang="en-US" sz="2700" b="1" baseline="30000" dirty="0">
                <a:solidFill>
                  <a:srgbClr val="00823B"/>
                </a:solidFill>
              </a:rPr>
              <a:t>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19" y="1905000"/>
            <a:ext cx="6996962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78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16</a:t>
            </a:fld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381000" y="1935192"/>
            <a:ext cx="7010400" cy="43132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Problem Size at level “</a:t>
            </a:r>
            <a:r>
              <a:rPr lang="en-US" dirty="0" err="1"/>
              <a:t>i</a:t>
            </a:r>
            <a:r>
              <a:rPr lang="en-US" dirty="0"/>
              <a:t>”</a:t>
            </a:r>
          </a:p>
          <a:p>
            <a:r>
              <a:rPr lang="en-US" sz="3200" dirty="0"/>
              <a:t>Cost of node at level “</a:t>
            </a:r>
            <a:r>
              <a:rPr lang="en-US" sz="3200" dirty="0" err="1"/>
              <a:t>i</a:t>
            </a:r>
            <a:r>
              <a:rPr lang="en-US" sz="3200" dirty="0"/>
              <a:t>”</a:t>
            </a:r>
          </a:p>
          <a:p>
            <a:r>
              <a:rPr lang="en-US" dirty="0"/>
              <a:t>No. of nodes at level “</a:t>
            </a:r>
            <a:r>
              <a:rPr lang="en-US" dirty="0" err="1"/>
              <a:t>i</a:t>
            </a:r>
            <a:r>
              <a:rPr lang="en-US" dirty="0"/>
              <a:t>”</a:t>
            </a:r>
          </a:p>
          <a:p>
            <a:r>
              <a:rPr lang="en-US" dirty="0"/>
              <a:t>Cost of level “</a:t>
            </a:r>
            <a:r>
              <a:rPr lang="en-US" dirty="0" err="1"/>
              <a:t>i</a:t>
            </a:r>
            <a:r>
              <a:rPr lang="en-US" dirty="0"/>
              <a:t>”</a:t>
            </a:r>
          </a:p>
          <a:p>
            <a:r>
              <a:rPr lang="en-US" dirty="0"/>
              <a:t>Last Level number</a:t>
            </a:r>
            <a:r>
              <a:rPr lang="en-US" sz="1650" dirty="0"/>
              <a:t>			</a:t>
            </a:r>
            <a:endParaRPr lang="en-US" sz="4500" dirty="0"/>
          </a:p>
          <a:p>
            <a:r>
              <a:rPr lang="en-US" dirty="0"/>
              <a:t>No. of nodes at last Level</a:t>
            </a:r>
            <a:r>
              <a:rPr lang="en-US" sz="1650" dirty="0"/>
              <a:t>			</a:t>
            </a:r>
            <a:endParaRPr lang="en-US" sz="5100" dirty="0"/>
          </a:p>
          <a:p>
            <a:r>
              <a:rPr lang="en-US" dirty="0"/>
              <a:t>Cost of  last Level </a:t>
            </a:r>
          </a:p>
          <a:p>
            <a:pPr marL="918972" lvl="8" indent="0">
              <a:buNone/>
            </a:pPr>
            <a:r>
              <a:rPr lang="en-US" sz="1650" dirty="0"/>
              <a:t>			</a:t>
            </a:r>
            <a:endParaRPr lang="en-US" sz="5100" baseline="30000" dirty="0"/>
          </a:p>
          <a:p>
            <a:pPr marL="918972" lvl="8" indent="0">
              <a:buNone/>
            </a:pPr>
            <a:endParaRPr lang="en-US" sz="1650" baseline="30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370" y="4572000"/>
            <a:ext cx="1054813" cy="5003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111" y="5148560"/>
            <a:ext cx="1528072" cy="56644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52400" y="1219200"/>
            <a:ext cx="7239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Recursion Tree – </a:t>
            </a:r>
            <a:r>
              <a:rPr lang="en-US" sz="2700" b="1" dirty="0">
                <a:solidFill>
                  <a:srgbClr val="00823B"/>
                </a:solidFill>
              </a:rPr>
              <a:t>T(n) = 3 T(n/4) + c n</a:t>
            </a:r>
            <a:r>
              <a:rPr lang="en-US" sz="2700" b="1" baseline="30000" dirty="0">
                <a:solidFill>
                  <a:srgbClr val="00823B"/>
                </a:solidFill>
              </a:rPr>
              <a:t>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980" y="2006629"/>
            <a:ext cx="731203" cy="4476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192" y="2492404"/>
            <a:ext cx="1155991" cy="4286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3045" y="2959130"/>
            <a:ext cx="338138" cy="4851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8385" y="3488720"/>
            <a:ext cx="1412798" cy="3873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3933" y="4105275"/>
            <a:ext cx="85725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49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2400" y="1219200"/>
            <a:ext cx="7239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Recursion Tree – </a:t>
            </a:r>
            <a:r>
              <a:rPr lang="en-US" sz="2700" b="1" dirty="0">
                <a:solidFill>
                  <a:srgbClr val="00823B"/>
                </a:solidFill>
              </a:rPr>
              <a:t>T(n) = 3 T(n/4) + c n</a:t>
            </a:r>
            <a:r>
              <a:rPr lang="en-US" sz="2700" b="1" baseline="30000" dirty="0">
                <a:solidFill>
                  <a:srgbClr val="00823B"/>
                </a:solidFill>
              </a:rPr>
              <a:t>2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2133600"/>
            <a:ext cx="6995160" cy="366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79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736" y="4327207"/>
            <a:ext cx="2400300" cy="47863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981200"/>
            <a:ext cx="5786438" cy="6215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734" y="2593562"/>
            <a:ext cx="2600325" cy="6500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734" y="3225640"/>
            <a:ext cx="2743200" cy="55721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736" y="3782853"/>
            <a:ext cx="2400300" cy="59293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6734" y="4805838"/>
            <a:ext cx="1828800" cy="4786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200" y="4909422"/>
            <a:ext cx="821531" cy="271463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52400" y="1219200"/>
            <a:ext cx="7239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Recursion Tree – </a:t>
            </a:r>
            <a:r>
              <a:rPr lang="en-US" sz="2700" b="1" dirty="0">
                <a:solidFill>
                  <a:srgbClr val="00823B"/>
                </a:solidFill>
              </a:rPr>
              <a:t>T(n) = 3 T(n/4) + c n</a:t>
            </a:r>
            <a:r>
              <a:rPr lang="en-US" sz="2700" b="1" baseline="30000" dirty="0">
                <a:solidFill>
                  <a:srgbClr val="0082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1896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955" y="1905000"/>
            <a:ext cx="6248400" cy="3657600"/>
          </a:xfrm>
        </p:spPr>
        <p:txBody>
          <a:bodyPr/>
          <a:lstStyle/>
          <a:p>
            <a:r>
              <a:rPr lang="en-US" dirty="0"/>
              <a:t>Verification by Substitution Method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655" y="4953000"/>
            <a:ext cx="1377463" cy="38100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52400" y="1219200"/>
            <a:ext cx="7239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Recursion Tree – </a:t>
            </a:r>
            <a:r>
              <a:rPr lang="en-US" sz="2700" b="1" dirty="0">
                <a:solidFill>
                  <a:srgbClr val="00823B"/>
                </a:solidFill>
              </a:rPr>
              <a:t>T(n) = 3 T(n/4) + c n</a:t>
            </a:r>
            <a:r>
              <a:rPr lang="en-US" sz="2700" b="1" baseline="30000" dirty="0">
                <a:solidFill>
                  <a:srgbClr val="00823B"/>
                </a:solidFill>
              </a:rPr>
              <a:t>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095625"/>
            <a:ext cx="3286125" cy="2238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81200" y="5725180"/>
            <a:ext cx="289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(n) = O (n</a:t>
            </a:r>
            <a:r>
              <a:rPr lang="en-US" sz="2800" b="1" i="1" baseline="30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822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4800" dirty="0"/>
          </a:p>
          <a:p>
            <a:r>
              <a:rPr lang="en-US" sz="3600" dirty="0"/>
              <a:t>T(n) = T(n/3) + T (2n/3) + O(n)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8ECF-3DF8-4C36-BC7F-4D235A5E24B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81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algn="r"/>
            <a:fld id="{DA53DC40-2313-4B32-836B-F070A73BA2C1}" type="slidenum">
              <a:rPr lang="en-US" smtClean="0"/>
              <a:pPr algn="r"/>
              <a:t>21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08" y="1741564"/>
            <a:ext cx="6995160" cy="45830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90800" y="1191773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T(n) = T(n/3) + T (2n/3) + c n</a:t>
            </a:r>
          </a:p>
        </p:txBody>
      </p:sp>
    </p:spTree>
    <p:extLst>
      <p:ext uri="{BB962C8B-B14F-4D97-AF65-F5344CB8AC3E}">
        <p14:creationId xmlns:p14="http://schemas.microsoft.com/office/powerpoint/2010/main" val="2628569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590800" y="1191773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T(n) = T(n/3) + T (2n/3) + c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5280996"/>
            <a:ext cx="289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(n) = O (n lg n)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06575"/>
            <a:ext cx="661035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0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663</TotalTime>
  <Words>588</Words>
  <Application>Microsoft Macintosh PowerPoint</Application>
  <PresentationFormat>On-screen Show (4:3)</PresentationFormat>
  <Paragraphs>89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PowerPoint Presentation</vt:lpstr>
      <vt:lpstr>Algorithm Analysis</vt:lpstr>
      <vt:lpstr>Introduction</vt:lpstr>
      <vt:lpstr>Merge Sort - Recurrence</vt:lpstr>
      <vt:lpstr>Steps for Recursion Tree Method</vt:lpstr>
      <vt:lpstr>Merge Sort Recurrence</vt:lpstr>
      <vt:lpstr>Recursion Tree - T(n) = 2 T(n/2) + c2n</vt:lpstr>
      <vt:lpstr>Recursion Tree(T(n) = 2 T(n/2) + cn)</vt:lpstr>
      <vt:lpstr>Recursion Tree(T(n) = 2 T(n/2) + cn)</vt:lpstr>
      <vt:lpstr>Recursion Tree(T(n) = 2 T(n/2) + cn)</vt:lpstr>
      <vt:lpstr>Recursion Tree(T(n) = 2 T(n/2) + cn)</vt:lpstr>
      <vt:lpstr>Recursion Tree(T(n) = 2 T(n/2) + cn)</vt:lpstr>
      <vt:lpstr>Recursion Tree Method</vt:lpstr>
      <vt:lpstr>Recursion Tree – T(n) = 3 T(n/4) + c n2</vt:lpstr>
      <vt:lpstr>Recursion Tree – T(n) = 3 T(n/4) + c n2</vt:lpstr>
      <vt:lpstr>PowerPoint Presentation</vt:lpstr>
      <vt:lpstr>PowerPoint Presentation</vt:lpstr>
      <vt:lpstr>PowerPoint Presentation</vt:lpstr>
      <vt:lpstr>PowerPoint Presentation</vt:lpstr>
      <vt:lpstr>Recursion Tree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Muhammad Umair</cp:lastModifiedBy>
  <cp:revision>181</cp:revision>
  <cp:lastPrinted>2021-02-14T06:18:41Z</cp:lastPrinted>
  <dcterms:created xsi:type="dcterms:W3CDTF">2018-06-20T09:11:51Z</dcterms:created>
  <dcterms:modified xsi:type="dcterms:W3CDTF">2026-02-12T08:01:22Z</dcterms:modified>
</cp:coreProperties>
</file>