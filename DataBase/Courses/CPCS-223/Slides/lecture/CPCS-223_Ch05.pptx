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3"/>
  </p:notesMasterIdLst>
  <p:handoutMasterIdLst>
    <p:handoutMasterId r:id="rId64"/>
  </p:handoutMasterIdLst>
  <p:sldIdLst>
    <p:sldId id="349" r:id="rId2"/>
    <p:sldId id="350" r:id="rId3"/>
    <p:sldId id="505" r:id="rId4"/>
    <p:sldId id="351" r:id="rId5"/>
    <p:sldId id="352" r:id="rId6"/>
    <p:sldId id="399" r:id="rId7"/>
    <p:sldId id="353" r:id="rId8"/>
    <p:sldId id="354" r:id="rId9"/>
    <p:sldId id="506" r:id="rId10"/>
    <p:sldId id="400" r:id="rId11"/>
    <p:sldId id="356" r:id="rId12"/>
    <p:sldId id="357" r:id="rId13"/>
    <p:sldId id="358" r:id="rId14"/>
    <p:sldId id="359" r:id="rId15"/>
    <p:sldId id="360" r:id="rId16"/>
    <p:sldId id="361" r:id="rId17"/>
    <p:sldId id="504" r:id="rId18"/>
    <p:sldId id="398" r:id="rId19"/>
    <p:sldId id="515" r:id="rId20"/>
    <p:sldId id="516" r:id="rId21"/>
    <p:sldId id="517" r:id="rId22"/>
    <p:sldId id="518" r:id="rId23"/>
    <p:sldId id="509" r:id="rId24"/>
    <p:sldId id="511" r:id="rId25"/>
    <p:sldId id="514" r:id="rId26"/>
    <p:sldId id="513" r:id="rId27"/>
    <p:sldId id="508" r:id="rId28"/>
    <p:sldId id="510" r:id="rId29"/>
    <p:sldId id="402" r:id="rId30"/>
    <p:sldId id="519" r:id="rId31"/>
    <p:sldId id="368" r:id="rId32"/>
    <p:sldId id="369" r:id="rId33"/>
    <p:sldId id="370" r:id="rId34"/>
    <p:sldId id="371" r:id="rId35"/>
    <p:sldId id="372" r:id="rId36"/>
    <p:sldId id="373" r:id="rId37"/>
    <p:sldId id="374" r:id="rId38"/>
    <p:sldId id="403" r:id="rId39"/>
    <p:sldId id="404" r:id="rId40"/>
    <p:sldId id="405" r:id="rId41"/>
    <p:sldId id="406" r:id="rId42"/>
    <p:sldId id="407" r:id="rId43"/>
    <p:sldId id="408" r:id="rId44"/>
    <p:sldId id="409" r:id="rId45"/>
    <p:sldId id="410" r:id="rId46"/>
    <p:sldId id="426" r:id="rId47"/>
    <p:sldId id="438" r:id="rId48"/>
    <p:sldId id="413" r:id="rId49"/>
    <p:sldId id="414" r:id="rId50"/>
    <p:sldId id="415" r:id="rId51"/>
    <p:sldId id="416" r:id="rId52"/>
    <p:sldId id="417" r:id="rId53"/>
    <p:sldId id="520" r:id="rId54"/>
    <p:sldId id="418" r:id="rId55"/>
    <p:sldId id="419" r:id="rId56"/>
    <p:sldId id="420" r:id="rId57"/>
    <p:sldId id="421" r:id="rId58"/>
    <p:sldId id="422" r:id="rId59"/>
    <p:sldId id="375" r:id="rId60"/>
    <p:sldId id="376" r:id="rId61"/>
    <p:sldId id="348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68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49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41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91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16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73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22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36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145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372" indent="-302066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265" indent="-241653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571" indent="-241653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8" indent="-241653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84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490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796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8102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50F8DF29-74C7-44C2-92D8-DAB8000726B9}" type="slidenum">
              <a:rPr lang="en-US" altLang="en-US" sz="1300"/>
              <a:pPr algn="r"/>
              <a:t>44</a:t>
            </a:fld>
            <a:endParaRPr lang="en-US" altLang="en-US" sz="130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1655235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372" indent="-302066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265" indent="-241653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571" indent="-241653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8" indent="-241653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84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490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796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8102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C0598144-3317-4BBC-BD5D-2DAA360047C3}" type="slidenum">
              <a:rPr lang="en-US" altLang="en-US" sz="1300"/>
              <a:pPr algn="r"/>
              <a:t>46</a:t>
            </a:fld>
            <a:endParaRPr lang="en-US" altLang="en-US" sz="13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554064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372" indent="-302066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265" indent="-241653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571" indent="-241653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8" indent="-241653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84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490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796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8102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C0598144-3317-4BBC-BD5D-2DAA360047C3}" type="slidenum">
              <a:rPr lang="en-US" altLang="en-US" sz="1300"/>
              <a:pPr algn="r"/>
              <a:t>47</a:t>
            </a:fld>
            <a:endParaRPr lang="en-US" altLang="en-US" sz="130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738460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63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81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372" indent="-302066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265" indent="-241653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571" indent="-241653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8" indent="-241653" algn="ctr" defTabSz="1021992"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84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490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796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8102" indent="-241653" algn="ctr" defTabSz="1021992" eaLnBrk="0" fontAlgn="base" hangingPunct="0">
              <a:spcBef>
                <a:spcPct val="0"/>
              </a:spcBef>
              <a:spcAft>
                <a:spcPct val="0"/>
              </a:spcAft>
              <a:defRPr sz="25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7087250-C945-4D62-9B29-BE749FBC0D72}" type="slidenum">
              <a:rPr lang="en-US" altLang="en-US" sz="1300"/>
              <a:pPr algn="r"/>
              <a:t>52</a:t>
            </a:fld>
            <a:endParaRPr lang="en-US" altLang="en-US" sz="130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917119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608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151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492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June 12-16,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Dr. Muhammad Umair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  <a:ex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Instructor Dr. Muhammad Umair</a:t>
            </a:r>
            <a:endParaRPr lang="en-US" sz="1400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 smtClean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 smtClean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 smtClean="0"/>
              <a:t>CPCS 223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 smtClean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 smtClean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2076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Algorithm Analysis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>
            <a:normAutofit lnSpcReduction="10000"/>
          </a:bodyPr>
          <a:lstStyle/>
          <a:p>
            <a:pPr algn="r"/>
            <a:r>
              <a:rPr lang="en-US" dirty="0" smtClean="0"/>
              <a:t>Introduction</a:t>
            </a:r>
          </a:p>
          <a:p>
            <a:pPr algn="r"/>
            <a:r>
              <a:rPr lang="en-US" sz="7200" b="1" dirty="0" smtClean="0">
                <a:solidFill>
                  <a:srgbClr val="0000FF"/>
                </a:solidFill>
              </a:rPr>
              <a:t>Recursive</a:t>
            </a:r>
            <a:endParaRPr lang="en-US" sz="7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758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33600"/>
            <a:ext cx="6248400" cy="4191000"/>
          </a:xfrm>
        </p:spPr>
        <p:txBody>
          <a:bodyPr>
            <a:normAutofit fontScale="85000" lnSpcReduction="20000"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823B"/>
                </a:solidFill>
              </a:rPr>
              <a:t>Iterative Algorithms</a:t>
            </a:r>
          </a:p>
          <a:p>
            <a:pPr lvl="1"/>
            <a:r>
              <a:rPr lang="en-US" dirty="0" smtClean="0">
                <a:solidFill>
                  <a:srgbClr val="00823B"/>
                </a:solidFill>
              </a:rPr>
              <a:t>Informal Analysis</a:t>
            </a:r>
          </a:p>
          <a:p>
            <a:pPr lvl="1"/>
            <a:r>
              <a:rPr lang="en-US" dirty="0" smtClean="0">
                <a:solidFill>
                  <a:srgbClr val="00823B"/>
                </a:solidFill>
              </a:rPr>
              <a:t>Formal Analysis</a:t>
            </a:r>
          </a:p>
          <a:p>
            <a:pPr lvl="2"/>
            <a:r>
              <a:rPr lang="en-US" dirty="0" smtClean="0">
                <a:solidFill>
                  <a:srgbClr val="00823B"/>
                </a:solidFill>
              </a:rPr>
              <a:t>RAM Model Analysis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Recursive Algorithm</a:t>
            </a:r>
          </a:p>
          <a:p>
            <a:pPr lvl="1"/>
            <a:r>
              <a:rPr lang="en-US" dirty="0"/>
              <a:t>Informal Analysis</a:t>
            </a:r>
          </a:p>
          <a:p>
            <a:pPr lvl="1"/>
            <a:r>
              <a:rPr lang="en-US" dirty="0"/>
              <a:t>Formal Analysis</a:t>
            </a:r>
          </a:p>
          <a:p>
            <a:pPr lvl="2"/>
            <a:r>
              <a:rPr lang="en-US" sz="2500" dirty="0" smtClean="0"/>
              <a:t>Forward Substitution Method</a:t>
            </a:r>
          </a:p>
          <a:p>
            <a:pPr lvl="2"/>
            <a:r>
              <a:rPr lang="en-US" sz="2500" dirty="0" smtClean="0"/>
              <a:t>Backwards </a:t>
            </a:r>
            <a:r>
              <a:rPr lang="en-US" sz="2500" dirty="0"/>
              <a:t>Substitution Method</a:t>
            </a:r>
          </a:p>
          <a:p>
            <a:pPr lvl="2"/>
            <a:r>
              <a:rPr lang="en-US" dirty="0" smtClean="0"/>
              <a:t>Substitution Method</a:t>
            </a:r>
          </a:p>
          <a:p>
            <a:pPr lvl="2"/>
            <a:r>
              <a:rPr lang="en-US" dirty="0" smtClean="0"/>
              <a:t>Recursion Tree Method</a:t>
            </a:r>
          </a:p>
          <a:p>
            <a:pPr lvl="2"/>
            <a:r>
              <a:rPr lang="en-US" dirty="0" smtClean="0"/>
              <a:t>Master Theorem Method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17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Plan for Analysis of Recursive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Decide on  a </a:t>
            </a:r>
            <a:r>
              <a:rPr lang="en-US" b="1" dirty="0">
                <a:solidFill>
                  <a:srgbClr val="0000FF"/>
                </a:solidFill>
              </a:rPr>
              <a:t>parameter</a:t>
            </a:r>
            <a:r>
              <a:rPr lang="en-US" dirty="0"/>
              <a:t> indicating an input’s size.</a:t>
            </a:r>
            <a:endParaRPr lang="en-US" dirty="0" smtClean="0"/>
          </a:p>
          <a:p>
            <a:pPr algn="just">
              <a:lnSpc>
                <a:spcPct val="80000"/>
              </a:lnSpc>
              <a:defRPr/>
            </a:pPr>
            <a:r>
              <a:rPr lang="en-US" dirty="0"/>
              <a:t>Identify the algorithm’s basic </a:t>
            </a:r>
            <a:r>
              <a:rPr lang="en-US" b="1" dirty="0" smtClean="0">
                <a:solidFill>
                  <a:srgbClr val="0000FF"/>
                </a:solidFill>
              </a:rPr>
              <a:t>operation</a:t>
            </a:r>
            <a:r>
              <a:rPr lang="en-US" dirty="0" smtClean="0"/>
              <a:t>.</a:t>
            </a:r>
          </a:p>
          <a:p>
            <a:pPr algn="just">
              <a:lnSpc>
                <a:spcPct val="80000"/>
              </a:lnSpc>
              <a:defRPr/>
            </a:pPr>
            <a:r>
              <a:rPr lang="en-US" dirty="0" smtClean="0"/>
              <a:t>Check </a:t>
            </a:r>
            <a:r>
              <a:rPr lang="en-US" dirty="0"/>
              <a:t>whether the </a:t>
            </a:r>
            <a:r>
              <a:rPr lang="en-US" b="1" dirty="0">
                <a:solidFill>
                  <a:srgbClr val="0000FF"/>
                </a:solidFill>
              </a:rPr>
              <a:t>number of times </a:t>
            </a:r>
            <a:r>
              <a:rPr lang="en-US" dirty="0"/>
              <a:t>the basic op. is executed may </a:t>
            </a:r>
            <a:r>
              <a:rPr lang="en-US" b="1" dirty="0">
                <a:solidFill>
                  <a:srgbClr val="0000FF"/>
                </a:solidFill>
              </a:rPr>
              <a:t>vary </a:t>
            </a:r>
            <a:r>
              <a:rPr lang="en-US" dirty="0"/>
              <a:t>on different inputs of the same size.  (If it may, the worst, average, and best cases must be investigated separately</a:t>
            </a:r>
            <a:r>
              <a:rPr lang="en-US" dirty="0" smtClean="0"/>
              <a:t>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1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Plan for Analysis of Recursive </a:t>
            </a:r>
            <a:r>
              <a:rPr lang="en-US" dirty="0" smtClean="0"/>
              <a:t>Algorithms - </a:t>
            </a:r>
            <a:r>
              <a:rPr lang="en-US" sz="2700" b="1" dirty="0" smtClean="0">
                <a:solidFill>
                  <a:srgbClr val="00823B"/>
                </a:solidFill>
              </a:rPr>
              <a:t>continued</a:t>
            </a:r>
            <a:endParaRPr lang="en-US" sz="2700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80000"/>
              </a:lnSpc>
              <a:defRPr/>
            </a:pPr>
            <a:r>
              <a:rPr lang="en-US" dirty="0"/>
              <a:t>Set up a </a:t>
            </a:r>
            <a:r>
              <a:rPr lang="en-US" b="1" dirty="0">
                <a:solidFill>
                  <a:srgbClr val="0000FF"/>
                </a:solidFill>
              </a:rPr>
              <a:t>recurrence relation </a:t>
            </a:r>
            <a:r>
              <a:rPr lang="en-US" dirty="0"/>
              <a:t>with an appropriate initial condition expressing the number of times the basic op. is executed.</a:t>
            </a:r>
            <a:br>
              <a:rPr lang="en-US" dirty="0"/>
            </a:br>
            <a:endParaRPr lang="en-US" dirty="0"/>
          </a:p>
          <a:p>
            <a:pPr algn="just">
              <a:lnSpc>
                <a:spcPct val="80000"/>
              </a:lnSpc>
              <a:defRPr/>
            </a:pPr>
            <a:r>
              <a:rPr lang="en-US" b="1" dirty="0">
                <a:solidFill>
                  <a:srgbClr val="0000FF"/>
                </a:solidFill>
              </a:rPr>
              <a:t>Solve </a:t>
            </a:r>
            <a:r>
              <a:rPr lang="en-US" dirty="0"/>
              <a:t>the recurrence (or, at the very least, establish its solution’s order of growth) by backward substitutions or another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6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Recurrence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Introduction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84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Recurrence - </a:t>
            </a:r>
            <a:r>
              <a:rPr lang="en-US" b="1" dirty="0" smtClean="0">
                <a:solidFill>
                  <a:srgbClr val="00823B"/>
                </a:solidFill>
              </a:rPr>
              <a:t>Introduction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/>
            <a:r>
              <a:rPr lang="en-US" dirty="0"/>
              <a:t>“It is an equation or inequality that describe a function in terms of its value on smaller input”</a:t>
            </a:r>
          </a:p>
          <a:p>
            <a:pPr marL="342900" indent="-342900" algn="just"/>
            <a:endParaRPr lang="en-GB" b="1" dirty="0">
              <a:cs typeface="Times New Roman" charset="0"/>
            </a:endParaRPr>
          </a:p>
          <a:p>
            <a:pPr marL="342900" indent="-342900" algn="just"/>
            <a:r>
              <a:rPr lang="en-GB" b="1" dirty="0">
                <a:cs typeface="Times New Roman" charset="0"/>
              </a:rPr>
              <a:t>T (n) = a T (n/b) + f (n)</a:t>
            </a:r>
          </a:p>
          <a:p>
            <a:pPr marL="342900" indent="-342900" algn="just"/>
            <a:endParaRPr lang="en-GB" b="1" dirty="0">
              <a:cs typeface="Times New Roman" charset="0"/>
            </a:endParaRPr>
          </a:p>
          <a:p>
            <a:pPr marL="617220" lvl="1" indent="-342900" algn="just"/>
            <a:r>
              <a:rPr lang="en-GB" b="1" dirty="0">
                <a:cs typeface="Times New Roman" charset="0"/>
              </a:rPr>
              <a:t>n = size of input</a:t>
            </a:r>
          </a:p>
          <a:p>
            <a:pPr marL="617220" lvl="1" indent="-342900" algn="just"/>
            <a:r>
              <a:rPr lang="en-GB" b="1" dirty="0">
                <a:cs typeface="Times New Roman" charset="0"/>
              </a:rPr>
              <a:t>a = no. of sub-problems</a:t>
            </a:r>
          </a:p>
          <a:p>
            <a:pPr marL="617220" lvl="1" indent="-342900" algn="just"/>
            <a:r>
              <a:rPr lang="en-GB" b="1" dirty="0">
                <a:cs typeface="Times New Roman" charset="0"/>
              </a:rPr>
              <a:t>b = value to yield n / b problem size</a:t>
            </a:r>
          </a:p>
          <a:p>
            <a:pPr marL="617220" lvl="1" indent="-342900" algn="just"/>
            <a:r>
              <a:rPr lang="en-GB" b="1" dirty="0">
                <a:cs typeface="Times New Roman" charset="0"/>
              </a:rPr>
              <a:t>a &gt;= 1 and b &gt; 1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08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Recurrence - </a:t>
            </a:r>
            <a:r>
              <a:rPr lang="en-US" b="1" dirty="0" smtClean="0">
                <a:solidFill>
                  <a:srgbClr val="00823B"/>
                </a:solidFill>
              </a:rPr>
              <a:t>Examples</a:t>
            </a:r>
            <a:endParaRPr lang="en-US" b="1" dirty="0">
              <a:solidFill>
                <a:srgbClr val="00823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/>
            <a:r>
              <a:rPr lang="en-US" dirty="0" smtClean="0">
                <a:cs typeface="Times New Roman" charset="0"/>
              </a:rPr>
              <a:t>Merge Sort</a:t>
            </a:r>
          </a:p>
          <a:p>
            <a:pPr lvl="1"/>
            <a:r>
              <a:rPr lang="en-US" dirty="0" smtClean="0">
                <a:cs typeface="Times New Roman" charset="0"/>
              </a:rPr>
              <a:t>T(n) = 2T(n/2) + </a:t>
            </a:r>
            <a:r>
              <a:rPr lang="el-GR" dirty="0" smtClean="0">
                <a:cs typeface="Arial" charset="0"/>
              </a:rPr>
              <a:t>Θ</a:t>
            </a:r>
            <a:r>
              <a:rPr lang="en-US" dirty="0" smtClean="0">
                <a:cs typeface="Arial" charset="0"/>
              </a:rPr>
              <a:t> (n)</a:t>
            </a:r>
          </a:p>
          <a:p>
            <a:r>
              <a:rPr lang="en-US" dirty="0" smtClean="0">
                <a:cs typeface="Arial" charset="0"/>
              </a:rPr>
              <a:t>Quick Sort</a:t>
            </a:r>
          </a:p>
          <a:p>
            <a:pPr lvl="1"/>
            <a:r>
              <a:rPr lang="en-US" dirty="0"/>
              <a:t>T(n) = T(0)+T(n-1)+</a:t>
            </a:r>
            <a:r>
              <a:rPr lang="el-GR" dirty="0"/>
              <a:t>Θ</a:t>
            </a:r>
            <a:r>
              <a:rPr lang="en-US" dirty="0"/>
              <a:t>(n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T(n) &lt;= 2T(n /2)+</a:t>
            </a:r>
            <a:r>
              <a:rPr lang="el-GR" dirty="0"/>
              <a:t>Θ</a:t>
            </a:r>
            <a:r>
              <a:rPr lang="en-US" dirty="0"/>
              <a:t>(n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T (n)&lt;= T(9n/10) + T (n/10) +</a:t>
            </a:r>
            <a:r>
              <a:rPr lang="el-GR" dirty="0"/>
              <a:t>Θ</a:t>
            </a:r>
            <a:r>
              <a:rPr lang="en-US" dirty="0"/>
              <a:t>(n)</a:t>
            </a:r>
            <a:endParaRPr lang="en-US" dirty="0" smtClean="0"/>
          </a:p>
          <a:p>
            <a:r>
              <a:rPr lang="en-US" dirty="0"/>
              <a:t>Factorial</a:t>
            </a:r>
          </a:p>
          <a:p>
            <a:pPr lvl="1" indent="-342900"/>
            <a:r>
              <a:rPr lang="en-US" dirty="0">
                <a:cs typeface="Times New Roman" charset="0"/>
              </a:rPr>
              <a:t>T(n) = T(n-1) + 1</a:t>
            </a:r>
          </a:p>
          <a:p>
            <a:r>
              <a:rPr lang="en-US" dirty="0" smtClean="0"/>
              <a:t>Other Algorithms</a:t>
            </a:r>
          </a:p>
          <a:p>
            <a:pPr marL="557213" lvl="1" indent="-214313">
              <a:buNone/>
            </a:pPr>
            <a:r>
              <a:rPr lang="en-US" dirty="0"/>
              <a:t>T(n) = 3 T (floor(n/4)) + </a:t>
            </a:r>
            <a:r>
              <a:rPr lang="el-GR" dirty="0">
                <a:cs typeface="Arial" charset="0"/>
              </a:rPr>
              <a:t>Θ</a:t>
            </a:r>
            <a:r>
              <a:rPr lang="en-US" dirty="0"/>
              <a:t>n</a:t>
            </a:r>
            <a:r>
              <a:rPr lang="en-US" baseline="30000" dirty="0"/>
              <a:t>2</a:t>
            </a:r>
          </a:p>
          <a:p>
            <a:pPr marL="557213" lvl="1" indent="-214313">
              <a:buNone/>
            </a:pPr>
            <a:r>
              <a:rPr lang="en-US" dirty="0"/>
              <a:t>T(n) = T(n/3) + T (2n/3) + O(n)</a:t>
            </a:r>
            <a:endParaRPr lang="en-US" baseline="30000" dirty="0"/>
          </a:p>
          <a:p>
            <a:endParaRPr lang="en-US" dirty="0" smtClean="0"/>
          </a:p>
          <a:p>
            <a:endParaRPr lang="en-US" dirty="0" smtClean="0">
              <a:cs typeface="Arial" charset="0"/>
            </a:endParaRPr>
          </a:p>
          <a:p>
            <a:endParaRPr lang="en-GB" dirty="0">
              <a:cs typeface="Times New Roman" charset="0"/>
            </a:endParaRP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6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33600"/>
            <a:ext cx="6248400" cy="4191000"/>
          </a:xfrm>
        </p:spPr>
        <p:txBody>
          <a:bodyPr>
            <a:normAutofit fontScale="85000" lnSpcReduction="20000"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823B"/>
                </a:solidFill>
              </a:rPr>
              <a:t>Iterative Algorithms</a:t>
            </a:r>
          </a:p>
          <a:p>
            <a:pPr lvl="1"/>
            <a:r>
              <a:rPr lang="en-US" dirty="0" smtClean="0">
                <a:solidFill>
                  <a:srgbClr val="00823B"/>
                </a:solidFill>
              </a:rPr>
              <a:t>Informal Analysis</a:t>
            </a:r>
          </a:p>
          <a:p>
            <a:pPr lvl="1"/>
            <a:r>
              <a:rPr lang="en-US" dirty="0" smtClean="0">
                <a:solidFill>
                  <a:srgbClr val="00823B"/>
                </a:solidFill>
              </a:rPr>
              <a:t>Formal Analysis</a:t>
            </a:r>
          </a:p>
          <a:p>
            <a:pPr lvl="2"/>
            <a:r>
              <a:rPr lang="en-US" dirty="0" smtClean="0">
                <a:solidFill>
                  <a:srgbClr val="00823B"/>
                </a:solidFill>
              </a:rPr>
              <a:t>RAM Model Analysis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Recursive Algorithm</a:t>
            </a:r>
          </a:p>
          <a:p>
            <a:pPr lvl="1"/>
            <a:r>
              <a:rPr lang="en-US" b="1" dirty="0">
                <a:solidFill>
                  <a:srgbClr val="00B0F0"/>
                </a:solidFill>
              </a:rPr>
              <a:t>Informal Analysis</a:t>
            </a:r>
          </a:p>
          <a:p>
            <a:pPr lvl="1"/>
            <a:r>
              <a:rPr lang="en-US" dirty="0"/>
              <a:t>Formal Analysis</a:t>
            </a:r>
          </a:p>
          <a:p>
            <a:pPr lvl="2"/>
            <a:r>
              <a:rPr lang="en-US" sz="2500" dirty="0" smtClean="0"/>
              <a:t>Forward Substitution Method</a:t>
            </a:r>
          </a:p>
          <a:p>
            <a:pPr lvl="2"/>
            <a:r>
              <a:rPr lang="en-US" sz="2500" dirty="0" smtClean="0"/>
              <a:t>Backwards </a:t>
            </a:r>
            <a:r>
              <a:rPr lang="en-US" sz="2500" dirty="0"/>
              <a:t>Substitution Method</a:t>
            </a:r>
          </a:p>
          <a:p>
            <a:pPr lvl="2"/>
            <a:r>
              <a:rPr lang="en-US" dirty="0" smtClean="0"/>
              <a:t>Substitution Method</a:t>
            </a:r>
          </a:p>
          <a:p>
            <a:pPr lvl="2"/>
            <a:r>
              <a:rPr lang="en-US" dirty="0" smtClean="0"/>
              <a:t>Recursion Tree Method</a:t>
            </a:r>
          </a:p>
          <a:p>
            <a:pPr lvl="2"/>
            <a:r>
              <a:rPr lang="en-US" dirty="0" smtClean="0"/>
              <a:t>Master Theorem Method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53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Algorithm Analysis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Recurrence</a:t>
            </a:r>
          </a:p>
          <a:p>
            <a:pPr algn="r"/>
            <a:r>
              <a:rPr lang="en-US" dirty="0" smtClean="0">
                <a:solidFill>
                  <a:srgbClr val="0000FF"/>
                </a:solidFill>
              </a:rPr>
              <a:t>(Informal Analysis)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53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17" y="1143000"/>
            <a:ext cx="6248400" cy="1143000"/>
          </a:xfrm>
        </p:spPr>
        <p:txBody>
          <a:bodyPr/>
          <a:lstStyle/>
          <a:p>
            <a:pPr algn="l"/>
            <a:r>
              <a:rPr lang="en-US" dirty="0" smtClean="0"/>
              <a:t>Binary Search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17" y="2514600"/>
            <a:ext cx="7467600" cy="272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1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219200"/>
            <a:ext cx="6248400" cy="6096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 smtClean="0"/>
              <a:t>Binary Search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981200"/>
            <a:ext cx="5715000" cy="3200400"/>
          </a:xfrm>
        </p:spPr>
        <p:txBody>
          <a:bodyPr/>
          <a:lstStyle/>
          <a:p>
            <a:pPr eaLnBrk="1" hangingPunct="1"/>
            <a:r>
              <a:rPr lang="en-US" dirty="0" smtClean="0"/>
              <a:t>Binary Search code:</a:t>
            </a:r>
          </a:p>
          <a:p>
            <a:pPr lvl="1" eaLnBrk="1" hangingPunct="1"/>
            <a:r>
              <a:rPr lang="en-US" dirty="0" smtClean="0"/>
              <a:t>At the end of each array iteration, all we do is update either low or high</a:t>
            </a:r>
          </a:p>
          <a:p>
            <a:pPr lvl="1" eaLnBrk="1" hangingPunct="1"/>
            <a:r>
              <a:rPr lang="en-US" dirty="0" smtClean="0"/>
              <a:t>This modifies our search region</a:t>
            </a:r>
          </a:p>
          <a:p>
            <a:pPr lvl="2" eaLnBrk="1" hangingPunct="1"/>
            <a:r>
              <a:rPr lang="en-US" dirty="0" smtClean="0"/>
              <a:t>Essentially halving it</a:t>
            </a:r>
          </a:p>
        </p:txBody>
      </p:sp>
    </p:spTree>
    <p:extLst>
      <p:ext uri="{BB962C8B-B14F-4D97-AF65-F5344CB8AC3E}">
        <p14:creationId xmlns:p14="http://schemas.microsoft.com/office/powerpoint/2010/main" val="3950634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81" y="1143000"/>
            <a:ext cx="6248400" cy="5334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 smtClean="0"/>
              <a:t>Binary Search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7696200" cy="4724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 smtClean="0"/>
              <a:t>Efficiency of Binary Search</a:t>
            </a:r>
          </a:p>
          <a:p>
            <a:pPr lvl="1" eaLnBrk="1" hangingPunct="1"/>
            <a:r>
              <a:rPr lang="en-US" dirty="0" smtClean="0"/>
              <a:t>Analysis:</a:t>
            </a:r>
          </a:p>
          <a:p>
            <a:pPr lvl="2" eaLnBrk="1" hangingPunct="1"/>
            <a:r>
              <a:rPr lang="en-US" dirty="0" smtClean="0"/>
              <a:t>Let’s analyze how many comparisons (guesses) are necessary when running this algorithm on an array of </a:t>
            </a:r>
            <a:r>
              <a:rPr lang="en-US" b="1" dirty="0" smtClean="0"/>
              <a:t>n</a:t>
            </a:r>
            <a:r>
              <a:rPr lang="en-US" dirty="0" smtClean="0"/>
              <a:t> items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 smtClean="0"/>
              <a:t>	First, let’s try n = 100</a:t>
            </a:r>
          </a:p>
          <a:p>
            <a:pPr lvl="3" eaLnBrk="1" hangingPunct="1"/>
            <a:r>
              <a:rPr lang="en-US" dirty="0" smtClean="0"/>
              <a:t>After 1 guess, we have 50 items left,</a:t>
            </a:r>
          </a:p>
          <a:p>
            <a:pPr lvl="3" eaLnBrk="1" hangingPunct="1"/>
            <a:r>
              <a:rPr lang="en-US" dirty="0" smtClean="0"/>
              <a:t>After 2 guesses, we have 25 items left,</a:t>
            </a:r>
          </a:p>
          <a:p>
            <a:pPr lvl="3" eaLnBrk="1" hangingPunct="1"/>
            <a:r>
              <a:rPr lang="en-US" dirty="0" smtClean="0"/>
              <a:t>After 3 guesses, we have 12 items left,</a:t>
            </a:r>
          </a:p>
          <a:p>
            <a:pPr lvl="3" eaLnBrk="1" hangingPunct="1"/>
            <a:r>
              <a:rPr lang="en-US" dirty="0" smtClean="0"/>
              <a:t>After 4 guesses, we have 6 items left,</a:t>
            </a:r>
          </a:p>
          <a:p>
            <a:pPr lvl="3" eaLnBrk="1" hangingPunct="1"/>
            <a:r>
              <a:rPr lang="en-US" dirty="0" smtClean="0"/>
              <a:t>After 5 guesses, we have 3 items left,</a:t>
            </a:r>
          </a:p>
          <a:p>
            <a:pPr lvl="3" eaLnBrk="1" hangingPunct="1"/>
            <a:r>
              <a:rPr lang="en-US" dirty="0" smtClean="0"/>
              <a:t>After 6 guesses, we have 1 item left</a:t>
            </a:r>
          </a:p>
          <a:p>
            <a:pPr lvl="3" eaLnBrk="1" hangingPunct="1"/>
            <a:r>
              <a:rPr lang="en-US" dirty="0" smtClean="0"/>
              <a:t>After 7 guesses, we have 0 items left.</a:t>
            </a:r>
          </a:p>
        </p:txBody>
      </p:sp>
    </p:spTree>
    <p:extLst>
      <p:ext uri="{BB962C8B-B14F-4D97-AF65-F5344CB8AC3E}">
        <p14:creationId xmlns:p14="http://schemas.microsoft.com/office/powerpoint/2010/main" val="33123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40" y="1219200"/>
            <a:ext cx="6248400" cy="4572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 smtClean="0"/>
              <a:t>Binary Search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944" y="1676400"/>
            <a:ext cx="7772400" cy="4724400"/>
          </a:xfrm>
        </p:spPr>
        <p:txBody>
          <a:bodyPr/>
          <a:lstStyle/>
          <a:p>
            <a:pPr eaLnBrk="1" hangingPunct="1"/>
            <a:r>
              <a:rPr lang="en-US" dirty="0" smtClean="0"/>
              <a:t>Efficiency of Binary Search</a:t>
            </a:r>
          </a:p>
          <a:p>
            <a:pPr lvl="1" eaLnBrk="1" hangingPunct="1"/>
            <a:r>
              <a:rPr lang="en-US" dirty="0" smtClean="0"/>
              <a:t>Analysis:</a:t>
            </a:r>
          </a:p>
          <a:p>
            <a:pPr lvl="2" eaLnBrk="1" hangingPunct="1"/>
            <a:r>
              <a:rPr lang="en-US" dirty="0" smtClean="0"/>
              <a:t>General case:</a:t>
            </a:r>
          </a:p>
          <a:p>
            <a:pPr lvl="2" eaLnBrk="1" hangingPunct="1"/>
            <a:endParaRPr lang="en-US" dirty="0" smtClean="0"/>
          </a:p>
          <a:p>
            <a:pPr lvl="2" eaLnBrk="1" hangingPunct="1"/>
            <a:r>
              <a:rPr lang="en-US" dirty="0" smtClean="0"/>
              <a:t>After 1 guess, we have n/2 items left</a:t>
            </a:r>
          </a:p>
          <a:p>
            <a:pPr lvl="2" eaLnBrk="1" hangingPunct="1"/>
            <a:r>
              <a:rPr lang="en-US" dirty="0" smtClean="0"/>
              <a:t>After 2 guesses, we have n/4 items left</a:t>
            </a:r>
          </a:p>
          <a:p>
            <a:pPr lvl="2" eaLnBrk="1" hangingPunct="1"/>
            <a:r>
              <a:rPr lang="en-US" dirty="0" smtClean="0"/>
              <a:t>After 3 guesses, we have n/8 items left</a:t>
            </a:r>
          </a:p>
          <a:p>
            <a:pPr lvl="2" eaLnBrk="1" hangingPunct="1"/>
            <a:r>
              <a:rPr lang="en-US" dirty="0" smtClean="0"/>
              <a:t>After 4 guesses, we have n/16 items left</a:t>
            </a:r>
          </a:p>
          <a:p>
            <a:pPr lvl="2" eaLnBrk="1" hangingPunct="1"/>
            <a:r>
              <a:rPr lang="en-US" dirty="0" smtClean="0"/>
              <a:t>…</a:t>
            </a:r>
          </a:p>
          <a:p>
            <a:pPr lvl="2" eaLnBrk="1" hangingPunct="1"/>
            <a:r>
              <a:rPr lang="en-US" dirty="0" smtClean="0"/>
              <a:t>After k guesses, we have n/2</a:t>
            </a:r>
            <a:r>
              <a:rPr lang="en-US" baseline="30000" dirty="0" smtClean="0"/>
              <a:t>k</a:t>
            </a:r>
            <a:r>
              <a:rPr lang="en-US" dirty="0" smtClean="0"/>
              <a:t> items left</a:t>
            </a:r>
          </a:p>
        </p:txBody>
      </p:sp>
    </p:spTree>
    <p:extLst>
      <p:ext uri="{BB962C8B-B14F-4D97-AF65-F5344CB8AC3E}">
        <p14:creationId xmlns:p14="http://schemas.microsoft.com/office/powerpoint/2010/main" val="389697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219200"/>
            <a:ext cx="6248400" cy="4572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 smtClean="0"/>
              <a:t>Binary Search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676400"/>
            <a:ext cx="7772400" cy="47244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Efficiency of Binary Search</a:t>
            </a:r>
          </a:p>
          <a:p>
            <a:pPr lvl="1" eaLnBrk="1" hangingPunct="1"/>
            <a:r>
              <a:rPr lang="en-US" dirty="0" smtClean="0"/>
              <a:t>Analysis:</a:t>
            </a:r>
          </a:p>
          <a:p>
            <a:pPr lvl="2" eaLnBrk="1" hangingPunct="1"/>
            <a:r>
              <a:rPr lang="en-US" dirty="0" smtClean="0"/>
              <a:t>General case:</a:t>
            </a:r>
          </a:p>
          <a:p>
            <a:pPr lvl="2" eaLnBrk="1" hangingPunct="1"/>
            <a:r>
              <a:rPr lang="en-US" dirty="0" smtClean="0"/>
              <a:t>So, after k guesses, we have n/2</a:t>
            </a:r>
            <a:r>
              <a:rPr lang="en-US" baseline="30000" dirty="0" smtClean="0"/>
              <a:t>k</a:t>
            </a:r>
            <a:r>
              <a:rPr lang="en-US" dirty="0" smtClean="0"/>
              <a:t> items left</a:t>
            </a:r>
          </a:p>
          <a:p>
            <a:pPr lvl="2" eaLnBrk="1" hangingPunct="1"/>
            <a:r>
              <a:rPr lang="en-US" dirty="0" smtClean="0"/>
              <a:t>The question is:</a:t>
            </a:r>
          </a:p>
          <a:p>
            <a:pPr lvl="3" eaLnBrk="1" hangingPunct="1"/>
            <a:r>
              <a:rPr lang="en-US" dirty="0" smtClean="0"/>
              <a:t>How many k guesses do we need to make in order to find our answer?</a:t>
            </a:r>
          </a:p>
          <a:p>
            <a:pPr lvl="3" eaLnBrk="1" hangingPunct="1"/>
            <a:r>
              <a:rPr lang="en-US" dirty="0" smtClean="0"/>
              <a:t>Or until we have one and only one guess left to make?</a:t>
            </a:r>
          </a:p>
          <a:p>
            <a:pPr lvl="2" eaLnBrk="1" hangingPunct="1"/>
            <a:r>
              <a:rPr lang="en-US" dirty="0" smtClean="0"/>
              <a:t>So we want to get only 1 item left</a:t>
            </a:r>
          </a:p>
          <a:p>
            <a:pPr lvl="2" eaLnBrk="1" hangingPunct="1"/>
            <a:r>
              <a:rPr lang="en-US" dirty="0" smtClean="0"/>
              <a:t>If we can find the value that makes the above fraction equal to 1, then we know that in one more guess, we’ll narrow down the item</a:t>
            </a:r>
          </a:p>
        </p:txBody>
      </p:sp>
    </p:spTree>
    <p:extLst>
      <p:ext uri="{BB962C8B-B14F-4D97-AF65-F5344CB8AC3E}">
        <p14:creationId xmlns:p14="http://schemas.microsoft.com/office/powerpoint/2010/main" val="3958981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xfrm>
            <a:off x="7459" y="1134035"/>
            <a:ext cx="6248400" cy="5334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 smtClean="0"/>
              <a:t>Binary Search</a:t>
            </a:r>
          </a:p>
        </p:txBody>
      </p:sp>
      <p:sp>
        <p:nvSpPr>
          <p:cNvPr id="393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67435"/>
            <a:ext cx="7772400" cy="47244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dirty="0" smtClean="0"/>
              <a:t>Efficiency of Binary Search</a:t>
            </a:r>
          </a:p>
          <a:p>
            <a:pPr lvl="1" eaLnBrk="1" hangingPunct="1"/>
            <a:r>
              <a:rPr lang="en-US" dirty="0" smtClean="0"/>
              <a:t>Analysis:</a:t>
            </a:r>
          </a:p>
          <a:p>
            <a:pPr lvl="2" eaLnBrk="1" hangingPunct="1"/>
            <a:r>
              <a:rPr lang="en-US" dirty="0" smtClean="0"/>
              <a:t>General case:</a:t>
            </a:r>
          </a:p>
          <a:p>
            <a:pPr lvl="2" eaLnBrk="1" hangingPunct="1"/>
            <a:r>
              <a:rPr lang="en-US" dirty="0" smtClean="0"/>
              <a:t>So, after k guesses, we have n/2</a:t>
            </a:r>
            <a:r>
              <a:rPr lang="en-US" baseline="30000" dirty="0" smtClean="0"/>
              <a:t>k</a:t>
            </a:r>
            <a:r>
              <a:rPr lang="en-US" dirty="0" smtClean="0"/>
              <a:t> items left</a:t>
            </a:r>
          </a:p>
          <a:p>
            <a:pPr lvl="3" eaLnBrk="1" hangingPunct="1"/>
            <a:r>
              <a:rPr lang="en-US" dirty="0" smtClean="0"/>
              <a:t>Again, we want only 1 item left</a:t>
            </a:r>
          </a:p>
          <a:p>
            <a:pPr lvl="3" eaLnBrk="1" hangingPunct="1"/>
            <a:r>
              <a:rPr lang="en-US" dirty="0" smtClean="0"/>
              <a:t>So set this equal to 1 and solve for k</a:t>
            </a:r>
          </a:p>
          <a:p>
            <a:pPr lvl="3" eaLnBrk="1" hangingPunct="1"/>
            <a:endParaRPr lang="en-US" dirty="0" smtClean="0"/>
          </a:p>
          <a:p>
            <a:pPr lvl="3" eaLnBrk="1" hangingPunct="1"/>
            <a:endParaRPr lang="en-US" dirty="0" smtClean="0"/>
          </a:p>
          <a:p>
            <a:pPr lvl="3" eaLnBrk="1" hangingPunct="1"/>
            <a:endParaRPr lang="en-US" dirty="0" smtClean="0"/>
          </a:p>
          <a:p>
            <a:pPr lvl="3" eaLnBrk="1" hangingPunct="1"/>
            <a:endParaRPr lang="en-US" dirty="0" smtClean="0"/>
          </a:p>
          <a:p>
            <a:pPr lvl="2" eaLnBrk="1" hangingPunct="1"/>
            <a:r>
              <a:rPr lang="en-US" dirty="0" smtClean="0"/>
              <a:t>This means that a binary search roughly takes </a:t>
            </a:r>
            <a:r>
              <a:rPr lang="el-GR" sz="26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6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(log</a:t>
            </a:r>
            <a:r>
              <a:rPr lang="en-US" sz="2600" b="1" i="1" baseline="-250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6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) </a:t>
            </a:r>
            <a:r>
              <a:rPr lang="en-US" dirty="0" smtClean="0"/>
              <a:t>comparisons when searching in a sorted array of n items</a:t>
            </a:r>
          </a:p>
          <a:p>
            <a:pPr lvl="2" eaLnBrk="1" hangingPunct="1"/>
            <a:endParaRPr lang="en-US" dirty="0" smtClean="0"/>
          </a:p>
        </p:txBody>
      </p:sp>
      <p:sp>
        <p:nvSpPr>
          <p:cNvPr id="1031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9393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9390431"/>
              </p:ext>
            </p:extLst>
          </p:nvPr>
        </p:nvGraphicFramePr>
        <p:xfrm>
          <a:off x="1219200" y="3657600"/>
          <a:ext cx="1100138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2" name="Equation" r:id="rId3" imgW="444307" imgH="393529" progId="Equation.3">
                  <p:embed/>
                </p:oleObj>
              </mc:Choice>
              <mc:Fallback>
                <p:oleObj name="Equation" r:id="rId3" imgW="444307" imgH="39352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657600"/>
                        <a:ext cx="1100138" cy="1200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93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557450"/>
              </p:ext>
            </p:extLst>
          </p:nvPr>
        </p:nvGraphicFramePr>
        <p:xfrm>
          <a:off x="3505200" y="3910012"/>
          <a:ext cx="110013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3" name="Equation" r:id="rId5" imgW="418918" imgH="203112" progId="Equation.3">
                  <p:embed/>
                </p:oleObj>
              </mc:Choice>
              <mc:Fallback>
                <p:oleObj name="Equation" r:id="rId5" imgW="41891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3910012"/>
                        <a:ext cx="1100137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59992"/>
              </p:ext>
            </p:extLst>
          </p:nvPr>
        </p:nvGraphicFramePr>
        <p:xfrm>
          <a:off x="5562600" y="3943350"/>
          <a:ext cx="17145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4" name="Equation" r:id="rId7" imgW="647419" imgH="215806" progId="Equation.3">
                  <p:embed/>
                </p:oleObj>
              </mc:Choice>
              <mc:Fallback>
                <p:oleObj name="Equation" r:id="rId7" imgW="647419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943350"/>
                        <a:ext cx="1714500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3573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33600"/>
            <a:ext cx="6248400" cy="4191000"/>
          </a:xfrm>
        </p:spPr>
        <p:txBody>
          <a:bodyPr>
            <a:normAutofit fontScale="85000" lnSpcReduction="20000"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823B"/>
                </a:solidFill>
              </a:rPr>
              <a:t>Iterative Algorithms</a:t>
            </a:r>
          </a:p>
          <a:p>
            <a:pPr lvl="1"/>
            <a:r>
              <a:rPr lang="en-US" dirty="0" smtClean="0">
                <a:solidFill>
                  <a:srgbClr val="00823B"/>
                </a:solidFill>
              </a:rPr>
              <a:t>Informal Analysis</a:t>
            </a:r>
          </a:p>
          <a:p>
            <a:pPr lvl="1"/>
            <a:r>
              <a:rPr lang="en-US" dirty="0" smtClean="0">
                <a:solidFill>
                  <a:srgbClr val="00823B"/>
                </a:solidFill>
              </a:rPr>
              <a:t>Formal Analysis</a:t>
            </a:r>
          </a:p>
          <a:p>
            <a:pPr lvl="2"/>
            <a:r>
              <a:rPr lang="en-US" dirty="0" smtClean="0">
                <a:solidFill>
                  <a:srgbClr val="00823B"/>
                </a:solidFill>
              </a:rPr>
              <a:t>RAM Model Analysis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Recursive Algorithm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Informal Analysis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Formal Analysis</a:t>
            </a:r>
          </a:p>
          <a:p>
            <a:pPr lvl="2"/>
            <a:r>
              <a:rPr lang="en-US" b="1" dirty="0" smtClean="0">
                <a:solidFill>
                  <a:srgbClr val="00B0F0"/>
                </a:solidFill>
              </a:rPr>
              <a:t>Forward Substitution Method</a:t>
            </a:r>
          </a:p>
          <a:p>
            <a:pPr lvl="2"/>
            <a:r>
              <a:rPr lang="en-US" dirty="0" smtClean="0"/>
              <a:t>Backwards Substitution Method</a:t>
            </a:r>
          </a:p>
          <a:p>
            <a:pPr lvl="2"/>
            <a:r>
              <a:rPr lang="en-US" dirty="0" smtClean="0"/>
              <a:t>Substitution Method</a:t>
            </a:r>
          </a:p>
          <a:p>
            <a:pPr lvl="2"/>
            <a:r>
              <a:rPr lang="en-US" dirty="0" smtClean="0"/>
              <a:t>Recursion Tree Method</a:t>
            </a:r>
          </a:p>
          <a:p>
            <a:pPr lvl="2"/>
            <a:r>
              <a:rPr lang="en-US" dirty="0" smtClean="0"/>
              <a:t>Master Theorem Method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Algorithm Analysis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Recurrence</a:t>
            </a:r>
          </a:p>
          <a:p>
            <a:pPr algn="r"/>
            <a:r>
              <a:rPr lang="en-US" dirty="0" smtClean="0">
                <a:solidFill>
                  <a:srgbClr val="0000FF"/>
                </a:solidFill>
              </a:rPr>
              <a:t>(Forwards Substitution)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453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7620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2"/>
                </a:solidFill>
              </a:rPr>
              <a:t>Merge Sort -  </a:t>
            </a:r>
            <a:r>
              <a:rPr lang="en-US" sz="2800" b="1" dirty="0" smtClean="0">
                <a:solidFill>
                  <a:srgbClr val="00B050"/>
                </a:solidFill>
              </a:rPr>
              <a:t>Algorithm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85" y="2438400"/>
            <a:ext cx="3400425" cy="2609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692" y="1905000"/>
            <a:ext cx="2604708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7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7620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2"/>
                </a:solidFill>
              </a:rPr>
              <a:t>Merge Sort -  </a:t>
            </a:r>
            <a:r>
              <a:rPr lang="en-US" sz="2800" b="1" dirty="0" smtClean="0">
                <a:solidFill>
                  <a:srgbClr val="00B050"/>
                </a:solidFill>
              </a:rPr>
              <a:t>Tracing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25" y="2133600"/>
            <a:ext cx="1812472" cy="914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25" y="3200400"/>
            <a:ext cx="1845527" cy="914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4267200"/>
            <a:ext cx="1807029" cy="914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25" y="5334000"/>
            <a:ext cx="1873135" cy="914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692" y="1905000"/>
            <a:ext cx="2604708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5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432" y="2133600"/>
            <a:ext cx="1834342" cy="914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32" y="3108960"/>
            <a:ext cx="1834308" cy="914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32" y="4084320"/>
            <a:ext cx="1982113" cy="9144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32" y="5059680"/>
            <a:ext cx="2096168" cy="914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692" y="1905000"/>
            <a:ext cx="2604708" cy="438912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7620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2"/>
                </a:solidFill>
              </a:rPr>
              <a:t>Merge Sort -  </a:t>
            </a:r>
            <a:r>
              <a:rPr lang="en-US" sz="2800" b="1" dirty="0" smtClean="0">
                <a:solidFill>
                  <a:srgbClr val="00B050"/>
                </a:solidFill>
              </a:rPr>
              <a:t>Tracing</a:t>
            </a:r>
            <a:endParaRPr lang="en-US" sz="28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16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7620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2"/>
                </a:solidFill>
              </a:rPr>
              <a:t>Merge Sort - </a:t>
            </a:r>
            <a:r>
              <a:rPr lang="en-US" sz="2800" b="1" dirty="0" smtClean="0">
                <a:solidFill>
                  <a:srgbClr val="00B050"/>
                </a:solidFill>
              </a:rPr>
              <a:t>Recurrence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50" y="3760470"/>
            <a:ext cx="3400425" cy="2609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450" y="2057400"/>
            <a:ext cx="571500" cy="276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887" y="2075020"/>
            <a:ext cx="390525" cy="22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2084545"/>
            <a:ext cx="590550" cy="2190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2817970"/>
            <a:ext cx="533400" cy="190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0075" y="2535456"/>
            <a:ext cx="142875" cy="1428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406" y="1981200"/>
            <a:ext cx="2604708" cy="438912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3087" y="2468780"/>
            <a:ext cx="723900" cy="2762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2486" y="2468780"/>
            <a:ext cx="695325" cy="2762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5911" y="2514600"/>
            <a:ext cx="219075" cy="1809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2495550"/>
            <a:ext cx="581025" cy="2571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4362" y="3228975"/>
            <a:ext cx="24574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73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chemeClr val="accent2"/>
                </a:solidFill>
              </a:rPr>
              <a:t>Forward Substitution</a:t>
            </a:r>
            <a:endParaRPr lang="en-US" sz="4000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2362200"/>
          </a:xfrm>
        </p:spPr>
        <p:txBody>
          <a:bodyPr/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total running time of entire MERGE-SORT method can be expressed as the following recurrence relation: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4572000"/>
            <a:ext cx="549592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60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217" y="1752600"/>
            <a:ext cx="3382108" cy="60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981200"/>
            <a:ext cx="923925" cy="3333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58" y="2443162"/>
            <a:ext cx="3762375" cy="2952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158" y="2867024"/>
            <a:ext cx="3781425" cy="304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5020" y="3300411"/>
            <a:ext cx="3695700" cy="3143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595" y="3743323"/>
            <a:ext cx="3876675" cy="6286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595" y="4500560"/>
            <a:ext cx="4124325" cy="6191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595" y="5248272"/>
            <a:ext cx="4438650" cy="6477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5020" y="6024559"/>
            <a:ext cx="4752975" cy="295275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chemeClr val="accent2"/>
                </a:solidFill>
              </a:rPr>
              <a:t>Forward Substitution</a:t>
            </a:r>
            <a:endParaRPr lang="en-US" sz="4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50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chemeClr val="accent2"/>
                </a:solidFill>
              </a:rPr>
              <a:t>Forward Substitution</a:t>
            </a:r>
            <a:endParaRPr lang="en-US" sz="4000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217" y="1752600"/>
            <a:ext cx="3382108" cy="609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351638"/>
            <a:ext cx="1800225" cy="2971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2380213"/>
            <a:ext cx="1104900" cy="29432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200" y="2351638"/>
            <a:ext cx="2171700" cy="29718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6919" y="5792066"/>
            <a:ext cx="942975" cy="60786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812" y="5867400"/>
            <a:ext cx="800100" cy="457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5200" y="5915025"/>
            <a:ext cx="180975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4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chemeClr val="accent2"/>
                </a:solidFill>
              </a:rPr>
              <a:t>Forward Substitution</a:t>
            </a:r>
            <a:endParaRPr lang="en-US" sz="4000" b="1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209800"/>
            <a:ext cx="2724150" cy="495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762250"/>
            <a:ext cx="1476375" cy="495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450" y="3429000"/>
            <a:ext cx="1419225" cy="504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52600" y="4486275"/>
            <a:ext cx="4419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 the running time of Merge Sort is:</a:t>
            </a:r>
          </a:p>
          <a:p>
            <a:pPr algn="ctr"/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(n) = </a:t>
            </a:r>
            <a:r>
              <a:rPr lang="el-GR" sz="28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 lg n) </a:t>
            </a:r>
            <a:endParaRPr lang="en-US" sz="28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89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33600"/>
            <a:ext cx="6248400" cy="4191000"/>
          </a:xfrm>
        </p:spPr>
        <p:txBody>
          <a:bodyPr>
            <a:normAutofit fontScale="85000" lnSpcReduction="20000"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823B"/>
                </a:solidFill>
              </a:rPr>
              <a:t>Iterative Algorithms</a:t>
            </a:r>
          </a:p>
          <a:p>
            <a:pPr lvl="1"/>
            <a:r>
              <a:rPr lang="en-US" dirty="0" smtClean="0">
                <a:solidFill>
                  <a:srgbClr val="00823B"/>
                </a:solidFill>
              </a:rPr>
              <a:t>Informal Analysis</a:t>
            </a:r>
          </a:p>
          <a:p>
            <a:pPr lvl="1"/>
            <a:r>
              <a:rPr lang="en-US" dirty="0" smtClean="0">
                <a:solidFill>
                  <a:srgbClr val="00823B"/>
                </a:solidFill>
              </a:rPr>
              <a:t>Formal Analysis</a:t>
            </a:r>
          </a:p>
          <a:p>
            <a:pPr lvl="2"/>
            <a:r>
              <a:rPr lang="en-US" dirty="0" smtClean="0">
                <a:solidFill>
                  <a:srgbClr val="00823B"/>
                </a:solidFill>
              </a:rPr>
              <a:t>RAM Model Analysis</a:t>
            </a:r>
          </a:p>
          <a:p>
            <a:r>
              <a:rPr lang="en-US" b="1" dirty="0" smtClean="0">
                <a:solidFill>
                  <a:srgbClr val="0000FF"/>
                </a:solidFill>
              </a:rPr>
              <a:t>Recursive Algorithm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Informal Analysis</a:t>
            </a:r>
          </a:p>
          <a:p>
            <a:pPr lvl="1"/>
            <a:r>
              <a:rPr lang="en-US" dirty="0">
                <a:solidFill>
                  <a:srgbClr val="00823B"/>
                </a:solidFill>
              </a:rPr>
              <a:t>Formal Analysis</a:t>
            </a:r>
          </a:p>
          <a:p>
            <a:pPr lvl="2"/>
            <a:r>
              <a:rPr lang="en-US" dirty="0">
                <a:solidFill>
                  <a:srgbClr val="00823B"/>
                </a:solidFill>
              </a:rPr>
              <a:t>Forward Substitution Method</a:t>
            </a:r>
          </a:p>
          <a:p>
            <a:pPr lvl="2"/>
            <a:r>
              <a:rPr lang="en-US" b="1" dirty="0" smtClean="0">
                <a:solidFill>
                  <a:srgbClr val="00B0F0"/>
                </a:solidFill>
              </a:rPr>
              <a:t>Backwards Substitution Method</a:t>
            </a:r>
          </a:p>
          <a:p>
            <a:pPr lvl="2"/>
            <a:r>
              <a:rPr lang="en-US" dirty="0" smtClean="0"/>
              <a:t>Substitution Method</a:t>
            </a:r>
          </a:p>
          <a:p>
            <a:pPr lvl="2"/>
            <a:r>
              <a:rPr lang="en-US" dirty="0" smtClean="0"/>
              <a:t>Recursion Tree Method</a:t>
            </a:r>
          </a:p>
          <a:p>
            <a:pPr lvl="2"/>
            <a:r>
              <a:rPr lang="en-US" dirty="0" smtClean="0"/>
              <a:t>Master Theorem Method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01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Algorithm Analysis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Recurrence</a:t>
            </a:r>
          </a:p>
          <a:p>
            <a:pPr algn="r"/>
            <a:r>
              <a:rPr lang="en-US" dirty="0" smtClean="0">
                <a:solidFill>
                  <a:srgbClr val="0000FF"/>
                </a:solidFill>
              </a:rPr>
              <a:t>(Backwards Substitution)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870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Backwards Substitution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Find the </a:t>
            </a:r>
            <a:r>
              <a:rPr lang="en-US" b="1" dirty="0" smtClean="0">
                <a:solidFill>
                  <a:srgbClr val="00B0F0"/>
                </a:solidFill>
              </a:rPr>
              <a:t>recurrence</a:t>
            </a:r>
          </a:p>
          <a:p>
            <a:r>
              <a:rPr lang="en-US" dirty="0" smtClean="0"/>
              <a:t>Find the </a:t>
            </a:r>
            <a:r>
              <a:rPr lang="en-US" b="1" dirty="0" smtClean="0">
                <a:solidFill>
                  <a:srgbClr val="00B0F0"/>
                </a:solidFill>
              </a:rPr>
              <a:t>unknown value </a:t>
            </a:r>
            <a:r>
              <a:rPr lang="en-US" dirty="0" smtClean="0"/>
              <a:t>with the help of given recurrence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Substitute</a:t>
            </a:r>
            <a:r>
              <a:rPr lang="en-US" dirty="0" smtClean="0"/>
              <a:t> the unknown value</a:t>
            </a:r>
          </a:p>
          <a:p>
            <a:r>
              <a:rPr lang="en-US" dirty="0" smtClean="0"/>
              <a:t>Repeat it until </a:t>
            </a:r>
            <a:r>
              <a:rPr lang="en-US" b="1" dirty="0" smtClean="0">
                <a:solidFill>
                  <a:srgbClr val="00B0F0"/>
                </a:solidFill>
              </a:rPr>
              <a:t>reached to trivial case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Use the solution </a:t>
            </a:r>
            <a:r>
              <a:rPr lang="en-US" dirty="0" smtClean="0"/>
              <a:t>for trivial case and solve the recurrence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91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762000"/>
          </a:xfrm>
        </p:spPr>
        <p:txBody>
          <a:bodyPr/>
          <a:lstStyle/>
          <a:p>
            <a:pPr algn="l"/>
            <a:r>
              <a:rPr lang="en-US" b="1" dirty="0" smtClean="0">
                <a:solidFill>
                  <a:schemeClr val="accent2"/>
                </a:solidFill>
              </a:rPr>
              <a:t>Merge Sort - </a:t>
            </a:r>
            <a:r>
              <a:rPr lang="en-US" sz="2800" b="1" dirty="0" smtClean="0">
                <a:solidFill>
                  <a:srgbClr val="00B050"/>
                </a:solidFill>
              </a:rPr>
              <a:t>Recurrence</a:t>
            </a:r>
            <a:endParaRPr lang="en-US" sz="2800" b="1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450" y="3760470"/>
            <a:ext cx="3400425" cy="2609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450" y="2057400"/>
            <a:ext cx="571500" cy="276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887" y="2075020"/>
            <a:ext cx="390525" cy="228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2084545"/>
            <a:ext cx="590550" cy="2190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2817970"/>
            <a:ext cx="533400" cy="1905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0075" y="2535456"/>
            <a:ext cx="142875" cy="1428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406" y="1981200"/>
            <a:ext cx="2604708" cy="438912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3087" y="2468780"/>
            <a:ext cx="723900" cy="2762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2486" y="2468780"/>
            <a:ext cx="695325" cy="2762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95911" y="2514600"/>
            <a:ext cx="219075" cy="1809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850" y="2495550"/>
            <a:ext cx="581025" cy="25717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4362" y="3228975"/>
            <a:ext cx="245745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0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8001000" cy="47244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Merge Sort Analysis</a:t>
            </a:r>
          </a:p>
          <a:p>
            <a:pPr lvl="1" eaLnBrk="1" hangingPunct="1"/>
            <a:r>
              <a:rPr lang="en-US" dirty="0" smtClean="0"/>
              <a:t>T(n) = 2T(n/2) + n</a:t>
            </a:r>
          </a:p>
          <a:p>
            <a:pPr lvl="1" eaLnBrk="1" hangingPunct="1"/>
            <a:r>
              <a:rPr lang="en-US" dirty="0" smtClean="0"/>
              <a:t>Do you know what T(n/2) equals</a:t>
            </a:r>
          </a:p>
          <a:p>
            <a:pPr lvl="2" eaLnBrk="1" hangingPunct="1"/>
            <a:r>
              <a:rPr lang="en-US" dirty="0" smtClean="0"/>
              <a:t>Does it equal 2,125 operations?  We don’t know!</a:t>
            </a:r>
          </a:p>
          <a:p>
            <a:pPr lvl="1" eaLnBrk="1" hangingPunct="1"/>
            <a:r>
              <a:rPr lang="en-US" dirty="0" smtClean="0"/>
              <a:t>So we need to develop an equation for T(n/2)</a:t>
            </a:r>
          </a:p>
          <a:p>
            <a:pPr lvl="1" eaLnBrk="1" hangingPunct="1"/>
            <a:r>
              <a:rPr lang="en-US" dirty="0" smtClean="0"/>
              <a:t>How?</a:t>
            </a:r>
          </a:p>
          <a:p>
            <a:pPr lvl="1" eaLnBrk="1" hangingPunct="1"/>
            <a:r>
              <a:rPr lang="en-US" dirty="0" smtClean="0"/>
              <a:t>Take the original equation shown above</a:t>
            </a:r>
          </a:p>
          <a:p>
            <a:pPr lvl="1" eaLnBrk="1" hangingPunct="1"/>
            <a:r>
              <a:rPr lang="en-US" b="1" u="sng" dirty="0" smtClean="0"/>
              <a:t>Wherever you see an ‘n’, substitute with ‘n/2’</a:t>
            </a:r>
          </a:p>
          <a:p>
            <a:pPr lvl="1" eaLnBrk="1" hangingPunct="1"/>
            <a:r>
              <a:rPr lang="en-US" dirty="0" smtClean="0"/>
              <a:t>T(n/2) = 2T(n/4) + n/2</a:t>
            </a:r>
          </a:p>
          <a:p>
            <a:pPr lvl="1" eaLnBrk="1" hangingPunct="1"/>
            <a:r>
              <a:rPr lang="en-US" dirty="0" smtClean="0"/>
              <a:t>So now we have an equation for T(n/2)</a:t>
            </a:r>
          </a:p>
          <a:p>
            <a:pPr lvl="1" eaLnBrk="1" hangingPunct="1"/>
            <a:endParaRPr lang="en-US" dirty="0" smtClean="0"/>
          </a:p>
        </p:txBody>
      </p:sp>
      <p:sp>
        <p:nvSpPr>
          <p:cNvPr id="77828" name="TextBox 3"/>
          <p:cNvSpPr txBox="1">
            <a:spLocks noChangeArrowheads="1"/>
          </p:cNvSpPr>
          <p:nvPr/>
        </p:nvSpPr>
        <p:spPr bwMode="auto">
          <a:xfrm>
            <a:off x="4751388" y="2195513"/>
            <a:ext cx="25638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500" dirty="0"/>
              <a:t> and       T(1) = 1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chemeClr val="accent2"/>
                </a:solidFill>
              </a:rPr>
              <a:t>Backward Substitution</a:t>
            </a:r>
            <a:endParaRPr lang="en-US" sz="4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41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500" fill="hold"/>
                                        <p:tgtEl>
                                          <p:spTgt spid="624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02" y="1632867"/>
            <a:ext cx="8001000" cy="4724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 smtClean="0"/>
              <a:t>Merge Sort Analysis</a:t>
            </a:r>
          </a:p>
          <a:p>
            <a:pPr lvl="1" eaLnBrk="1" hangingPunct="1"/>
            <a:r>
              <a:rPr lang="en-US" dirty="0" smtClean="0"/>
              <a:t>T(n) = 2T(n/2) + n</a:t>
            </a:r>
          </a:p>
          <a:p>
            <a:pPr lvl="1" eaLnBrk="1" hangingPunct="1"/>
            <a:r>
              <a:rPr lang="en-US" dirty="0" smtClean="0"/>
              <a:t>T(n/2) = 2T(n/4) + n/2</a:t>
            </a:r>
          </a:p>
          <a:p>
            <a:pPr lvl="1" eaLnBrk="1" hangingPunct="1"/>
            <a:r>
              <a:rPr lang="en-US" dirty="0" smtClean="0"/>
              <a:t>So now we have an equation for T(n/2)</a:t>
            </a:r>
          </a:p>
          <a:p>
            <a:pPr lvl="2" eaLnBrk="1" hangingPunct="1"/>
            <a:r>
              <a:rPr lang="en-US" dirty="0" smtClean="0"/>
              <a:t>We can take this equation and substitute it back into the original equation</a:t>
            </a:r>
          </a:p>
          <a:p>
            <a:pPr lvl="1" eaLnBrk="1" hangingPunct="1"/>
            <a:r>
              <a:rPr lang="en-US" dirty="0" smtClean="0"/>
              <a:t>T(n) = 2T(n/2) + n = 2[2T(n/4) + n/2] + n</a:t>
            </a:r>
          </a:p>
          <a:p>
            <a:pPr lvl="2" eaLnBrk="1" hangingPunct="1"/>
            <a:r>
              <a:rPr lang="en-US" dirty="0" smtClean="0"/>
              <a:t>now simplify</a:t>
            </a:r>
          </a:p>
          <a:p>
            <a:pPr lvl="1" eaLnBrk="1" hangingPunct="1"/>
            <a:r>
              <a:rPr lang="en-US" dirty="0" smtClean="0"/>
              <a:t>T(n) = 4T(n/4) + 2n</a:t>
            </a:r>
          </a:p>
          <a:p>
            <a:pPr lvl="2" eaLnBrk="1" hangingPunct="1"/>
            <a:r>
              <a:rPr lang="en-US" dirty="0" smtClean="0"/>
              <a:t>Same thing here:  do you know what T(n/4) equals?</a:t>
            </a:r>
          </a:p>
          <a:p>
            <a:pPr lvl="2" eaLnBrk="1" hangingPunct="1"/>
            <a:r>
              <a:rPr lang="en-US" dirty="0" smtClean="0"/>
              <a:t>No we don’t!  So we need to develop an </a:t>
            </a:r>
            <a:r>
              <a:rPr lang="en-US" dirty="0" err="1" smtClean="0"/>
              <a:t>eqn</a:t>
            </a:r>
            <a:r>
              <a:rPr lang="en-US" dirty="0" smtClean="0"/>
              <a:t> for T(n/4)</a:t>
            </a:r>
          </a:p>
          <a:p>
            <a:pPr lvl="1" eaLnBrk="1" hangingPunct="1"/>
            <a:endParaRPr lang="en-US" dirty="0" smtClean="0"/>
          </a:p>
        </p:txBody>
      </p:sp>
      <p:sp>
        <p:nvSpPr>
          <p:cNvPr id="78852" name="TextBox 3"/>
          <p:cNvSpPr txBox="1">
            <a:spLocks noChangeArrowheads="1"/>
          </p:cNvSpPr>
          <p:nvPr/>
        </p:nvSpPr>
        <p:spPr bwMode="auto">
          <a:xfrm>
            <a:off x="4751388" y="2195513"/>
            <a:ext cx="25638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500" dirty="0"/>
              <a:t> and       T(1) = 1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chemeClr val="accent2"/>
                </a:solidFill>
              </a:rPr>
              <a:t>Backward Substitution</a:t>
            </a:r>
            <a:endParaRPr lang="en-US" sz="4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066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624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24" y="1733831"/>
            <a:ext cx="8001000" cy="4724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 smtClean="0"/>
              <a:t>Merge Sort Analysis</a:t>
            </a:r>
          </a:p>
          <a:p>
            <a:pPr lvl="1" eaLnBrk="1" hangingPunct="1"/>
            <a:r>
              <a:rPr lang="en-US" dirty="0" smtClean="0"/>
              <a:t>T(n) = 2T(n/2) + n</a:t>
            </a:r>
          </a:p>
          <a:p>
            <a:pPr lvl="1" eaLnBrk="1" hangingPunct="1"/>
            <a:r>
              <a:rPr lang="en-US" dirty="0" smtClean="0"/>
              <a:t>T(n/2) = 2T(n/4) + n/2</a:t>
            </a:r>
          </a:p>
          <a:p>
            <a:pPr lvl="1" eaLnBrk="1" hangingPunct="1"/>
            <a:r>
              <a:rPr lang="en-US" dirty="0" smtClean="0"/>
              <a:t>T(n) = 4T(n/4) + 2n</a:t>
            </a:r>
          </a:p>
          <a:p>
            <a:pPr lvl="2" eaLnBrk="1" hangingPunct="1"/>
            <a:r>
              <a:rPr lang="en-US" dirty="0" smtClean="0"/>
              <a:t>Same thing here:  do you know what T(n/4) equals?</a:t>
            </a:r>
          </a:p>
          <a:p>
            <a:pPr lvl="2" eaLnBrk="1" hangingPunct="1"/>
            <a:r>
              <a:rPr lang="en-US" dirty="0" smtClean="0"/>
              <a:t>No we don’t!  So we need to develop an </a:t>
            </a:r>
            <a:r>
              <a:rPr lang="en-US" dirty="0" err="1" smtClean="0"/>
              <a:t>eqn</a:t>
            </a:r>
            <a:r>
              <a:rPr lang="en-US" dirty="0" smtClean="0"/>
              <a:t> for T(n/4)</a:t>
            </a:r>
          </a:p>
          <a:p>
            <a:pPr lvl="2" eaLnBrk="1" hangingPunct="1"/>
            <a:r>
              <a:rPr lang="en-US" dirty="0" smtClean="0"/>
              <a:t>Take the </a:t>
            </a:r>
            <a:r>
              <a:rPr lang="en-US" dirty="0" err="1" smtClean="0"/>
              <a:t>eqn</a:t>
            </a:r>
            <a:r>
              <a:rPr lang="en-US" dirty="0" smtClean="0"/>
              <a:t> above and again substitute ‘n/2’ for ‘n’</a:t>
            </a:r>
          </a:p>
          <a:p>
            <a:pPr lvl="1" eaLnBrk="1" hangingPunct="1"/>
            <a:r>
              <a:rPr lang="en-US" dirty="0" smtClean="0"/>
              <a:t>T(n/4) = 2T(n/8) + n/4</a:t>
            </a:r>
          </a:p>
          <a:p>
            <a:pPr lvl="1" eaLnBrk="1" hangingPunct="1"/>
            <a:r>
              <a:rPr lang="en-US" dirty="0" smtClean="0"/>
              <a:t>So now we have an equation for T(n/4)</a:t>
            </a:r>
          </a:p>
          <a:p>
            <a:pPr lvl="2" eaLnBrk="1" hangingPunct="1"/>
            <a:r>
              <a:rPr lang="en-US" dirty="0" smtClean="0"/>
              <a:t>We can take this equation and substitute it back the equation that we currently have in terms of T(n/4)</a:t>
            </a:r>
          </a:p>
          <a:p>
            <a:pPr lvl="1" eaLnBrk="1" hangingPunct="1"/>
            <a:endParaRPr lang="en-US" dirty="0" smtClean="0"/>
          </a:p>
        </p:txBody>
      </p:sp>
      <p:sp>
        <p:nvSpPr>
          <p:cNvPr id="79876" name="TextBox 3"/>
          <p:cNvSpPr txBox="1">
            <a:spLocks noChangeArrowheads="1"/>
          </p:cNvSpPr>
          <p:nvPr/>
        </p:nvSpPr>
        <p:spPr bwMode="auto">
          <a:xfrm>
            <a:off x="4751388" y="2195513"/>
            <a:ext cx="25638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500"/>
              <a:t> and       T(1) = 1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chemeClr val="accent2"/>
                </a:solidFill>
              </a:rPr>
              <a:t>Backward Substitution</a:t>
            </a:r>
            <a:endParaRPr lang="en-US" sz="4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06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624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500" fill="hold"/>
                                        <p:tgtEl>
                                          <p:spTgt spid="624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8001000" cy="4724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 smtClean="0"/>
              <a:t>Merge Sort Analysis</a:t>
            </a:r>
          </a:p>
          <a:p>
            <a:pPr lvl="1" eaLnBrk="1" hangingPunct="1"/>
            <a:r>
              <a:rPr lang="en-US" dirty="0" smtClean="0"/>
              <a:t>T(n) = 2T(n/2) + n</a:t>
            </a:r>
          </a:p>
          <a:p>
            <a:pPr lvl="1" eaLnBrk="1" hangingPunct="1"/>
            <a:r>
              <a:rPr lang="en-US" dirty="0" smtClean="0"/>
              <a:t>T(n/2) = 2T(n/4) + n/2</a:t>
            </a:r>
          </a:p>
          <a:p>
            <a:pPr lvl="1" eaLnBrk="1" hangingPunct="1"/>
            <a:r>
              <a:rPr lang="en-US" dirty="0" smtClean="0"/>
              <a:t>T(n) = 4T(n/4) + 2n</a:t>
            </a:r>
          </a:p>
          <a:p>
            <a:pPr lvl="1" eaLnBrk="1" hangingPunct="1"/>
            <a:r>
              <a:rPr lang="en-US" dirty="0" smtClean="0"/>
              <a:t>T(n/4) = 2T(n/8) + n/4</a:t>
            </a:r>
          </a:p>
          <a:p>
            <a:pPr lvl="1" eaLnBrk="1" hangingPunct="1"/>
            <a:r>
              <a:rPr lang="en-US" dirty="0" smtClean="0"/>
              <a:t>So now we have an equation for T(n/4)</a:t>
            </a:r>
          </a:p>
          <a:p>
            <a:pPr lvl="2" eaLnBrk="1" hangingPunct="1"/>
            <a:r>
              <a:rPr lang="en-US" dirty="0" smtClean="0"/>
              <a:t>We can take this equation and substitute it back the equation that we currently have in terms of T(n/4)</a:t>
            </a:r>
          </a:p>
          <a:p>
            <a:pPr lvl="1" eaLnBrk="1" hangingPunct="1"/>
            <a:r>
              <a:rPr lang="en-US" dirty="0" smtClean="0"/>
              <a:t>T(n) = 4T(n/4) + 2n = 4[2T(n/8) + n/4] + 2n</a:t>
            </a:r>
          </a:p>
          <a:p>
            <a:pPr lvl="2" eaLnBrk="1" hangingPunct="1"/>
            <a:r>
              <a:rPr lang="en-US" dirty="0" smtClean="0"/>
              <a:t>Simplify a bit</a:t>
            </a:r>
          </a:p>
          <a:p>
            <a:pPr lvl="1" eaLnBrk="1" hangingPunct="1"/>
            <a:r>
              <a:rPr lang="en-US" dirty="0" smtClean="0"/>
              <a:t>T(n) = 8T(n/8) + 3n</a:t>
            </a:r>
          </a:p>
          <a:p>
            <a:pPr lvl="1" eaLnBrk="1" hangingPunct="1"/>
            <a:endParaRPr lang="en-US" dirty="0" smtClean="0"/>
          </a:p>
        </p:txBody>
      </p:sp>
      <p:sp>
        <p:nvSpPr>
          <p:cNvPr id="80900" name="TextBox 3"/>
          <p:cNvSpPr txBox="1">
            <a:spLocks noChangeArrowheads="1"/>
          </p:cNvSpPr>
          <p:nvPr/>
        </p:nvSpPr>
        <p:spPr bwMode="auto">
          <a:xfrm>
            <a:off x="4751388" y="2195513"/>
            <a:ext cx="2563812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500"/>
              <a:t> and       T(1) = 1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chemeClr val="accent2"/>
                </a:solidFill>
              </a:rPr>
              <a:t>Backward Substitution</a:t>
            </a:r>
            <a:endParaRPr lang="en-US" sz="4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880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" y="1676400"/>
            <a:ext cx="8001000" cy="4724400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 smtClean="0"/>
              <a:t>Merge Sort Analysis</a:t>
            </a:r>
          </a:p>
          <a:p>
            <a:pPr lvl="1" eaLnBrk="1" hangingPunct="1"/>
            <a:r>
              <a:rPr lang="en-US" dirty="0" smtClean="0"/>
              <a:t>So now we have three equations for T(n):</a:t>
            </a:r>
          </a:p>
          <a:p>
            <a:pPr lvl="1" eaLnBrk="1" hangingPunct="1"/>
            <a:r>
              <a:rPr lang="en-US" dirty="0" smtClean="0"/>
              <a:t>T(n) = 2T(n/2) + n</a:t>
            </a:r>
          </a:p>
          <a:p>
            <a:pPr lvl="1" eaLnBrk="1" hangingPunct="1"/>
            <a:r>
              <a:rPr lang="en-US" dirty="0" smtClean="0"/>
              <a:t>T(n) = 4T(n/4) + 2n</a:t>
            </a:r>
          </a:p>
          <a:p>
            <a:pPr lvl="1" eaLnBrk="1" hangingPunct="1"/>
            <a:r>
              <a:rPr lang="en-US" dirty="0" smtClean="0"/>
              <a:t>T(n) = 8T(n/8) + 3n</a:t>
            </a:r>
          </a:p>
          <a:p>
            <a:pPr lvl="1" eaLnBrk="1" hangingPunct="1"/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So on the </a:t>
            </a:r>
            <a:r>
              <a:rPr lang="en-US" dirty="0" err="1" smtClean="0"/>
              <a:t>kth</a:t>
            </a:r>
            <a:r>
              <a:rPr lang="en-US" dirty="0" smtClean="0"/>
              <a:t> step/stage of the recursion, we get a generalized recurrence relation: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T(n) = 2</a:t>
            </a:r>
            <a:r>
              <a:rPr lang="en-US" baseline="30000" dirty="0" smtClean="0"/>
              <a:t>k</a:t>
            </a:r>
            <a:r>
              <a:rPr lang="en-US" dirty="0" smtClean="0"/>
              <a:t>T(n/2</a:t>
            </a:r>
            <a:r>
              <a:rPr lang="en-US" baseline="30000" dirty="0" smtClean="0"/>
              <a:t>k</a:t>
            </a:r>
            <a:r>
              <a:rPr lang="en-US" dirty="0" smtClean="0"/>
              <a:t>) +</a:t>
            </a:r>
            <a:r>
              <a:rPr lang="en-US" dirty="0" err="1" smtClean="0"/>
              <a:t>kn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Whew!  So now we’re done right?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688790" y="2615408"/>
            <a:ext cx="3482975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500" dirty="0">
                <a:sym typeface="Wingdings" pitchFamily="2" charset="2"/>
              </a:rPr>
              <a:t>  </a:t>
            </a:r>
            <a:r>
              <a:rPr lang="en-US" sz="2500" dirty="0"/>
              <a:t>1</a:t>
            </a:r>
            <a:r>
              <a:rPr lang="en-US" sz="2500" baseline="30000" dirty="0"/>
              <a:t>st</a:t>
            </a:r>
            <a:r>
              <a:rPr lang="en-US" sz="2500" dirty="0"/>
              <a:t> step of recursion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657600" y="3027363"/>
            <a:ext cx="35544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500" dirty="0">
                <a:sym typeface="Wingdings" pitchFamily="2" charset="2"/>
              </a:rPr>
              <a:t>  </a:t>
            </a:r>
            <a:r>
              <a:rPr lang="en-US" sz="2500" dirty="0"/>
              <a:t>2</a:t>
            </a:r>
            <a:r>
              <a:rPr lang="en-US" sz="2500" baseline="30000" dirty="0"/>
              <a:t>nd</a:t>
            </a:r>
            <a:r>
              <a:rPr lang="en-US" sz="2500" dirty="0"/>
              <a:t> step of recursion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3560763"/>
            <a:ext cx="350678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500" dirty="0">
                <a:sym typeface="Wingdings" pitchFamily="2" charset="2"/>
              </a:rPr>
              <a:t>  3</a:t>
            </a:r>
            <a:r>
              <a:rPr lang="en-US" sz="2500" baseline="30000" dirty="0">
                <a:sym typeface="Wingdings" pitchFamily="2" charset="2"/>
              </a:rPr>
              <a:t>rd</a:t>
            </a:r>
            <a:r>
              <a:rPr lang="en-US" sz="2500" dirty="0">
                <a:sym typeface="Wingdings" pitchFamily="2" charset="2"/>
              </a:rPr>
              <a:t> step </a:t>
            </a:r>
            <a:r>
              <a:rPr lang="en-US" sz="2500" dirty="0"/>
              <a:t>of recursion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688790" y="5022851"/>
            <a:ext cx="35671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500" dirty="0">
                <a:sym typeface="Wingdings" pitchFamily="2" charset="2"/>
              </a:rPr>
              <a:t>  </a:t>
            </a:r>
            <a:r>
              <a:rPr lang="en-US" sz="2500" dirty="0" err="1">
                <a:sym typeface="Wingdings" pitchFamily="2" charset="2"/>
              </a:rPr>
              <a:t>k</a:t>
            </a:r>
            <a:r>
              <a:rPr lang="en-US" sz="2500" baseline="30000" dirty="0" err="1">
                <a:sym typeface="Wingdings" pitchFamily="2" charset="2"/>
              </a:rPr>
              <a:t>th</a:t>
            </a:r>
            <a:r>
              <a:rPr lang="en-US" sz="2500" dirty="0">
                <a:sym typeface="Wingdings" pitchFamily="2" charset="2"/>
              </a:rPr>
              <a:t> step </a:t>
            </a:r>
            <a:r>
              <a:rPr lang="en-US" sz="2500" dirty="0"/>
              <a:t>of recursion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562600" y="5791200"/>
            <a:ext cx="12128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500" dirty="0"/>
              <a:t>Wrong!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chemeClr val="accent2"/>
                </a:solidFill>
              </a:rPr>
              <a:t>Backward Substitution</a:t>
            </a:r>
            <a:endParaRPr lang="en-US" sz="4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377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00200"/>
            <a:ext cx="8001000" cy="47244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Merge Sort Analysis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So on the </a:t>
            </a:r>
            <a:r>
              <a:rPr lang="en-US" dirty="0" err="1" smtClean="0"/>
              <a:t>kth</a:t>
            </a:r>
            <a:r>
              <a:rPr lang="en-US" dirty="0" smtClean="0"/>
              <a:t> step/stage of the recursion, we get a generalized recurrence relation: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T(n) = 2</a:t>
            </a:r>
            <a:r>
              <a:rPr lang="en-US" baseline="30000" dirty="0" smtClean="0"/>
              <a:t>k</a:t>
            </a:r>
            <a:r>
              <a:rPr lang="en-US" dirty="0" smtClean="0"/>
              <a:t>T(n/2</a:t>
            </a:r>
            <a:r>
              <a:rPr lang="en-US" baseline="30000" dirty="0" smtClean="0"/>
              <a:t>k</a:t>
            </a:r>
            <a:r>
              <a:rPr lang="en-US" dirty="0" smtClean="0"/>
              <a:t>) +</a:t>
            </a:r>
            <a:r>
              <a:rPr lang="en-US" dirty="0" err="1" smtClean="0"/>
              <a:t>kn</a:t>
            </a:r>
            <a:endParaRPr 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We need to get rid of the T(…)’s on the right side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Remember, we know T(1) = 1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So we make a substitution: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00B0F0"/>
                </a:solidFill>
              </a:rPr>
              <a:t>Let n = 2</a:t>
            </a:r>
            <a:r>
              <a:rPr lang="en-US" b="1" baseline="30000" dirty="0" smtClean="0">
                <a:solidFill>
                  <a:srgbClr val="00B0F0"/>
                </a:solidFill>
              </a:rPr>
              <a:t>k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and also solve for k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 dirty="0" smtClean="0">
                <a:solidFill>
                  <a:srgbClr val="00B0F0"/>
                </a:solidFill>
              </a:rPr>
              <a:t>k = log</a:t>
            </a:r>
            <a:r>
              <a:rPr lang="en-US" b="1" baseline="-25000" dirty="0" smtClean="0">
                <a:solidFill>
                  <a:srgbClr val="00B0F0"/>
                </a:solidFill>
              </a:rPr>
              <a:t>2</a:t>
            </a:r>
            <a:r>
              <a:rPr lang="en-US" b="1" dirty="0" smtClean="0">
                <a:solidFill>
                  <a:srgbClr val="00B0F0"/>
                </a:solidFill>
              </a:rPr>
              <a:t>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Plug these back in…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chemeClr val="accent2"/>
                </a:solidFill>
              </a:rPr>
              <a:t>Backward Substitution</a:t>
            </a:r>
            <a:endParaRPr lang="en-US" sz="4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391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" y="1676400"/>
            <a:ext cx="8001000" cy="47244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Merge Sort Analysis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So on the </a:t>
            </a:r>
            <a:r>
              <a:rPr lang="en-US" dirty="0" err="1" smtClean="0"/>
              <a:t>kth</a:t>
            </a:r>
            <a:r>
              <a:rPr lang="en-US" dirty="0" smtClean="0"/>
              <a:t> step/stage of the recursion, we get a generalized recurrence relation: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T(n) = 2</a:t>
            </a:r>
            <a:r>
              <a:rPr lang="en-US" baseline="30000" dirty="0" smtClean="0"/>
              <a:t>k</a:t>
            </a:r>
            <a:r>
              <a:rPr lang="en-US" dirty="0" smtClean="0"/>
              <a:t>T(n/2</a:t>
            </a:r>
            <a:r>
              <a:rPr lang="en-US" baseline="30000" dirty="0" smtClean="0"/>
              <a:t>k</a:t>
            </a:r>
            <a:r>
              <a:rPr lang="en-US" dirty="0" smtClean="0"/>
              <a:t>) +</a:t>
            </a:r>
            <a:r>
              <a:rPr lang="en-US" dirty="0" err="1" smtClean="0"/>
              <a:t>kn</a:t>
            </a:r>
            <a:endParaRPr lang="en-US" dirty="0" smtClean="0"/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Let n = 2</a:t>
            </a:r>
            <a:r>
              <a:rPr lang="en-US" baseline="30000" dirty="0" smtClean="0"/>
              <a:t>k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and also solve for k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k = log</a:t>
            </a:r>
            <a:r>
              <a:rPr lang="en-US" baseline="-25000" dirty="0" smtClean="0"/>
              <a:t>2</a:t>
            </a:r>
            <a:r>
              <a:rPr lang="en-US" dirty="0" smtClean="0"/>
              <a:t>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Plug these back in…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T(n) = n*T(1) + </a:t>
            </a:r>
            <a:r>
              <a:rPr lang="en-US" dirty="0" smtClean="0"/>
              <a:t>n lgn </a:t>
            </a:r>
            <a:r>
              <a:rPr lang="en-US" dirty="0" smtClean="0"/>
              <a:t>= n + n*lgn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 smtClean="0"/>
              <a:t>So Merge Sort runs in </a:t>
            </a:r>
            <a:r>
              <a:rPr lang="el-GR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(n*lg n) </a:t>
            </a:r>
            <a:r>
              <a:rPr lang="en-US" dirty="0" smtClean="0"/>
              <a:t>time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6248400" cy="685800"/>
          </a:xfrm>
        </p:spPr>
        <p:txBody>
          <a:bodyPr>
            <a:normAutofit fontScale="90000"/>
          </a:bodyPr>
          <a:lstStyle/>
          <a:p>
            <a:pPr algn="l"/>
            <a:r>
              <a:rPr lang="en-US" sz="4000" b="1" dirty="0" smtClean="0">
                <a:solidFill>
                  <a:schemeClr val="accent2"/>
                </a:solidFill>
              </a:rPr>
              <a:t>Backward Substitution</a:t>
            </a:r>
            <a:endParaRPr lang="en-US" sz="4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692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Tower of Hanoi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Example 01</a:t>
            </a:r>
          </a:p>
          <a:p>
            <a:pPr algn="r"/>
            <a:r>
              <a:rPr lang="en-US" dirty="0" smtClean="0"/>
              <a:t>Algorithm and Tracing</a:t>
            </a:r>
          </a:p>
        </p:txBody>
      </p:sp>
    </p:spTree>
    <p:extLst>
      <p:ext uri="{BB962C8B-B14F-4D97-AF65-F5344CB8AC3E}">
        <p14:creationId xmlns:p14="http://schemas.microsoft.com/office/powerpoint/2010/main" val="415829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Towers of Hanoi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900" dirty="0"/>
              <a:t>There are three vertical poles</a:t>
            </a:r>
          </a:p>
          <a:p>
            <a:r>
              <a:rPr lang="en-US" sz="2900" dirty="0"/>
              <a:t>There are 64 disks on tower 1 (left most tower)</a:t>
            </a:r>
          </a:p>
          <a:p>
            <a:pPr lvl="1"/>
            <a:r>
              <a:rPr lang="en-US" sz="2600" dirty="0"/>
              <a:t>The disks are arranged with the largest diameter disks at the bottom</a:t>
            </a:r>
          </a:p>
          <a:p>
            <a:r>
              <a:rPr lang="en-US" sz="2900" dirty="0"/>
              <a:t>Some monk has the daunting task of moving disks from one tower to another tower</a:t>
            </a:r>
          </a:p>
          <a:p>
            <a:pPr lvl="1"/>
            <a:r>
              <a:rPr lang="en-US" sz="2600" dirty="0"/>
              <a:t>Often defined as moving from Tower #1 to Tower #3</a:t>
            </a:r>
          </a:p>
          <a:p>
            <a:pPr lvl="2"/>
            <a:r>
              <a:rPr lang="en-US" dirty="0"/>
              <a:t>Tower #2 is just an intermediate pole</a:t>
            </a:r>
          </a:p>
          <a:p>
            <a:pPr lvl="1"/>
            <a:r>
              <a:rPr lang="en-US" sz="2600" dirty="0"/>
              <a:t>He </a:t>
            </a:r>
            <a:r>
              <a:rPr lang="en-US" sz="2600" b="1" u="sng" dirty="0"/>
              <a:t>can only move ONE disk at a time</a:t>
            </a:r>
          </a:p>
          <a:p>
            <a:pPr lvl="1"/>
            <a:r>
              <a:rPr lang="en-US" sz="2600" dirty="0"/>
              <a:t>And he MUST follow the rule of </a:t>
            </a:r>
            <a:r>
              <a:rPr lang="en-US" sz="2600" b="1" u="sng" dirty="0"/>
              <a:t>NEVER putting a bigger disk on top of a smaller </a:t>
            </a:r>
            <a:r>
              <a:rPr lang="en-US" sz="2600" b="1" u="sng" dirty="0" smtClean="0"/>
              <a:t>disk</a:t>
            </a:r>
            <a:endParaRPr lang="en-US" sz="2600" b="1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4648200" y="1219200"/>
            <a:ext cx="3048000" cy="990600"/>
            <a:chOff x="5808821" y="1752600"/>
            <a:chExt cx="3048000" cy="990600"/>
          </a:xfrm>
        </p:grpSpPr>
        <p:grpSp>
          <p:nvGrpSpPr>
            <p:cNvPr id="6" name="Group 1027"/>
            <p:cNvGrpSpPr>
              <a:grpSpLocks/>
            </p:cNvGrpSpPr>
            <p:nvPr/>
          </p:nvGrpSpPr>
          <p:grpSpPr bwMode="auto">
            <a:xfrm>
              <a:off x="5808821" y="1752600"/>
              <a:ext cx="922283" cy="990600"/>
              <a:chOff x="528" y="2496"/>
              <a:chExt cx="1296" cy="1392"/>
            </a:xfrm>
          </p:grpSpPr>
          <p:sp>
            <p:nvSpPr>
              <p:cNvPr id="16" name="Rectangle 1028"/>
              <p:cNvSpPr>
                <a:spLocks noChangeArrowheads="1"/>
              </p:cNvSpPr>
              <p:nvPr/>
            </p:nvSpPr>
            <p:spPr bwMode="auto">
              <a:xfrm>
                <a:off x="528" y="3744"/>
                <a:ext cx="1296" cy="1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Rectangle 1029"/>
              <p:cNvSpPr>
                <a:spLocks noChangeArrowheads="1"/>
              </p:cNvSpPr>
              <p:nvPr/>
            </p:nvSpPr>
            <p:spPr bwMode="auto">
              <a:xfrm>
                <a:off x="1152" y="2496"/>
                <a:ext cx="96" cy="12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" name="Oval 1036"/>
            <p:cNvSpPr>
              <a:spLocks noChangeArrowheads="1"/>
            </p:cNvSpPr>
            <p:nvPr/>
          </p:nvSpPr>
          <p:spPr bwMode="auto">
            <a:xfrm>
              <a:off x="5901712" y="2438400"/>
              <a:ext cx="785649" cy="10247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Oval 1037"/>
            <p:cNvSpPr>
              <a:spLocks noChangeArrowheads="1"/>
            </p:cNvSpPr>
            <p:nvPr/>
          </p:nvSpPr>
          <p:spPr bwMode="auto">
            <a:xfrm>
              <a:off x="6019800" y="2286000"/>
              <a:ext cx="546536" cy="68317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1038"/>
            <p:cNvSpPr>
              <a:spLocks noChangeArrowheads="1"/>
            </p:cNvSpPr>
            <p:nvPr/>
          </p:nvSpPr>
          <p:spPr bwMode="auto">
            <a:xfrm>
              <a:off x="6120268" y="2151530"/>
              <a:ext cx="307427" cy="68317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" name="Group 1027"/>
            <p:cNvGrpSpPr>
              <a:grpSpLocks/>
            </p:cNvGrpSpPr>
            <p:nvPr/>
          </p:nvGrpSpPr>
          <p:grpSpPr bwMode="auto">
            <a:xfrm>
              <a:off x="6867738" y="1752600"/>
              <a:ext cx="922283" cy="990600"/>
              <a:chOff x="528" y="2496"/>
              <a:chExt cx="1296" cy="1392"/>
            </a:xfrm>
          </p:grpSpPr>
          <p:sp>
            <p:nvSpPr>
              <p:cNvPr id="14" name="Rectangle 1028"/>
              <p:cNvSpPr>
                <a:spLocks noChangeArrowheads="1"/>
              </p:cNvSpPr>
              <p:nvPr/>
            </p:nvSpPr>
            <p:spPr bwMode="auto">
              <a:xfrm>
                <a:off x="528" y="3744"/>
                <a:ext cx="1296" cy="1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Rectangle 1029"/>
              <p:cNvSpPr>
                <a:spLocks noChangeArrowheads="1"/>
              </p:cNvSpPr>
              <p:nvPr/>
            </p:nvSpPr>
            <p:spPr bwMode="auto">
              <a:xfrm>
                <a:off x="1152" y="2496"/>
                <a:ext cx="96" cy="12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1" name="Group 1027"/>
            <p:cNvGrpSpPr>
              <a:grpSpLocks/>
            </p:cNvGrpSpPr>
            <p:nvPr/>
          </p:nvGrpSpPr>
          <p:grpSpPr bwMode="auto">
            <a:xfrm>
              <a:off x="7934538" y="1752600"/>
              <a:ext cx="922283" cy="990600"/>
              <a:chOff x="528" y="2496"/>
              <a:chExt cx="1296" cy="1392"/>
            </a:xfrm>
          </p:grpSpPr>
          <p:sp>
            <p:nvSpPr>
              <p:cNvPr id="12" name="Rectangle 1028"/>
              <p:cNvSpPr>
                <a:spLocks noChangeArrowheads="1"/>
              </p:cNvSpPr>
              <p:nvPr/>
            </p:nvSpPr>
            <p:spPr bwMode="auto">
              <a:xfrm>
                <a:off x="528" y="3744"/>
                <a:ext cx="1296" cy="1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1029"/>
              <p:cNvSpPr>
                <a:spLocks noChangeArrowheads="1"/>
              </p:cNvSpPr>
              <p:nvPr/>
            </p:nvSpPr>
            <p:spPr bwMode="auto">
              <a:xfrm>
                <a:off x="1152" y="2496"/>
                <a:ext cx="96" cy="1248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004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Tower of Hanoi - </a:t>
            </a:r>
            <a:r>
              <a:rPr lang="en-US" sz="2800" b="1" dirty="0" smtClean="0">
                <a:solidFill>
                  <a:srgbClr val="0000FF"/>
                </a:solidFill>
              </a:rPr>
              <a:t>Algorithm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286000"/>
            <a:ext cx="5105400" cy="352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7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67" y="1143000"/>
            <a:ext cx="7675809" cy="623369"/>
          </a:xfrm>
        </p:spPr>
        <p:txBody>
          <a:bodyPr>
            <a:normAutofit fontScale="90000"/>
          </a:bodyPr>
          <a:lstStyle/>
          <a:p>
            <a:r>
              <a:rPr lang="en-US" dirty="0"/>
              <a:t>Towers of </a:t>
            </a:r>
            <a:r>
              <a:rPr lang="en-US" dirty="0" smtClean="0"/>
              <a:t>Hanoi – </a:t>
            </a:r>
            <a:r>
              <a:rPr lang="en-US" sz="4000" b="1" dirty="0" smtClean="0">
                <a:solidFill>
                  <a:srgbClr val="0000FF"/>
                </a:solidFill>
              </a:rPr>
              <a:t>Tracing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41</a:t>
            </a:fld>
            <a:endParaRPr lang="en-US"/>
          </a:p>
        </p:txBody>
      </p:sp>
      <p:grpSp>
        <p:nvGrpSpPr>
          <p:cNvPr id="28" name="Group 2"/>
          <p:cNvGrpSpPr>
            <a:grpSpLocks/>
          </p:cNvGrpSpPr>
          <p:nvPr/>
        </p:nvGrpSpPr>
        <p:grpSpPr bwMode="auto">
          <a:xfrm>
            <a:off x="474663" y="1676400"/>
            <a:ext cx="3254375" cy="1335087"/>
            <a:chOff x="672" y="720"/>
            <a:chExt cx="2050" cy="841"/>
          </a:xfrm>
        </p:grpSpPr>
        <p:sp>
          <p:nvSpPr>
            <p:cNvPr id="29" name="AutoShape 3"/>
            <p:cNvSpPr>
              <a:spLocks noChangeAspect="1" noChangeArrowheads="1"/>
            </p:cNvSpPr>
            <p:nvPr/>
          </p:nvSpPr>
          <p:spPr bwMode="auto">
            <a:xfrm>
              <a:off x="672" y="1324"/>
              <a:ext cx="2050" cy="64"/>
            </a:xfrm>
            <a:prstGeom prst="roundRect">
              <a:avLst>
                <a:gd name="adj" fmla="val 16667"/>
              </a:avLst>
            </a:prstGeom>
            <a:solidFill>
              <a:srgbClr val="A5002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4"/>
            <p:cNvSpPr>
              <a:spLocks noChangeAspect="1" noChangeArrowheads="1"/>
            </p:cNvSpPr>
            <p:nvPr/>
          </p:nvSpPr>
          <p:spPr bwMode="auto">
            <a:xfrm>
              <a:off x="931" y="742"/>
              <a:ext cx="43" cy="582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5"/>
            <p:cNvSpPr>
              <a:spLocks noChangeAspect="1" noChangeArrowheads="1"/>
            </p:cNvSpPr>
            <p:nvPr/>
          </p:nvSpPr>
          <p:spPr bwMode="auto">
            <a:xfrm>
              <a:off x="1665" y="720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Rectangle 6"/>
            <p:cNvSpPr>
              <a:spLocks noChangeAspect="1" noChangeArrowheads="1"/>
            </p:cNvSpPr>
            <p:nvPr/>
          </p:nvSpPr>
          <p:spPr bwMode="auto">
            <a:xfrm>
              <a:off x="2398" y="720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AutoShape 7"/>
            <p:cNvSpPr>
              <a:spLocks noChangeAspect="1" noChangeArrowheads="1"/>
            </p:cNvSpPr>
            <p:nvPr/>
          </p:nvSpPr>
          <p:spPr bwMode="auto">
            <a:xfrm>
              <a:off x="715" y="1238"/>
              <a:ext cx="475" cy="86"/>
            </a:xfrm>
            <a:prstGeom prst="roundRect">
              <a:avLst>
                <a:gd name="adj" fmla="val 16667"/>
              </a:avLst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AutoShape 8"/>
            <p:cNvSpPr>
              <a:spLocks noChangeAspect="1" noChangeArrowheads="1"/>
            </p:cNvSpPr>
            <p:nvPr/>
          </p:nvSpPr>
          <p:spPr bwMode="auto">
            <a:xfrm>
              <a:off x="780" y="1151"/>
              <a:ext cx="345" cy="8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AutoShape 9"/>
            <p:cNvSpPr>
              <a:spLocks noChangeAspect="1" noChangeArrowheads="1"/>
            </p:cNvSpPr>
            <p:nvPr/>
          </p:nvSpPr>
          <p:spPr bwMode="auto">
            <a:xfrm>
              <a:off x="823" y="1065"/>
              <a:ext cx="237" cy="86"/>
            </a:xfrm>
            <a:prstGeom prst="roundRect">
              <a:avLst>
                <a:gd name="adj" fmla="val 16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10"/>
            <p:cNvSpPr>
              <a:spLocks noChangeAspect="1" noChangeArrowheads="1"/>
            </p:cNvSpPr>
            <p:nvPr/>
          </p:nvSpPr>
          <p:spPr bwMode="auto">
            <a:xfrm>
              <a:off x="715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start</a:t>
              </a:r>
            </a:p>
          </p:txBody>
        </p:sp>
        <p:sp>
          <p:nvSpPr>
            <p:cNvPr id="37" name="Rectangle 11"/>
            <p:cNvSpPr>
              <a:spLocks noChangeAspect="1" noChangeArrowheads="1"/>
            </p:cNvSpPr>
            <p:nvPr/>
          </p:nvSpPr>
          <p:spPr bwMode="auto">
            <a:xfrm>
              <a:off x="1470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temp</a:t>
              </a:r>
            </a:p>
          </p:txBody>
        </p:sp>
        <p:sp>
          <p:nvSpPr>
            <p:cNvPr id="38" name="Rectangle 12"/>
            <p:cNvSpPr>
              <a:spLocks noChangeAspect="1" noChangeArrowheads="1"/>
            </p:cNvSpPr>
            <p:nvPr/>
          </p:nvSpPr>
          <p:spPr bwMode="auto">
            <a:xfrm>
              <a:off x="2204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finish </a:t>
              </a:r>
            </a:p>
          </p:txBody>
        </p:sp>
      </p:grpSp>
      <p:grpSp>
        <p:nvGrpSpPr>
          <p:cNvPr id="40" name="Group 14"/>
          <p:cNvGrpSpPr>
            <a:grpSpLocks/>
          </p:cNvGrpSpPr>
          <p:nvPr/>
        </p:nvGrpSpPr>
        <p:grpSpPr bwMode="auto">
          <a:xfrm>
            <a:off x="4360069" y="1828800"/>
            <a:ext cx="3254375" cy="1335087"/>
            <a:chOff x="3456" y="720"/>
            <a:chExt cx="2050" cy="841"/>
          </a:xfrm>
        </p:grpSpPr>
        <p:sp>
          <p:nvSpPr>
            <p:cNvPr id="41" name="AutoShape 15"/>
            <p:cNvSpPr>
              <a:spLocks noChangeAspect="1" noChangeArrowheads="1"/>
            </p:cNvSpPr>
            <p:nvPr/>
          </p:nvSpPr>
          <p:spPr bwMode="auto">
            <a:xfrm>
              <a:off x="3456" y="1324"/>
              <a:ext cx="2050" cy="64"/>
            </a:xfrm>
            <a:prstGeom prst="roundRect">
              <a:avLst>
                <a:gd name="adj" fmla="val 16667"/>
              </a:avLst>
            </a:prstGeom>
            <a:solidFill>
              <a:srgbClr val="A5002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Rectangle 16"/>
            <p:cNvSpPr>
              <a:spLocks noChangeAspect="1" noChangeArrowheads="1"/>
            </p:cNvSpPr>
            <p:nvPr/>
          </p:nvSpPr>
          <p:spPr bwMode="auto">
            <a:xfrm>
              <a:off x="3715" y="742"/>
              <a:ext cx="43" cy="582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Rectangle 17"/>
            <p:cNvSpPr>
              <a:spLocks noChangeAspect="1" noChangeArrowheads="1"/>
            </p:cNvSpPr>
            <p:nvPr/>
          </p:nvSpPr>
          <p:spPr bwMode="auto">
            <a:xfrm>
              <a:off x="4449" y="720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Rectangle 18"/>
            <p:cNvSpPr>
              <a:spLocks noChangeAspect="1" noChangeArrowheads="1"/>
            </p:cNvSpPr>
            <p:nvPr/>
          </p:nvSpPr>
          <p:spPr bwMode="auto">
            <a:xfrm>
              <a:off x="5182" y="720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AutoShape 19"/>
            <p:cNvSpPr>
              <a:spLocks noChangeAspect="1" noChangeArrowheads="1"/>
            </p:cNvSpPr>
            <p:nvPr/>
          </p:nvSpPr>
          <p:spPr bwMode="auto">
            <a:xfrm>
              <a:off x="3499" y="1238"/>
              <a:ext cx="475" cy="86"/>
            </a:xfrm>
            <a:prstGeom prst="roundRect">
              <a:avLst>
                <a:gd name="adj" fmla="val 16667"/>
              </a:avLst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AutoShape 20"/>
            <p:cNvSpPr>
              <a:spLocks noChangeAspect="1" noChangeArrowheads="1"/>
            </p:cNvSpPr>
            <p:nvPr/>
          </p:nvSpPr>
          <p:spPr bwMode="auto">
            <a:xfrm>
              <a:off x="3564" y="1151"/>
              <a:ext cx="345" cy="8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AutoShape 21"/>
            <p:cNvSpPr>
              <a:spLocks noChangeAspect="1" noChangeArrowheads="1"/>
            </p:cNvSpPr>
            <p:nvPr/>
          </p:nvSpPr>
          <p:spPr bwMode="auto">
            <a:xfrm>
              <a:off x="5088" y="1248"/>
              <a:ext cx="237" cy="86"/>
            </a:xfrm>
            <a:prstGeom prst="roundRect">
              <a:avLst>
                <a:gd name="adj" fmla="val 16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22"/>
            <p:cNvSpPr>
              <a:spLocks noChangeAspect="1" noChangeArrowheads="1"/>
            </p:cNvSpPr>
            <p:nvPr/>
          </p:nvSpPr>
          <p:spPr bwMode="auto">
            <a:xfrm>
              <a:off x="3499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start </a:t>
              </a:r>
            </a:p>
          </p:txBody>
        </p:sp>
        <p:sp>
          <p:nvSpPr>
            <p:cNvPr id="71" name="Rectangle 23"/>
            <p:cNvSpPr>
              <a:spLocks noChangeAspect="1" noChangeArrowheads="1"/>
            </p:cNvSpPr>
            <p:nvPr/>
          </p:nvSpPr>
          <p:spPr bwMode="auto">
            <a:xfrm>
              <a:off x="4254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temp </a:t>
              </a:r>
            </a:p>
          </p:txBody>
        </p:sp>
        <p:sp>
          <p:nvSpPr>
            <p:cNvPr id="72" name="Rectangle 24"/>
            <p:cNvSpPr>
              <a:spLocks noChangeAspect="1" noChangeArrowheads="1"/>
            </p:cNvSpPr>
            <p:nvPr/>
          </p:nvSpPr>
          <p:spPr bwMode="auto">
            <a:xfrm>
              <a:off x="4988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finish</a:t>
              </a:r>
            </a:p>
          </p:txBody>
        </p:sp>
      </p:grpSp>
      <p:grpSp>
        <p:nvGrpSpPr>
          <p:cNvPr id="74" name="Group 26"/>
          <p:cNvGrpSpPr>
            <a:grpSpLocks/>
          </p:cNvGrpSpPr>
          <p:nvPr/>
        </p:nvGrpSpPr>
        <p:grpSpPr bwMode="auto">
          <a:xfrm>
            <a:off x="479425" y="3276600"/>
            <a:ext cx="3254375" cy="1335087"/>
            <a:chOff x="576" y="1728"/>
            <a:chExt cx="2050" cy="841"/>
          </a:xfrm>
        </p:grpSpPr>
        <p:sp>
          <p:nvSpPr>
            <p:cNvPr id="75" name="AutoShape 27"/>
            <p:cNvSpPr>
              <a:spLocks noChangeAspect="1" noChangeArrowheads="1"/>
            </p:cNvSpPr>
            <p:nvPr/>
          </p:nvSpPr>
          <p:spPr bwMode="auto">
            <a:xfrm>
              <a:off x="576" y="2332"/>
              <a:ext cx="2050" cy="64"/>
            </a:xfrm>
            <a:prstGeom prst="roundRect">
              <a:avLst>
                <a:gd name="adj" fmla="val 16667"/>
              </a:avLst>
            </a:prstGeom>
            <a:solidFill>
              <a:srgbClr val="A5002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Rectangle 28"/>
            <p:cNvSpPr>
              <a:spLocks noChangeAspect="1" noChangeArrowheads="1"/>
            </p:cNvSpPr>
            <p:nvPr/>
          </p:nvSpPr>
          <p:spPr bwMode="auto">
            <a:xfrm>
              <a:off x="835" y="1750"/>
              <a:ext cx="43" cy="582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Rectangle 29"/>
            <p:cNvSpPr>
              <a:spLocks noChangeAspect="1" noChangeArrowheads="1"/>
            </p:cNvSpPr>
            <p:nvPr/>
          </p:nvSpPr>
          <p:spPr bwMode="auto">
            <a:xfrm>
              <a:off x="1569" y="1728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Rectangle 30"/>
            <p:cNvSpPr>
              <a:spLocks noChangeAspect="1" noChangeArrowheads="1"/>
            </p:cNvSpPr>
            <p:nvPr/>
          </p:nvSpPr>
          <p:spPr bwMode="auto">
            <a:xfrm>
              <a:off x="2302" y="1728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AutoShape 31"/>
            <p:cNvSpPr>
              <a:spLocks noChangeAspect="1" noChangeArrowheads="1"/>
            </p:cNvSpPr>
            <p:nvPr/>
          </p:nvSpPr>
          <p:spPr bwMode="auto">
            <a:xfrm>
              <a:off x="619" y="2246"/>
              <a:ext cx="475" cy="86"/>
            </a:xfrm>
            <a:prstGeom prst="roundRect">
              <a:avLst>
                <a:gd name="adj" fmla="val 16667"/>
              </a:avLst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AutoShape 32"/>
            <p:cNvSpPr>
              <a:spLocks noChangeAspect="1" noChangeArrowheads="1"/>
            </p:cNvSpPr>
            <p:nvPr/>
          </p:nvSpPr>
          <p:spPr bwMode="auto">
            <a:xfrm>
              <a:off x="1392" y="2256"/>
              <a:ext cx="345" cy="8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AutoShape 33"/>
            <p:cNvSpPr>
              <a:spLocks noChangeAspect="1" noChangeArrowheads="1"/>
            </p:cNvSpPr>
            <p:nvPr/>
          </p:nvSpPr>
          <p:spPr bwMode="auto">
            <a:xfrm>
              <a:off x="2208" y="2256"/>
              <a:ext cx="237" cy="86"/>
            </a:xfrm>
            <a:prstGeom prst="roundRect">
              <a:avLst>
                <a:gd name="adj" fmla="val 16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Rectangle 34"/>
            <p:cNvSpPr>
              <a:spLocks noChangeAspect="1" noChangeArrowheads="1"/>
            </p:cNvSpPr>
            <p:nvPr/>
          </p:nvSpPr>
          <p:spPr bwMode="auto">
            <a:xfrm>
              <a:off x="619" y="2440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chemeClr val="tx2"/>
                  </a:solidFill>
                  <a:latin typeface="Arial Unicode MS" pitchFamily="34" charset="-128"/>
                </a:rPr>
                <a:t>start </a:t>
              </a:r>
            </a:p>
          </p:txBody>
        </p:sp>
        <p:sp>
          <p:nvSpPr>
            <p:cNvPr id="83" name="Rectangle 35"/>
            <p:cNvSpPr>
              <a:spLocks noChangeAspect="1" noChangeArrowheads="1"/>
            </p:cNvSpPr>
            <p:nvPr/>
          </p:nvSpPr>
          <p:spPr bwMode="auto">
            <a:xfrm>
              <a:off x="1374" y="2440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temp </a:t>
              </a:r>
            </a:p>
          </p:txBody>
        </p:sp>
        <p:sp>
          <p:nvSpPr>
            <p:cNvPr id="84" name="Rectangle 36"/>
            <p:cNvSpPr>
              <a:spLocks noChangeAspect="1" noChangeArrowheads="1"/>
            </p:cNvSpPr>
            <p:nvPr/>
          </p:nvSpPr>
          <p:spPr bwMode="auto">
            <a:xfrm>
              <a:off x="2108" y="2440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finish </a:t>
              </a:r>
            </a:p>
          </p:txBody>
        </p:sp>
      </p:grpSp>
      <p:grpSp>
        <p:nvGrpSpPr>
          <p:cNvPr id="86" name="Group 38"/>
          <p:cNvGrpSpPr>
            <a:grpSpLocks/>
          </p:cNvGrpSpPr>
          <p:nvPr/>
        </p:nvGrpSpPr>
        <p:grpSpPr bwMode="auto">
          <a:xfrm>
            <a:off x="4360069" y="3429000"/>
            <a:ext cx="3254375" cy="1335087"/>
            <a:chOff x="3456" y="1728"/>
            <a:chExt cx="2050" cy="841"/>
          </a:xfrm>
        </p:grpSpPr>
        <p:sp>
          <p:nvSpPr>
            <p:cNvPr id="87" name="AutoShape 39"/>
            <p:cNvSpPr>
              <a:spLocks noChangeAspect="1" noChangeArrowheads="1"/>
            </p:cNvSpPr>
            <p:nvPr/>
          </p:nvSpPr>
          <p:spPr bwMode="auto">
            <a:xfrm>
              <a:off x="3456" y="2332"/>
              <a:ext cx="2050" cy="64"/>
            </a:xfrm>
            <a:prstGeom prst="roundRect">
              <a:avLst>
                <a:gd name="adj" fmla="val 16667"/>
              </a:avLst>
            </a:prstGeom>
            <a:solidFill>
              <a:srgbClr val="A5002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Rectangle 40"/>
            <p:cNvSpPr>
              <a:spLocks noChangeAspect="1" noChangeArrowheads="1"/>
            </p:cNvSpPr>
            <p:nvPr/>
          </p:nvSpPr>
          <p:spPr bwMode="auto">
            <a:xfrm>
              <a:off x="3715" y="1750"/>
              <a:ext cx="43" cy="582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Rectangle 41"/>
            <p:cNvSpPr>
              <a:spLocks noChangeAspect="1" noChangeArrowheads="1"/>
            </p:cNvSpPr>
            <p:nvPr/>
          </p:nvSpPr>
          <p:spPr bwMode="auto">
            <a:xfrm>
              <a:off x="4449" y="1728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Rectangle 42"/>
            <p:cNvSpPr>
              <a:spLocks noChangeAspect="1" noChangeArrowheads="1"/>
            </p:cNvSpPr>
            <p:nvPr/>
          </p:nvSpPr>
          <p:spPr bwMode="auto">
            <a:xfrm>
              <a:off x="5182" y="1728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AutoShape 43"/>
            <p:cNvSpPr>
              <a:spLocks noChangeAspect="1" noChangeArrowheads="1"/>
            </p:cNvSpPr>
            <p:nvPr/>
          </p:nvSpPr>
          <p:spPr bwMode="auto">
            <a:xfrm>
              <a:off x="3499" y="2246"/>
              <a:ext cx="475" cy="86"/>
            </a:xfrm>
            <a:prstGeom prst="roundRect">
              <a:avLst>
                <a:gd name="adj" fmla="val 16667"/>
              </a:avLst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AutoShape 44"/>
            <p:cNvSpPr>
              <a:spLocks noChangeAspect="1" noChangeArrowheads="1"/>
            </p:cNvSpPr>
            <p:nvPr/>
          </p:nvSpPr>
          <p:spPr bwMode="auto">
            <a:xfrm>
              <a:off x="4272" y="2256"/>
              <a:ext cx="345" cy="8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AutoShape 45"/>
            <p:cNvSpPr>
              <a:spLocks noChangeAspect="1" noChangeArrowheads="1"/>
            </p:cNvSpPr>
            <p:nvPr/>
          </p:nvSpPr>
          <p:spPr bwMode="auto">
            <a:xfrm>
              <a:off x="4320" y="2160"/>
              <a:ext cx="237" cy="86"/>
            </a:xfrm>
            <a:prstGeom prst="roundRect">
              <a:avLst>
                <a:gd name="adj" fmla="val 16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Rectangle 46"/>
            <p:cNvSpPr>
              <a:spLocks noChangeAspect="1" noChangeArrowheads="1"/>
            </p:cNvSpPr>
            <p:nvPr/>
          </p:nvSpPr>
          <p:spPr bwMode="auto">
            <a:xfrm>
              <a:off x="3499" y="2440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start </a:t>
              </a:r>
            </a:p>
          </p:txBody>
        </p:sp>
        <p:sp>
          <p:nvSpPr>
            <p:cNvPr id="95" name="Rectangle 47"/>
            <p:cNvSpPr>
              <a:spLocks noChangeAspect="1" noChangeArrowheads="1"/>
            </p:cNvSpPr>
            <p:nvPr/>
          </p:nvSpPr>
          <p:spPr bwMode="auto">
            <a:xfrm>
              <a:off x="4254" y="2440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temp </a:t>
              </a:r>
            </a:p>
          </p:txBody>
        </p:sp>
        <p:sp>
          <p:nvSpPr>
            <p:cNvPr id="96" name="Rectangle 48"/>
            <p:cNvSpPr>
              <a:spLocks noChangeAspect="1" noChangeArrowheads="1"/>
            </p:cNvSpPr>
            <p:nvPr/>
          </p:nvSpPr>
          <p:spPr bwMode="auto">
            <a:xfrm>
              <a:off x="4988" y="2440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finish </a:t>
              </a:r>
            </a:p>
          </p:txBody>
        </p:sp>
      </p:grpSp>
      <p:grpSp>
        <p:nvGrpSpPr>
          <p:cNvPr id="98" name="Group 50"/>
          <p:cNvGrpSpPr>
            <a:grpSpLocks/>
          </p:cNvGrpSpPr>
          <p:nvPr/>
        </p:nvGrpSpPr>
        <p:grpSpPr bwMode="auto">
          <a:xfrm>
            <a:off x="479425" y="5029200"/>
            <a:ext cx="3254375" cy="1335087"/>
            <a:chOff x="576" y="2832"/>
            <a:chExt cx="2050" cy="841"/>
          </a:xfrm>
        </p:grpSpPr>
        <p:sp>
          <p:nvSpPr>
            <p:cNvPr id="99" name="AutoShape 51"/>
            <p:cNvSpPr>
              <a:spLocks noChangeAspect="1" noChangeArrowheads="1"/>
            </p:cNvSpPr>
            <p:nvPr/>
          </p:nvSpPr>
          <p:spPr bwMode="auto">
            <a:xfrm>
              <a:off x="576" y="3436"/>
              <a:ext cx="2050" cy="64"/>
            </a:xfrm>
            <a:prstGeom prst="roundRect">
              <a:avLst>
                <a:gd name="adj" fmla="val 16667"/>
              </a:avLst>
            </a:prstGeom>
            <a:solidFill>
              <a:srgbClr val="A5002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Rectangle 52"/>
            <p:cNvSpPr>
              <a:spLocks noChangeAspect="1" noChangeArrowheads="1"/>
            </p:cNvSpPr>
            <p:nvPr/>
          </p:nvSpPr>
          <p:spPr bwMode="auto">
            <a:xfrm>
              <a:off x="835" y="2854"/>
              <a:ext cx="43" cy="582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Rectangle 53"/>
            <p:cNvSpPr>
              <a:spLocks noChangeAspect="1" noChangeArrowheads="1"/>
            </p:cNvSpPr>
            <p:nvPr/>
          </p:nvSpPr>
          <p:spPr bwMode="auto">
            <a:xfrm>
              <a:off x="1569" y="2832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Rectangle 54"/>
            <p:cNvSpPr>
              <a:spLocks noChangeAspect="1" noChangeArrowheads="1"/>
            </p:cNvSpPr>
            <p:nvPr/>
          </p:nvSpPr>
          <p:spPr bwMode="auto">
            <a:xfrm>
              <a:off x="2302" y="2832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AutoShape 55"/>
            <p:cNvSpPr>
              <a:spLocks noChangeAspect="1" noChangeArrowheads="1"/>
            </p:cNvSpPr>
            <p:nvPr/>
          </p:nvSpPr>
          <p:spPr bwMode="auto">
            <a:xfrm>
              <a:off x="2064" y="3360"/>
              <a:ext cx="475" cy="86"/>
            </a:xfrm>
            <a:prstGeom prst="roundRect">
              <a:avLst>
                <a:gd name="adj" fmla="val 16667"/>
              </a:avLst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AutoShape 56"/>
            <p:cNvSpPr>
              <a:spLocks noChangeAspect="1" noChangeArrowheads="1"/>
            </p:cNvSpPr>
            <p:nvPr/>
          </p:nvSpPr>
          <p:spPr bwMode="auto">
            <a:xfrm>
              <a:off x="1392" y="3360"/>
              <a:ext cx="345" cy="8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AutoShape 57"/>
            <p:cNvSpPr>
              <a:spLocks noChangeAspect="1" noChangeArrowheads="1"/>
            </p:cNvSpPr>
            <p:nvPr/>
          </p:nvSpPr>
          <p:spPr bwMode="auto">
            <a:xfrm>
              <a:off x="1440" y="3264"/>
              <a:ext cx="237" cy="86"/>
            </a:xfrm>
            <a:prstGeom prst="roundRect">
              <a:avLst>
                <a:gd name="adj" fmla="val 16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Rectangle 58"/>
            <p:cNvSpPr>
              <a:spLocks noChangeAspect="1" noChangeArrowheads="1"/>
            </p:cNvSpPr>
            <p:nvPr/>
          </p:nvSpPr>
          <p:spPr bwMode="auto">
            <a:xfrm>
              <a:off x="619" y="3544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start </a:t>
              </a:r>
            </a:p>
          </p:txBody>
        </p:sp>
        <p:sp>
          <p:nvSpPr>
            <p:cNvPr id="107" name="Rectangle 59"/>
            <p:cNvSpPr>
              <a:spLocks noChangeAspect="1" noChangeArrowheads="1"/>
            </p:cNvSpPr>
            <p:nvPr/>
          </p:nvSpPr>
          <p:spPr bwMode="auto">
            <a:xfrm>
              <a:off x="1374" y="3544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temp </a:t>
              </a:r>
            </a:p>
          </p:txBody>
        </p:sp>
        <p:sp>
          <p:nvSpPr>
            <p:cNvPr id="108" name="Rectangle 60"/>
            <p:cNvSpPr>
              <a:spLocks noChangeAspect="1" noChangeArrowheads="1"/>
            </p:cNvSpPr>
            <p:nvPr/>
          </p:nvSpPr>
          <p:spPr bwMode="auto">
            <a:xfrm>
              <a:off x="2108" y="3544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finish </a:t>
              </a:r>
            </a:p>
          </p:txBody>
        </p:sp>
      </p:grpSp>
      <p:grpSp>
        <p:nvGrpSpPr>
          <p:cNvPr id="110" name="Group 2"/>
          <p:cNvGrpSpPr>
            <a:grpSpLocks/>
          </p:cNvGrpSpPr>
          <p:nvPr/>
        </p:nvGrpSpPr>
        <p:grpSpPr bwMode="auto">
          <a:xfrm>
            <a:off x="4343400" y="5056549"/>
            <a:ext cx="3254375" cy="1335088"/>
            <a:chOff x="672" y="720"/>
            <a:chExt cx="2050" cy="841"/>
          </a:xfrm>
        </p:grpSpPr>
        <p:sp>
          <p:nvSpPr>
            <p:cNvPr id="111" name="AutoShape 3"/>
            <p:cNvSpPr>
              <a:spLocks noChangeAspect="1" noChangeArrowheads="1"/>
            </p:cNvSpPr>
            <p:nvPr/>
          </p:nvSpPr>
          <p:spPr bwMode="auto">
            <a:xfrm>
              <a:off x="672" y="1324"/>
              <a:ext cx="2050" cy="64"/>
            </a:xfrm>
            <a:prstGeom prst="roundRect">
              <a:avLst>
                <a:gd name="adj" fmla="val 16667"/>
              </a:avLst>
            </a:prstGeom>
            <a:solidFill>
              <a:srgbClr val="A5002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Rectangle 4"/>
            <p:cNvSpPr>
              <a:spLocks noChangeAspect="1" noChangeArrowheads="1"/>
            </p:cNvSpPr>
            <p:nvPr/>
          </p:nvSpPr>
          <p:spPr bwMode="auto">
            <a:xfrm>
              <a:off x="931" y="742"/>
              <a:ext cx="43" cy="582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Rectangle 5"/>
            <p:cNvSpPr>
              <a:spLocks noChangeAspect="1" noChangeArrowheads="1"/>
            </p:cNvSpPr>
            <p:nvPr/>
          </p:nvSpPr>
          <p:spPr bwMode="auto">
            <a:xfrm>
              <a:off x="1665" y="720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Rectangle 6"/>
            <p:cNvSpPr>
              <a:spLocks noChangeAspect="1" noChangeArrowheads="1"/>
            </p:cNvSpPr>
            <p:nvPr/>
          </p:nvSpPr>
          <p:spPr bwMode="auto">
            <a:xfrm>
              <a:off x="2398" y="720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AutoShape 7"/>
            <p:cNvSpPr>
              <a:spLocks noChangeAspect="1" noChangeArrowheads="1"/>
            </p:cNvSpPr>
            <p:nvPr/>
          </p:nvSpPr>
          <p:spPr bwMode="auto">
            <a:xfrm>
              <a:off x="2208" y="1248"/>
              <a:ext cx="475" cy="86"/>
            </a:xfrm>
            <a:prstGeom prst="roundRect">
              <a:avLst>
                <a:gd name="adj" fmla="val 16667"/>
              </a:avLst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" name="AutoShape 8"/>
            <p:cNvSpPr>
              <a:spLocks noChangeAspect="1" noChangeArrowheads="1"/>
            </p:cNvSpPr>
            <p:nvPr/>
          </p:nvSpPr>
          <p:spPr bwMode="auto">
            <a:xfrm>
              <a:off x="1536" y="1248"/>
              <a:ext cx="345" cy="8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AutoShape 9"/>
            <p:cNvSpPr>
              <a:spLocks noChangeAspect="1" noChangeArrowheads="1"/>
            </p:cNvSpPr>
            <p:nvPr/>
          </p:nvSpPr>
          <p:spPr bwMode="auto">
            <a:xfrm>
              <a:off x="864" y="1248"/>
              <a:ext cx="237" cy="86"/>
            </a:xfrm>
            <a:prstGeom prst="roundRect">
              <a:avLst>
                <a:gd name="adj" fmla="val 16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" name="Rectangle 10"/>
            <p:cNvSpPr>
              <a:spLocks noChangeAspect="1" noChangeArrowheads="1"/>
            </p:cNvSpPr>
            <p:nvPr/>
          </p:nvSpPr>
          <p:spPr bwMode="auto">
            <a:xfrm>
              <a:off x="715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start</a:t>
              </a:r>
            </a:p>
          </p:txBody>
        </p:sp>
        <p:sp>
          <p:nvSpPr>
            <p:cNvPr id="119" name="Rectangle 11"/>
            <p:cNvSpPr>
              <a:spLocks noChangeAspect="1" noChangeArrowheads="1"/>
            </p:cNvSpPr>
            <p:nvPr/>
          </p:nvSpPr>
          <p:spPr bwMode="auto">
            <a:xfrm>
              <a:off x="1470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temp</a:t>
              </a:r>
            </a:p>
          </p:txBody>
        </p:sp>
        <p:sp>
          <p:nvSpPr>
            <p:cNvPr id="120" name="Rectangle 12"/>
            <p:cNvSpPr>
              <a:spLocks noChangeAspect="1" noChangeArrowheads="1"/>
            </p:cNvSpPr>
            <p:nvPr/>
          </p:nvSpPr>
          <p:spPr bwMode="auto">
            <a:xfrm>
              <a:off x="2204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finish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006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120" y="1219200"/>
            <a:ext cx="7675809" cy="623369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Towers of </a:t>
            </a:r>
            <a:r>
              <a:rPr lang="en-US" dirty="0" smtClean="0"/>
              <a:t>Hanoi – </a:t>
            </a:r>
            <a:r>
              <a:rPr lang="en-US" sz="4000" b="1" dirty="0" smtClean="0">
                <a:solidFill>
                  <a:srgbClr val="0000FF"/>
                </a:solidFill>
              </a:rPr>
              <a:t>Tracing</a:t>
            </a:r>
            <a:endParaRPr lang="en-US" sz="24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42</a:t>
            </a:fld>
            <a:endParaRPr lang="en-US"/>
          </a:p>
        </p:txBody>
      </p:sp>
      <p:grpSp>
        <p:nvGrpSpPr>
          <p:cNvPr id="59" name="Group 2"/>
          <p:cNvGrpSpPr>
            <a:grpSpLocks/>
          </p:cNvGrpSpPr>
          <p:nvPr/>
        </p:nvGrpSpPr>
        <p:grpSpPr bwMode="auto">
          <a:xfrm>
            <a:off x="228600" y="1994142"/>
            <a:ext cx="3254375" cy="1335088"/>
            <a:chOff x="672" y="720"/>
            <a:chExt cx="2050" cy="841"/>
          </a:xfrm>
        </p:grpSpPr>
        <p:sp>
          <p:nvSpPr>
            <p:cNvPr id="60" name="AutoShape 3"/>
            <p:cNvSpPr>
              <a:spLocks noChangeAspect="1" noChangeArrowheads="1"/>
            </p:cNvSpPr>
            <p:nvPr/>
          </p:nvSpPr>
          <p:spPr bwMode="auto">
            <a:xfrm>
              <a:off x="672" y="1324"/>
              <a:ext cx="2050" cy="64"/>
            </a:xfrm>
            <a:prstGeom prst="roundRect">
              <a:avLst>
                <a:gd name="adj" fmla="val 16667"/>
              </a:avLst>
            </a:prstGeom>
            <a:solidFill>
              <a:srgbClr val="A5002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Rectangle 4"/>
            <p:cNvSpPr>
              <a:spLocks noChangeAspect="1" noChangeArrowheads="1"/>
            </p:cNvSpPr>
            <p:nvPr/>
          </p:nvSpPr>
          <p:spPr bwMode="auto">
            <a:xfrm>
              <a:off x="931" y="742"/>
              <a:ext cx="43" cy="582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Rectangle 5"/>
            <p:cNvSpPr>
              <a:spLocks noChangeAspect="1" noChangeArrowheads="1"/>
            </p:cNvSpPr>
            <p:nvPr/>
          </p:nvSpPr>
          <p:spPr bwMode="auto">
            <a:xfrm>
              <a:off x="1665" y="720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Rectangle 6"/>
            <p:cNvSpPr>
              <a:spLocks noChangeAspect="1" noChangeArrowheads="1"/>
            </p:cNvSpPr>
            <p:nvPr/>
          </p:nvSpPr>
          <p:spPr bwMode="auto">
            <a:xfrm>
              <a:off x="2398" y="720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AutoShape 7"/>
            <p:cNvSpPr>
              <a:spLocks noChangeAspect="1" noChangeArrowheads="1"/>
            </p:cNvSpPr>
            <p:nvPr/>
          </p:nvSpPr>
          <p:spPr bwMode="auto">
            <a:xfrm>
              <a:off x="2208" y="1248"/>
              <a:ext cx="475" cy="86"/>
            </a:xfrm>
            <a:prstGeom prst="roundRect">
              <a:avLst>
                <a:gd name="adj" fmla="val 16667"/>
              </a:avLst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AutoShape 8"/>
            <p:cNvSpPr>
              <a:spLocks noChangeAspect="1" noChangeArrowheads="1"/>
            </p:cNvSpPr>
            <p:nvPr/>
          </p:nvSpPr>
          <p:spPr bwMode="auto">
            <a:xfrm>
              <a:off x="1536" y="1248"/>
              <a:ext cx="345" cy="8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AutoShape 9"/>
            <p:cNvSpPr>
              <a:spLocks noChangeAspect="1" noChangeArrowheads="1"/>
            </p:cNvSpPr>
            <p:nvPr/>
          </p:nvSpPr>
          <p:spPr bwMode="auto">
            <a:xfrm>
              <a:off x="864" y="1248"/>
              <a:ext cx="237" cy="86"/>
            </a:xfrm>
            <a:prstGeom prst="roundRect">
              <a:avLst>
                <a:gd name="adj" fmla="val 16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Rectangle 10"/>
            <p:cNvSpPr>
              <a:spLocks noChangeAspect="1" noChangeArrowheads="1"/>
            </p:cNvSpPr>
            <p:nvPr/>
          </p:nvSpPr>
          <p:spPr bwMode="auto">
            <a:xfrm>
              <a:off x="715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start</a:t>
              </a:r>
            </a:p>
          </p:txBody>
        </p:sp>
        <p:sp>
          <p:nvSpPr>
            <p:cNvPr id="68" name="Rectangle 11"/>
            <p:cNvSpPr>
              <a:spLocks noChangeAspect="1" noChangeArrowheads="1"/>
            </p:cNvSpPr>
            <p:nvPr/>
          </p:nvSpPr>
          <p:spPr bwMode="auto">
            <a:xfrm>
              <a:off x="1470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temp</a:t>
              </a:r>
            </a:p>
          </p:txBody>
        </p:sp>
        <p:sp>
          <p:nvSpPr>
            <p:cNvPr id="69" name="Rectangle 12"/>
            <p:cNvSpPr>
              <a:spLocks noChangeAspect="1" noChangeArrowheads="1"/>
            </p:cNvSpPr>
            <p:nvPr/>
          </p:nvSpPr>
          <p:spPr bwMode="auto">
            <a:xfrm>
              <a:off x="2204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finish</a:t>
              </a:r>
            </a:p>
          </p:txBody>
        </p:sp>
      </p:grpSp>
      <p:grpSp>
        <p:nvGrpSpPr>
          <p:cNvPr id="70" name="Group 14"/>
          <p:cNvGrpSpPr>
            <a:grpSpLocks/>
          </p:cNvGrpSpPr>
          <p:nvPr/>
        </p:nvGrpSpPr>
        <p:grpSpPr bwMode="auto">
          <a:xfrm>
            <a:off x="4191000" y="1994142"/>
            <a:ext cx="3254375" cy="1335088"/>
            <a:chOff x="3312" y="720"/>
            <a:chExt cx="2050" cy="841"/>
          </a:xfrm>
        </p:grpSpPr>
        <p:sp>
          <p:nvSpPr>
            <p:cNvPr id="73" name="AutoShape 15"/>
            <p:cNvSpPr>
              <a:spLocks noChangeAspect="1" noChangeArrowheads="1"/>
            </p:cNvSpPr>
            <p:nvPr/>
          </p:nvSpPr>
          <p:spPr bwMode="auto">
            <a:xfrm>
              <a:off x="3312" y="1324"/>
              <a:ext cx="2050" cy="64"/>
            </a:xfrm>
            <a:prstGeom prst="roundRect">
              <a:avLst>
                <a:gd name="adj" fmla="val 16667"/>
              </a:avLst>
            </a:prstGeom>
            <a:solidFill>
              <a:srgbClr val="A5002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Rectangle 16"/>
            <p:cNvSpPr>
              <a:spLocks noChangeAspect="1" noChangeArrowheads="1"/>
            </p:cNvSpPr>
            <p:nvPr/>
          </p:nvSpPr>
          <p:spPr bwMode="auto">
            <a:xfrm>
              <a:off x="3571" y="742"/>
              <a:ext cx="43" cy="582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Rectangle 17"/>
            <p:cNvSpPr>
              <a:spLocks noChangeAspect="1" noChangeArrowheads="1"/>
            </p:cNvSpPr>
            <p:nvPr/>
          </p:nvSpPr>
          <p:spPr bwMode="auto">
            <a:xfrm>
              <a:off x="4305" y="720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Rectangle 18"/>
            <p:cNvSpPr>
              <a:spLocks noChangeAspect="1" noChangeArrowheads="1"/>
            </p:cNvSpPr>
            <p:nvPr/>
          </p:nvSpPr>
          <p:spPr bwMode="auto">
            <a:xfrm>
              <a:off x="5038" y="720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AutoShape 19"/>
            <p:cNvSpPr>
              <a:spLocks noChangeAspect="1" noChangeArrowheads="1"/>
            </p:cNvSpPr>
            <p:nvPr/>
          </p:nvSpPr>
          <p:spPr bwMode="auto">
            <a:xfrm>
              <a:off x="4848" y="1248"/>
              <a:ext cx="475" cy="86"/>
            </a:xfrm>
            <a:prstGeom prst="roundRect">
              <a:avLst>
                <a:gd name="adj" fmla="val 16667"/>
              </a:avLst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AutoShape 20"/>
            <p:cNvSpPr>
              <a:spLocks noChangeAspect="1" noChangeArrowheads="1"/>
            </p:cNvSpPr>
            <p:nvPr/>
          </p:nvSpPr>
          <p:spPr bwMode="auto">
            <a:xfrm>
              <a:off x="4896" y="1152"/>
              <a:ext cx="345" cy="8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AutoShape 21"/>
            <p:cNvSpPr>
              <a:spLocks noChangeAspect="1" noChangeArrowheads="1"/>
            </p:cNvSpPr>
            <p:nvPr/>
          </p:nvSpPr>
          <p:spPr bwMode="auto">
            <a:xfrm>
              <a:off x="3504" y="1248"/>
              <a:ext cx="237" cy="86"/>
            </a:xfrm>
            <a:prstGeom prst="roundRect">
              <a:avLst>
                <a:gd name="adj" fmla="val 16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Rectangle 22"/>
            <p:cNvSpPr>
              <a:spLocks noChangeAspect="1" noChangeArrowheads="1"/>
            </p:cNvSpPr>
            <p:nvPr/>
          </p:nvSpPr>
          <p:spPr bwMode="auto">
            <a:xfrm>
              <a:off x="3355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chemeClr val="tx2"/>
                  </a:solidFill>
                  <a:latin typeface="Arial Unicode MS" pitchFamily="34" charset="-128"/>
                </a:rPr>
                <a:t>start </a:t>
              </a:r>
            </a:p>
          </p:txBody>
        </p:sp>
        <p:sp>
          <p:nvSpPr>
            <p:cNvPr id="114" name="Rectangle 23"/>
            <p:cNvSpPr>
              <a:spLocks noChangeAspect="1" noChangeArrowheads="1"/>
            </p:cNvSpPr>
            <p:nvPr/>
          </p:nvSpPr>
          <p:spPr bwMode="auto">
            <a:xfrm>
              <a:off x="4110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temp </a:t>
              </a:r>
            </a:p>
          </p:txBody>
        </p:sp>
        <p:sp>
          <p:nvSpPr>
            <p:cNvPr id="115" name="Rectangle 24"/>
            <p:cNvSpPr>
              <a:spLocks noChangeAspect="1" noChangeArrowheads="1"/>
            </p:cNvSpPr>
            <p:nvPr/>
          </p:nvSpPr>
          <p:spPr bwMode="auto">
            <a:xfrm>
              <a:off x="4844" y="1432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finish </a:t>
              </a:r>
            </a:p>
          </p:txBody>
        </p:sp>
      </p:grpSp>
      <p:grpSp>
        <p:nvGrpSpPr>
          <p:cNvPr id="116" name="Group 25"/>
          <p:cNvGrpSpPr>
            <a:grpSpLocks/>
          </p:cNvGrpSpPr>
          <p:nvPr/>
        </p:nvGrpSpPr>
        <p:grpSpPr bwMode="auto">
          <a:xfrm>
            <a:off x="228600" y="3594342"/>
            <a:ext cx="3254375" cy="1335088"/>
            <a:chOff x="672" y="1728"/>
            <a:chExt cx="2050" cy="841"/>
          </a:xfrm>
        </p:grpSpPr>
        <p:sp>
          <p:nvSpPr>
            <p:cNvPr id="117" name="AutoShape 26"/>
            <p:cNvSpPr>
              <a:spLocks noChangeAspect="1" noChangeArrowheads="1"/>
            </p:cNvSpPr>
            <p:nvPr/>
          </p:nvSpPr>
          <p:spPr bwMode="auto">
            <a:xfrm>
              <a:off x="672" y="2332"/>
              <a:ext cx="2050" cy="64"/>
            </a:xfrm>
            <a:prstGeom prst="roundRect">
              <a:avLst>
                <a:gd name="adj" fmla="val 16667"/>
              </a:avLst>
            </a:prstGeom>
            <a:solidFill>
              <a:srgbClr val="A5002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" name="Rectangle 27"/>
            <p:cNvSpPr>
              <a:spLocks noChangeAspect="1" noChangeArrowheads="1"/>
            </p:cNvSpPr>
            <p:nvPr/>
          </p:nvSpPr>
          <p:spPr bwMode="auto">
            <a:xfrm>
              <a:off x="931" y="1750"/>
              <a:ext cx="43" cy="582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Rectangle 28"/>
            <p:cNvSpPr>
              <a:spLocks noChangeAspect="1" noChangeArrowheads="1"/>
            </p:cNvSpPr>
            <p:nvPr/>
          </p:nvSpPr>
          <p:spPr bwMode="auto">
            <a:xfrm>
              <a:off x="1665" y="1728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Rectangle 29"/>
            <p:cNvSpPr>
              <a:spLocks noChangeAspect="1" noChangeArrowheads="1"/>
            </p:cNvSpPr>
            <p:nvPr/>
          </p:nvSpPr>
          <p:spPr bwMode="auto">
            <a:xfrm>
              <a:off x="2398" y="1728"/>
              <a:ext cx="43" cy="604"/>
            </a:xfrm>
            <a:prstGeom prst="rect">
              <a:avLst/>
            </a:prstGeom>
            <a:solidFill>
              <a:srgbClr val="A5002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AutoShape 30"/>
            <p:cNvSpPr>
              <a:spLocks noChangeAspect="1" noChangeArrowheads="1"/>
            </p:cNvSpPr>
            <p:nvPr/>
          </p:nvSpPr>
          <p:spPr bwMode="auto">
            <a:xfrm>
              <a:off x="2208" y="2256"/>
              <a:ext cx="475" cy="86"/>
            </a:xfrm>
            <a:prstGeom prst="roundRect">
              <a:avLst>
                <a:gd name="adj" fmla="val 16667"/>
              </a:avLst>
            </a:prstGeom>
            <a:solidFill>
              <a:srgbClr val="3333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" name="AutoShape 31"/>
            <p:cNvSpPr>
              <a:spLocks noChangeAspect="1" noChangeArrowheads="1"/>
            </p:cNvSpPr>
            <p:nvPr/>
          </p:nvSpPr>
          <p:spPr bwMode="auto">
            <a:xfrm>
              <a:off x="2256" y="2160"/>
              <a:ext cx="345" cy="87"/>
            </a:xfrm>
            <a:prstGeom prst="roundRect">
              <a:avLst>
                <a:gd name="adj" fmla="val 16667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AutoShape 32"/>
            <p:cNvSpPr>
              <a:spLocks noChangeAspect="1" noChangeArrowheads="1"/>
            </p:cNvSpPr>
            <p:nvPr/>
          </p:nvSpPr>
          <p:spPr bwMode="auto">
            <a:xfrm>
              <a:off x="2304" y="2064"/>
              <a:ext cx="237" cy="86"/>
            </a:xfrm>
            <a:prstGeom prst="roundRect">
              <a:avLst>
                <a:gd name="adj" fmla="val 16667"/>
              </a:avLst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Rectangle 33"/>
            <p:cNvSpPr>
              <a:spLocks noChangeAspect="1" noChangeArrowheads="1"/>
            </p:cNvSpPr>
            <p:nvPr/>
          </p:nvSpPr>
          <p:spPr bwMode="auto">
            <a:xfrm>
              <a:off x="715" y="2440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start </a:t>
              </a:r>
            </a:p>
          </p:txBody>
        </p:sp>
        <p:sp>
          <p:nvSpPr>
            <p:cNvPr id="125" name="Rectangle 34"/>
            <p:cNvSpPr>
              <a:spLocks noChangeAspect="1" noChangeArrowheads="1"/>
            </p:cNvSpPr>
            <p:nvPr/>
          </p:nvSpPr>
          <p:spPr bwMode="auto">
            <a:xfrm>
              <a:off x="1470" y="2440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 dirty="0">
                  <a:solidFill>
                    <a:schemeClr val="tx2"/>
                  </a:solidFill>
                  <a:latin typeface="Arial Unicode MS" pitchFamily="34" charset="-128"/>
                </a:rPr>
                <a:t>temp </a:t>
              </a:r>
            </a:p>
          </p:txBody>
        </p:sp>
        <p:sp>
          <p:nvSpPr>
            <p:cNvPr id="126" name="Rectangle 35"/>
            <p:cNvSpPr>
              <a:spLocks noChangeAspect="1" noChangeArrowheads="1"/>
            </p:cNvSpPr>
            <p:nvPr/>
          </p:nvSpPr>
          <p:spPr bwMode="auto">
            <a:xfrm>
              <a:off x="2204" y="2440"/>
              <a:ext cx="475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r>
                <a:rPr lang="en-US">
                  <a:solidFill>
                    <a:schemeClr val="tx2"/>
                  </a:solidFill>
                  <a:latin typeface="Arial Unicode MS" pitchFamily="34" charset="-128"/>
                </a:rPr>
                <a:t>finish </a:t>
              </a:r>
            </a:p>
          </p:txBody>
        </p:sp>
      </p:grpSp>
      <p:sp>
        <p:nvSpPr>
          <p:cNvPr id="127" name="Rectangle 3"/>
          <p:cNvSpPr txBox="1">
            <a:spLocks noChangeArrowheads="1"/>
          </p:cNvSpPr>
          <p:nvPr/>
        </p:nvSpPr>
        <p:spPr>
          <a:xfrm>
            <a:off x="3679915" y="3667610"/>
            <a:ext cx="4549685" cy="2119849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/>
            </a:pPr>
            <a:r>
              <a:rPr lang="en-US" sz="2100" kern="0" dirty="0">
                <a:latin typeface="+mn-lt"/>
                <a:cs typeface="+mn-cs"/>
              </a:rPr>
              <a:t># of steps needed:</a:t>
            </a: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/>
            </a:pPr>
            <a:r>
              <a:rPr lang="en-US" kern="0" dirty="0">
                <a:latin typeface="+mn-lt"/>
                <a:cs typeface="+mn-cs"/>
              </a:rPr>
              <a:t>We had </a:t>
            </a:r>
            <a:r>
              <a:rPr lang="en-US" b="1" kern="0" dirty="0">
                <a:solidFill>
                  <a:srgbClr val="006600"/>
                </a:solidFill>
                <a:latin typeface="+mn-lt"/>
                <a:cs typeface="+mn-cs"/>
              </a:rPr>
              <a:t>3</a:t>
            </a:r>
            <a:r>
              <a:rPr lang="en-US" kern="0" dirty="0">
                <a:latin typeface="+mn-lt"/>
                <a:cs typeface="+mn-cs"/>
              </a:rPr>
              <a:t> disks requiring </a:t>
            </a:r>
            <a:r>
              <a:rPr lang="en-US" b="1" kern="0" dirty="0" smtClean="0">
                <a:solidFill>
                  <a:srgbClr val="006600"/>
                </a:solidFill>
                <a:latin typeface="+mn-lt"/>
                <a:cs typeface="+mn-cs"/>
              </a:rPr>
              <a:t>7 </a:t>
            </a:r>
            <a:r>
              <a:rPr lang="en-US" b="1" kern="0" dirty="0">
                <a:solidFill>
                  <a:srgbClr val="006600"/>
                </a:solidFill>
                <a:latin typeface="+mn-lt"/>
                <a:cs typeface="+mn-cs"/>
              </a:rPr>
              <a:t>steps</a:t>
            </a: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/>
            </a:pPr>
            <a:r>
              <a:rPr lang="en-US" b="1" kern="0" dirty="0">
                <a:solidFill>
                  <a:srgbClr val="006600"/>
                </a:solidFill>
                <a:latin typeface="+mn-lt"/>
                <a:cs typeface="+mn-cs"/>
              </a:rPr>
              <a:t>4</a:t>
            </a:r>
            <a:r>
              <a:rPr lang="en-US" kern="0" dirty="0">
                <a:latin typeface="+mn-lt"/>
                <a:cs typeface="+mn-cs"/>
              </a:rPr>
              <a:t> disks would require </a:t>
            </a:r>
            <a:r>
              <a:rPr lang="en-US" b="1" kern="0" dirty="0">
                <a:solidFill>
                  <a:srgbClr val="006600"/>
                </a:solidFill>
                <a:latin typeface="+mn-lt"/>
                <a:cs typeface="+mn-cs"/>
              </a:rPr>
              <a:t>15 steps</a:t>
            </a: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/>
            </a:pPr>
            <a:r>
              <a:rPr lang="en-US" b="1" kern="0" dirty="0">
                <a:solidFill>
                  <a:srgbClr val="006600"/>
                </a:solidFill>
                <a:latin typeface="+mn-lt"/>
                <a:cs typeface="+mn-cs"/>
              </a:rPr>
              <a:t>n</a:t>
            </a:r>
            <a:r>
              <a:rPr lang="en-US" kern="0" dirty="0">
                <a:latin typeface="+mn-lt"/>
                <a:cs typeface="+mn-cs"/>
              </a:rPr>
              <a:t> disks would require </a:t>
            </a:r>
            <a:r>
              <a:rPr lang="en-US" b="1" kern="0" dirty="0">
                <a:solidFill>
                  <a:srgbClr val="006600"/>
                </a:solidFill>
                <a:latin typeface="+mn-lt"/>
                <a:cs typeface="+mn-cs"/>
              </a:rPr>
              <a:t>2</a:t>
            </a:r>
            <a:r>
              <a:rPr lang="en-US" b="1" kern="0" baseline="30000" dirty="0">
                <a:solidFill>
                  <a:srgbClr val="006600"/>
                </a:solidFill>
                <a:latin typeface="+mn-lt"/>
                <a:cs typeface="+mn-cs"/>
              </a:rPr>
              <a:t>n</a:t>
            </a:r>
            <a:r>
              <a:rPr lang="en-US" b="1" kern="0" dirty="0">
                <a:solidFill>
                  <a:srgbClr val="006600"/>
                </a:solidFill>
                <a:latin typeface="+mn-lt"/>
                <a:cs typeface="+mn-cs"/>
              </a:rPr>
              <a:t> -1 steps</a:t>
            </a:r>
          </a:p>
          <a:p>
            <a:pPr marL="1257300" lvl="2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/>
            </a:pPr>
            <a:r>
              <a:rPr lang="en-US" sz="1600" kern="0" dirty="0">
                <a:latin typeface="+mn-lt"/>
                <a:cs typeface="+mn-cs"/>
              </a:rPr>
              <a:t>HUGE number</a:t>
            </a:r>
          </a:p>
          <a:p>
            <a:pPr marL="1200150" lvl="2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endParaRPr lang="en-US" kern="0" dirty="0">
              <a:latin typeface="+mn-lt"/>
              <a:cs typeface="+mn-cs"/>
            </a:endParaRPr>
          </a:p>
          <a:p>
            <a:pPr marL="1143000" lvl="2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/>
            </a:pPr>
            <a:endParaRPr lang="en-US" sz="2100" kern="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174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Tower of Hanoi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Example 01</a:t>
            </a:r>
          </a:p>
          <a:p>
            <a:pPr algn="r"/>
            <a:r>
              <a:rPr lang="en-US" dirty="0" smtClean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024289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5A489A1-837E-4D1E-AE06-17CCA31FA2D1}" type="slidenum">
              <a:rPr lang="en-US" altLang="en-US" sz="1400">
                <a:latin typeface="Arial Narrow" panose="020B0606020202030204" pitchFamily="34" charset="0"/>
              </a:rPr>
              <a:pPr algn="r"/>
              <a:t>44</a:t>
            </a:fld>
            <a:endParaRPr lang="en-US" altLang="en-US" sz="1400">
              <a:latin typeface="Arial Narrow" panose="020B0606020202030204" pitchFamily="34" charset="0"/>
            </a:endParaRPr>
          </a:p>
        </p:txBody>
      </p:sp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371600"/>
            <a:ext cx="7143750" cy="6096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dirty="0"/>
              <a:t>Towers of Hanoi – </a:t>
            </a:r>
            <a:r>
              <a:rPr lang="en-US" sz="4000" b="1" dirty="0" smtClean="0">
                <a:solidFill>
                  <a:srgbClr val="0000FF"/>
                </a:solidFill>
              </a:rPr>
              <a:t>Analysis</a:t>
            </a:r>
            <a:endParaRPr lang="en-US" dirty="0" smtClean="0"/>
          </a:p>
        </p:txBody>
      </p:sp>
      <p:sp>
        <p:nvSpPr>
          <p:cNvPr id="311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Monotype Sorts" pitchFamily="2" charset="2"/>
              <a:buNone/>
              <a:defRPr/>
            </a:pPr>
            <a:r>
              <a:rPr lang="en-US" smtClean="0">
                <a:sym typeface="Symbol" panose="05050102010706020507" pitchFamily="18" charset="2"/>
              </a:rPr>
              <a:t>	</a:t>
            </a:r>
          </a:p>
        </p:txBody>
      </p:sp>
      <p:sp>
        <p:nvSpPr>
          <p:cNvPr id="67591" name="Rectangle 4"/>
          <p:cNvSpPr>
            <a:spLocks noChangeArrowheads="1"/>
          </p:cNvSpPr>
          <p:nvPr/>
        </p:nvSpPr>
        <p:spPr bwMode="auto">
          <a:xfrm>
            <a:off x="0" y="0"/>
            <a:ext cx="883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/>
            <a:endParaRPr lang="en-US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514600"/>
            <a:ext cx="683895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896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133600"/>
            <a:ext cx="4876800" cy="4114800"/>
          </a:xfrm>
        </p:spPr>
        <p:txBody>
          <a:bodyPr/>
          <a:lstStyle/>
          <a:p>
            <a:r>
              <a:rPr lang="en-US" b="1" dirty="0" smtClean="0">
                <a:solidFill>
                  <a:srgbClr val="00823B"/>
                </a:solidFill>
              </a:rPr>
              <a:t>Basic Operation</a:t>
            </a:r>
          </a:p>
          <a:p>
            <a:pPr lvl="1"/>
            <a:r>
              <a:rPr lang="en-US" dirty="0" smtClean="0"/>
              <a:t>Number of moves</a:t>
            </a:r>
          </a:p>
          <a:p>
            <a:r>
              <a:rPr lang="en-US" b="1" dirty="0" smtClean="0">
                <a:solidFill>
                  <a:srgbClr val="00823B"/>
                </a:solidFill>
              </a:rPr>
              <a:t>For “n” disks</a:t>
            </a:r>
          </a:p>
          <a:p>
            <a:pPr lvl="1"/>
            <a:r>
              <a:rPr lang="en-US" dirty="0" smtClean="0"/>
              <a:t>M(n)</a:t>
            </a:r>
          </a:p>
          <a:p>
            <a:r>
              <a:rPr lang="en-US" b="1" dirty="0" smtClean="0">
                <a:solidFill>
                  <a:srgbClr val="00823B"/>
                </a:solidFill>
              </a:rPr>
              <a:t>Recurrence</a:t>
            </a:r>
          </a:p>
          <a:p>
            <a:pPr lvl="1"/>
            <a:r>
              <a:rPr lang="en-US" dirty="0" smtClean="0"/>
              <a:t>M(n) = M(n-1) + M(n-1) + 1</a:t>
            </a:r>
          </a:p>
          <a:p>
            <a:pPr lvl="1"/>
            <a:r>
              <a:rPr lang="en-US" dirty="0" smtClean="0"/>
              <a:t>M(n) = 2 M(n-1) + 1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45</a:t>
            </a:fld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371600"/>
            <a:ext cx="7143750" cy="6096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dirty="0"/>
              <a:t>Towers of Hanoi – </a:t>
            </a:r>
            <a:r>
              <a:rPr lang="en-US" sz="4000" b="1" dirty="0" smtClean="0">
                <a:solidFill>
                  <a:srgbClr val="0000FF"/>
                </a:solidFill>
              </a:rPr>
              <a:t>Analysis</a:t>
            </a:r>
            <a:endParaRPr lang="en-US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2362200"/>
            <a:ext cx="4114800" cy="284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2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BBC4220-3931-4AA3-8DED-169E28C89D5A}" type="slidenum">
              <a:rPr lang="en-US" altLang="en-US" sz="1400">
                <a:latin typeface="Arial Narrow" panose="020B0606020202030204" pitchFamily="34" charset="0"/>
              </a:rPr>
              <a:pPr algn="r"/>
              <a:t>46</a:t>
            </a:fld>
            <a:endParaRPr lang="en-US" altLang="en-US" sz="1400">
              <a:latin typeface="Arial Narrow" panose="020B0606020202030204" pitchFamily="34" charset="0"/>
            </a:endParaRPr>
          </a:p>
        </p:txBody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828800"/>
            <a:ext cx="6248400" cy="609600"/>
          </a:xfrm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r>
              <a:rPr lang="en-US" sz="2800" dirty="0" smtClean="0"/>
              <a:t>M(</a:t>
            </a:r>
            <a:r>
              <a:rPr lang="en-US" sz="2800" i="1" dirty="0" smtClean="0"/>
              <a:t>n</a:t>
            </a:r>
            <a:r>
              <a:rPr lang="en-US" sz="2800" dirty="0" smtClean="0"/>
              <a:t>) = 2M(</a:t>
            </a:r>
            <a:r>
              <a:rPr lang="en-US" sz="2800" i="1" dirty="0" smtClean="0"/>
              <a:t>n</a:t>
            </a:r>
            <a:r>
              <a:rPr lang="en-US" sz="2800" dirty="0" smtClean="0"/>
              <a:t>-1) + 1,  M(1) = 1</a:t>
            </a:r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14600"/>
            <a:ext cx="1895475" cy="3429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0622" y="2600325"/>
            <a:ext cx="2562225" cy="2571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971800"/>
            <a:ext cx="1895475" cy="285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4200" y="3000375"/>
            <a:ext cx="1762125" cy="257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969" y="3286125"/>
            <a:ext cx="2524125" cy="266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558428"/>
            <a:ext cx="2247900" cy="266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48471" y="3567393"/>
            <a:ext cx="2124075" cy="2762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021" y="3981450"/>
            <a:ext cx="1666875" cy="228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021" y="4268600"/>
            <a:ext cx="2352675" cy="2762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4572000"/>
            <a:ext cx="1581150" cy="2381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881422"/>
            <a:ext cx="3705225" cy="3048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4400" y="5158347"/>
            <a:ext cx="1762125" cy="266700"/>
          </a:xfrm>
          <a:prstGeom prst="rect">
            <a:avLst/>
          </a:prstGeom>
        </p:spPr>
      </p:pic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219200"/>
            <a:ext cx="7143750" cy="6096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dirty="0"/>
              <a:t>Towers of Hanoi – </a:t>
            </a:r>
            <a:r>
              <a:rPr lang="en-US" sz="4000" b="1" dirty="0" smtClean="0">
                <a:solidFill>
                  <a:srgbClr val="0000FF"/>
                </a:solidFill>
              </a:rPr>
              <a:t>Analysis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5634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9BBC4220-3931-4AA3-8DED-169E28C89D5A}" type="slidenum">
              <a:rPr lang="en-US" altLang="en-US" sz="1400">
                <a:latin typeface="Arial Narrow" panose="020B0606020202030204" pitchFamily="34" charset="0"/>
              </a:rPr>
              <a:pPr algn="r"/>
              <a:t>47</a:t>
            </a:fld>
            <a:endParaRPr lang="en-US" altLang="en-US" sz="1400">
              <a:latin typeface="Arial Narrow" panose="020B0606020202030204" pitchFamily="34" charset="0"/>
            </a:endParaRPr>
          </a:p>
        </p:txBody>
      </p:sp>
      <p:sp>
        <p:nvSpPr>
          <p:cNvPr id="314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878008"/>
            <a:ext cx="6248400" cy="3657600"/>
          </a:xfrm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r>
              <a:rPr lang="en-US" sz="2800" dirty="0" smtClean="0"/>
              <a:t>M(</a:t>
            </a:r>
            <a:r>
              <a:rPr lang="en-US" sz="2800" i="1" dirty="0" smtClean="0"/>
              <a:t>n</a:t>
            </a:r>
            <a:r>
              <a:rPr lang="en-US" sz="2800" dirty="0" smtClean="0"/>
              <a:t>) = 2M(</a:t>
            </a:r>
            <a:r>
              <a:rPr lang="en-US" sz="2800" i="1" dirty="0" smtClean="0"/>
              <a:t>n</a:t>
            </a:r>
            <a:r>
              <a:rPr lang="en-US" sz="2800" dirty="0" smtClean="0"/>
              <a:t>-1) + 1,  M(1) = 1</a:t>
            </a:r>
            <a:endParaRPr lang="en-US" dirty="0" smtClean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414288"/>
            <a:ext cx="1581150" cy="2381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228" y="2623575"/>
            <a:ext cx="3705225" cy="3048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318" y="2977583"/>
            <a:ext cx="1762125" cy="2667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2485766"/>
            <a:ext cx="2200275" cy="762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3492461"/>
            <a:ext cx="1343025" cy="5810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274480"/>
            <a:ext cx="6048375" cy="2476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228" y="3658888"/>
            <a:ext cx="3086100" cy="27622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43318" y="4193790"/>
            <a:ext cx="1400175" cy="25717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3318" y="3935687"/>
            <a:ext cx="1819275" cy="2476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3318" y="4461418"/>
            <a:ext cx="704850" cy="266700"/>
          </a:xfrm>
          <a:prstGeom prst="rect">
            <a:avLst/>
          </a:prstGeom>
        </p:spPr>
      </p:pic>
      <p:sp>
        <p:nvSpPr>
          <p:cNvPr id="22" name="Rectangle 2"/>
          <p:cNvSpPr txBox="1">
            <a:spLocks noChangeArrowheads="1"/>
          </p:cNvSpPr>
          <p:nvPr/>
        </p:nvSpPr>
        <p:spPr>
          <a:xfrm>
            <a:off x="152400" y="1219200"/>
            <a:ext cx="714375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mtClean="0"/>
              <a:t>Towers of Hanoi – </a:t>
            </a:r>
            <a:r>
              <a:rPr lang="en-US" sz="4000" b="1" smtClean="0">
                <a:solidFill>
                  <a:srgbClr val="0000FF"/>
                </a:solidFill>
              </a:rPr>
              <a:t>Analysis</a:t>
            </a:r>
            <a:endParaRPr lang="en-US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1143000" y="51816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(n) = </a:t>
            </a:r>
            <a:r>
              <a:rPr lang="el-GR" sz="28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</a:t>
            </a:r>
            <a:r>
              <a:rPr lang="en-US" sz="2800" b="1" i="1" baseline="300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61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Counting Bits for a number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Example 02</a:t>
            </a:r>
          </a:p>
          <a:p>
            <a:pPr algn="r"/>
            <a:r>
              <a:rPr lang="en-US" dirty="0" smtClean="0"/>
              <a:t>Algorithm and Tracing</a:t>
            </a:r>
          </a:p>
        </p:txBody>
      </p:sp>
    </p:spTree>
    <p:extLst>
      <p:ext uri="{BB962C8B-B14F-4D97-AF65-F5344CB8AC3E}">
        <p14:creationId xmlns:p14="http://schemas.microsoft.com/office/powerpoint/2010/main" val="40701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Counting Bits- </a:t>
            </a:r>
            <a:r>
              <a:rPr lang="en-US" sz="2800" b="1" dirty="0" smtClean="0">
                <a:solidFill>
                  <a:srgbClr val="0000FF"/>
                </a:solidFill>
              </a:rPr>
              <a:t>Algorithm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49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81250"/>
            <a:ext cx="6040928" cy="203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40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Counting Bits for a number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Example 02</a:t>
            </a:r>
          </a:p>
          <a:p>
            <a:pPr algn="r"/>
            <a:r>
              <a:rPr lang="en-US" dirty="0" smtClean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427666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133600"/>
            <a:ext cx="4876800" cy="4114800"/>
          </a:xfrm>
        </p:spPr>
        <p:txBody>
          <a:bodyPr/>
          <a:lstStyle/>
          <a:p>
            <a:r>
              <a:rPr lang="en-US" b="1" dirty="0" smtClean="0">
                <a:solidFill>
                  <a:srgbClr val="00823B"/>
                </a:solidFill>
              </a:rPr>
              <a:t>Basic Operation</a:t>
            </a:r>
          </a:p>
          <a:p>
            <a:pPr lvl="1"/>
            <a:r>
              <a:rPr lang="en-US" dirty="0" smtClean="0"/>
              <a:t>Number of addition</a:t>
            </a:r>
          </a:p>
          <a:p>
            <a:r>
              <a:rPr lang="en-US" b="1" dirty="0" smtClean="0">
                <a:solidFill>
                  <a:srgbClr val="00823B"/>
                </a:solidFill>
              </a:rPr>
              <a:t>For “n” bits</a:t>
            </a:r>
          </a:p>
          <a:p>
            <a:pPr lvl="1"/>
            <a:r>
              <a:rPr lang="en-US" dirty="0" smtClean="0"/>
              <a:t>A(n)</a:t>
            </a:r>
          </a:p>
          <a:p>
            <a:r>
              <a:rPr lang="en-US" b="1" dirty="0" smtClean="0">
                <a:solidFill>
                  <a:srgbClr val="00823B"/>
                </a:solidFill>
              </a:rPr>
              <a:t>Recurrence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51</a:t>
            </a:fld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371600"/>
            <a:ext cx="7143750" cy="6096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dirty="0"/>
              <a:t>Counting Bits – </a:t>
            </a:r>
            <a:r>
              <a:rPr lang="en-US" sz="4000" b="1" dirty="0" smtClean="0">
                <a:solidFill>
                  <a:srgbClr val="0000FF"/>
                </a:solidFill>
              </a:rPr>
              <a:t>Analysis</a:t>
            </a:r>
            <a:endParaRPr lang="en-US" dirty="0" smtClean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743200"/>
            <a:ext cx="5105400" cy="1722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800600"/>
            <a:ext cx="4188759" cy="533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5370614"/>
            <a:ext cx="1143000" cy="41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936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F85C0BEF-6F7F-48CD-A2BE-B01036A9FDC9}" type="slidenum">
              <a:rPr lang="en-US" altLang="en-US" sz="1400">
                <a:latin typeface="Arial Narrow" panose="020B0606020202030204" pitchFamily="34" charset="0"/>
              </a:rPr>
              <a:pPr algn="r"/>
              <a:t>52</a:t>
            </a:fld>
            <a:endParaRPr lang="en-US" altLang="en-US" sz="1400">
              <a:latin typeface="Arial Narrow" panose="020B0606020202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35" y="1828800"/>
            <a:ext cx="2543175" cy="3238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635" y="1876425"/>
            <a:ext cx="762000" cy="2762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235" y="2228850"/>
            <a:ext cx="828675" cy="2476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035" y="2571195"/>
            <a:ext cx="2476500" cy="3333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0" y="2895785"/>
            <a:ext cx="809625" cy="2857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035" y="3261711"/>
            <a:ext cx="2314575" cy="2381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342" y="3619685"/>
            <a:ext cx="1619250" cy="3429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6885" y="3653022"/>
            <a:ext cx="2647950" cy="2762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710" y="3966469"/>
            <a:ext cx="2733675" cy="3048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57835" y="3995044"/>
            <a:ext cx="2667000" cy="27622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2235" y="4286573"/>
            <a:ext cx="2724150" cy="2667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5792" y="4547679"/>
            <a:ext cx="1447800" cy="4476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5792" y="5029200"/>
            <a:ext cx="1485900" cy="4095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997" y="5395404"/>
            <a:ext cx="1647825" cy="31432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10235" y="4661793"/>
            <a:ext cx="2181225" cy="371475"/>
          </a:xfrm>
          <a:prstGeom prst="rect">
            <a:avLst/>
          </a:prstGeom>
        </p:spPr>
      </p:pic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219200"/>
            <a:ext cx="7143750" cy="6096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dirty="0" smtClean="0"/>
              <a:t>Counting Bits – </a:t>
            </a:r>
            <a:r>
              <a:rPr lang="en-US" sz="4000" b="1" dirty="0" smtClean="0">
                <a:solidFill>
                  <a:srgbClr val="0000FF"/>
                </a:solidFill>
              </a:rPr>
              <a:t>Analysis</a:t>
            </a:r>
            <a:endParaRPr 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3753035" y="5230249"/>
            <a:ext cx="350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(n) = log</a:t>
            </a:r>
            <a:r>
              <a:rPr 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 = </a:t>
            </a:r>
            <a:r>
              <a:rPr lang="el-GR" sz="28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2800" b="1" i="1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(lg n)</a:t>
            </a:r>
            <a:endParaRPr lang="en-US" sz="2800" b="1" i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15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Students’ Exercises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Recursive Analysis</a:t>
            </a:r>
          </a:p>
        </p:txBody>
      </p:sp>
    </p:spTree>
    <p:extLst>
      <p:ext uri="{BB962C8B-B14F-4D97-AF65-F5344CB8AC3E}">
        <p14:creationId xmlns:p14="http://schemas.microsoft.com/office/powerpoint/2010/main" val="3163276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 smtClean="0">
                <a:solidFill>
                  <a:srgbClr val="00823B"/>
                </a:solidFill>
              </a:rPr>
              <a:t>Fibonacci Sequence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Example 03</a:t>
            </a:r>
          </a:p>
          <a:p>
            <a:pPr algn="r"/>
            <a:r>
              <a:rPr lang="en-US" dirty="0" smtClean="0"/>
              <a:t>Algorithm and Tracing</a:t>
            </a:r>
          </a:p>
        </p:txBody>
      </p:sp>
    </p:spTree>
    <p:extLst>
      <p:ext uri="{BB962C8B-B14F-4D97-AF65-F5344CB8AC3E}">
        <p14:creationId xmlns:p14="http://schemas.microsoft.com/office/powerpoint/2010/main" val="380585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248400" cy="8382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Fibonacci Sequence - </a:t>
            </a:r>
            <a:r>
              <a:rPr lang="en-US" sz="2800" b="1" dirty="0" smtClean="0">
                <a:solidFill>
                  <a:srgbClr val="0000FF"/>
                </a:solidFill>
              </a:rPr>
              <a:t>Algorithm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531471"/>
            <a:ext cx="4800600" cy="2497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81000" y="1905000"/>
            <a:ext cx="571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823B"/>
                </a:solidFill>
              </a:rPr>
              <a:t>0, 1, 1, 2, 3, 5, 8, 13, 21, …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6685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19200"/>
            <a:ext cx="6248400" cy="838200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Fibonacci Sequence - </a:t>
            </a:r>
            <a:r>
              <a:rPr lang="en-US" sz="2800" b="1" dirty="0" smtClean="0">
                <a:solidFill>
                  <a:srgbClr val="0000FF"/>
                </a:solidFill>
              </a:rPr>
              <a:t>Tracing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56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4235708"/>
            <a:ext cx="3429000" cy="1784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24075"/>
            <a:ext cx="57150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1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Fibonacci Sequence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 smtClean="0"/>
              <a:t>Example 03</a:t>
            </a:r>
          </a:p>
          <a:p>
            <a:pPr algn="r"/>
            <a:r>
              <a:rPr lang="en-US" dirty="0" smtClean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18462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133600"/>
            <a:ext cx="4876800" cy="4114800"/>
          </a:xfrm>
        </p:spPr>
        <p:txBody>
          <a:bodyPr/>
          <a:lstStyle/>
          <a:p>
            <a:r>
              <a:rPr lang="en-US" b="1" dirty="0" smtClean="0">
                <a:solidFill>
                  <a:srgbClr val="00823B"/>
                </a:solidFill>
              </a:rPr>
              <a:t>Basic Operation</a:t>
            </a:r>
          </a:p>
          <a:p>
            <a:pPr lvl="1"/>
            <a:r>
              <a:rPr lang="en-US" dirty="0" smtClean="0"/>
              <a:t>Number of addition</a:t>
            </a:r>
          </a:p>
          <a:p>
            <a:r>
              <a:rPr lang="en-US" b="1" dirty="0" smtClean="0">
                <a:solidFill>
                  <a:srgbClr val="00823B"/>
                </a:solidFill>
              </a:rPr>
              <a:t>For “n”</a:t>
            </a:r>
          </a:p>
          <a:p>
            <a:pPr lvl="1"/>
            <a:r>
              <a:rPr lang="en-US" dirty="0" smtClean="0"/>
              <a:t>A(n)</a:t>
            </a:r>
          </a:p>
          <a:p>
            <a:r>
              <a:rPr lang="en-US" b="1" dirty="0" smtClean="0">
                <a:solidFill>
                  <a:srgbClr val="00823B"/>
                </a:solidFill>
              </a:rPr>
              <a:t>Recurrence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58</a:t>
            </a:fld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371600"/>
            <a:ext cx="7143750" cy="609600"/>
          </a:xfrm>
        </p:spPr>
        <p:txBody>
          <a:bodyPr>
            <a:normAutofit fontScale="90000"/>
          </a:bodyPr>
          <a:lstStyle/>
          <a:p>
            <a:pPr algn="l">
              <a:defRPr/>
            </a:pPr>
            <a:r>
              <a:rPr lang="en-US" dirty="0"/>
              <a:t>Fibonacci </a:t>
            </a:r>
            <a:r>
              <a:rPr lang="en-US" dirty="0" smtClean="0"/>
              <a:t>Sequence – </a:t>
            </a:r>
            <a:r>
              <a:rPr lang="en-US" sz="4000" b="1" dirty="0" smtClean="0">
                <a:solidFill>
                  <a:srgbClr val="0000FF"/>
                </a:solidFill>
              </a:rPr>
              <a:t>Analysis</a:t>
            </a:r>
            <a:endParaRPr lang="en-US" dirty="0" smtClean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302871"/>
            <a:ext cx="4800600" cy="2497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Content Placeholder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953000"/>
            <a:ext cx="5379720" cy="457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410200"/>
            <a:ext cx="2641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5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7381" y="1143000"/>
            <a:ext cx="6248400" cy="5334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 smtClean="0"/>
              <a:t>Factorial i.e. </a:t>
            </a:r>
            <a:r>
              <a:rPr lang="en-US" b="1" dirty="0" smtClean="0">
                <a:solidFill>
                  <a:srgbClr val="00823B"/>
                </a:solidFill>
              </a:rPr>
              <a:t>n!</a:t>
            </a:r>
          </a:p>
        </p:txBody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76400"/>
            <a:ext cx="8001000" cy="16764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dirty="0"/>
              <a:t>Definition:</a:t>
            </a:r>
            <a:r>
              <a:rPr lang="en-US" i="1" dirty="0"/>
              <a:t> </a:t>
            </a:r>
          </a:p>
          <a:p>
            <a:pPr lvl="1">
              <a:lnSpc>
                <a:spcPct val="80000"/>
              </a:lnSpc>
              <a:defRPr/>
            </a:pPr>
            <a:r>
              <a:rPr lang="en-US" i="1" dirty="0"/>
              <a:t>n </a:t>
            </a:r>
            <a:r>
              <a:rPr lang="en-US" dirty="0"/>
              <a:t>! = 1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 2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i="1" dirty="0"/>
              <a:t> </a:t>
            </a:r>
            <a:r>
              <a:rPr lang="en-US" dirty="0">
                <a:cs typeface="Times New Roman" panose="02020603050405020304" pitchFamily="18" charset="0"/>
                <a:sym typeface="Symbol" panose="05050102010706020507" pitchFamily="18" charset="2"/>
              </a:rPr>
              <a:t>…</a:t>
            </a:r>
            <a:r>
              <a:rPr lang="en-US" i="1" dirty="0"/>
              <a:t> </a:t>
            </a:r>
            <a:r>
              <a:rPr lang="en-US" dirty="0">
                <a:sym typeface="Symbol" panose="05050102010706020507" pitchFamily="18" charset="2"/>
              </a:rPr>
              <a:t> </a:t>
            </a:r>
            <a:r>
              <a:rPr lang="en-US" dirty="0"/>
              <a:t>(</a:t>
            </a:r>
            <a:r>
              <a:rPr lang="en-US" i="1" dirty="0"/>
              <a:t>n-</a:t>
            </a:r>
            <a:r>
              <a:rPr lang="en-US" dirty="0"/>
              <a:t>1)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 for </a:t>
            </a:r>
            <a:r>
              <a:rPr lang="en-US" i="1" dirty="0"/>
              <a:t>n </a:t>
            </a:r>
            <a:r>
              <a:rPr lang="en-US" i="1" dirty="0">
                <a:cs typeface="Times New Roman" panose="02020603050405020304" pitchFamily="18" charset="0"/>
              </a:rPr>
              <a:t>≥ </a:t>
            </a:r>
            <a:r>
              <a:rPr lang="en-US" dirty="0">
                <a:cs typeface="Times New Roman" panose="02020603050405020304" pitchFamily="18" charset="0"/>
              </a:rPr>
              <a:t>1  and</a:t>
            </a:r>
          </a:p>
          <a:p>
            <a:pPr lvl="1">
              <a:lnSpc>
                <a:spcPct val="80000"/>
              </a:lnSpc>
              <a:defRPr/>
            </a:pPr>
            <a:r>
              <a:rPr lang="en-US" dirty="0">
                <a:cs typeface="Times New Roman" panose="02020603050405020304" pitchFamily="18" charset="0"/>
              </a:rPr>
              <a:t>0! = 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3167062"/>
            <a:ext cx="6179771" cy="224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11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4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4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24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24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4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4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7381" y="1143000"/>
            <a:ext cx="6248400" cy="5334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 smtClean="0"/>
              <a:t>Factorial - </a:t>
            </a:r>
            <a:r>
              <a:rPr lang="en-US" b="1" dirty="0" smtClean="0">
                <a:solidFill>
                  <a:srgbClr val="00823B"/>
                </a:solidFill>
              </a:rPr>
              <a:t>Analysis</a:t>
            </a:r>
          </a:p>
        </p:txBody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2057400"/>
            <a:ext cx="8001000" cy="4343400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en-US" dirty="0" smtClean="0"/>
              <a:t>Recursive Definition</a:t>
            </a:r>
            <a:r>
              <a:rPr lang="en-US" dirty="0"/>
              <a:t>:</a:t>
            </a:r>
            <a:r>
              <a:rPr lang="en-US" i="1" dirty="0"/>
              <a:t> </a:t>
            </a:r>
          </a:p>
          <a:p>
            <a:pPr lvl="1">
              <a:lnSpc>
                <a:spcPct val="80000"/>
              </a:lnSpc>
              <a:defRPr/>
            </a:pPr>
            <a:r>
              <a:rPr lang="en-US" i="1" dirty="0" smtClean="0"/>
              <a:t>F</a:t>
            </a:r>
            <a:r>
              <a:rPr lang="en-US" dirty="0" smtClean="0"/>
              <a:t>(</a:t>
            </a:r>
            <a:r>
              <a:rPr lang="en-US" i="1" dirty="0" smtClean="0"/>
              <a:t>n</a:t>
            </a:r>
            <a:r>
              <a:rPr lang="en-US" dirty="0"/>
              <a:t>) =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n-</a:t>
            </a:r>
            <a:r>
              <a:rPr lang="en-US" dirty="0"/>
              <a:t>1) </a:t>
            </a:r>
            <a:r>
              <a:rPr lang="en-US" dirty="0">
                <a:sym typeface="Symbol" panose="05050102010706020507" pitchFamily="18" charset="2"/>
              </a:rPr>
              <a:t>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 for </a:t>
            </a:r>
            <a:r>
              <a:rPr lang="en-US" i="1" dirty="0"/>
              <a:t>n </a:t>
            </a:r>
            <a:r>
              <a:rPr lang="en-US" i="1" dirty="0">
                <a:cs typeface="Times New Roman" panose="02020603050405020304" pitchFamily="18" charset="0"/>
              </a:rPr>
              <a:t>≥ </a:t>
            </a:r>
            <a:r>
              <a:rPr lang="en-US" dirty="0">
                <a:cs typeface="Times New Roman" panose="02020603050405020304" pitchFamily="18" charset="0"/>
              </a:rPr>
              <a:t>1  and  </a:t>
            </a:r>
          </a:p>
          <a:p>
            <a:pPr lvl="1">
              <a:lnSpc>
                <a:spcPct val="80000"/>
              </a:lnSpc>
              <a:defRPr/>
            </a:pPr>
            <a:r>
              <a:rPr lang="en-US" i="1" dirty="0" smtClean="0"/>
              <a:t>F</a:t>
            </a:r>
            <a:r>
              <a:rPr lang="en-US" dirty="0" smtClean="0"/>
              <a:t>(</a:t>
            </a:r>
            <a:r>
              <a:rPr lang="en-US" dirty="0" smtClean="0">
                <a:cs typeface="Times New Roman" panose="02020603050405020304" pitchFamily="18" charset="0"/>
              </a:rPr>
              <a:t>0</a:t>
            </a:r>
            <a:r>
              <a:rPr lang="en-US" dirty="0">
                <a:cs typeface="Times New Roman" panose="02020603050405020304" pitchFamily="18" charset="0"/>
              </a:rPr>
              <a:t>) = </a:t>
            </a:r>
            <a:r>
              <a:rPr lang="en-US" dirty="0" smtClean="0">
                <a:cs typeface="Times New Roman" panose="02020603050405020304" pitchFamily="18" charset="0"/>
              </a:rPr>
              <a:t>1</a:t>
            </a:r>
          </a:p>
          <a:p>
            <a:pPr>
              <a:lnSpc>
                <a:spcPct val="80000"/>
              </a:lnSpc>
              <a:defRPr/>
            </a:pPr>
            <a:endParaRPr lang="en-US" dirty="0" smtClean="0"/>
          </a:p>
          <a:p>
            <a:pPr>
              <a:lnSpc>
                <a:spcPct val="80000"/>
              </a:lnSpc>
              <a:defRPr/>
            </a:pPr>
            <a:r>
              <a:rPr lang="en-US" dirty="0" smtClean="0"/>
              <a:t>T(</a:t>
            </a:r>
            <a:r>
              <a:rPr lang="en-US" i="1" dirty="0" smtClean="0"/>
              <a:t>n</a:t>
            </a:r>
            <a:r>
              <a:rPr lang="en-US" dirty="0"/>
              <a:t>) = </a:t>
            </a:r>
            <a:r>
              <a:rPr lang="en-US" dirty="0" smtClean="0"/>
              <a:t>T(</a:t>
            </a:r>
            <a:r>
              <a:rPr lang="en-US" i="1" dirty="0" smtClean="0"/>
              <a:t>n</a:t>
            </a:r>
            <a:r>
              <a:rPr lang="en-US" dirty="0" smtClean="0"/>
              <a:t>-1</a:t>
            </a:r>
            <a:r>
              <a:rPr lang="en-US" dirty="0"/>
              <a:t>) + 1,  </a:t>
            </a:r>
            <a:r>
              <a:rPr lang="en-US" dirty="0" smtClean="0"/>
              <a:t>T(0</a:t>
            </a:r>
            <a:r>
              <a:rPr lang="en-US" dirty="0"/>
              <a:t>) = 0</a:t>
            </a:r>
          </a:p>
          <a:p>
            <a:pPr>
              <a:lnSpc>
                <a:spcPct val="80000"/>
              </a:lnSpc>
              <a:defRPr/>
            </a:pPr>
            <a:endParaRPr lang="en-US" dirty="0" smtClean="0"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dirty="0" smtClean="0">
                <a:cs typeface="Times New Roman" panose="02020603050405020304" pitchFamily="18" charset="0"/>
              </a:rPr>
              <a:t>Informal analysis is left for students as an exercise</a:t>
            </a:r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39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0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890</TotalTime>
  <Words>1937</Words>
  <Application>Microsoft Office PowerPoint</Application>
  <PresentationFormat>On-screen Show (4:3)</PresentationFormat>
  <Paragraphs>412</Paragraphs>
  <Slides>61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Arial</vt:lpstr>
      <vt:lpstr>Arial Narrow</vt:lpstr>
      <vt:lpstr>Arial Unicode MS</vt:lpstr>
      <vt:lpstr>Calibri</vt:lpstr>
      <vt:lpstr>Monotype Sorts</vt:lpstr>
      <vt:lpstr>Symbol</vt:lpstr>
      <vt:lpstr>Times New Roman</vt:lpstr>
      <vt:lpstr>Wingdings</vt:lpstr>
      <vt:lpstr>Office Theme</vt:lpstr>
      <vt:lpstr>Equation</vt:lpstr>
      <vt:lpstr>PowerPoint Presentation</vt:lpstr>
      <vt:lpstr>Algorithm Analysis</vt:lpstr>
      <vt:lpstr>Introduction</vt:lpstr>
      <vt:lpstr>Plan for Analysis of Recursive Algorithms</vt:lpstr>
      <vt:lpstr>Plan for Analysis of Recursive Algorithms - continued</vt:lpstr>
      <vt:lpstr>Recurrence</vt:lpstr>
      <vt:lpstr>Recurrence - Introduction</vt:lpstr>
      <vt:lpstr>Recurrence - Examples</vt:lpstr>
      <vt:lpstr>Introduction</vt:lpstr>
      <vt:lpstr>Algorithm Analysis</vt:lpstr>
      <vt:lpstr>Binary Search</vt:lpstr>
      <vt:lpstr>Binary Search</vt:lpstr>
      <vt:lpstr>Binary Search</vt:lpstr>
      <vt:lpstr>Binary Search</vt:lpstr>
      <vt:lpstr>Binary Search</vt:lpstr>
      <vt:lpstr>Binary Search</vt:lpstr>
      <vt:lpstr>Introduction</vt:lpstr>
      <vt:lpstr>Algorithm Analysis</vt:lpstr>
      <vt:lpstr>Merge Sort -  Algorithm</vt:lpstr>
      <vt:lpstr>Merge Sort -  Tracing</vt:lpstr>
      <vt:lpstr>Merge Sort -  Tracing</vt:lpstr>
      <vt:lpstr>Merge Sort - Recurrence</vt:lpstr>
      <vt:lpstr>Forward Substitution</vt:lpstr>
      <vt:lpstr>Forward Substitution</vt:lpstr>
      <vt:lpstr>Forward Substitution</vt:lpstr>
      <vt:lpstr>Forward Substitution</vt:lpstr>
      <vt:lpstr>Introduction</vt:lpstr>
      <vt:lpstr>Algorithm Analysis</vt:lpstr>
      <vt:lpstr>Backwards Substitution</vt:lpstr>
      <vt:lpstr>Merge Sort - Recurrence</vt:lpstr>
      <vt:lpstr>Backward Substitution</vt:lpstr>
      <vt:lpstr>Backward Substitution</vt:lpstr>
      <vt:lpstr>Backward Substitution</vt:lpstr>
      <vt:lpstr>Backward Substitution</vt:lpstr>
      <vt:lpstr>Backward Substitution</vt:lpstr>
      <vt:lpstr>Backward Substitution</vt:lpstr>
      <vt:lpstr>Backward Substitution</vt:lpstr>
      <vt:lpstr>Tower of Hanoi</vt:lpstr>
      <vt:lpstr>Towers of Hanoi</vt:lpstr>
      <vt:lpstr>Tower of Hanoi - Algorithm</vt:lpstr>
      <vt:lpstr>Towers of Hanoi – Tracing</vt:lpstr>
      <vt:lpstr>Towers of Hanoi – Tracing</vt:lpstr>
      <vt:lpstr>Tower of Hanoi</vt:lpstr>
      <vt:lpstr>Towers of Hanoi – Analysis</vt:lpstr>
      <vt:lpstr>Towers of Hanoi – Analysis</vt:lpstr>
      <vt:lpstr>Towers of Hanoi – Analysis</vt:lpstr>
      <vt:lpstr>PowerPoint Presentation</vt:lpstr>
      <vt:lpstr>Counting Bits for a number</vt:lpstr>
      <vt:lpstr>Counting Bits- Algorithm</vt:lpstr>
      <vt:lpstr>Counting Bits for a number</vt:lpstr>
      <vt:lpstr>Counting Bits – Analysis</vt:lpstr>
      <vt:lpstr>Counting Bits – Analysis</vt:lpstr>
      <vt:lpstr>Students’ Exercises</vt:lpstr>
      <vt:lpstr>Fibonacci Sequence</vt:lpstr>
      <vt:lpstr>Fibonacci Sequence - Algorithm</vt:lpstr>
      <vt:lpstr>Fibonacci Sequence - Tracing</vt:lpstr>
      <vt:lpstr>Fibonacci Sequence</vt:lpstr>
      <vt:lpstr>Fibonacci Sequence – Analysis</vt:lpstr>
      <vt:lpstr>Factorial i.e. n!</vt:lpstr>
      <vt:lpstr>Factorial - Analysis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Windows User</cp:lastModifiedBy>
  <cp:revision>215</cp:revision>
  <cp:lastPrinted>2021-02-14T06:19:30Z</cp:lastPrinted>
  <dcterms:created xsi:type="dcterms:W3CDTF">2018-06-20T09:11:51Z</dcterms:created>
  <dcterms:modified xsi:type="dcterms:W3CDTF">2025-01-23T15:05:04Z</dcterms:modified>
</cp:coreProperties>
</file>