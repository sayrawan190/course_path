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1"/>
  </p:notesMasterIdLst>
  <p:sldIdLst>
    <p:sldId id="260" r:id="rId2"/>
    <p:sldId id="258" r:id="rId3"/>
    <p:sldId id="261" r:id="rId4"/>
    <p:sldId id="262" r:id="rId5"/>
    <p:sldId id="292" r:id="rId6"/>
    <p:sldId id="264" r:id="rId7"/>
    <p:sldId id="285" r:id="rId8"/>
    <p:sldId id="266" r:id="rId9"/>
    <p:sldId id="273" r:id="rId10"/>
    <p:sldId id="267" r:id="rId11"/>
    <p:sldId id="287" r:id="rId12"/>
    <p:sldId id="268" r:id="rId13"/>
    <p:sldId id="269" r:id="rId14"/>
    <p:sldId id="270" r:id="rId15"/>
    <p:sldId id="288" r:id="rId16"/>
    <p:sldId id="289" r:id="rId17"/>
    <p:sldId id="271" r:id="rId18"/>
    <p:sldId id="272" r:id="rId19"/>
    <p:sldId id="274" r:id="rId20"/>
    <p:sldId id="275" r:id="rId21"/>
    <p:sldId id="276" r:id="rId22"/>
    <p:sldId id="290" r:id="rId23"/>
    <p:sldId id="278" r:id="rId24"/>
    <p:sldId id="279" r:id="rId25"/>
    <p:sldId id="280" r:id="rId26"/>
    <p:sldId id="281" r:id="rId27"/>
    <p:sldId id="282" r:id="rId28"/>
    <p:sldId id="291" r:id="rId29"/>
    <p:sldId id="27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68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73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44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Algorithms and Data Structure- II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/>
              <a:t>CPCS 324</a:t>
            </a:r>
            <a:endParaRPr lang="en-US" sz="3200" b="1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400" b="1" kern="1200" dirty="0" err="1">
                <a:solidFill>
                  <a:srgbClr val="006600"/>
                </a:solidFill>
                <a:latin typeface="+mn-lt"/>
                <a:ea typeface="+mn-ea"/>
                <a:cs typeface="+mn-cs"/>
              </a:rPr>
              <a:t>Aman</a:t>
            </a:r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1" kern="1200" dirty="0" err="1">
                <a:solidFill>
                  <a:srgbClr val="006600"/>
                </a:solidFill>
                <a:latin typeface="+mn-lt"/>
                <a:ea typeface="+mn-ea"/>
                <a:cs typeface="+mn-cs"/>
              </a:rPr>
              <a:t>Ullah</a:t>
            </a:r>
            <a:endParaRPr lang="en-US" sz="1400" b="1" kern="1200" dirty="0">
              <a:solidFill>
                <a:srgbClr val="0066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442306" y="6362451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Dr. Muhammad Umair </a:t>
            </a:r>
            <a:r>
              <a:rPr lang="en-US" sz="1400" b="1" kern="1200" dirty="0" err="1">
                <a:solidFill>
                  <a:srgbClr val="006600"/>
                </a:solidFill>
                <a:latin typeface="+mn-lt"/>
                <a:ea typeface="+mn-ea"/>
                <a:cs typeface="+mn-cs"/>
              </a:rPr>
              <a:t>Ramzan</a:t>
            </a:r>
            <a:endParaRPr lang="en-US" sz="1400" b="1" kern="1200" dirty="0">
              <a:solidFill>
                <a:srgbClr val="0066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28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67.png"/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66.png"/><Relationship Id="rId10" Type="http://schemas.openxmlformats.org/officeDocument/2006/relationships/image" Target="../media/image77.png"/><Relationship Id="rId4" Type="http://schemas.openxmlformats.org/officeDocument/2006/relationships/image" Target="../media/image72.jpg"/><Relationship Id="rId9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590" y="1466769"/>
            <a:ext cx="7245257" cy="2235158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683590" y="4539130"/>
            <a:ext cx="7034107" cy="1785471"/>
            <a:chOff x="304800" y="4539129"/>
            <a:chExt cx="7034107" cy="1785471"/>
          </a:xfrm>
        </p:grpSpPr>
        <p:grpSp>
          <p:nvGrpSpPr>
            <p:cNvPr id="11" name="Group 10"/>
            <p:cNvGrpSpPr/>
            <p:nvPr/>
          </p:nvGrpSpPr>
          <p:grpSpPr>
            <a:xfrm>
              <a:off x="918075" y="4539129"/>
              <a:ext cx="6420832" cy="1785471"/>
              <a:chOff x="613275" y="0"/>
              <a:chExt cx="6420832" cy="1785471"/>
            </a:xfrm>
          </p:grpSpPr>
          <p:sp>
            <p:nvSpPr>
              <p:cNvPr id="13" name="Pentagon 12"/>
              <p:cNvSpPr/>
              <p:nvPr/>
            </p:nvSpPr>
            <p:spPr>
              <a:xfrm rot="10800000">
                <a:off x="613275" y="0"/>
                <a:ext cx="6420832" cy="1785471"/>
              </a:xfrm>
              <a:prstGeom prst="homePlat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4" name="Pentagon 4"/>
              <p:cNvSpPr/>
              <p:nvPr/>
            </p:nvSpPr>
            <p:spPr>
              <a:xfrm rot="21600000">
                <a:off x="1059643" y="0"/>
                <a:ext cx="5974464" cy="178547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787343" tIns="76200" rIns="142240" bIns="76200" numCol="1" spcCol="1270" anchor="ctr" anchorCtr="0">
                <a:noAutofit/>
              </a:bodyPr>
              <a:lstStyle/>
              <a:p>
                <a:pPr lvl="0" algn="ctr" defTabSz="88900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b="1" i="0" kern="1200" dirty="0">
                    <a:latin typeface="+mj-lt"/>
                  </a:rPr>
                  <a:t>O my Lord! Expand for me my chest [with assurance] and ease for me my task and untie the knot from my tongue that they may understand my speech. </a:t>
                </a:r>
                <a:r>
                  <a:rPr lang="en-US" sz="2000" b="1" i="0" kern="1200" dirty="0">
                    <a:solidFill>
                      <a:srgbClr val="FFFF00"/>
                    </a:solidFill>
                  </a:rPr>
                  <a:t>(Quran 20 : 25-28)</a:t>
                </a:r>
                <a:endParaRPr lang="en-US" sz="2000" b="1" kern="1200" dirty="0">
                  <a:solidFill>
                    <a:srgbClr val="FFFF00"/>
                  </a:solidFill>
                  <a:latin typeface="+mj-lt"/>
                </a:endParaRPr>
              </a:p>
            </p:txBody>
          </p:sp>
        </p:grpSp>
        <p:sp>
          <p:nvSpPr>
            <p:cNvPr id="12" name="Oval 11"/>
            <p:cNvSpPr/>
            <p:nvPr/>
          </p:nvSpPr>
          <p:spPr>
            <a:xfrm>
              <a:off x="304800" y="4539129"/>
              <a:ext cx="1785471" cy="1785471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39000" r="-39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385476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Space and Time Tradeoff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Efficiency Parameters</a:t>
                </a:r>
              </a:p>
              <a:p>
                <a:pPr lvl="1"/>
                <a:r>
                  <a:rPr lang="en-US" b="1" dirty="0">
                    <a:solidFill>
                      <a:schemeClr val="accent1"/>
                    </a:solidFill>
                  </a:rPr>
                  <a:t>Time</a:t>
                </a:r>
                <a:r>
                  <a:rPr lang="en-US" dirty="0"/>
                  <a:t> (Speed)</a:t>
                </a:r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How speedily it will complete its execution</a:t>
                </a:r>
              </a:p>
              <a:p>
                <a:pPr lvl="1"/>
                <a:endParaRPr lang="en-US" b="1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accent1"/>
                    </a:solidFill>
                  </a:rPr>
                  <a:t>Space</a:t>
                </a:r>
                <a:r>
                  <a:rPr lang="en-US" dirty="0"/>
                  <a:t> (Memory)</a:t>
                </a:r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How much memory is required to store the data</a:t>
                </a:r>
              </a:p>
              <a:p>
                <a:pPr marL="96012" lvl="1" indent="0">
                  <a:buNone/>
                </a:pPr>
                <a:endParaRPr lang="en-US" dirty="0"/>
              </a:p>
              <a:p>
                <a:pPr marL="9601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/>
                        </a:rPr>
                        <m:t>𝑻𝒊𝒎𝒆</m:t>
                      </m:r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/>
                        </a:rPr>
                        <m:t> ∝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</a:rPr>
                            <m:t>𝑺𝒑𝒂𝒄𝒆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  <a:p>
                <a:pPr marL="96012" lvl="1" indent="0">
                  <a:buNone/>
                </a:pPr>
                <a:endParaRPr lang="en-US" sz="24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68" t="-3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7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482" y="1219200"/>
            <a:ext cx="7566223" cy="544046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Space Time Trade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482" y="1904999"/>
            <a:ext cx="7566223" cy="4352365"/>
          </a:xfrm>
        </p:spPr>
        <p:txBody>
          <a:bodyPr/>
          <a:lstStyle/>
          <a:p>
            <a:r>
              <a:rPr lang="en-US" dirty="0"/>
              <a:t>Preprocess the problem input</a:t>
            </a:r>
          </a:p>
          <a:p>
            <a:pPr lvl="1"/>
            <a:r>
              <a:rPr lang="en-US" dirty="0"/>
              <a:t>Partial or Whole</a:t>
            </a:r>
          </a:p>
          <a:p>
            <a:pPr lvl="1"/>
            <a:r>
              <a:rPr lang="en-US" dirty="0"/>
              <a:t>Store Additional Information</a:t>
            </a:r>
          </a:p>
          <a:p>
            <a:r>
              <a:rPr lang="en-US" dirty="0"/>
              <a:t>Space-for-Time Trade-Off</a:t>
            </a:r>
          </a:p>
          <a:p>
            <a:r>
              <a:rPr lang="en-US" dirty="0"/>
              <a:t>Time-for-Space Trade-Off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9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4585" y="1905000"/>
            <a:ext cx="6248400" cy="3657600"/>
          </a:xfrm>
        </p:spPr>
        <p:txBody>
          <a:bodyPr>
            <a:normAutofit/>
          </a:bodyPr>
          <a:lstStyle/>
          <a:p>
            <a:r>
              <a:rPr lang="en-US" dirty="0"/>
              <a:t>Space-for-Time trade-offs</a:t>
            </a:r>
          </a:p>
          <a:p>
            <a:pPr lvl="1"/>
            <a:r>
              <a:rPr lang="en-US" dirty="0"/>
              <a:t>Number Tables</a:t>
            </a:r>
          </a:p>
          <a:p>
            <a:pPr lvl="1"/>
            <a:r>
              <a:rPr lang="en-US" dirty="0"/>
              <a:t>Logarithmic Tables etc.</a:t>
            </a:r>
          </a:p>
          <a:p>
            <a:pPr lvl="1"/>
            <a:r>
              <a:rPr lang="en-US" dirty="0"/>
              <a:t>Adjacency Matrix</a:t>
            </a:r>
          </a:p>
          <a:p>
            <a:pPr lvl="1"/>
            <a:r>
              <a:rPr lang="en-US" dirty="0"/>
              <a:t>Adjacency List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434341" y="1219200"/>
            <a:ext cx="62484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 Time Trade Off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103" y="1639580"/>
            <a:ext cx="1805797" cy="25017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150" y="4208303"/>
            <a:ext cx="3337750" cy="21809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114" y="4428602"/>
            <a:ext cx="3704900" cy="174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5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95" y="1219200"/>
            <a:ext cx="6920753" cy="78889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Space-for-time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4695" y="2133599"/>
            <a:ext cx="7476575" cy="3818965"/>
          </a:xfrm>
        </p:spPr>
        <p:txBody>
          <a:bodyPr>
            <a:normAutofit/>
          </a:bodyPr>
          <a:lstStyle/>
          <a:p>
            <a:r>
              <a:rPr lang="en-US" dirty="0"/>
              <a:t>Input Enhancement</a:t>
            </a:r>
          </a:p>
          <a:p>
            <a:pPr lvl="1"/>
            <a:r>
              <a:rPr lang="en-US" dirty="0"/>
              <a:t>Counting Methods for Sorting</a:t>
            </a:r>
          </a:p>
          <a:p>
            <a:pPr lvl="1"/>
            <a:r>
              <a:rPr lang="en-US" dirty="0"/>
              <a:t>String Matching Algorithms</a:t>
            </a:r>
          </a:p>
          <a:p>
            <a:pPr lvl="2"/>
            <a:r>
              <a:rPr lang="en-US" dirty="0" err="1"/>
              <a:t>Horspool’s</a:t>
            </a:r>
            <a:r>
              <a:rPr lang="en-US" dirty="0"/>
              <a:t> Algorithm</a:t>
            </a:r>
          </a:p>
          <a:p>
            <a:pPr lvl="2"/>
            <a:r>
              <a:rPr lang="en-US" dirty="0"/>
              <a:t>Boyer-Moore</a:t>
            </a:r>
          </a:p>
          <a:p>
            <a:r>
              <a:rPr lang="en-US" dirty="0"/>
              <a:t>Pre Structuring</a:t>
            </a:r>
          </a:p>
          <a:p>
            <a:pPr lvl="1"/>
            <a:r>
              <a:rPr lang="en-US" dirty="0"/>
              <a:t>Hashing </a:t>
            </a:r>
          </a:p>
          <a:p>
            <a:pPr lvl="1"/>
            <a:r>
              <a:rPr lang="en-US" dirty="0"/>
              <a:t>Indexing with B-Trees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6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Sorting by</a:t>
            </a:r>
            <a:br>
              <a:rPr lang="en-US" dirty="0"/>
            </a:br>
            <a:r>
              <a:rPr lang="en-US" dirty="0"/>
              <a:t>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Input Enhancement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3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527" y="1237129"/>
            <a:ext cx="6248400" cy="878542"/>
          </a:xfrm>
        </p:spPr>
        <p:txBody>
          <a:bodyPr>
            <a:normAutofit/>
          </a:bodyPr>
          <a:lstStyle/>
          <a:p>
            <a:r>
              <a:rPr lang="en-US" dirty="0"/>
              <a:t>Sorting by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091" y="2156535"/>
            <a:ext cx="7675809" cy="402042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Comparison Counting Sort</a:t>
            </a:r>
          </a:p>
          <a:p>
            <a:endParaRPr lang="en-US" sz="4400" b="1" dirty="0">
              <a:solidFill>
                <a:srgbClr val="FF0000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US" dirty="0"/>
              <a:t>Distribution Counting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2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Input</a:t>
            </a:r>
            <a:br>
              <a:rPr lang="en-US" dirty="0"/>
            </a:br>
            <a:r>
              <a:rPr lang="en-US" dirty="0"/>
              <a:t>Enhancement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Comparison Counting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411" y="1219200"/>
            <a:ext cx="7386929" cy="87032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Comparison Counting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411" y="2133599"/>
            <a:ext cx="7386929" cy="4177553"/>
          </a:xfrm>
        </p:spPr>
        <p:txBody>
          <a:bodyPr>
            <a:normAutofit fontScale="92500"/>
          </a:bodyPr>
          <a:lstStyle/>
          <a:p>
            <a:pPr algn="just"/>
            <a:r>
              <a:rPr lang="en-US" altLang="en-US" dirty="0"/>
              <a:t>We apply input enhancement technique for sorting a list of numbers.</a:t>
            </a:r>
          </a:p>
          <a:p>
            <a:pPr algn="just"/>
            <a:r>
              <a:rPr lang="en-US" altLang="en-US" dirty="0"/>
              <a:t>For each element of the list, we shall count the number of elements smaller than this element and record the results in a table.</a:t>
            </a:r>
            <a:endParaRPr lang="en-US" dirty="0"/>
          </a:p>
          <a:p>
            <a:pPr algn="just"/>
            <a:r>
              <a:rPr lang="en-US" dirty="0"/>
              <a:t>Count the total number of smaller elements compared to key value</a:t>
            </a:r>
          </a:p>
          <a:p>
            <a:pPr lvl="1"/>
            <a:r>
              <a:rPr lang="en-US" dirty="0"/>
              <a:t>e.g. for “count” 10, the element will be placed at 11</a:t>
            </a:r>
            <a:r>
              <a:rPr lang="en-US" baseline="30000" dirty="0"/>
              <a:t>th</a:t>
            </a:r>
            <a:r>
              <a:rPr lang="en-US" dirty="0"/>
              <a:t> position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8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411" y="1219200"/>
            <a:ext cx="7386929" cy="87032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Comparison Counting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411" y="2133599"/>
            <a:ext cx="7386929" cy="4177553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Finally, we shall copy the elements of this resultant list to their appropriate positions in a new sorted list.</a:t>
            </a:r>
          </a:p>
          <a:p>
            <a:pPr marL="228600" lvl="1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This algorithm is called “</a:t>
            </a: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</a:rPr>
              <a:t>Comparison Counting Sort</a:t>
            </a:r>
            <a:r>
              <a:rPr lang="en-US" altLang="en-US" sz="3200" dirty="0"/>
              <a:t>”.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09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980" y="1219200"/>
            <a:ext cx="7584142" cy="737979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Comparison Counting 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31" y="2423333"/>
            <a:ext cx="4391025" cy="26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31" y="2883355"/>
            <a:ext cx="2790825" cy="257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631" y="3218462"/>
            <a:ext cx="1685925" cy="209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4155" y="3505944"/>
            <a:ext cx="2009775" cy="22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6593" y="3812476"/>
            <a:ext cx="1104900" cy="2476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0431" y="4138058"/>
            <a:ext cx="2057400" cy="2095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3520" y="4425540"/>
            <a:ext cx="2343150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631" y="4741597"/>
            <a:ext cx="3248025" cy="2476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631" y="5026289"/>
            <a:ext cx="7334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6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084181"/>
              </p:ext>
            </p:extLst>
          </p:nvPr>
        </p:nvGraphicFramePr>
        <p:xfrm>
          <a:off x="6368616" y="5341186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828" y="2586340"/>
            <a:ext cx="2736056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827" y="3189031"/>
            <a:ext cx="2700338" cy="278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87" y="3494601"/>
            <a:ext cx="2693194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14" y="3802688"/>
            <a:ext cx="2671763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65974" y="2335101"/>
            <a:ext cx="4583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617" y="2900763"/>
            <a:ext cx="7089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Count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655" y="4094977"/>
            <a:ext cx="2686050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617" y="4382234"/>
            <a:ext cx="26574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227" y="4668388"/>
            <a:ext cx="2700338" cy="278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298" y="4966312"/>
            <a:ext cx="2693194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8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527089"/>
              </p:ext>
            </p:extLst>
          </p:nvPr>
        </p:nvGraphicFramePr>
        <p:xfrm>
          <a:off x="6368616" y="5339229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7284950"/>
              </p:ext>
            </p:extLst>
          </p:nvPr>
        </p:nvGraphicFramePr>
        <p:xfrm>
          <a:off x="6368616" y="5341177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9246097"/>
              </p:ext>
            </p:extLst>
          </p:nvPr>
        </p:nvGraphicFramePr>
        <p:xfrm>
          <a:off x="6368616" y="5346854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193744"/>
              </p:ext>
            </p:extLst>
          </p:nvPr>
        </p:nvGraphicFramePr>
        <p:xfrm>
          <a:off x="6368616" y="5346216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79871"/>
              </p:ext>
            </p:extLst>
          </p:nvPr>
        </p:nvGraphicFramePr>
        <p:xfrm>
          <a:off x="6368616" y="5343909"/>
          <a:ext cx="2702022" cy="2819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515011" y="2389420"/>
            <a:ext cx="4371975" cy="2171700"/>
            <a:chOff x="457200" y="2389420"/>
            <a:chExt cx="4371975" cy="21717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7200" y="2389420"/>
              <a:ext cx="4371975" cy="2667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7200" y="2656120"/>
              <a:ext cx="3305175" cy="1905000"/>
            </a:xfrm>
            <a:prstGeom prst="rect">
              <a:avLst/>
            </a:prstGeom>
          </p:spPr>
        </p:pic>
      </p:grp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1362625" y="1219200"/>
            <a:ext cx="7674056" cy="737979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Comparison Counting Sort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68011" y="5638800"/>
            <a:ext cx="255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5514" y="5635808"/>
            <a:ext cx="255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5908" y="5635807"/>
            <a:ext cx="255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6777" y="5638800"/>
            <a:ext cx="255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611" y="5649707"/>
            <a:ext cx="255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508" y="5635806"/>
            <a:ext cx="255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0255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2" grpId="0"/>
      <p:bldP spid="24" grpId="0"/>
      <p:bldP spid="25" grpId="0"/>
      <p:bldP spid="27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871125"/>
              </p:ext>
            </p:extLst>
          </p:nvPr>
        </p:nvGraphicFramePr>
        <p:xfrm>
          <a:off x="1521699" y="2241167"/>
          <a:ext cx="7290198" cy="746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5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5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55</a:t>
                      </a:r>
                      <a:endParaRPr lang="en-US" sz="20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639053" y="3338850"/>
            <a:ext cx="4371975" cy="2171700"/>
            <a:chOff x="457200" y="2389420"/>
            <a:chExt cx="4371975" cy="217170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389420"/>
              <a:ext cx="4371975" cy="2667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656120"/>
              <a:ext cx="3305175" cy="1905000"/>
            </a:xfrm>
            <a:prstGeom prst="rect">
              <a:avLst/>
            </a:prstGeom>
          </p:spPr>
        </p:pic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359137" y="1249150"/>
            <a:ext cx="7515922" cy="812732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Comparison Counting Sort</a:t>
            </a:r>
            <a:br>
              <a:rPr lang="en-US" sz="4900" dirty="0"/>
            </a:br>
            <a:r>
              <a:rPr lang="en-US" sz="2200" b="1" dirty="0">
                <a:solidFill>
                  <a:srgbClr val="0000FF"/>
                </a:solidFill>
              </a:rPr>
              <a:t>(Student Example)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304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492804" y="1290917"/>
            <a:ext cx="7041428" cy="878541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Comparison Counting Sort</a:t>
            </a:r>
            <a:br>
              <a:rPr lang="en-US" sz="4900" dirty="0"/>
            </a:br>
            <a:r>
              <a:rPr lang="en-US" sz="2700" b="1" dirty="0">
                <a:solidFill>
                  <a:srgbClr val="0000FF"/>
                </a:solidFill>
              </a:rPr>
              <a:t>(Analysis)				</a:t>
            </a:r>
            <a:r>
              <a:rPr lang="en-US" sz="2700" b="0" dirty="0">
                <a:solidFill>
                  <a:schemeClr val="accent6">
                    <a:lumMod val="75000"/>
                  </a:schemeClr>
                </a:solidFill>
              </a:rPr>
              <a:t>Formal Analysis</a:t>
            </a:r>
            <a:endParaRPr lang="en-US" sz="49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554549" y="2532349"/>
            <a:ext cx="4974351" cy="2754463"/>
            <a:chOff x="457200" y="2389420"/>
            <a:chExt cx="4371975" cy="2171700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389420"/>
              <a:ext cx="4371975" cy="26670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656120"/>
              <a:ext cx="3305175" cy="1905000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5683628" y="2940426"/>
            <a:ext cx="31376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The 1</a:t>
            </a:r>
            <a:r>
              <a:rPr lang="en-US" altLang="en-US" baseline="30000" dirty="0">
                <a:solidFill>
                  <a:schemeClr val="accent6">
                    <a:lumMod val="75000"/>
                  </a:schemeClr>
                </a:solidFill>
              </a:rPr>
              <a:t>st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‘for’ loop runs from 0 to n-1 i.e. n times whereas the last ‘for’ loop also runs from 0 to n-1 i.e. n times.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In the nested ‘for’ loops, the outer ‘for’ loop runs from 0 to n-2 whereas the inner ‘for’ loop runs from i+1 to n-1.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Thus the total running time of above algorithm is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548" y="5692750"/>
            <a:ext cx="1000339" cy="386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490" y="5681305"/>
            <a:ext cx="327697" cy="29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206" y="5659034"/>
            <a:ext cx="551911" cy="34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514" y="5384373"/>
            <a:ext cx="1431520" cy="89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753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492804" y="1290917"/>
            <a:ext cx="7041428" cy="878541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Comparison Counting Sort</a:t>
            </a:r>
            <a:br>
              <a:rPr lang="en-US" sz="4900" dirty="0"/>
            </a:br>
            <a:r>
              <a:rPr lang="en-US" sz="2700" b="1" dirty="0">
                <a:solidFill>
                  <a:srgbClr val="0000FF"/>
                </a:solidFill>
              </a:rPr>
              <a:t>(Analysis)				</a:t>
            </a:r>
            <a:r>
              <a:rPr lang="en-US" sz="2700" b="0" dirty="0">
                <a:solidFill>
                  <a:schemeClr val="accent6">
                    <a:lumMod val="75000"/>
                  </a:schemeClr>
                </a:solidFill>
              </a:rPr>
              <a:t>Formal Analysis</a:t>
            </a:r>
            <a:endParaRPr lang="en-US" sz="49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010" y="2185988"/>
            <a:ext cx="24193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596" y="3075636"/>
            <a:ext cx="28194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596" y="3931880"/>
            <a:ext cx="23336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596" y="4703405"/>
            <a:ext cx="50673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596" y="5424756"/>
            <a:ext cx="4914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260" y="2185988"/>
            <a:ext cx="34575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984" y="2862263"/>
            <a:ext cx="3581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260" y="3548063"/>
            <a:ext cx="10953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168" y="3748088"/>
            <a:ext cx="8477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0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314" y="2810280"/>
            <a:ext cx="742950" cy="70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11" y="2810280"/>
            <a:ext cx="207169" cy="678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752" y="2774560"/>
            <a:ext cx="514350" cy="750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024" y="2788847"/>
            <a:ext cx="378619" cy="750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714" y="3591319"/>
            <a:ext cx="207169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275" y="3847438"/>
            <a:ext cx="2057400" cy="278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223" y="3622410"/>
            <a:ext cx="357188" cy="72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96" y="4562777"/>
            <a:ext cx="164306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601" y="4794949"/>
            <a:ext cx="1000125" cy="23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01" y="4558150"/>
            <a:ext cx="357188" cy="72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726" y="4555634"/>
            <a:ext cx="20002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751" y="4527160"/>
            <a:ext cx="842963" cy="692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492804" y="1290917"/>
            <a:ext cx="7041428" cy="878541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Comparison Counting Sort</a:t>
            </a:r>
            <a:br>
              <a:rPr lang="en-US" sz="4900" dirty="0"/>
            </a:br>
            <a:r>
              <a:rPr lang="en-US" sz="2700" b="1" dirty="0">
                <a:solidFill>
                  <a:srgbClr val="0000FF"/>
                </a:solidFill>
              </a:rPr>
              <a:t>(Analysis)				</a:t>
            </a:r>
            <a:r>
              <a:rPr lang="en-US" sz="2700" b="0" dirty="0">
                <a:solidFill>
                  <a:schemeClr val="accent6">
                    <a:lumMod val="75000"/>
                  </a:schemeClr>
                </a:solidFill>
              </a:rPr>
              <a:t>Informal Analysis</a:t>
            </a:r>
            <a:endParaRPr lang="en-US" sz="49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554549" y="2532349"/>
            <a:ext cx="4974351" cy="2754463"/>
            <a:chOff x="457200" y="2389420"/>
            <a:chExt cx="4371975" cy="2171700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200" y="2389420"/>
              <a:ext cx="4371975" cy="26670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7200" y="2656120"/>
              <a:ext cx="3305175" cy="1905000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5315" y="5418203"/>
            <a:ext cx="800100" cy="371475"/>
          </a:xfrm>
          <a:prstGeom prst="rect">
            <a:avLst/>
          </a:prstGeom>
        </p:spPr>
      </p:pic>
      <p:pic>
        <p:nvPicPr>
          <p:cNvPr id="2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917" y="5253896"/>
            <a:ext cx="164306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336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1928" y="1905000"/>
            <a:ext cx="7498990" cy="42985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Running Time</a:t>
            </a:r>
          </a:p>
          <a:p>
            <a:pPr lvl="1"/>
            <a:r>
              <a:rPr lang="en-US" dirty="0"/>
              <a:t>Quadratic 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Similar to Insertion sort, Selection Sort</a:t>
            </a:r>
          </a:p>
          <a:p>
            <a:r>
              <a:rPr lang="en-US" dirty="0"/>
              <a:t>Applicable for atomic values</a:t>
            </a:r>
          </a:p>
          <a:p>
            <a:r>
              <a:rPr lang="en-US" dirty="0"/>
              <a:t>Not appropriate for a data set containing multiple occurrences of a key value </a:t>
            </a:r>
          </a:p>
          <a:p>
            <a:r>
              <a:rPr lang="en-US" dirty="0"/>
              <a:t>Requires additional space</a:t>
            </a:r>
          </a:p>
          <a:p>
            <a:r>
              <a:rPr lang="en-US" dirty="0"/>
              <a:t>Minimum movement of data to rearrange</a:t>
            </a:r>
          </a:p>
          <a:p>
            <a:r>
              <a:rPr lang="en-US" dirty="0"/>
              <a:t>Directly placed on appropriate position</a:t>
            </a:r>
          </a:p>
          <a:p>
            <a:r>
              <a:rPr lang="en-US" dirty="0"/>
              <a:t>More useful on small set of domain values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93199" y="1201271"/>
            <a:ext cx="6818472" cy="75303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Comparison Counting Sort</a:t>
            </a:r>
          </a:p>
        </p:txBody>
      </p:sp>
    </p:spTree>
    <p:extLst>
      <p:ext uri="{BB962C8B-B14F-4D97-AF65-F5344CB8AC3E}">
        <p14:creationId xmlns:p14="http://schemas.microsoft.com/office/powerpoint/2010/main" val="1523645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Input</a:t>
            </a:r>
            <a:br>
              <a:rPr lang="en-US" dirty="0"/>
            </a:br>
            <a:r>
              <a:rPr lang="en-US" dirty="0"/>
              <a:t>Enhancement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Distribution Counting Sort</a:t>
            </a:r>
          </a:p>
          <a:p>
            <a:r>
              <a:rPr lang="en-US" sz="2800" dirty="0">
                <a:solidFill>
                  <a:srgbClr val="0000CC"/>
                </a:solidFill>
              </a:rPr>
              <a:t>(1</a:t>
            </a:r>
            <a:r>
              <a:rPr lang="en-US" sz="2800" baseline="30000" dirty="0">
                <a:solidFill>
                  <a:srgbClr val="0000CC"/>
                </a:solidFill>
              </a:rPr>
              <a:t>st</a:t>
            </a:r>
            <a:r>
              <a:rPr lang="en-US" sz="2800" dirty="0">
                <a:solidFill>
                  <a:srgbClr val="0000CC"/>
                </a:solidFill>
              </a:rPr>
              <a:t> Variant)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17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6754" y="2168885"/>
            <a:ext cx="6326761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95933" y="1290918"/>
            <a:ext cx="7432913" cy="86508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45611" y="6065950"/>
            <a:ext cx="3652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CC"/>
                </a:solidFill>
                <a:latin typeface="Georgia" panose="02040502050405020303" pitchFamily="18" charset="0"/>
              </a:rPr>
              <a:t>*Reference Book: “Introduction To Algorithm, 3</a:t>
            </a:r>
            <a:r>
              <a:rPr lang="en-US" sz="1400" b="1" i="1" baseline="30000" dirty="0">
                <a:solidFill>
                  <a:srgbClr val="0000CC"/>
                </a:solidFill>
                <a:latin typeface="Georgia" panose="02040502050405020303" pitchFamily="18" charset="0"/>
              </a:rPr>
              <a:t>rd</a:t>
            </a:r>
            <a:r>
              <a:rPr lang="en-US" sz="1400" b="1" i="1" dirty="0">
                <a:solidFill>
                  <a:srgbClr val="0000CC"/>
                </a:solidFill>
                <a:latin typeface="Georgia" panose="02040502050405020303" pitchFamily="18" charset="0"/>
              </a:rPr>
              <a:t> Edition pp:195</a:t>
            </a:r>
          </a:p>
        </p:txBody>
      </p:sp>
    </p:spTree>
    <p:extLst>
      <p:ext uri="{BB962C8B-B14F-4D97-AF65-F5344CB8AC3E}">
        <p14:creationId xmlns:p14="http://schemas.microsoft.com/office/powerpoint/2010/main" val="2500817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6265" y="2798055"/>
            <a:ext cx="3841115" cy="212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664" y="2384712"/>
            <a:ext cx="2021681" cy="492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322" y="2355734"/>
            <a:ext cx="1557338" cy="46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842" y="2810015"/>
            <a:ext cx="15716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059" y="3238640"/>
            <a:ext cx="2021681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811" y="3245985"/>
            <a:ext cx="1557338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118" y="3662235"/>
            <a:ext cx="1985963" cy="42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296" y="3650664"/>
            <a:ext cx="1550194" cy="42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459" y="4066058"/>
            <a:ext cx="2000250" cy="407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614" y="4059316"/>
            <a:ext cx="1550194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364" y="4727158"/>
            <a:ext cx="2000250" cy="46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308838" y="1219200"/>
            <a:ext cx="7713822" cy="84268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</p:spTree>
    <p:extLst>
      <p:ext uri="{BB962C8B-B14F-4D97-AF65-F5344CB8AC3E}">
        <p14:creationId xmlns:p14="http://schemas.microsoft.com/office/powerpoint/2010/main" val="343795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359137" y="1249150"/>
            <a:ext cx="7515922" cy="812732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Distribution Counting Sort</a:t>
            </a:r>
            <a:br>
              <a:rPr lang="en-US" sz="4900" dirty="0"/>
            </a:br>
            <a:r>
              <a:rPr lang="en-US" sz="2200" b="1" dirty="0">
                <a:solidFill>
                  <a:srgbClr val="0000FF"/>
                </a:solidFill>
              </a:rPr>
              <a:t>(Student Example – </a:t>
            </a:r>
            <a:r>
              <a:rPr lang="en-US" sz="2200" b="1" dirty="0">
                <a:solidFill>
                  <a:srgbClr val="006600"/>
                </a:solidFill>
              </a:rPr>
              <a:t>1</a:t>
            </a:r>
            <a:r>
              <a:rPr lang="en-US" sz="2200" b="1" baseline="30000" dirty="0">
                <a:solidFill>
                  <a:srgbClr val="006600"/>
                </a:solidFill>
              </a:rPr>
              <a:t>st</a:t>
            </a:r>
            <a:r>
              <a:rPr lang="en-US" sz="2200" b="1" dirty="0">
                <a:solidFill>
                  <a:srgbClr val="006600"/>
                </a:solidFill>
              </a:rPr>
              <a:t> Variant</a:t>
            </a:r>
            <a:r>
              <a:rPr lang="en-US" sz="2200" b="1" dirty="0">
                <a:solidFill>
                  <a:srgbClr val="0000FF"/>
                </a:solidFill>
              </a:rPr>
              <a:t>)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528045"/>
              </p:ext>
            </p:extLst>
          </p:nvPr>
        </p:nvGraphicFramePr>
        <p:xfrm>
          <a:off x="1365250" y="2374768"/>
          <a:ext cx="76755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1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3217" y="3514363"/>
            <a:ext cx="3841115" cy="212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48901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Input</a:t>
            </a:r>
            <a:br>
              <a:rPr lang="en-US" dirty="0"/>
            </a:br>
            <a:r>
              <a:rPr lang="en-US" dirty="0"/>
              <a:t>Enhancement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Distribution Counting Sort</a:t>
            </a:r>
          </a:p>
          <a:p>
            <a:r>
              <a:rPr lang="en-US" sz="2800" dirty="0">
                <a:solidFill>
                  <a:srgbClr val="0000CC"/>
                </a:solidFill>
              </a:rPr>
              <a:t>(2</a:t>
            </a:r>
            <a:r>
              <a:rPr lang="en-US" sz="2800" baseline="30000" dirty="0">
                <a:solidFill>
                  <a:srgbClr val="0000CC"/>
                </a:solidFill>
              </a:rPr>
              <a:t>nd</a:t>
            </a:r>
            <a:r>
              <a:rPr lang="en-US" sz="2800" dirty="0">
                <a:solidFill>
                  <a:srgbClr val="0000CC"/>
                </a:solidFill>
              </a:rPr>
              <a:t> Variant) – </a:t>
            </a:r>
            <a:r>
              <a:rPr lang="en-US" sz="2800" i="1" dirty="0">
                <a:solidFill>
                  <a:schemeClr val="accent6"/>
                </a:solidFill>
              </a:rPr>
              <a:t>Student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27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482" y="1219199"/>
            <a:ext cx="7566223" cy="70895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482" y="2057399"/>
            <a:ext cx="7566223" cy="4253753"/>
          </a:xfrm>
        </p:spPr>
        <p:txBody>
          <a:bodyPr>
            <a:normAutofit/>
          </a:bodyPr>
          <a:lstStyle/>
          <a:p>
            <a:r>
              <a:rPr lang="en-US" dirty="0"/>
              <a:t>Count number of occurrences of key value</a:t>
            </a:r>
          </a:p>
          <a:p>
            <a:r>
              <a:rPr lang="en-US" dirty="0"/>
              <a:t>Estimate the last location of the key to be placed</a:t>
            </a:r>
          </a:p>
          <a:p>
            <a:r>
              <a:rPr lang="en-US" dirty="0"/>
              <a:t>Process the input array from right to left</a:t>
            </a:r>
          </a:p>
          <a:p>
            <a:r>
              <a:rPr lang="en-US" dirty="0"/>
              <a:t>Lowest value will be copied from position 0 to F[0] -1</a:t>
            </a:r>
          </a:p>
          <a:p>
            <a:r>
              <a:rPr lang="en-US" dirty="0"/>
              <a:t>Next value will be copied to position from F[0] to (F[0] + F[1]) - 1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837" y="2286000"/>
            <a:ext cx="7508727" cy="3810000"/>
          </a:xfrm>
        </p:spPr>
        <p:txBody>
          <a:bodyPr/>
          <a:lstStyle/>
          <a:p>
            <a:r>
              <a:rPr lang="en-US" dirty="0"/>
              <a:t>Input Enhancement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25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920" y="3193256"/>
            <a:ext cx="2928938" cy="46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295" y="3899532"/>
            <a:ext cx="3786188" cy="14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272980" y="1219200"/>
            <a:ext cx="7691726" cy="86061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</p:spTree>
    <p:extLst>
      <p:ext uri="{BB962C8B-B14F-4D97-AF65-F5344CB8AC3E}">
        <p14:creationId xmlns:p14="http://schemas.microsoft.com/office/powerpoint/2010/main" val="1566322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392" y="2291041"/>
            <a:ext cx="5572125" cy="285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392" y="2738716"/>
            <a:ext cx="4819650" cy="22098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34340" y="1219200"/>
            <a:ext cx="7153847" cy="6858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</p:spTree>
    <p:extLst>
      <p:ext uri="{BB962C8B-B14F-4D97-AF65-F5344CB8AC3E}">
        <p14:creationId xmlns:p14="http://schemas.microsoft.com/office/powerpoint/2010/main" val="3876010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965" y="2207879"/>
            <a:ext cx="2138597" cy="51205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27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38" y="2721592"/>
            <a:ext cx="3645387" cy="1775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38" y="1890711"/>
            <a:ext cx="5600700" cy="314325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931" y="2467412"/>
            <a:ext cx="2928938" cy="46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849613" y="2554345"/>
            <a:ext cx="3276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6189" y="2905338"/>
            <a:ext cx="3276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35" y="2895679"/>
            <a:ext cx="3276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742" y="3456168"/>
            <a:ext cx="1221581" cy="30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30" y="3456167"/>
            <a:ext cx="2721769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742" y="3792982"/>
            <a:ext cx="4086225" cy="264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127" y="4103728"/>
            <a:ext cx="4100513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786" y="4410161"/>
            <a:ext cx="4086225" cy="278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786" y="4722719"/>
            <a:ext cx="408622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787" y="5022259"/>
            <a:ext cx="4079081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1" name="Content Placeholder 6"/>
          <p:cNvGraphicFramePr>
            <a:graphicFrameLocks/>
          </p:cNvGraphicFramePr>
          <p:nvPr/>
        </p:nvGraphicFramePr>
        <p:xfrm>
          <a:off x="6392422" y="5411525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126004"/>
              </p:ext>
            </p:extLst>
          </p:nvPr>
        </p:nvGraphicFramePr>
        <p:xfrm>
          <a:off x="4993006" y="3161711"/>
          <a:ext cx="1224711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586073"/>
              </p:ext>
            </p:extLst>
          </p:nvPr>
        </p:nvGraphicFramePr>
        <p:xfrm>
          <a:off x="6387960" y="3153359"/>
          <a:ext cx="270202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263" y="5305409"/>
            <a:ext cx="3786188" cy="14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387339" y="1237129"/>
            <a:ext cx="6248400" cy="6858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</p:spTree>
    <p:extLst>
      <p:ext uri="{BB962C8B-B14F-4D97-AF65-F5344CB8AC3E}">
        <p14:creationId xmlns:p14="http://schemas.microsoft.com/office/powerpoint/2010/main" val="376245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359137" y="1249150"/>
            <a:ext cx="7515922" cy="812732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Distribution Counting Sort</a:t>
            </a:r>
            <a:br>
              <a:rPr lang="en-US" sz="4900" dirty="0"/>
            </a:br>
            <a:r>
              <a:rPr lang="en-US" sz="2200" b="1" dirty="0">
                <a:solidFill>
                  <a:srgbClr val="0000FF"/>
                </a:solidFill>
              </a:rPr>
              <a:t>(Student Example – </a:t>
            </a:r>
            <a:r>
              <a:rPr lang="en-US" sz="2200" b="1" dirty="0">
                <a:solidFill>
                  <a:srgbClr val="006600"/>
                </a:solidFill>
              </a:rPr>
              <a:t>2</a:t>
            </a:r>
            <a:r>
              <a:rPr lang="en-US" sz="2200" b="1" baseline="30000" dirty="0">
                <a:solidFill>
                  <a:srgbClr val="006600"/>
                </a:solidFill>
              </a:rPr>
              <a:t>nd</a:t>
            </a:r>
            <a:r>
              <a:rPr lang="en-US" sz="2200" b="1" dirty="0">
                <a:solidFill>
                  <a:srgbClr val="006600"/>
                </a:solidFill>
              </a:rPr>
              <a:t> Variant</a:t>
            </a:r>
            <a:r>
              <a:rPr lang="en-US" sz="2200" b="1" dirty="0">
                <a:solidFill>
                  <a:srgbClr val="0000FF"/>
                </a:solidFill>
              </a:rPr>
              <a:t>)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066106"/>
              </p:ext>
            </p:extLst>
          </p:nvPr>
        </p:nvGraphicFramePr>
        <p:xfrm>
          <a:off x="1365250" y="2374768"/>
          <a:ext cx="76755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1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17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463169" y="3500568"/>
            <a:ext cx="5600700" cy="2606355"/>
            <a:chOff x="1475738" y="1890711"/>
            <a:chExt cx="5600700" cy="2606355"/>
          </a:xfrm>
        </p:grpSpPr>
        <p:pic>
          <p:nvPicPr>
            <p:cNvPr id="6" name="Content Placeholder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965" y="2207879"/>
              <a:ext cx="2138597" cy="512059"/>
            </a:xfrm>
            <a:prstGeom prst="rect">
              <a:avLst/>
            </a:prstGeom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738" y="2721592"/>
              <a:ext cx="3645387" cy="1775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738" y="1890711"/>
              <a:ext cx="5600700" cy="314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8659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9167" y="2033355"/>
            <a:ext cx="7449680" cy="420607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Running Time</a:t>
            </a:r>
          </a:p>
          <a:p>
            <a:pPr lvl="1"/>
            <a:r>
              <a:rPr lang="en-US" dirty="0"/>
              <a:t>Linear (n)</a:t>
            </a:r>
          </a:p>
          <a:p>
            <a:pPr lvl="1"/>
            <a:r>
              <a:rPr lang="en-US" dirty="0"/>
              <a:t>Better than Insertion sort, Selection Sort, Quick Sort, Merge Sort etc.</a:t>
            </a:r>
          </a:p>
          <a:p>
            <a:r>
              <a:rPr lang="en-US" dirty="0"/>
              <a:t>Appropriate for atomic, non-atomic (i.e. record) , multiple occurrences of values</a:t>
            </a:r>
          </a:p>
          <a:p>
            <a:r>
              <a:rPr lang="en-US" dirty="0"/>
              <a:t>Requires additional space</a:t>
            </a:r>
          </a:p>
          <a:p>
            <a:r>
              <a:rPr lang="en-US" dirty="0"/>
              <a:t>Minimum movement of data to rearrange</a:t>
            </a:r>
          </a:p>
          <a:p>
            <a:r>
              <a:rPr lang="en-US" dirty="0"/>
              <a:t>Directly placed on appropriate position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29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26767" y="1219200"/>
            <a:ext cx="7602080" cy="6858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Distribution Counting Sort</a:t>
            </a:r>
          </a:p>
        </p:txBody>
      </p:sp>
    </p:spTree>
    <p:extLst>
      <p:ext uri="{BB962C8B-B14F-4D97-AF65-F5344CB8AC3E}">
        <p14:creationId xmlns:p14="http://schemas.microsoft.com/office/powerpoint/2010/main" val="4054730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1670</TotalTime>
  <Words>789</Words>
  <Application>Microsoft Macintosh PowerPoint</Application>
  <PresentationFormat>On-screen Show (4:3)</PresentationFormat>
  <Paragraphs>249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Courier New</vt:lpstr>
      <vt:lpstr>Georgia</vt:lpstr>
      <vt:lpstr>Office Theme</vt:lpstr>
      <vt:lpstr>PowerPoint Presentation</vt:lpstr>
      <vt:lpstr>Space and Time Tradeoff</vt:lpstr>
      <vt:lpstr>Algorithm Analysis</vt:lpstr>
      <vt:lpstr>Space Time Trade Off</vt:lpstr>
      <vt:lpstr>PowerPoint Presentation</vt:lpstr>
      <vt:lpstr>Space-for-time trade-offs</vt:lpstr>
      <vt:lpstr>Sorting by Counting</vt:lpstr>
      <vt:lpstr>Sorting by Counting</vt:lpstr>
      <vt:lpstr>Input Enhancement</vt:lpstr>
      <vt:lpstr>Comparison Counting Sort</vt:lpstr>
      <vt:lpstr>Comparison Counting Sort</vt:lpstr>
      <vt:lpstr>Comparison Counting Sort</vt:lpstr>
      <vt:lpstr>Comparison Counting Sort</vt:lpstr>
      <vt:lpstr>Comparison Counting Sort (Student Example)</vt:lpstr>
      <vt:lpstr>Comparison Counting Sort (Analysis)    Formal Analysis</vt:lpstr>
      <vt:lpstr>Comparison Counting Sort (Analysis)    Formal Analysis</vt:lpstr>
      <vt:lpstr>Comparison Counting Sort (Analysis)    Informal Analysis</vt:lpstr>
      <vt:lpstr>Comparison Counting Sort</vt:lpstr>
      <vt:lpstr>Input Enhancement</vt:lpstr>
      <vt:lpstr>Distribution Counting Sort</vt:lpstr>
      <vt:lpstr>Distribution Counting Sort</vt:lpstr>
      <vt:lpstr>Distribution Counting Sort (Student Example – 1st Variant)</vt:lpstr>
      <vt:lpstr>Input Enhancement</vt:lpstr>
      <vt:lpstr>Distribution Counting Sort</vt:lpstr>
      <vt:lpstr>Distribution Counting Sort</vt:lpstr>
      <vt:lpstr>Distribution Counting Sort</vt:lpstr>
      <vt:lpstr>Distribution Counting Sort</vt:lpstr>
      <vt:lpstr>Distribution Counting Sort (Student Example – 2nd Variant)</vt:lpstr>
      <vt:lpstr>Distribution Counting 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Muhammad Umair</cp:lastModifiedBy>
  <cp:revision>264</cp:revision>
  <dcterms:created xsi:type="dcterms:W3CDTF">2019-05-22T20:50:59Z</dcterms:created>
  <dcterms:modified xsi:type="dcterms:W3CDTF">2026-04-30T07:55:59Z</dcterms:modified>
</cp:coreProperties>
</file>