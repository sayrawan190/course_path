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349" r:id="rId2"/>
    <p:sldId id="401" r:id="rId3"/>
    <p:sldId id="445" r:id="rId4"/>
    <p:sldId id="450" r:id="rId5"/>
    <p:sldId id="430" r:id="rId6"/>
    <p:sldId id="431" r:id="rId7"/>
    <p:sldId id="432" r:id="rId8"/>
    <p:sldId id="433" r:id="rId9"/>
    <p:sldId id="434" r:id="rId10"/>
    <p:sldId id="435" r:id="rId11"/>
    <p:sldId id="436" r:id="rId12"/>
    <p:sldId id="437" r:id="rId13"/>
    <p:sldId id="438" r:id="rId14"/>
    <p:sldId id="439" r:id="rId15"/>
    <p:sldId id="451" r:id="rId16"/>
    <p:sldId id="440" r:id="rId17"/>
    <p:sldId id="441" r:id="rId18"/>
    <p:sldId id="442" r:id="rId19"/>
    <p:sldId id="446" r:id="rId20"/>
    <p:sldId id="447" r:id="rId21"/>
    <p:sldId id="448" r:id="rId22"/>
    <p:sldId id="449" r:id="rId23"/>
    <p:sldId id="348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23B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6" d="100"/>
          <a:sy n="106" d="100"/>
        </p:scale>
        <p:origin x="1686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00A867-0D2F-4317-B9F6-942331555E07}" type="datetimeFigureOut">
              <a:rPr lang="en-US" smtClean="0"/>
              <a:t>1/23/2025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D08E5B-3E4A-4BEF-9248-EB61691600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39999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49CE24-AB9C-43CD-AB59-1170152E142C}" type="datetimeFigureOut">
              <a:rPr lang="en-US" smtClean="0"/>
              <a:t>1/23/2025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406CE9-AE27-4DF9-BE7A-54F150597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17769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6498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5970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9655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5264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5069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Dr. Muhammad Umair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58000" y="6324600"/>
            <a:ext cx="4572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5908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1143000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2514600"/>
            <a:ext cx="6248400" cy="3657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June 12-16, 2016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Dr. Muhammad Umair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6096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6980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June 12-16, 2016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Dr. Muhammad Umair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104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June 12-16, 2016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Dr. Muhammad Umair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819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June 12-16, 2016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Dr. Muhammad Umair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810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June 12-16, 2016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Dr. Muhammad Umair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499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June 12-16, 2016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Dr. Muhammad Umair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536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June 12-16, 2016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Dr. Muhammad Umair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386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June 12-16, 2016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Dr. Muhammad Umair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617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June 12-16, 2016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Dr. Muhammad Umair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381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June 12-16, 2016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Dr. Muhammad Umair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463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1752600"/>
            <a:ext cx="6248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0600" y="3276600"/>
            <a:ext cx="6248400" cy="2620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1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539052" y="-3484224"/>
            <a:ext cx="65619" cy="9144281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>
            <a:noFill/>
            <a:miter lim="800000"/>
            <a:headEnd/>
            <a:tailEnd/>
          </a:ln>
          <a:effectLst/>
          <a:extLst/>
        </p:spPr>
      </p:pic>
      <p:pic>
        <p:nvPicPr>
          <p:cNvPr id="14" name="Picture 2"/>
          <p:cNvPicPr>
            <a:picLocks noChangeAspect="1" noChangeArrowheads="1"/>
          </p:cNvPicPr>
          <p:nvPr userDrawn="1"/>
        </p:nvPicPr>
        <p:blipFill>
          <a:blip r:embed="rId1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7696200" y="991"/>
            <a:ext cx="49212" cy="6857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TextBox 15"/>
          <p:cNvSpPr txBox="1"/>
          <p:nvPr userDrawn="1"/>
        </p:nvSpPr>
        <p:spPr>
          <a:xfrm>
            <a:off x="2646497" y="6437622"/>
            <a:ext cx="26088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Instructor Dr. Muhammad Umair</a:t>
            </a:r>
            <a:endParaRPr lang="en-US" sz="1400" dirty="0"/>
          </a:p>
        </p:txBody>
      </p:sp>
      <p:sp>
        <p:nvSpPr>
          <p:cNvPr id="4" name="TextBox 3"/>
          <p:cNvSpPr txBox="1"/>
          <p:nvPr userDrawn="1"/>
        </p:nvSpPr>
        <p:spPr>
          <a:xfrm>
            <a:off x="1055343" y="-10418"/>
            <a:ext cx="57912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i="1" dirty="0" smtClean="0">
                <a:solidFill>
                  <a:srgbClr val="00823B"/>
                </a:solidFill>
              </a:rPr>
              <a:t>Analysis</a:t>
            </a:r>
            <a:r>
              <a:rPr lang="en-US" sz="3200" b="1" i="1" baseline="0" dirty="0" smtClean="0">
                <a:solidFill>
                  <a:srgbClr val="00823B"/>
                </a:solidFill>
              </a:rPr>
              <a:t> and Design of Algorithms</a:t>
            </a:r>
            <a:endParaRPr lang="en-US" sz="3200" b="1" i="1" dirty="0">
              <a:solidFill>
                <a:srgbClr val="00823B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89065"/>
            <a:ext cx="762000" cy="91024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4800" y="76200"/>
            <a:ext cx="972911" cy="972911"/>
          </a:xfrm>
          <a:prstGeom prst="rect">
            <a:avLst/>
          </a:prstGeom>
        </p:spPr>
      </p:pic>
      <p:sp>
        <p:nvSpPr>
          <p:cNvPr id="5" name="TextBox 4"/>
          <p:cNvSpPr txBox="1"/>
          <p:nvPr userDrawn="1"/>
        </p:nvSpPr>
        <p:spPr>
          <a:xfrm>
            <a:off x="8077200" y="1295400"/>
            <a:ext cx="769121" cy="525780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wordArtVert" wrap="square" rtlCol="0">
            <a:spAutoFit/>
          </a:bodyPr>
          <a:lstStyle/>
          <a:p>
            <a:pPr algn="ctr"/>
            <a:r>
              <a:rPr lang="en-US" sz="3200" b="1" dirty="0" smtClean="0"/>
              <a:t>CPCS 223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4010802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00823B"/>
        </a:buClr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00823B"/>
        </a:buClr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00823B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00823B"/>
        </a:buClr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00823B"/>
        </a:buClr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12" Type="http://schemas.openxmlformats.org/officeDocument/2006/relationships/image" Target="../media/image2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22.png"/><Relationship Id="rId5" Type="http://schemas.openxmlformats.org/officeDocument/2006/relationships/image" Target="../media/image11.png"/><Relationship Id="rId10" Type="http://schemas.openxmlformats.org/officeDocument/2006/relationships/image" Target="../media/image21.png"/><Relationship Id="rId4" Type="http://schemas.openxmlformats.org/officeDocument/2006/relationships/image" Target="../media/image10.png"/><Relationship Id="rId9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8.png"/><Relationship Id="rId18" Type="http://schemas.openxmlformats.org/officeDocument/2006/relationships/image" Target="../media/image33.png"/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12" Type="http://schemas.openxmlformats.org/officeDocument/2006/relationships/image" Target="../media/image27.png"/><Relationship Id="rId17" Type="http://schemas.openxmlformats.org/officeDocument/2006/relationships/image" Target="../media/image32.png"/><Relationship Id="rId2" Type="http://schemas.openxmlformats.org/officeDocument/2006/relationships/image" Target="../media/image8.png"/><Relationship Id="rId16" Type="http://schemas.openxmlformats.org/officeDocument/2006/relationships/image" Target="../media/image31.png"/><Relationship Id="rId20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26.png"/><Relationship Id="rId5" Type="http://schemas.openxmlformats.org/officeDocument/2006/relationships/image" Target="../media/image11.png"/><Relationship Id="rId15" Type="http://schemas.openxmlformats.org/officeDocument/2006/relationships/image" Target="../media/image30.png"/><Relationship Id="rId10" Type="http://schemas.openxmlformats.org/officeDocument/2006/relationships/image" Target="../media/image25.png"/><Relationship Id="rId19" Type="http://schemas.openxmlformats.org/officeDocument/2006/relationships/image" Target="../media/image34.png"/><Relationship Id="rId4" Type="http://schemas.openxmlformats.org/officeDocument/2006/relationships/image" Target="../media/image10.png"/><Relationship Id="rId9" Type="http://schemas.openxmlformats.org/officeDocument/2006/relationships/image" Target="../media/image22.png"/><Relationship Id="rId1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png"/><Relationship Id="rId18" Type="http://schemas.openxmlformats.org/officeDocument/2006/relationships/image" Target="../media/image49.png"/><Relationship Id="rId3" Type="http://schemas.openxmlformats.org/officeDocument/2006/relationships/image" Target="../media/image22.pn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17" Type="http://schemas.openxmlformats.org/officeDocument/2006/relationships/image" Target="../media/image48.png"/><Relationship Id="rId2" Type="http://schemas.openxmlformats.org/officeDocument/2006/relationships/image" Target="../media/image21.png"/><Relationship Id="rId16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5" Type="http://schemas.openxmlformats.org/officeDocument/2006/relationships/image" Target="../media/image46.png"/><Relationship Id="rId10" Type="http://schemas.openxmlformats.org/officeDocument/2006/relationships/image" Target="../media/image41.png"/><Relationship Id="rId4" Type="http://schemas.openxmlformats.org/officeDocument/2006/relationships/image" Target="../media/image26.png"/><Relationship Id="rId9" Type="http://schemas.openxmlformats.org/officeDocument/2006/relationships/image" Target="../media/image40.png"/><Relationship Id="rId14" Type="http://schemas.openxmlformats.org/officeDocument/2006/relationships/image" Target="../media/image4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52.png"/><Relationship Id="rId18" Type="http://schemas.openxmlformats.org/officeDocument/2006/relationships/image" Target="../media/image57.png"/><Relationship Id="rId3" Type="http://schemas.openxmlformats.org/officeDocument/2006/relationships/image" Target="../media/image22.png"/><Relationship Id="rId7" Type="http://schemas.openxmlformats.org/officeDocument/2006/relationships/image" Target="../media/image38.png"/><Relationship Id="rId12" Type="http://schemas.openxmlformats.org/officeDocument/2006/relationships/image" Target="../media/image51.png"/><Relationship Id="rId17" Type="http://schemas.openxmlformats.org/officeDocument/2006/relationships/image" Target="../media/image56.png"/><Relationship Id="rId2" Type="http://schemas.openxmlformats.org/officeDocument/2006/relationships/image" Target="../media/image21.png"/><Relationship Id="rId16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1" Type="http://schemas.openxmlformats.org/officeDocument/2006/relationships/image" Target="../media/image50.png"/><Relationship Id="rId5" Type="http://schemas.openxmlformats.org/officeDocument/2006/relationships/image" Target="../media/image36.png"/><Relationship Id="rId15" Type="http://schemas.openxmlformats.org/officeDocument/2006/relationships/image" Target="../media/image54.png"/><Relationship Id="rId10" Type="http://schemas.openxmlformats.org/officeDocument/2006/relationships/image" Target="../media/image49.png"/><Relationship Id="rId4" Type="http://schemas.openxmlformats.org/officeDocument/2006/relationships/image" Target="../media/image26.png"/><Relationship Id="rId9" Type="http://schemas.openxmlformats.org/officeDocument/2006/relationships/image" Target="../media/image40.png"/><Relationship Id="rId14" Type="http://schemas.openxmlformats.org/officeDocument/2006/relationships/image" Target="../media/image5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60.png"/><Relationship Id="rId18" Type="http://schemas.openxmlformats.org/officeDocument/2006/relationships/image" Target="../media/image65.png"/><Relationship Id="rId3" Type="http://schemas.openxmlformats.org/officeDocument/2006/relationships/image" Target="../media/image22.png"/><Relationship Id="rId7" Type="http://schemas.openxmlformats.org/officeDocument/2006/relationships/image" Target="../media/image38.png"/><Relationship Id="rId12" Type="http://schemas.openxmlformats.org/officeDocument/2006/relationships/image" Target="../media/image59.png"/><Relationship Id="rId17" Type="http://schemas.openxmlformats.org/officeDocument/2006/relationships/image" Target="../media/image64.png"/><Relationship Id="rId2" Type="http://schemas.openxmlformats.org/officeDocument/2006/relationships/image" Target="../media/image21.png"/><Relationship Id="rId16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1" Type="http://schemas.openxmlformats.org/officeDocument/2006/relationships/image" Target="../media/image58.png"/><Relationship Id="rId5" Type="http://schemas.openxmlformats.org/officeDocument/2006/relationships/image" Target="../media/image36.png"/><Relationship Id="rId15" Type="http://schemas.openxmlformats.org/officeDocument/2006/relationships/image" Target="../media/image62.png"/><Relationship Id="rId10" Type="http://schemas.openxmlformats.org/officeDocument/2006/relationships/image" Target="../media/image49.png"/><Relationship Id="rId4" Type="http://schemas.openxmlformats.org/officeDocument/2006/relationships/image" Target="../media/image26.png"/><Relationship Id="rId9" Type="http://schemas.openxmlformats.org/officeDocument/2006/relationships/image" Target="../media/image40.png"/><Relationship Id="rId14" Type="http://schemas.openxmlformats.org/officeDocument/2006/relationships/image" Target="../media/image6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68.png"/><Relationship Id="rId18" Type="http://schemas.openxmlformats.org/officeDocument/2006/relationships/image" Target="../media/image35.png"/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12" Type="http://schemas.openxmlformats.org/officeDocument/2006/relationships/image" Target="../media/image67.png"/><Relationship Id="rId17" Type="http://schemas.openxmlformats.org/officeDocument/2006/relationships/image" Target="../media/image72.png"/><Relationship Id="rId2" Type="http://schemas.openxmlformats.org/officeDocument/2006/relationships/image" Target="../media/image8.png"/><Relationship Id="rId16" Type="http://schemas.openxmlformats.org/officeDocument/2006/relationships/image" Target="../media/image71.png"/><Relationship Id="rId20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66.png"/><Relationship Id="rId5" Type="http://schemas.openxmlformats.org/officeDocument/2006/relationships/image" Target="../media/image11.png"/><Relationship Id="rId15" Type="http://schemas.openxmlformats.org/officeDocument/2006/relationships/image" Target="../media/image70.png"/><Relationship Id="rId10" Type="http://schemas.openxmlformats.org/officeDocument/2006/relationships/image" Target="../media/image34.png"/><Relationship Id="rId19" Type="http://schemas.openxmlformats.org/officeDocument/2006/relationships/image" Target="../media/image73.png"/><Relationship Id="rId4" Type="http://schemas.openxmlformats.org/officeDocument/2006/relationships/image" Target="../media/image10.png"/><Relationship Id="rId9" Type="http://schemas.openxmlformats.org/officeDocument/2006/relationships/image" Target="../media/image31.png"/><Relationship Id="rId14" Type="http://schemas.openxmlformats.org/officeDocument/2006/relationships/image" Target="../media/image6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75.png"/><Relationship Id="rId18" Type="http://schemas.openxmlformats.org/officeDocument/2006/relationships/image" Target="../media/image80.png"/><Relationship Id="rId3" Type="http://schemas.openxmlformats.org/officeDocument/2006/relationships/image" Target="../media/image37.png"/><Relationship Id="rId7" Type="http://schemas.openxmlformats.org/officeDocument/2006/relationships/image" Target="../media/image43.png"/><Relationship Id="rId12" Type="http://schemas.openxmlformats.org/officeDocument/2006/relationships/image" Target="../media/image68.png"/><Relationship Id="rId17" Type="http://schemas.openxmlformats.org/officeDocument/2006/relationships/image" Target="../media/image79.png"/><Relationship Id="rId2" Type="http://schemas.openxmlformats.org/officeDocument/2006/relationships/image" Target="../media/image36.png"/><Relationship Id="rId16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11" Type="http://schemas.openxmlformats.org/officeDocument/2006/relationships/image" Target="../media/image67.png"/><Relationship Id="rId5" Type="http://schemas.openxmlformats.org/officeDocument/2006/relationships/image" Target="../media/image40.png"/><Relationship Id="rId15" Type="http://schemas.openxmlformats.org/officeDocument/2006/relationships/image" Target="../media/image77.png"/><Relationship Id="rId10" Type="http://schemas.openxmlformats.org/officeDocument/2006/relationships/image" Target="../media/image66.png"/><Relationship Id="rId4" Type="http://schemas.openxmlformats.org/officeDocument/2006/relationships/image" Target="../media/image38.png"/><Relationship Id="rId9" Type="http://schemas.openxmlformats.org/officeDocument/2006/relationships/image" Target="../media/image47.png"/><Relationship Id="rId14" Type="http://schemas.openxmlformats.org/officeDocument/2006/relationships/image" Target="../media/image7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13" Type="http://schemas.openxmlformats.org/officeDocument/2006/relationships/image" Target="../media/image54.png"/><Relationship Id="rId18" Type="http://schemas.openxmlformats.org/officeDocument/2006/relationships/image" Target="../media/image84.png"/><Relationship Id="rId3" Type="http://schemas.openxmlformats.org/officeDocument/2006/relationships/image" Target="../media/image37.png"/><Relationship Id="rId7" Type="http://schemas.openxmlformats.org/officeDocument/2006/relationships/image" Target="../media/image67.png"/><Relationship Id="rId12" Type="http://schemas.openxmlformats.org/officeDocument/2006/relationships/image" Target="../media/image53.png"/><Relationship Id="rId17" Type="http://schemas.openxmlformats.org/officeDocument/2006/relationships/image" Target="../media/image83.png"/><Relationship Id="rId2" Type="http://schemas.openxmlformats.org/officeDocument/2006/relationships/image" Target="../media/image36.png"/><Relationship Id="rId16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11" Type="http://schemas.openxmlformats.org/officeDocument/2006/relationships/image" Target="../media/image50.png"/><Relationship Id="rId5" Type="http://schemas.openxmlformats.org/officeDocument/2006/relationships/image" Target="../media/image40.png"/><Relationship Id="rId15" Type="http://schemas.openxmlformats.org/officeDocument/2006/relationships/image" Target="../media/image81.png"/><Relationship Id="rId10" Type="http://schemas.openxmlformats.org/officeDocument/2006/relationships/image" Target="../media/image80.png"/><Relationship Id="rId4" Type="http://schemas.openxmlformats.org/officeDocument/2006/relationships/image" Target="../media/image38.png"/><Relationship Id="rId9" Type="http://schemas.openxmlformats.org/officeDocument/2006/relationships/image" Target="../media/image75.png"/><Relationship Id="rId14" Type="http://schemas.openxmlformats.org/officeDocument/2006/relationships/image" Target="../media/image5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13" Type="http://schemas.openxmlformats.org/officeDocument/2006/relationships/image" Target="../media/image60.png"/><Relationship Id="rId18" Type="http://schemas.openxmlformats.org/officeDocument/2006/relationships/image" Target="../media/image88.png"/><Relationship Id="rId3" Type="http://schemas.openxmlformats.org/officeDocument/2006/relationships/image" Target="../media/image37.png"/><Relationship Id="rId7" Type="http://schemas.openxmlformats.org/officeDocument/2006/relationships/image" Target="../media/image67.png"/><Relationship Id="rId12" Type="http://schemas.openxmlformats.org/officeDocument/2006/relationships/image" Target="../media/image85.png"/><Relationship Id="rId17" Type="http://schemas.openxmlformats.org/officeDocument/2006/relationships/image" Target="../media/image87.png"/><Relationship Id="rId2" Type="http://schemas.openxmlformats.org/officeDocument/2006/relationships/image" Target="../media/image36.png"/><Relationship Id="rId16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11" Type="http://schemas.openxmlformats.org/officeDocument/2006/relationships/image" Target="../media/image58.png"/><Relationship Id="rId5" Type="http://schemas.openxmlformats.org/officeDocument/2006/relationships/image" Target="../media/image40.png"/><Relationship Id="rId15" Type="http://schemas.openxmlformats.org/officeDocument/2006/relationships/image" Target="../media/image64.png"/><Relationship Id="rId10" Type="http://schemas.openxmlformats.org/officeDocument/2006/relationships/image" Target="../media/image80.png"/><Relationship Id="rId4" Type="http://schemas.openxmlformats.org/officeDocument/2006/relationships/image" Target="../media/image38.png"/><Relationship Id="rId9" Type="http://schemas.openxmlformats.org/officeDocument/2006/relationships/image" Target="../media/image75.png"/><Relationship Id="rId14" Type="http://schemas.openxmlformats.org/officeDocument/2006/relationships/image" Target="../media/image6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1.png"/><Relationship Id="rId5" Type="http://schemas.openxmlformats.org/officeDocument/2006/relationships/image" Target="../media/image90.png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3" Type="http://schemas.openxmlformats.org/officeDocument/2006/relationships/image" Target="../media/image22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92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jpg"/><Relationship Id="rId3" Type="http://schemas.openxmlformats.org/officeDocument/2006/relationships/image" Target="../media/image94.png"/><Relationship Id="rId7" Type="http://schemas.openxmlformats.org/officeDocument/2006/relationships/image" Target="../media/image98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7.png"/><Relationship Id="rId5" Type="http://schemas.openxmlformats.org/officeDocument/2006/relationships/image" Target="../media/image96.png"/><Relationship Id="rId4" Type="http://schemas.openxmlformats.org/officeDocument/2006/relationships/image" Target="../media/image95.png"/><Relationship Id="rId9" Type="http://schemas.openxmlformats.org/officeDocument/2006/relationships/image" Target="../media/image10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3" Type="http://schemas.openxmlformats.org/officeDocument/2006/relationships/image" Target="../media/image96.png"/><Relationship Id="rId7" Type="http://schemas.openxmlformats.org/officeDocument/2006/relationships/image" Target="../media/image10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3.png"/><Relationship Id="rId5" Type="http://schemas.openxmlformats.org/officeDocument/2006/relationships/image" Target="../media/image102.png"/><Relationship Id="rId10" Type="http://schemas.openxmlformats.org/officeDocument/2006/relationships/image" Target="../media/image107.png"/><Relationship Id="rId4" Type="http://schemas.openxmlformats.org/officeDocument/2006/relationships/image" Target="../media/image101.png"/><Relationship Id="rId9" Type="http://schemas.openxmlformats.org/officeDocument/2006/relationships/image" Target="../media/image106.jp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png"/><Relationship Id="rId13" Type="http://schemas.openxmlformats.org/officeDocument/2006/relationships/image" Target="../media/image119.png"/><Relationship Id="rId3" Type="http://schemas.openxmlformats.org/officeDocument/2006/relationships/image" Target="../media/image109.png"/><Relationship Id="rId7" Type="http://schemas.openxmlformats.org/officeDocument/2006/relationships/image" Target="../media/image113.png"/><Relationship Id="rId12" Type="http://schemas.openxmlformats.org/officeDocument/2006/relationships/image" Target="../media/image118.png"/><Relationship Id="rId2" Type="http://schemas.openxmlformats.org/officeDocument/2006/relationships/image" Target="../media/image108.png"/><Relationship Id="rId16" Type="http://schemas.openxmlformats.org/officeDocument/2006/relationships/image" Target="../media/image10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2.png"/><Relationship Id="rId11" Type="http://schemas.openxmlformats.org/officeDocument/2006/relationships/image" Target="../media/image117.png"/><Relationship Id="rId5" Type="http://schemas.openxmlformats.org/officeDocument/2006/relationships/image" Target="../media/image111.png"/><Relationship Id="rId15" Type="http://schemas.openxmlformats.org/officeDocument/2006/relationships/image" Target="../media/image121.png"/><Relationship Id="rId10" Type="http://schemas.openxmlformats.org/officeDocument/2006/relationships/image" Target="../media/image116.png"/><Relationship Id="rId4" Type="http://schemas.openxmlformats.org/officeDocument/2006/relationships/image" Target="../media/image110.png"/><Relationship Id="rId9" Type="http://schemas.openxmlformats.org/officeDocument/2006/relationships/image" Target="../media/image115.png"/><Relationship Id="rId14" Type="http://schemas.openxmlformats.org/officeDocument/2006/relationships/image" Target="../media/image12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4000"/>
            <a:ext cx="7675563" cy="2367907"/>
          </a:xfrm>
          <a:prstGeom prst="rect">
            <a:avLst/>
          </a:prstGeom>
        </p:spPr>
      </p:pic>
      <p:grpSp>
        <p:nvGrpSpPr>
          <p:cNvPr id="11" name="Group 10"/>
          <p:cNvGrpSpPr/>
          <p:nvPr/>
        </p:nvGrpSpPr>
        <p:grpSpPr>
          <a:xfrm>
            <a:off x="918075" y="4539129"/>
            <a:ext cx="6420832" cy="1785471"/>
            <a:chOff x="613275" y="0"/>
            <a:chExt cx="6420832" cy="1785471"/>
          </a:xfrm>
        </p:grpSpPr>
        <p:sp>
          <p:nvSpPr>
            <p:cNvPr id="13" name="Pentagon 12"/>
            <p:cNvSpPr/>
            <p:nvPr/>
          </p:nvSpPr>
          <p:spPr>
            <a:xfrm rot="10800000">
              <a:off x="613275" y="0"/>
              <a:ext cx="6420832" cy="1785471"/>
            </a:xfrm>
            <a:prstGeom prst="homePlat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4" name="Pentagon 4"/>
            <p:cNvSpPr/>
            <p:nvPr/>
          </p:nvSpPr>
          <p:spPr>
            <a:xfrm rot="21600000">
              <a:off x="1059643" y="0"/>
              <a:ext cx="5974464" cy="178547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87343" tIns="76200" rIns="142240" bIns="76200" numCol="1" spcCol="1270" anchor="ctr" anchorCtr="0">
              <a:noAutofit/>
            </a:bodyPr>
            <a:lstStyle/>
            <a:p>
              <a:pPr lvl="0" algn="ctr" defTabSz="8890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000" b="1" i="0" kern="1200" dirty="0" smtClean="0">
                  <a:latin typeface="+mj-lt"/>
                </a:rPr>
                <a:t>O my Lord! Expand for me my chest [with assurance] and ease for me my task and untie the knot from my tongue that they may understand my speech. </a:t>
              </a:r>
              <a:r>
                <a:rPr lang="en-US" sz="2000" b="1" i="0" kern="1200" dirty="0" smtClean="0">
                  <a:solidFill>
                    <a:srgbClr val="FFFF00"/>
                  </a:solidFill>
                </a:rPr>
                <a:t>(Quran 20 : 25-28)</a:t>
              </a:r>
              <a:endParaRPr lang="en-US" sz="2000" b="1" kern="1200" dirty="0">
                <a:solidFill>
                  <a:srgbClr val="FFFF00"/>
                </a:solidFill>
                <a:latin typeface="+mj-lt"/>
              </a:endParaRPr>
            </a:p>
          </p:txBody>
        </p:sp>
      </p:grpSp>
      <p:sp>
        <p:nvSpPr>
          <p:cNvPr id="12" name="Oval 11"/>
          <p:cNvSpPr/>
          <p:nvPr/>
        </p:nvSpPr>
        <p:spPr>
          <a:xfrm>
            <a:off x="304800" y="4539129"/>
            <a:ext cx="1785471" cy="1785471"/>
          </a:xfrm>
          <a:prstGeom prst="ellipse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39000" r="-39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</p:spTree>
    <p:extLst>
      <p:ext uri="{BB962C8B-B14F-4D97-AF65-F5344CB8AC3E}">
        <p14:creationId xmlns:p14="http://schemas.microsoft.com/office/powerpoint/2010/main" val="2207649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126" y="1946943"/>
            <a:ext cx="6705600" cy="2003425"/>
          </a:xfrm>
        </p:spPr>
        <p:txBody>
          <a:bodyPr>
            <a:noAutofit/>
          </a:bodyPr>
          <a:lstStyle/>
          <a:p>
            <a:r>
              <a:rPr lang="en-US" sz="6000" b="1" smtClean="0">
                <a:solidFill>
                  <a:srgbClr val="00823B"/>
                </a:solidFill>
              </a:rPr>
              <a:t>Algorithm Analysis</a:t>
            </a:r>
            <a:endParaRPr lang="en-US" sz="4800" b="1" dirty="0">
              <a:solidFill>
                <a:srgbClr val="00823B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962400"/>
            <a:ext cx="6400800" cy="1752600"/>
          </a:xfrm>
        </p:spPr>
        <p:txBody>
          <a:bodyPr/>
          <a:lstStyle/>
          <a:p>
            <a:pPr algn="r"/>
            <a:r>
              <a:rPr lang="en-US" dirty="0" smtClean="0"/>
              <a:t>Recurrence</a:t>
            </a:r>
          </a:p>
          <a:p>
            <a:pPr algn="r"/>
            <a:r>
              <a:rPr lang="en-US" dirty="0" smtClean="0">
                <a:solidFill>
                  <a:srgbClr val="0000FF"/>
                </a:solidFill>
              </a:rPr>
              <a:t>(Formal Analysis)</a:t>
            </a:r>
            <a:endParaRPr lang="en-US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8244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2209800"/>
            <a:ext cx="6248400" cy="3657600"/>
          </a:xfrm>
        </p:spPr>
        <p:txBody>
          <a:bodyPr>
            <a:normAutofit fontScale="70000" lnSpcReduction="20000"/>
          </a:bodyPr>
          <a:lstStyle/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823B"/>
                </a:solidFill>
              </a:rPr>
              <a:t>Iterative Algorithms</a:t>
            </a:r>
          </a:p>
          <a:p>
            <a:pPr lvl="1"/>
            <a:r>
              <a:rPr lang="en-US" dirty="0" smtClean="0">
                <a:solidFill>
                  <a:srgbClr val="00823B"/>
                </a:solidFill>
              </a:rPr>
              <a:t>Informal Analysis</a:t>
            </a:r>
          </a:p>
          <a:p>
            <a:pPr lvl="1"/>
            <a:r>
              <a:rPr lang="en-US" dirty="0" smtClean="0">
                <a:solidFill>
                  <a:srgbClr val="00823B"/>
                </a:solidFill>
              </a:rPr>
              <a:t>Formal Analysis</a:t>
            </a:r>
          </a:p>
          <a:p>
            <a:pPr lvl="2"/>
            <a:r>
              <a:rPr lang="en-US" dirty="0" smtClean="0">
                <a:solidFill>
                  <a:srgbClr val="00823B"/>
                </a:solidFill>
              </a:rPr>
              <a:t>RAM Model Analysis</a:t>
            </a:r>
          </a:p>
          <a:p>
            <a:r>
              <a:rPr lang="en-US" b="1" dirty="0" smtClean="0">
                <a:solidFill>
                  <a:srgbClr val="0000FF"/>
                </a:solidFill>
              </a:rPr>
              <a:t>Recursive Algorithm</a:t>
            </a:r>
          </a:p>
          <a:p>
            <a:pPr lvl="1"/>
            <a:r>
              <a:rPr lang="en-US" dirty="0">
                <a:solidFill>
                  <a:srgbClr val="00823B"/>
                </a:solidFill>
              </a:rPr>
              <a:t>Informal Analysis</a:t>
            </a:r>
          </a:p>
          <a:p>
            <a:pPr lvl="1"/>
            <a:r>
              <a:rPr lang="en-US" dirty="0">
                <a:solidFill>
                  <a:srgbClr val="00823B"/>
                </a:solidFill>
              </a:rPr>
              <a:t>Formal Analysis</a:t>
            </a:r>
          </a:p>
          <a:p>
            <a:pPr lvl="2"/>
            <a:r>
              <a:rPr lang="en-US" sz="2500" dirty="0" smtClean="0">
                <a:solidFill>
                  <a:srgbClr val="00823B"/>
                </a:solidFill>
              </a:rPr>
              <a:t>Forwards </a:t>
            </a:r>
            <a:r>
              <a:rPr lang="en-US" sz="2500" dirty="0">
                <a:solidFill>
                  <a:srgbClr val="00823B"/>
                </a:solidFill>
              </a:rPr>
              <a:t>Substitution Method</a:t>
            </a:r>
          </a:p>
          <a:p>
            <a:pPr lvl="2"/>
            <a:r>
              <a:rPr lang="en-US" sz="2500" dirty="0" smtClean="0">
                <a:solidFill>
                  <a:srgbClr val="00823B"/>
                </a:solidFill>
              </a:rPr>
              <a:t>Backwards </a:t>
            </a:r>
            <a:r>
              <a:rPr lang="en-US" sz="2500" dirty="0">
                <a:solidFill>
                  <a:srgbClr val="00823B"/>
                </a:solidFill>
              </a:rPr>
              <a:t>Substitution Method</a:t>
            </a:r>
          </a:p>
          <a:p>
            <a:pPr lvl="2"/>
            <a:r>
              <a:rPr lang="en-US" sz="2500" b="1" dirty="0">
                <a:solidFill>
                  <a:srgbClr val="00B0F0"/>
                </a:solidFill>
              </a:rPr>
              <a:t>Substitution Method</a:t>
            </a:r>
          </a:p>
          <a:p>
            <a:pPr lvl="2"/>
            <a:r>
              <a:rPr lang="en-US" dirty="0" smtClean="0"/>
              <a:t>Recursion Tree Method</a:t>
            </a:r>
          </a:p>
          <a:p>
            <a:pPr lvl="2"/>
            <a:r>
              <a:rPr lang="en-US" sz="2500" dirty="0"/>
              <a:t>Master Theorem Method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346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762000"/>
          </a:xfrm>
        </p:spPr>
        <p:txBody>
          <a:bodyPr/>
          <a:lstStyle/>
          <a:p>
            <a:pPr algn="l"/>
            <a:r>
              <a:rPr lang="en-US" b="1" dirty="0" smtClean="0">
                <a:solidFill>
                  <a:schemeClr val="accent2"/>
                </a:solidFill>
              </a:rPr>
              <a:t>Merge Sort - </a:t>
            </a:r>
            <a:r>
              <a:rPr lang="en-US" sz="2800" b="1" dirty="0" smtClean="0">
                <a:solidFill>
                  <a:srgbClr val="00B050"/>
                </a:solidFill>
              </a:rPr>
              <a:t>Recurrence</a:t>
            </a:r>
            <a:endParaRPr lang="en-US" sz="2800" b="1" dirty="0">
              <a:solidFill>
                <a:srgbClr val="00B05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4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1450" y="3760470"/>
            <a:ext cx="3400425" cy="260985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406" y="1981200"/>
            <a:ext cx="2604708" cy="4389120"/>
          </a:xfrm>
          <a:prstGeom prst="rect">
            <a:avLst/>
          </a:prstGeom>
        </p:spPr>
      </p:pic>
      <p:grpSp>
        <p:nvGrpSpPr>
          <p:cNvPr id="3" name="Group 2"/>
          <p:cNvGrpSpPr/>
          <p:nvPr/>
        </p:nvGrpSpPr>
        <p:grpSpPr>
          <a:xfrm>
            <a:off x="3981450" y="2057400"/>
            <a:ext cx="3181350" cy="951070"/>
            <a:chOff x="3981450" y="2057400"/>
            <a:chExt cx="3181350" cy="951070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981450" y="2057400"/>
              <a:ext cx="571500" cy="276225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814887" y="2075020"/>
              <a:ext cx="390525" cy="228600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572250" y="2084545"/>
              <a:ext cx="590550" cy="219075"/>
            </a:xfrm>
            <a:prstGeom prst="rect">
              <a:avLst/>
            </a:prstGeom>
          </p:spPr>
        </p:pic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572250" y="2817970"/>
              <a:ext cx="533400" cy="190500"/>
            </a:xfrm>
            <a:prstGeom prst="rect">
              <a:avLst/>
            </a:prstGeom>
          </p:spPr>
        </p:pic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410075" y="2535456"/>
              <a:ext cx="142875" cy="142875"/>
            </a:xfrm>
            <a:prstGeom prst="rect">
              <a:avLst/>
            </a:prstGeom>
          </p:spPr>
        </p:pic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653087" y="2468780"/>
              <a:ext cx="723900" cy="276225"/>
            </a:xfrm>
            <a:prstGeom prst="rect">
              <a:avLst/>
            </a:prstGeom>
          </p:spPr>
        </p:pic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662486" y="2468780"/>
              <a:ext cx="695325" cy="276225"/>
            </a:xfrm>
            <a:prstGeom prst="rect">
              <a:avLst/>
            </a:prstGeom>
          </p:spPr>
        </p:pic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395911" y="2514600"/>
              <a:ext cx="219075" cy="180975"/>
            </a:xfrm>
            <a:prstGeom prst="rect">
              <a:avLst/>
            </a:prstGeom>
          </p:spPr>
        </p:pic>
        <p:pic>
          <p:nvPicPr>
            <p:cNvPr id="18" name="Picture 17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419850" y="2495550"/>
              <a:ext cx="581025" cy="257175"/>
            </a:xfrm>
            <a:prstGeom prst="rect">
              <a:avLst/>
            </a:prstGeom>
          </p:spPr>
        </p:pic>
      </p:grpSp>
      <p:pic>
        <p:nvPicPr>
          <p:cNvPr id="19" name="Picture 1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24362" y="3228975"/>
            <a:ext cx="2457450" cy="40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950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Substitution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2133600"/>
            <a:ext cx="6629400" cy="3962400"/>
          </a:xfrm>
        </p:spPr>
        <p:txBody>
          <a:bodyPr>
            <a:normAutofit/>
          </a:bodyPr>
          <a:lstStyle/>
          <a:p>
            <a:pPr marL="342900" indent="-342900"/>
            <a:r>
              <a:rPr lang="en-US" sz="2800" dirty="0" smtClean="0"/>
              <a:t>It </a:t>
            </a:r>
            <a:r>
              <a:rPr lang="en-US" sz="2800" dirty="0"/>
              <a:t>has </a:t>
            </a:r>
            <a:r>
              <a:rPr lang="en-US" sz="2800" b="1" dirty="0">
                <a:solidFill>
                  <a:srgbClr val="00823B"/>
                </a:solidFill>
              </a:rPr>
              <a:t>TWO</a:t>
            </a:r>
            <a:r>
              <a:rPr lang="en-US" sz="2800" dirty="0"/>
              <a:t> steps</a:t>
            </a:r>
          </a:p>
          <a:p>
            <a:pPr marL="742950" lvl="1" indent="-285750"/>
            <a:r>
              <a:rPr lang="en-US" sz="2400" b="1" dirty="0">
                <a:solidFill>
                  <a:srgbClr val="00B0F0"/>
                </a:solidFill>
              </a:rPr>
              <a:t>Guess</a:t>
            </a:r>
            <a:r>
              <a:rPr lang="en-US" sz="2400" dirty="0"/>
              <a:t> the solution</a:t>
            </a:r>
          </a:p>
          <a:p>
            <a:pPr marL="742950" lvl="1" indent="-285750"/>
            <a:r>
              <a:rPr lang="en-US" sz="2400" dirty="0"/>
              <a:t>Use </a:t>
            </a:r>
            <a:r>
              <a:rPr lang="en-US" sz="2400" b="1" dirty="0">
                <a:solidFill>
                  <a:srgbClr val="00B0F0"/>
                </a:solidFill>
              </a:rPr>
              <a:t>Mathematical Induction </a:t>
            </a:r>
            <a:r>
              <a:rPr lang="en-US" sz="2400" dirty="0"/>
              <a:t>to find the constant and show that solution works</a:t>
            </a:r>
          </a:p>
          <a:p>
            <a:pPr marL="342900" indent="-342900"/>
            <a:r>
              <a:rPr lang="en-US" sz="2800" b="1" dirty="0">
                <a:solidFill>
                  <a:srgbClr val="00823B"/>
                </a:solidFill>
              </a:rPr>
              <a:t>Powerful </a:t>
            </a:r>
            <a:r>
              <a:rPr lang="en-US" sz="2800" dirty="0"/>
              <a:t>method to solve</a:t>
            </a:r>
          </a:p>
          <a:p>
            <a:pPr marL="342900" indent="-342900"/>
            <a:r>
              <a:rPr lang="en-US" sz="2800" dirty="0">
                <a:cs typeface="Arial" charset="0"/>
              </a:rPr>
              <a:t>But demands </a:t>
            </a:r>
            <a:r>
              <a:rPr lang="en-US" sz="2800" b="1" dirty="0">
                <a:solidFill>
                  <a:srgbClr val="00823B"/>
                </a:solidFill>
                <a:cs typeface="Arial" charset="0"/>
              </a:rPr>
              <a:t>practice</a:t>
            </a:r>
          </a:p>
          <a:p>
            <a:pPr marL="342900" indent="-342900"/>
            <a:r>
              <a:rPr lang="en-US" sz="2800" dirty="0">
                <a:cs typeface="Arial" charset="0"/>
              </a:rPr>
              <a:t>Can solve </a:t>
            </a:r>
            <a:r>
              <a:rPr lang="en-US" sz="2800" b="1" dirty="0">
                <a:solidFill>
                  <a:srgbClr val="00823B"/>
                </a:solidFill>
                <a:cs typeface="Arial" charset="0"/>
              </a:rPr>
              <a:t>either</a:t>
            </a:r>
            <a:r>
              <a:rPr lang="en-US" sz="2800" dirty="0">
                <a:cs typeface="Arial" charset="0"/>
              </a:rPr>
              <a:t> upper or lower </a:t>
            </a:r>
            <a:r>
              <a:rPr lang="en-US" sz="2800" dirty="0" smtClean="0">
                <a:cs typeface="Arial" charset="0"/>
              </a:rPr>
              <a:t>bounds</a:t>
            </a:r>
            <a:endParaRPr lang="en-US" i="1" dirty="0" smtClean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28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201271"/>
            <a:ext cx="7315200" cy="669424"/>
          </a:xfrm>
        </p:spPr>
        <p:txBody>
          <a:bodyPr>
            <a:noAutofit/>
          </a:bodyPr>
          <a:lstStyle/>
          <a:p>
            <a:pPr algn="l"/>
            <a:r>
              <a:rPr lang="en-US" b="1" dirty="0" smtClean="0">
                <a:solidFill>
                  <a:schemeClr val="accent2"/>
                </a:solidFill>
              </a:rPr>
              <a:t>Substitution Method -  </a:t>
            </a:r>
            <a:r>
              <a:rPr lang="en-US" sz="2800" b="1" dirty="0" smtClean="0">
                <a:solidFill>
                  <a:srgbClr val="00B050"/>
                </a:solidFill>
              </a:rPr>
              <a:t>Merge Sort</a:t>
            </a:r>
            <a:endParaRPr lang="en-US" sz="2800" b="1" dirty="0">
              <a:solidFill>
                <a:srgbClr val="00B05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grpSp>
        <p:nvGrpSpPr>
          <p:cNvPr id="4" name="Group 3"/>
          <p:cNvGrpSpPr/>
          <p:nvPr/>
        </p:nvGrpSpPr>
        <p:grpSpPr>
          <a:xfrm>
            <a:off x="304800" y="2057400"/>
            <a:ext cx="3181350" cy="951070"/>
            <a:chOff x="3962400" y="2514600"/>
            <a:chExt cx="3181350" cy="951070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62400" y="2514600"/>
              <a:ext cx="571500" cy="276225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95837" y="2532220"/>
              <a:ext cx="390525" cy="228600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553200" y="2541745"/>
              <a:ext cx="590550" cy="219075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553200" y="3275170"/>
              <a:ext cx="533400" cy="190500"/>
            </a:xfrm>
            <a:prstGeom prst="rect">
              <a:avLst/>
            </a:prstGeom>
          </p:spPr>
        </p:pic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795837" y="2949794"/>
              <a:ext cx="2028825" cy="228600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391025" y="2992656"/>
              <a:ext cx="142875" cy="142875"/>
            </a:xfrm>
            <a:prstGeom prst="rect">
              <a:avLst/>
            </a:prstGeom>
          </p:spPr>
        </p:pic>
      </p:grpSp>
      <p:pic>
        <p:nvPicPr>
          <p:cNvPr id="12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8073" y="3008470"/>
            <a:ext cx="1917047" cy="34759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0" y="2084545"/>
            <a:ext cx="3352800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>
                <a:solidFill>
                  <a:srgbClr val="00823B"/>
                </a:solidFill>
              </a:rPr>
              <a:t>Guess The Solution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 smtClean="0">
              <a:solidFill>
                <a:srgbClr val="00823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>
              <a:solidFill>
                <a:srgbClr val="00823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>
                <a:solidFill>
                  <a:srgbClr val="00823B"/>
                </a:solidFill>
              </a:rPr>
              <a:t>Prove by Mathematical Induction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>
              <a:solidFill>
                <a:srgbClr val="00823B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 smtClean="0">
                <a:solidFill>
                  <a:srgbClr val="00823B"/>
                </a:solidFill>
              </a:rPr>
              <a:t>Assumption: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Any specific value of n</a:t>
            </a:r>
            <a:endParaRPr lang="en-US" sz="20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 smtClean="0">
                <a:solidFill>
                  <a:srgbClr val="00823B"/>
                </a:solidFill>
              </a:rPr>
              <a:t>Prove for all values “n”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T(n)</a:t>
            </a:r>
            <a:endParaRPr lang="en-US" sz="20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 smtClean="0">
                <a:solidFill>
                  <a:srgbClr val="00823B"/>
                </a:solidFill>
              </a:rPr>
              <a:t>Boundary Conditions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n = 1, 2, 3, 4, … </a:t>
            </a:r>
            <a:r>
              <a:rPr lang="en-US" sz="2000" b="1" dirty="0" err="1" smtClean="0"/>
              <a:t>etc</a:t>
            </a:r>
            <a:endParaRPr lang="en-US" sz="2000" b="1" dirty="0" smtClean="0"/>
          </a:p>
          <a:p>
            <a:endParaRPr lang="en-US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62512" y="2589370"/>
            <a:ext cx="1781175" cy="3238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04800" y="3581400"/>
            <a:ext cx="3810000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823B"/>
                </a:solidFill>
              </a:rPr>
              <a:t>Upper Bound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>
              <a:solidFill>
                <a:srgbClr val="00823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>
              <a:solidFill>
                <a:srgbClr val="00823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 smtClean="0">
              <a:solidFill>
                <a:srgbClr val="00823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>
                <a:solidFill>
                  <a:srgbClr val="00823B"/>
                </a:solidFill>
              </a:rPr>
              <a:t>Lower </a:t>
            </a:r>
            <a:r>
              <a:rPr lang="en-US" sz="2000" b="1" dirty="0">
                <a:solidFill>
                  <a:srgbClr val="00823B"/>
                </a:solidFill>
              </a:rPr>
              <a:t>Bound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3473" y="4026419"/>
            <a:ext cx="2409825" cy="36195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3473" y="4449597"/>
            <a:ext cx="1781175" cy="32385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43473" y="5151139"/>
            <a:ext cx="2400000" cy="390476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6300" y="5601966"/>
            <a:ext cx="1838325" cy="39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452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201271"/>
            <a:ext cx="7307452" cy="669424"/>
          </a:xfrm>
        </p:spPr>
        <p:txBody>
          <a:bodyPr>
            <a:normAutofit fontScale="90000"/>
          </a:bodyPr>
          <a:lstStyle/>
          <a:p>
            <a:pPr algn="l"/>
            <a:r>
              <a:rPr lang="en-US" sz="4900" b="1" dirty="0">
                <a:solidFill>
                  <a:schemeClr val="accent2"/>
                </a:solidFill>
              </a:rPr>
              <a:t>Merge Sort </a:t>
            </a:r>
            <a:r>
              <a:rPr lang="en-US" sz="4900" b="1" dirty="0" smtClean="0">
                <a:solidFill>
                  <a:schemeClr val="accent2"/>
                </a:solidFill>
              </a:rPr>
              <a:t>– </a:t>
            </a:r>
            <a:r>
              <a:rPr lang="en-US" sz="3100" b="1" dirty="0" smtClean="0">
                <a:solidFill>
                  <a:srgbClr val="00823B"/>
                </a:solidFill>
              </a:rPr>
              <a:t>Upper Bound</a:t>
            </a:r>
            <a:endParaRPr lang="en-US" sz="3100" b="1" dirty="0">
              <a:solidFill>
                <a:srgbClr val="00823B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grpSp>
        <p:nvGrpSpPr>
          <p:cNvPr id="4" name="Group 3"/>
          <p:cNvGrpSpPr/>
          <p:nvPr/>
        </p:nvGrpSpPr>
        <p:grpSpPr>
          <a:xfrm>
            <a:off x="4278502" y="1870695"/>
            <a:ext cx="3181350" cy="951070"/>
            <a:chOff x="3962400" y="2514600"/>
            <a:chExt cx="3181350" cy="951070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62400" y="2514600"/>
              <a:ext cx="571500" cy="276225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95837" y="2532220"/>
              <a:ext cx="390525" cy="228600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553200" y="2541745"/>
              <a:ext cx="590550" cy="219075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553200" y="3275170"/>
              <a:ext cx="533400" cy="190500"/>
            </a:xfrm>
            <a:prstGeom prst="rect">
              <a:avLst/>
            </a:prstGeom>
          </p:spPr>
        </p:pic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795837" y="2949794"/>
              <a:ext cx="2028825" cy="228600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391025" y="2992656"/>
              <a:ext cx="142875" cy="142875"/>
            </a:xfrm>
            <a:prstGeom prst="rect">
              <a:avLst/>
            </a:prstGeom>
          </p:spPr>
        </p:pic>
      </p:grpSp>
      <p:pic>
        <p:nvPicPr>
          <p:cNvPr id="19" name="Pictur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1839" y="1928748"/>
            <a:ext cx="2409825" cy="3619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33400" y="2491626"/>
            <a:ext cx="2409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823B"/>
                </a:solidFill>
              </a:rPr>
              <a:t>Guess Solution:</a:t>
            </a:r>
            <a:endParaRPr lang="en-US" b="1" dirty="0">
              <a:solidFill>
                <a:srgbClr val="00823B"/>
              </a:solidFill>
            </a:endParaRP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84192" y="2911629"/>
            <a:ext cx="1781175" cy="3238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28744" y="3636744"/>
            <a:ext cx="2409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823B"/>
                </a:solidFill>
              </a:rPr>
              <a:t>Prove using M . I. :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28744" y="4076915"/>
            <a:ext cx="2409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00FF"/>
                </a:solidFill>
              </a:rPr>
              <a:t>Step 01 : Assumption</a:t>
            </a:r>
            <a:endParaRPr lang="en-US" b="1" dirty="0">
              <a:solidFill>
                <a:srgbClr val="0000FF"/>
              </a:solidFill>
            </a:endParaRP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4581525"/>
            <a:ext cx="1143000" cy="295275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84192" y="3295084"/>
            <a:ext cx="1657350" cy="304800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5800" y="5019707"/>
            <a:ext cx="3019425" cy="333375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962400" y="3496090"/>
            <a:ext cx="3695700" cy="3619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3962400" y="3081658"/>
            <a:ext cx="3276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00FF"/>
                </a:solidFill>
              </a:rPr>
              <a:t>Step 02 : Prove for all “n”</a:t>
            </a:r>
            <a:endParaRPr lang="en-US" b="1" dirty="0">
              <a:solidFill>
                <a:srgbClr val="0000FF"/>
              </a:solidFill>
            </a:endParaRP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33925" y="3990975"/>
            <a:ext cx="2924175" cy="276225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707127" y="4866843"/>
            <a:ext cx="2438400" cy="285750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707127" y="5309539"/>
            <a:ext cx="2076450" cy="285750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707127" y="5683719"/>
            <a:ext cx="1076325" cy="276225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888352" y="5683719"/>
            <a:ext cx="571500" cy="27622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869302" y="6011824"/>
            <a:ext cx="723900" cy="2381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707127" y="4477287"/>
            <a:ext cx="1914525" cy="25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015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2" grpId="0"/>
      <p:bldP spid="23" grpId="0"/>
      <p:bldP spid="2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201271"/>
            <a:ext cx="6248400" cy="512326"/>
          </a:xfrm>
        </p:spPr>
        <p:txBody>
          <a:bodyPr>
            <a:normAutofit fontScale="90000"/>
          </a:bodyPr>
          <a:lstStyle/>
          <a:p>
            <a:pPr algn="l"/>
            <a:r>
              <a:rPr lang="en-US" sz="4900" b="1" dirty="0">
                <a:solidFill>
                  <a:schemeClr val="accent2"/>
                </a:solidFill>
              </a:rPr>
              <a:t>Merge Sort </a:t>
            </a:r>
            <a:r>
              <a:rPr lang="en-US" sz="4900" b="1" dirty="0" smtClean="0">
                <a:solidFill>
                  <a:schemeClr val="accent2"/>
                </a:solidFill>
              </a:rPr>
              <a:t>– </a:t>
            </a:r>
            <a:r>
              <a:rPr lang="en-US" sz="3100" b="1" dirty="0" smtClean="0">
                <a:solidFill>
                  <a:srgbClr val="00823B"/>
                </a:solidFill>
              </a:rPr>
              <a:t>Upper Bound</a:t>
            </a:r>
            <a:endParaRPr lang="en-US" sz="3100" b="1" dirty="0">
              <a:solidFill>
                <a:srgbClr val="00823B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133600"/>
            <a:ext cx="2409825" cy="3619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105400" y="1713597"/>
            <a:ext cx="2409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823B"/>
                </a:solidFill>
              </a:rPr>
              <a:t>Solution:</a:t>
            </a:r>
            <a:endParaRPr lang="en-US" b="1" dirty="0">
              <a:solidFill>
                <a:srgbClr val="00823B"/>
              </a:solidFill>
            </a:endParaRP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8812" y="2133600"/>
            <a:ext cx="1781175" cy="3238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02443" y="2831068"/>
            <a:ext cx="3078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00FF"/>
                </a:solidFill>
              </a:rPr>
              <a:t>Step 03 : Boundary Conditions</a:t>
            </a:r>
            <a:endParaRPr lang="en-US" b="1" dirty="0">
              <a:solidFill>
                <a:srgbClr val="0000FF"/>
              </a:solidFill>
            </a:endParaRP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8812" y="2517055"/>
            <a:ext cx="1657350" cy="3048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10204" y="1764268"/>
            <a:ext cx="2409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823B"/>
                </a:solidFill>
              </a:rPr>
              <a:t>Recurrence:</a:t>
            </a:r>
            <a:endParaRPr lang="en-US" b="1" dirty="0">
              <a:solidFill>
                <a:srgbClr val="00823B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863" y="2550002"/>
            <a:ext cx="1190625" cy="31432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62200" y="2579163"/>
            <a:ext cx="657225" cy="23812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73463" y="3124200"/>
            <a:ext cx="571500" cy="27622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62213" y="3440278"/>
            <a:ext cx="1543050" cy="36195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86325" y="3478378"/>
            <a:ext cx="676275" cy="28575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52525" y="3962400"/>
            <a:ext cx="676275" cy="2667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62213" y="3929062"/>
            <a:ext cx="1543050" cy="333375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86325" y="3929062"/>
            <a:ext cx="647700" cy="276225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481263" y="4389271"/>
            <a:ext cx="1504950" cy="304800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06939" y="4389271"/>
            <a:ext cx="619125" cy="257175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890482" y="4850881"/>
            <a:ext cx="723900" cy="276225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140657" y="4865168"/>
            <a:ext cx="266700" cy="247650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148013" y="5283916"/>
            <a:ext cx="171450" cy="304800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140657" y="5312491"/>
            <a:ext cx="266700" cy="247650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775081" y="5588716"/>
            <a:ext cx="171450" cy="304800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619625" y="5645866"/>
            <a:ext cx="266700" cy="247650"/>
          </a:xfrm>
          <a:prstGeom prst="rect">
            <a:avLst/>
          </a:prstGeom>
        </p:spPr>
      </p:pic>
      <p:pic>
        <p:nvPicPr>
          <p:cNvPr id="46" name="Picture 45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192599" y="5667642"/>
            <a:ext cx="209550" cy="238125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5999399" y="5602038"/>
            <a:ext cx="669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False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7362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3" grpId="0"/>
      <p:bldP spid="36" grpId="0"/>
      <p:bldP spid="4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133600"/>
            <a:ext cx="2409825" cy="3619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105400" y="1713597"/>
            <a:ext cx="2409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823B"/>
                </a:solidFill>
              </a:rPr>
              <a:t>Solution:</a:t>
            </a:r>
            <a:endParaRPr lang="en-US" b="1" dirty="0">
              <a:solidFill>
                <a:srgbClr val="00823B"/>
              </a:solidFill>
            </a:endParaRP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8812" y="2133600"/>
            <a:ext cx="1781175" cy="3238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02443" y="2752678"/>
            <a:ext cx="3078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00FF"/>
                </a:solidFill>
              </a:rPr>
              <a:t>Step 03 : Boundary Conditions</a:t>
            </a:r>
            <a:endParaRPr lang="en-US" b="1" dirty="0">
              <a:solidFill>
                <a:srgbClr val="0000FF"/>
              </a:solidFill>
            </a:endParaRP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8812" y="2517055"/>
            <a:ext cx="1657350" cy="3048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10204" y="1764268"/>
            <a:ext cx="2409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823B"/>
                </a:solidFill>
              </a:rPr>
              <a:t>Recurrence:</a:t>
            </a:r>
            <a:endParaRPr lang="en-US" b="1" dirty="0">
              <a:solidFill>
                <a:srgbClr val="00823B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863" y="2550002"/>
            <a:ext cx="1190625" cy="31432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62200" y="2579163"/>
            <a:ext cx="657225" cy="23812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73463" y="3124200"/>
            <a:ext cx="571500" cy="27622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62213" y="3440278"/>
            <a:ext cx="1543050" cy="36195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86325" y="3478378"/>
            <a:ext cx="676275" cy="285750"/>
          </a:xfrm>
          <a:prstGeom prst="rect">
            <a:avLst/>
          </a:prstGeom>
        </p:spPr>
      </p:pic>
      <p:pic>
        <p:nvPicPr>
          <p:cNvPr id="46" name="Picture 4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57650" y="5667642"/>
            <a:ext cx="209550" cy="238125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5999399" y="5602038"/>
            <a:ext cx="1515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True for c&gt;=2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7531" y="3976686"/>
            <a:ext cx="685800" cy="2381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452688" y="3907263"/>
            <a:ext cx="1562100" cy="29527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452688" y="4327266"/>
            <a:ext cx="1552575" cy="2857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92638" y="3870744"/>
            <a:ext cx="847725" cy="32826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25656" y="4281414"/>
            <a:ext cx="657225" cy="37147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737025" y="4769918"/>
            <a:ext cx="1066800" cy="34290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045407" y="4835018"/>
            <a:ext cx="361950" cy="276225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154463" y="5312491"/>
            <a:ext cx="190500" cy="228600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045407" y="5312491"/>
            <a:ext cx="361950" cy="276225"/>
          </a:xfrm>
          <a:prstGeom prst="rect">
            <a:avLst/>
          </a:prstGeom>
        </p:spPr>
      </p:pic>
      <p:pic>
        <p:nvPicPr>
          <p:cNvPr id="48" name="Picture 47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581400" y="5656327"/>
            <a:ext cx="190500" cy="228600"/>
          </a:xfrm>
          <a:prstGeom prst="rect">
            <a:avLst/>
          </a:prstGeom>
        </p:spPr>
      </p:pic>
      <p:pic>
        <p:nvPicPr>
          <p:cNvPr id="49" name="Picture 48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52950" y="5667375"/>
            <a:ext cx="361950" cy="276225"/>
          </a:xfrm>
          <a:prstGeom prst="rect">
            <a:avLst/>
          </a:prstGeom>
        </p:spPr>
      </p:pic>
      <p:sp>
        <p:nvSpPr>
          <p:cNvPr id="29" name="Title 1"/>
          <p:cNvSpPr>
            <a:spLocks noGrp="1"/>
          </p:cNvSpPr>
          <p:nvPr>
            <p:ph type="title"/>
          </p:nvPr>
        </p:nvSpPr>
        <p:spPr>
          <a:xfrm>
            <a:off x="152400" y="1201271"/>
            <a:ext cx="6248400" cy="512326"/>
          </a:xfrm>
        </p:spPr>
        <p:txBody>
          <a:bodyPr>
            <a:normAutofit fontScale="90000"/>
          </a:bodyPr>
          <a:lstStyle/>
          <a:p>
            <a:pPr algn="l"/>
            <a:r>
              <a:rPr lang="en-US" sz="4900" b="1" dirty="0">
                <a:solidFill>
                  <a:schemeClr val="accent2"/>
                </a:solidFill>
              </a:rPr>
              <a:t>Merge Sort </a:t>
            </a:r>
            <a:r>
              <a:rPr lang="en-US" sz="4900" b="1" dirty="0" smtClean="0">
                <a:solidFill>
                  <a:schemeClr val="accent2"/>
                </a:solidFill>
              </a:rPr>
              <a:t>– </a:t>
            </a:r>
            <a:r>
              <a:rPr lang="en-US" sz="3100" b="1" dirty="0" smtClean="0">
                <a:solidFill>
                  <a:srgbClr val="00823B"/>
                </a:solidFill>
              </a:rPr>
              <a:t>Upper Bound</a:t>
            </a:r>
            <a:endParaRPr lang="en-US" sz="3100" b="1" dirty="0">
              <a:solidFill>
                <a:srgbClr val="00823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615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133600"/>
            <a:ext cx="2409825" cy="3619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105400" y="1713597"/>
            <a:ext cx="2409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823B"/>
                </a:solidFill>
              </a:rPr>
              <a:t>Solution:</a:t>
            </a:r>
            <a:endParaRPr lang="en-US" b="1" dirty="0">
              <a:solidFill>
                <a:srgbClr val="00823B"/>
              </a:solidFill>
            </a:endParaRP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8812" y="2133600"/>
            <a:ext cx="1781175" cy="3238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02443" y="2752678"/>
            <a:ext cx="3078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00FF"/>
                </a:solidFill>
              </a:rPr>
              <a:t>Step 03 : Boundary Conditions</a:t>
            </a:r>
            <a:endParaRPr lang="en-US" b="1" dirty="0">
              <a:solidFill>
                <a:srgbClr val="0000FF"/>
              </a:solidFill>
            </a:endParaRP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8812" y="2517055"/>
            <a:ext cx="1657350" cy="3048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10204" y="1764268"/>
            <a:ext cx="2409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823B"/>
                </a:solidFill>
              </a:rPr>
              <a:t>Recurrence:</a:t>
            </a:r>
            <a:endParaRPr lang="en-US" b="1" dirty="0">
              <a:solidFill>
                <a:srgbClr val="00823B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863" y="2550002"/>
            <a:ext cx="1190625" cy="31432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62200" y="2579163"/>
            <a:ext cx="657225" cy="23812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73463" y="3124200"/>
            <a:ext cx="571500" cy="27622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62213" y="3440278"/>
            <a:ext cx="1543050" cy="36195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86325" y="3478378"/>
            <a:ext cx="676275" cy="285750"/>
          </a:xfrm>
          <a:prstGeom prst="rect">
            <a:avLst/>
          </a:prstGeom>
        </p:spPr>
      </p:pic>
      <p:pic>
        <p:nvPicPr>
          <p:cNvPr id="46" name="Picture 4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57650" y="5667642"/>
            <a:ext cx="209550" cy="238125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5999399" y="5602038"/>
            <a:ext cx="1515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True for c&gt;=2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4236" y="3931075"/>
            <a:ext cx="723900" cy="24765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466975" y="3902499"/>
            <a:ext cx="1533525" cy="3048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88125" y="3888212"/>
            <a:ext cx="857250" cy="333375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462213" y="4297610"/>
            <a:ext cx="1543050" cy="342900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733925" y="4365049"/>
            <a:ext cx="1028571" cy="27619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870264" y="4882672"/>
            <a:ext cx="885714" cy="228571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797702" y="4832712"/>
            <a:ext cx="838095" cy="276190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797702" y="5247723"/>
            <a:ext cx="838095" cy="276190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233737" y="5257800"/>
            <a:ext cx="171429" cy="247619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562371" y="5638800"/>
            <a:ext cx="171429" cy="247619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467277" y="5634171"/>
            <a:ext cx="838095" cy="27619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02443" y="5983942"/>
            <a:ext cx="22710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00823B"/>
                </a:solidFill>
              </a:rPr>
              <a:t>Hence proved</a:t>
            </a:r>
            <a:endParaRPr lang="en-US" sz="2800" b="1" dirty="0">
              <a:solidFill>
                <a:srgbClr val="00823B"/>
              </a:solidFill>
            </a:endParaRPr>
          </a:p>
        </p:txBody>
      </p:sp>
      <p:pic>
        <p:nvPicPr>
          <p:cNvPr id="41" name="Picture 4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0860" y="6036974"/>
            <a:ext cx="2167692" cy="398656"/>
          </a:xfrm>
          <a:prstGeom prst="rect">
            <a:avLst/>
          </a:prstGeom>
        </p:spPr>
      </p:pic>
      <p:sp>
        <p:nvSpPr>
          <p:cNvPr id="32" name="Title 1"/>
          <p:cNvSpPr>
            <a:spLocks noGrp="1"/>
          </p:cNvSpPr>
          <p:nvPr>
            <p:ph type="title"/>
          </p:nvPr>
        </p:nvSpPr>
        <p:spPr>
          <a:xfrm>
            <a:off x="152400" y="1201271"/>
            <a:ext cx="6248400" cy="512326"/>
          </a:xfrm>
        </p:spPr>
        <p:txBody>
          <a:bodyPr>
            <a:normAutofit fontScale="90000"/>
          </a:bodyPr>
          <a:lstStyle/>
          <a:p>
            <a:pPr algn="l"/>
            <a:r>
              <a:rPr lang="en-US" sz="4900" b="1" dirty="0">
                <a:solidFill>
                  <a:schemeClr val="accent2"/>
                </a:solidFill>
              </a:rPr>
              <a:t>Merge Sort </a:t>
            </a:r>
            <a:r>
              <a:rPr lang="en-US" sz="4900" b="1" dirty="0" smtClean="0">
                <a:solidFill>
                  <a:schemeClr val="accent2"/>
                </a:solidFill>
              </a:rPr>
              <a:t>– </a:t>
            </a:r>
            <a:r>
              <a:rPr lang="en-US" sz="3100" b="1" dirty="0" smtClean="0">
                <a:solidFill>
                  <a:srgbClr val="00823B"/>
                </a:solidFill>
              </a:rPr>
              <a:t>Upper Bound</a:t>
            </a:r>
            <a:endParaRPr lang="en-US" sz="3100" b="1" dirty="0">
              <a:solidFill>
                <a:srgbClr val="00823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3385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87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3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grpSp>
        <p:nvGrpSpPr>
          <p:cNvPr id="4" name="Group 3"/>
          <p:cNvGrpSpPr/>
          <p:nvPr/>
        </p:nvGrpSpPr>
        <p:grpSpPr>
          <a:xfrm>
            <a:off x="4278502" y="1870695"/>
            <a:ext cx="3181350" cy="951070"/>
            <a:chOff x="3962400" y="2514600"/>
            <a:chExt cx="3181350" cy="951070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62400" y="2514600"/>
              <a:ext cx="571500" cy="276225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95837" y="2532220"/>
              <a:ext cx="390525" cy="228600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553200" y="2541745"/>
              <a:ext cx="590550" cy="219075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553200" y="3275170"/>
              <a:ext cx="533400" cy="190500"/>
            </a:xfrm>
            <a:prstGeom prst="rect">
              <a:avLst/>
            </a:prstGeom>
          </p:spPr>
        </p:pic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795837" y="2949794"/>
              <a:ext cx="2028825" cy="228600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391025" y="2992656"/>
              <a:ext cx="142875" cy="142875"/>
            </a:xfrm>
            <a:prstGeom prst="rect">
              <a:avLst/>
            </a:prstGeom>
          </p:spPr>
        </p:pic>
      </p:grpSp>
      <p:sp>
        <p:nvSpPr>
          <p:cNvPr id="20" name="TextBox 19"/>
          <p:cNvSpPr txBox="1"/>
          <p:nvPr/>
        </p:nvSpPr>
        <p:spPr>
          <a:xfrm>
            <a:off x="533400" y="2491626"/>
            <a:ext cx="2409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823B"/>
                </a:solidFill>
              </a:rPr>
              <a:t>Guess Solution: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28744" y="3636744"/>
            <a:ext cx="2409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823B"/>
                </a:solidFill>
              </a:rPr>
              <a:t>Prove using M . I. :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28744" y="4076915"/>
            <a:ext cx="2409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00FF"/>
                </a:solidFill>
              </a:rPr>
              <a:t>Step 01 : Assumption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962400" y="3081658"/>
            <a:ext cx="3276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00FF"/>
                </a:solidFill>
              </a:rPr>
              <a:t>Step 02 : Prove for all “n”</a:t>
            </a:r>
            <a:endParaRPr lang="en-US" b="1" dirty="0">
              <a:solidFill>
                <a:srgbClr val="0000FF"/>
              </a:solidFill>
            </a:endParaRP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07127" y="4866843"/>
            <a:ext cx="2438400" cy="285750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07127" y="5309539"/>
            <a:ext cx="2076450" cy="285750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69302" y="6011824"/>
            <a:ext cx="723900" cy="2381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0414" y="1981200"/>
            <a:ext cx="2381250" cy="32385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84192" y="2933207"/>
            <a:ext cx="1790700" cy="29527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84192" y="3265282"/>
            <a:ext cx="1666875" cy="27622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5800" y="4576762"/>
            <a:ext cx="1114425" cy="3048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5800" y="5021806"/>
            <a:ext cx="3028950" cy="28575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954652" y="3516610"/>
            <a:ext cx="3638550" cy="3048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712519" y="3944098"/>
            <a:ext cx="2895600" cy="28575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707127" y="4402608"/>
            <a:ext cx="1914525" cy="257175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707127" y="5789588"/>
            <a:ext cx="1133475" cy="285750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931214" y="5712295"/>
            <a:ext cx="600075" cy="247650"/>
          </a:xfrm>
          <a:prstGeom prst="rect">
            <a:avLst/>
          </a:prstGeom>
        </p:spPr>
      </p:pic>
      <p:sp>
        <p:nvSpPr>
          <p:cNvPr id="29" name="Title 1"/>
          <p:cNvSpPr>
            <a:spLocks noGrp="1"/>
          </p:cNvSpPr>
          <p:nvPr>
            <p:ph type="title"/>
          </p:nvPr>
        </p:nvSpPr>
        <p:spPr>
          <a:xfrm>
            <a:off x="152400" y="1201271"/>
            <a:ext cx="6248400" cy="512326"/>
          </a:xfrm>
        </p:spPr>
        <p:txBody>
          <a:bodyPr>
            <a:normAutofit fontScale="90000"/>
          </a:bodyPr>
          <a:lstStyle/>
          <a:p>
            <a:pPr algn="l"/>
            <a:r>
              <a:rPr lang="en-US" sz="4900" b="1" dirty="0">
                <a:solidFill>
                  <a:schemeClr val="accent2"/>
                </a:solidFill>
              </a:rPr>
              <a:t>Merge Sort </a:t>
            </a:r>
            <a:r>
              <a:rPr lang="en-US" sz="4900" b="1" dirty="0" smtClean="0">
                <a:solidFill>
                  <a:schemeClr val="accent2"/>
                </a:solidFill>
              </a:rPr>
              <a:t>– </a:t>
            </a:r>
            <a:r>
              <a:rPr lang="en-US" sz="3100" b="1" dirty="0">
                <a:solidFill>
                  <a:srgbClr val="00823B"/>
                </a:solidFill>
              </a:rPr>
              <a:t>L</a:t>
            </a:r>
            <a:r>
              <a:rPr lang="en-US" sz="3100" b="1" dirty="0" smtClean="0">
                <a:solidFill>
                  <a:srgbClr val="00823B"/>
                </a:solidFill>
              </a:rPr>
              <a:t>ower </a:t>
            </a:r>
            <a:r>
              <a:rPr lang="en-US" sz="3100" b="1" dirty="0" smtClean="0">
                <a:solidFill>
                  <a:srgbClr val="00823B"/>
                </a:solidFill>
              </a:rPr>
              <a:t>Bound</a:t>
            </a:r>
            <a:endParaRPr lang="en-US" sz="3100" b="1" dirty="0">
              <a:solidFill>
                <a:srgbClr val="00823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0746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2" grpId="0"/>
      <p:bldP spid="23" grpId="0"/>
      <p:bldP spid="2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105400" y="1713597"/>
            <a:ext cx="2409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823B"/>
                </a:solidFill>
              </a:rPr>
              <a:t>Solution: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02443" y="2752678"/>
            <a:ext cx="3078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00FF"/>
                </a:solidFill>
              </a:rPr>
              <a:t>Step 03 : Boundary Conditions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10204" y="1764268"/>
            <a:ext cx="2409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823B"/>
                </a:solidFill>
              </a:rPr>
              <a:t>Recurrence:</a:t>
            </a:r>
            <a:endParaRPr lang="en-US" b="1" dirty="0">
              <a:solidFill>
                <a:srgbClr val="00823B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863" y="2550002"/>
            <a:ext cx="1190625" cy="31432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2200" y="2579163"/>
            <a:ext cx="657225" cy="23812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3463" y="3124200"/>
            <a:ext cx="571500" cy="27622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6325" y="3478378"/>
            <a:ext cx="676275" cy="28575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2525" y="3962400"/>
            <a:ext cx="676275" cy="2667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86325" y="3929062"/>
            <a:ext cx="647700" cy="276225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06939" y="4389271"/>
            <a:ext cx="619125" cy="257175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40657" y="4865168"/>
            <a:ext cx="266700" cy="247650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40657" y="5312491"/>
            <a:ext cx="266700" cy="247650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37162" y="5695950"/>
            <a:ext cx="266700" cy="24765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5999399" y="5650468"/>
            <a:ext cx="669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True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6763" y="2196935"/>
            <a:ext cx="2381250" cy="323850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51959" y="2181228"/>
            <a:ext cx="1790700" cy="295275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51959" y="2513303"/>
            <a:ext cx="1666875" cy="27622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490432" y="3466439"/>
            <a:ext cx="1524000" cy="2952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462213" y="3948112"/>
            <a:ext cx="1543050" cy="2952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509837" y="4396086"/>
            <a:ext cx="1533525" cy="2476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942869" y="4847219"/>
            <a:ext cx="619125" cy="2857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195638" y="5312491"/>
            <a:ext cx="161925" cy="23812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505200" y="5700712"/>
            <a:ext cx="161925" cy="2381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902131" y="5695949"/>
            <a:ext cx="200025" cy="247650"/>
          </a:xfrm>
          <a:prstGeom prst="rect">
            <a:avLst/>
          </a:prstGeom>
        </p:spPr>
      </p:pic>
      <p:sp>
        <p:nvSpPr>
          <p:cNvPr id="32" name="Title 1"/>
          <p:cNvSpPr>
            <a:spLocks noGrp="1"/>
          </p:cNvSpPr>
          <p:nvPr>
            <p:ph type="title"/>
          </p:nvPr>
        </p:nvSpPr>
        <p:spPr>
          <a:xfrm>
            <a:off x="152400" y="1201271"/>
            <a:ext cx="6248400" cy="512326"/>
          </a:xfrm>
        </p:spPr>
        <p:txBody>
          <a:bodyPr>
            <a:normAutofit fontScale="90000"/>
          </a:bodyPr>
          <a:lstStyle/>
          <a:p>
            <a:pPr algn="l"/>
            <a:r>
              <a:rPr lang="en-US" sz="4900" b="1" dirty="0">
                <a:solidFill>
                  <a:schemeClr val="accent2"/>
                </a:solidFill>
              </a:rPr>
              <a:t>Merge Sort </a:t>
            </a:r>
            <a:r>
              <a:rPr lang="en-US" sz="4900" b="1" dirty="0" smtClean="0">
                <a:solidFill>
                  <a:schemeClr val="accent2"/>
                </a:solidFill>
              </a:rPr>
              <a:t>– </a:t>
            </a:r>
            <a:r>
              <a:rPr lang="en-US" sz="3100" b="1" dirty="0">
                <a:solidFill>
                  <a:srgbClr val="00823B"/>
                </a:solidFill>
              </a:rPr>
              <a:t>L</a:t>
            </a:r>
            <a:r>
              <a:rPr lang="en-US" sz="3100" b="1" dirty="0" smtClean="0">
                <a:solidFill>
                  <a:srgbClr val="00823B"/>
                </a:solidFill>
              </a:rPr>
              <a:t>ower </a:t>
            </a:r>
            <a:r>
              <a:rPr lang="en-US" sz="3100" b="1" dirty="0" smtClean="0">
                <a:solidFill>
                  <a:srgbClr val="00823B"/>
                </a:solidFill>
              </a:rPr>
              <a:t>Bound</a:t>
            </a:r>
            <a:endParaRPr lang="en-US" sz="3100" b="1" dirty="0">
              <a:solidFill>
                <a:srgbClr val="00823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5797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3" grpId="0"/>
      <p:bldP spid="36" grpId="0"/>
      <p:bldP spid="4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105400" y="1713597"/>
            <a:ext cx="2409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823B"/>
                </a:solidFill>
              </a:rPr>
              <a:t>Solution: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02443" y="2752678"/>
            <a:ext cx="3078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00FF"/>
                </a:solidFill>
              </a:rPr>
              <a:t>Step 03 : Boundary Conditions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10204" y="1764268"/>
            <a:ext cx="2409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823B"/>
                </a:solidFill>
              </a:rPr>
              <a:t>Recurrence:</a:t>
            </a:r>
            <a:endParaRPr lang="en-US" b="1" dirty="0">
              <a:solidFill>
                <a:srgbClr val="00823B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863" y="2550002"/>
            <a:ext cx="1190625" cy="31432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2200" y="2579163"/>
            <a:ext cx="657225" cy="23812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3463" y="3124200"/>
            <a:ext cx="571500" cy="27622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6325" y="3478378"/>
            <a:ext cx="676275" cy="28575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5640363" y="5650468"/>
            <a:ext cx="1874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True for 0 &lt; c &lt;= 2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6763" y="2196935"/>
            <a:ext cx="2381250" cy="323850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1959" y="2181228"/>
            <a:ext cx="1790700" cy="295275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51959" y="2513303"/>
            <a:ext cx="1666875" cy="27622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90432" y="3466439"/>
            <a:ext cx="1524000" cy="29527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84594" y="5645865"/>
            <a:ext cx="200025" cy="247650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7531" y="3886200"/>
            <a:ext cx="685800" cy="238125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92638" y="3870744"/>
            <a:ext cx="847725" cy="328260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25656" y="4281414"/>
            <a:ext cx="657225" cy="371475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045407" y="4835018"/>
            <a:ext cx="361950" cy="276225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045407" y="5312491"/>
            <a:ext cx="361950" cy="276225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52950" y="5667375"/>
            <a:ext cx="361950" cy="276225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444479" y="3870744"/>
            <a:ext cx="1552575" cy="295275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486025" y="4333801"/>
            <a:ext cx="1581150" cy="26670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947987" y="4844542"/>
            <a:ext cx="657225" cy="257175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157182" y="5336303"/>
            <a:ext cx="190500" cy="228600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765811" y="5677004"/>
            <a:ext cx="190500" cy="228600"/>
          </a:xfrm>
          <a:prstGeom prst="rect">
            <a:avLst/>
          </a:prstGeom>
        </p:spPr>
      </p:pic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52400" y="1201271"/>
            <a:ext cx="6248400" cy="512326"/>
          </a:xfrm>
        </p:spPr>
        <p:txBody>
          <a:bodyPr>
            <a:normAutofit fontScale="90000"/>
          </a:bodyPr>
          <a:lstStyle/>
          <a:p>
            <a:pPr algn="l"/>
            <a:r>
              <a:rPr lang="en-US" sz="4900" b="1" dirty="0">
                <a:solidFill>
                  <a:schemeClr val="accent2"/>
                </a:solidFill>
              </a:rPr>
              <a:t>Merge Sort </a:t>
            </a:r>
            <a:r>
              <a:rPr lang="en-US" sz="4900" b="1" dirty="0" smtClean="0">
                <a:solidFill>
                  <a:schemeClr val="accent2"/>
                </a:solidFill>
              </a:rPr>
              <a:t>– </a:t>
            </a:r>
            <a:r>
              <a:rPr lang="en-US" sz="3100" b="1" dirty="0">
                <a:solidFill>
                  <a:srgbClr val="00823B"/>
                </a:solidFill>
              </a:rPr>
              <a:t>L</a:t>
            </a:r>
            <a:r>
              <a:rPr lang="en-US" sz="3100" b="1" dirty="0" smtClean="0">
                <a:solidFill>
                  <a:srgbClr val="00823B"/>
                </a:solidFill>
              </a:rPr>
              <a:t>ower </a:t>
            </a:r>
            <a:r>
              <a:rPr lang="en-US" sz="3100" b="1" dirty="0" smtClean="0">
                <a:solidFill>
                  <a:srgbClr val="00823B"/>
                </a:solidFill>
              </a:rPr>
              <a:t>Bound</a:t>
            </a:r>
            <a:endParaRPr lang="en-US" sz="3100" b="1" dirty="0">
              <a:solidFill>
                <a:srgbClr val="00823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1720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105400" y="1713597"/>
            <a:ext cx="2409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823B"/>
                </a:solidFill>
              </a:rPr>
              <a:t>Solution: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02443" y="2752678"/>
            <a:ext cx="3078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00FF"/>
                </a:solidFill>
              </a:rPr>
              <a:t>Step 03 : Boundary Conditions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10204" y="1764268"/>
            <a:ext cx="2409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823B"/>
                </a:solidFill>
              </a:rPr>
              <a:t>Recurrence:</a:t>
            </a:r>
            <a:endParaRPr lang="en-US" b="1" dirty="0">
              <a:solidFill>
                <a:srgbClr val="00823B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863" y="2550002"/>
            <a:ext cx="1190625" cy="31432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2200" y="2579163"/>
            <a:ext cx="657225" cy="23812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3463" y="3124200"/>
            <a:ext cx="571500" cy="27622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6325" y="3478378"/>
            <a:ext cx="676275" cy="28575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5640363" y="5650468"/>
            <a:ext cx="1874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True for 0 &lt; c &lt;= 2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6763" y="2196935"/>
            <a:ext cx="2381250" cy="323850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1959" y="2181228"/>
            <a:ext cx="1790700" cy="295275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51959" y="2513303"/>
            <a:ext cx="1666875" cy="27622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90432" y="3466439"/>
            <a:ext cx="1524000" cy="29527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00537" y="5693490"/>
            <a:ext cx="200025" cy="247650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4236" y="3867150"/>
            <a:ext cx="723900" cy="2476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486024" y="3893713"/>
            <a:ext cx="1581150" cy="304800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88125" y="3888212"/>
            <a:ext cx="857250" cy="333375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33925" y="4365049"/>
            <a:ext cx="1028571" cy="276190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797702" y="4832712"/>
            <a:ext cx="838095" cy="276190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797702" y="5247723"/>
            <a:ext cx="838095" cy="276190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083220" y="5681796"/>
            <a:ext cx="838095" cy="27619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491152" y="4362847"/>
            <a:ext cx="1590675" cy="2762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011588" y="4809642"/>
            <a:ext cx="666750" cy="29527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148013" y="5248518"/>
            <a:ext cx="323850" cy="276225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352800" y="5638800"/>
            <a:ext cx="323850" cy="276225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502443" y="5983942"/>
            <a:ext cx="22710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00823B"/>
                </a:solidFill>
              </a:rPr>
              <a:t>Hence proved</a:t>
            </a:r>
            <a:endParaRPr lang="en-US" sz="2800" b="1" dirty="0">
              <a:solidFill>
                <a:srgbClr val="00823B"/>
              </a:solidFill>
            </a:endParaRPr>
          </a:p>
        </p:txBody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48013" y="6049675"/>
            <a:ext cx="2346738" cy="388888"/>
          </a:xfrm>
          <a:prstGeom prst="rect">
            <a:avLst/>
          </a:prstGeom>
        </p:spPr>
      </p:pic>
      <p:sp>
        <p:nvSpPr>
          <p:cNvPr id="31" name="Title 1"/>
          <p:cNvSpPr>
            <a:spLocks noGrp="1"/>
          </p:cNvSpPr>
          <p:nvPr>
            <p:ph type="title"/>
          </p:nvPr>
        </p:nvSpPr>
        <p:spPr>
          <a:xfrm>
            <a:off x="152400" y="1201271"/>
            <a:ext cx="6248400" cy="512326"/>
          </a:xfrm>
        </p:spPr>
        <p:txBody>
          <a:bodyPr>
            <a:normAutofit fontScale="90000"/>
          </a:bodyPr>
          <a:lstStyle/>
          <a:p>
            <a:pPr algn="l"/>
            <a:r>
              <a:rPr lang="en-US" sz="4900" b="1" dirty="0">
                <a:solidFill>
                  <a:schemeClr val="accent2"/>
                </a:solidFill>
              </a:rPr>
              <a:t>Merge Sort </a:t>
            </a:r>
            <a:r>
              <a:rPr lang="en-US" sz="4900" b="1" dirty="0" smtClean="0">
                <a:solidFill>
                  <a:schemeClr val="accent2"/>
                </a:solidFill>
              </a:rPr>
              <a:t>– </a:t>
            </a:r>
            <a:r>
              <a:rPr lang="en-US" sz="3100" b="1" dirty="0">
                <a:solidFill>
                  <a:srgbClr val="00823B"/>
                </a:solidFill>
              </a:rPr>
              <a:t>L</a:t>
            </a:r>
            <a:r>
              <a:rPr lang="en-US" sz="3100" b="1" dirty="0" smtClean="0">
                <a:solidFill>
                  <a:srgbClr val="00823B"/>
                </a:solidFill>
              </a:rPr>
              <a:t>ower </a:t>
            </a:r>
            <a:r>
              <a:rPr lang="en-US" sz="3100" b="1" dirty="0" smtClean="0">
                <a:solidFill>
                  <a:srgbClr val="00823B"/>
                </a:solidFill>
              </a:rPr>
              <a:t>Bound</a:t>
            </a:r>
            <a:endParaRPr lang="en-US" sz="3100" b="1" dirty="0">
              <a:solidFill>
                <a:srgbClr val="00823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5501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87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4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201271"/>
            <a:ext cx="6248400" cy="512326"/>
          </a:xfrm>
        </p:spPr>
        <p:txBody>
          <a:bodyPr>
            <a:normAutofit fontScale="90000"/>
          </a:bodyPr>
          <a:lstStyle/>
          <a:p>
            <a:pPr algn="l"/>
            <a:r>
              <a:rPr lang="en-US" sz="4900" b="1" dirty="0">
                <a:solidFill>
                  <a:schemeClr val="accent2"/>
                </a:solidFill>
              </a:rPr>
              <a:t>Merge Sort </a:t>
            </a:r>
            <a:r>
              <a:rPr lang="en-US" sz="4900" b="1" dirty="0" smtClean="0">
                <a:solidFill>
                  <a:schemeClr val="accent2"/>
                </a:solidFill>
              </a:rPr>
              <a:t>– </a:t>
            </a:r>
            <a:r>
              <a:rPr lang="en-US" sz="3100" b="1" dirty="0" smtClean="0">
                <a:solidFill>
                  <a:srgbClr val="00823B"/>
                </a:solidFill>
              </a:rPr>
              <a:t>Analysis</a:t>
            </a:r>
            <a:endParaRPr lang="en-US" sz="3100" b="1" dirty="0">
              <a:solidFill>
                <a:srgbClr val="00823B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46" name="TextBox 45"/>
          <p:cNvSpPr txBox="1"/>
          <p:nvPr/>
        </p:nvSpPr>
        <p:spPr>
          <a:xfrm>
            <a:off x="916282" y="3200400"/>
            <a:ext cx="22710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00823B"/>
                </a:solidFill>
              </a:rPr>
              <a:t>Hence proved</a:t>
            </a:r>
            <a:endParaRPr lang="en-US" sz="2800" b="1" dirty="0">
              <a:solidFill>
                <a:srgbClr val="00823B"/>
              </a:solidFill>
            </a:endParaRPr>
          </a:p>
        </p:txBody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862" y="2667000"/>
            <a:ext cx="2346738" cy="388888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317" y="2123832"/>
            <a:ext cx="2167692" cy="3986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57600" y="2123832"/>
            <a:ext cx="236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=&gt; T (n) = O (n lg n)</a:t>
            </a:r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3673444" y="2681335"/>
            <a:ext cx="236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=&gt; T (n) = </a:t>
            </a:r>
            <a:r>
              <a:rPr lang="el-GR" dirty="0" smtClean="0"/>
              <a:t>Ω</a:t>
            </a:r>
            <a:r>
              <a:rPr lang="en-US" dirty="0" smtClean="0"/>
              <a:t> (n lg n)</a:t>
            </a:r>
            <a:endParaRPr 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2590800" y="4009291"/>
            <a:ext cx="2895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 smtClean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(n) = </a:t>
            </a:r>
            <a:r>
              <a:rPr lang="el-GR" sz="2800" b="1" i="1" dirty="0" smtClean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en-US" sz="2800" b="1" i="1" dirty="0" smtClean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(n lg n)</a:t>
            </a:r>
            <a:endParaRPr lang="en-US" sz="2800" b="1" i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2786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10" grpId="0"/>
      <p:bldP spid="32" grpId="0"/>
      <p:bldP spid="3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126" y="1946943"/>
            <a:ext cx="6705600" cy="2003425"/>
          </a:xfrm>
        </p:spPr>
        <p:txBody>
          <a:bodyPr>
            <a:noAutofit/>
          </a:bodyPr>
          <a:lstStyle/>
          <a:p>
            <a:r>
              <a:rPr lang="en-US" sz="6000" b="1" dirty="0" smtClean="0">
                <a:solidFill>
                  <a:srgbClr val="00823B"/>
                </a:solidFill>
              </a:rPr>
              <a:t>Recurrence</a:t>
            </a:r>
            <a:endParaRPr lang="en-US" sz="4800" b="1" dirty="0">
              <a:solidFill>
                <a:srgbClr val="00823B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962400"/>
            <a:ext cx="6400800" cy="1752600"/>
          </a:xfrm>
        </p:spPr>
        <p:txBody>
          <a:bodyPr/>
          <a:lstStyle/>
          <a:p>
            <a:pPr algn="r"/>
            <a:r>
              <a:rPr lang="en-US" dirty="0" smtClean="0"/>
              <a:t>Substitution Method</a:t>
            </a:r>
          </a:p>
          <a:p>
            <a:pPr algn="r"/>
            <a:r>
              <a:rPr lang="en-US" dirty="0" smtClean="0">
                <a:solidFill>
                  <a:srgbClr val="0000FF"/>
                </a:solidFill>
              </a:rPr>
              <a:t>(Sample Exercises)</a:t>
            </a:r>
            <a:endParaRPr lang="en-US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0153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295400"/>
            <a:ext cx="6248400" cy="6858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823B"/>
                </a:solidFill>
              </a:rPr>
              <a:t>Class </a:t>
            </a:r>
            <a:r>
              <a:rPr lang="en-US" b="1" dirty="0" smtClean="0">
                <a:solidFill>
                  <a:srgbClr val="00823B"/>
                </a:solidFill>
              </a:rPr>
              <a:t>Exercise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1" indent="-285750"/>
            <a:endParaRPr lang="en-US" sz="2800" dirty="0" smtClean="0"/>
          </a:p>
          <a:p>
            <a:pPr lvl="1" indent="-285750"/>
            <a:endParaRPr lang="en-US" sz="2800" dirty="0"/>
          </a:p>
          <a:p>
            <a:pPr lvl="1" indent="-285750"/>
            <a:endParaRPr lang="en-US" sz="2800" dirty="0" smtClean="0"/>
          </a:p>
          <a:p>
            <a:endParaRPr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1" y="1966416"/>
            <a:ext cx="3505200" cy="500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33400" y="2491626"/>
            <a:ext cx="2409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823B"/>
                </a:solidFill>
              </a:rPr>
              <a:t>Guess Solution:</a:t>
            </a:r>
            <a:endParaRPr lang="en-US" b="1" dirty="0">
              <a:solidFill>
                <a:srgbClr val="00823B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4192" y="2911629"/>
            <a:ext cx="1781175" cy="3238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4192" y="3295084"/>
            <a:ext cx="1657350" cy="30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28744" y="3636744"/>
            <a:ext cx="2409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823B"/>
                </a:solidFill>
              </a:rPr>
              <a:t>Prove using M . I. :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28744" y="4076915"/>
            <a:ext cx="2409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00FF"/>
                </a:solidFill>
              </a:rPr>
              <a:t>Step 01 : Assumption</a:t>
            </a:r>
            <a:endParaRPr lang="en-US" b="1" dirty="0">
              <a:solidFill>
                <a:srgbClr val="0000FF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757204"/>
            <a:ext cx="1743075" cy="32385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5314950"/>
            <a:ext cx="5410200" cy="32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252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295400"/>
            <a:ext cx="6248400" cy="6858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823B"/>
                </a:solidFill>
              </a:rPr>
              <a:t>Class </a:t>
            </a:r>
            <a:r>
              <a:rPr lang="en-US" b="1" dirty="0" smtClean="0">
                <a:solidFill>
                  <a:srgbClr val="00823B"/>
                </a:solidFill>
              </a:rPr>
              <a:t>Exercise</a:t>
            </a:r>
            <a:endParaRPr lang="en-US" b="1" dirty="0">
              <a:solidFill>
                <a:srgbClr val="00823B"/>
              </a:solidFill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277" y="2405157"/>
            <a:ext cx="3505200" cy="500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145797" y="1863542"/>
            <a:ext cx="2409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823B"/>
                </a:solidFill>
              </a:rPr>
              <a:t>Guess Solution:</a:t>
            </a:r>
            <a:endParaRPr lang="en-US" b="1" dirty="0">
              <a:solidFill>
                <a:srgbClr val="00823B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6589" y="2283545"/>
            <a:ext cx="1781175" cy="3238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6589" y="2667000"/>
            <a:ext cx="1657350" cy="304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0204" y="1916668"/>
            <a:ext cx="2409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823B"/>
                </a:solidFill>
              </a:rPr>
              <a:t>Recurrence: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69277" y="2983468"/>
            <a:ext cx="3276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00FF"/>
                </a:solidFill>
              </a:rPr>
              <a:t>Step 02 : Prove for all “n”</a:t>
            </a:r>
            <a:endParaRPr lang="en-US" b="1" dirty="0">
              <a:solidFill>
                <a:srgbClr val="0000FF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3524250"/>
            <a:ext cx="4972050" cy="3619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80999" y="4050268"/>
            <a:ext cx="47647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very large value of “n” , we may ignore 17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999" y="4533900"/>
            <a:ext cx="3695700" cy="36195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2524" y="5009718"/>
            <a:ext cx="2924175" cy="276225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2524" y="5706592"/>
            <a:ext cx="2438400" cy="28575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52524" y="6031559"/>
            <a:ext cx="2076450" cy="28575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52524" y="6356526"/>
            <a:ext cx="1076325" cy="276225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10839" y="5285943"/>
            <a:ext cx="571500" cy="276225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91789" y="5614048"/>
            <a:ext cx="723900" cy="238125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52524" y="5410200"/>
            <a:ext cx="1914525" cy="25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900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126" y="1946943"/>
            <a:ext cx="6705600" cy="2003425"/>
          </a:xfrm>
        </p:spPr>
        <p:txBody>
          <a:bodyPr>
            <a:noAutofit/>
          </a:bodyPr>
          <a:lstStyle/>
          <a:p>
            <a:r>
              <a:rPr lang="en-US" sz="6000" b="1" dirty="0" smtClean="0">
                <a:solidFill>
                  <a:srgbClr val="00823B"/>
                </a:solidFill>
              </a:rPr>
              <a:t>Recurrence</a:t>
            </a:r>
            <a:endParaRPr lang="en-US" sz="4800" b="1" dirty="0">
              <a:solidFill>
                <a:srgbClr val="00823B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962400"/>
            <a:ext cx="6400800" cy="1752600"/>
          </a:xfrm>
        </p:spPr>
        <p:txBody>
          <a:bodyPr/>
          <a:lstStyle/>
          <a:p>
            <a:pPr algn="r"/>
            <a:r>
              <a:rPr lang="en-US" dirty="0" smtClean="0"/>
              <a:t>Substitution Method</a:t>
            </a:r>
          </a:p>
          <a:p>
            <a:pPr algn="r"/>
            <a:r>
              <a:rPr lang="en-US" dirty="0" smtClean="0">
                <a:solidFill>
                  <a:srgbClr val="0000FF"/>
                </a:solidFill>
              </a:rPr>
              <a:t>(Challenges &amp; Solution)</a:t>
            </a:r>
            <a:endParaRPr lang="en-US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0853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295400"/>
            <a:ext cx="7239000" cy="685800"/>
          </a:xfrm>
        </p:spPr>
        <p:txBody>
          <a:bodyPr>
            <a:normAutofit/>
          </a:bodyPr>
          <a:lstStyle/>
          <a:p>
            <a:pPr algn="l"/>
            <a:r>
              <a:rPr lang="en-US" sz="2800" b="1" dirty="0" smtClean="0">
                <a:solidFill>
                  <a:srgbClr val="00823B"/>
                </a:solidFill>
              </a:rPr>
              <a:t>Subtracting Lower Order Term</a:t>
            </a:r>
            <a:endParaRPr lang="en-US" sz="2800" b="1" dirty="0">
              <a:solidFill>
                <a:srgbClr val="00823B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381000" y="1981200"/>
            <a:ext cx="3352800" cy="36576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 smtClean="0"/>
              <a:t>Suppose we have</a:t>
            </a:r>
          </a:p>
          <a:p>
            <a:endParaRPr lang="en-US" sz="2800" dirty="0">
              <a:cs typeface="Arial" charset="0"/>
            </a:endParaRPr>
          </a:p>
          <a:p>
            <a:r>
              <a:rPr lang="en-US" sz="2800" dirty="0" smtClean="0">
                <a:cs typeface="Arial" charset="0"/>
              </a:rPr>
              <a:t>Guess the Solution</a:t>
            </a:r>
          </a:p>
          <a:p>
            <a:endParaRPr lang="en-US" i="1" dirty="0" smtClean="0"/>
          </a:p>
          <a:p>
            <a:r>
              <a:rPr lang="en-US" sz="2800" dirty="0">
                <a:cs typeface="Arial" charset="0"/>
              </a:rPr>
              <a:t>Prove </a:t>
            </a:r>
            <a:r>
              <a:rPr lang="en-US" sz="2800" dirty="0" smtClean="0">
                <a:cs typeface="Arial" charset="0"/>
              </a:rPr>
              <a:t>that</a:t>
            </a:r>
          </a:p>
          <a:p>
            <a:endParaRPr lang="en-US" sz="2800" dirty="0">
              <a:cs typeface="Arial" charset="0"/>
            </a:endParaRPr>
          </a:p>
          <a:p>
            <a:r>
              <a:rPr lang="en-US" sz="2800" dirty="0" smtClean="0">
                <a:cs typeface="Arial" charset="0"/>
              </a:rPr>
              <a:t>Assumption</a:t>
            </a:r>
            <a:endParaRPr lang="en-US" sz="2800" dirty="0">
              <a:cs typeface="Arial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514600"/>
            <a:ext cx="4124325" cy="4572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433761"/>
            <a:ext cx="1600200" cy="4286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4424361"/>
            <a:ext cx="1266825" cy="44767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5272085"/>
            <a:ext cx="1466850" cy="819150"/>
          </a:xfrm>
          <a:prstGeom prst="rect">
            <a:avLst/>
          </a:prstGeom>
        </p:spPr>
      </p:pic>
      <p:sp>
        <p:nvSpPr>
          <p:cNvPr id="11" name="Content Placeholder 2"/>
          <p:cNvSpPr txBox="1">
            <a:spLocks/>
          </p:cNvSpPr>
          <p:nvPr/>
        </p:nvSpPr>
        <p:spPr>
          <a:xfrm>
            <a:off x="4290518" y="1981200"/>
            <a:ext cx="3352800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800" dirty="0" smtClean="0"/>
          </a:p>
          <a:p>
            <a:endParaRPr lang="en-US" sz="2800" dirty="0">
              <a:cs typeface="Arial" charset="0"/>
            </a:endParaRPr>
          </a:p>
          <a:p>
            <a:r>
              <a:rPr lang="en-US" sz="2800" dirty="0" smtClean="0">
                <a:cs typeface="Arial" charset="0"/>
              </a:rPr>
              <a:t>Substitute</a:t>
            </a:r>
          </a:p>
          <a:p>
            <a:endParaRPr lang="en-US" i="1" dirty="0" smtClean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2025" y="3544720"/>
            <a:ext cx="4019550" cy="4191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38800" y="4203365"/>
            <a:ext cx="1362075" cy="33337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4640" y="4998702"/>
            <a:ext cx="1266825" cy="44767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8900" y="4933950"/>
            <a:ext cx="685800" cy="70485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37957" y="5719762"/>
            <a:ext cx="1724025" cy="3810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7518" y="5557837"/>
            <a:ext cx="685800" cy="70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813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295400"/>
            <a:ext cx="7239000" cy="685800"/>
          </a:xfrm>
        </p:spPr>
        <p:txBody>
          <a:bodyPr>
            <a:normAutofit/>
          </a:bodyPr>
          <a:lstStyle/>
          <a:p>
            <a:pPr algn="l"/>
            <a:r>
              <a:rPr lang="en-US" sz="2800" b="1" dirty="0" smtClean="0">
                <a:solidFill>
                  <a:srgbClr val="00823B"/>
                </a:solidFill>
              </a:rPr>
              <a:t>Subtracting Lower Order Term</a:t>
            </a:r>
            <a:endParaRPr lang="en-US" sz="2800" b="1" dirty="0">
              <a:solidFill>
                <a:srgbClr val="00823B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381000" y="1981200"/>
            <a:ext cx="3352800" cy="36576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 smtClean="0"/>
              <a:t>Suppose we have</a:t>
            </a:r>
          </a:p>
          <a:p>
            <a:endParaRPr lang="en-US" sz="2800" dirty="0">
              <a:cs typeface="Arial" charset="0"/>
            </a:endParaRPr>
          </a:p>
          <a:p>
            <a:r>
              <a:rPr lang="en-US" sz="2800" dirty="0" smtClean="0">
                <a:cs typeface="Arial" charset="0"/>
              </a:rPr>
              <a:t>New Guess</a:t>
            </a:r>
          </a:p>
          <a:p>
            <a:endParaRPr lang="en-US" i="1" dirty="0" smtClean="0"/>
          </a:p>
          <a:p>
            <a:r>
              <a:rPr lang="en-US" sz="2800" dirty="0" smtClean="0">
                <a:cs typeface="Arial" charset="0"/>
              </a:rPr>
              <a:t>Prove that</a:t>
            </a:r>
          </a:p>
          <a:p>
            <a:endParaRPr lang="en-US" sz="2800" dirty="0">
              <a:cs typeface="Arial" charset="0"/>
            </a:endParaRPr>
          </a:p>
          <a:p>
            <a:r>
              <a:rPr lang="en-US" sz="2800" dirty="0" smtClean="0">
                <a:cs typeface="Arial" charset="0"/>
              </a:rPr>
              <a:t>Assumption</a:t>
            </a:r>
            <a:endParaRPr lang="en-US" sz="2800" dirty="0">
              <a:cs typeface="Arial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450915"/>
            <a:ext cx="4124325" cy="4572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5272085"/>
            <a:ext cx="1466850" cy="819150"/>
          </a:xfrm>
          <a:prstGeom prst="rect">
            <a:avLst/>
          </a:prstGeom>
        </p:spPr>
      </p:pic>
      <p:sp>
        <p:nvSpPr>
          <p:cNvPr id="11" name="Content Placeholder 2"/>
          <p:cNvSpPr txBox="1">
            <a:spLocks/>
          </p:cNvSpPr>
          <p:nvPr/>
        </p:nvSpPr>
        <p:spPr>
          <a:xfrm>
            <a:off x="4290518" y="1981200"/>
            <a:ext cx="3352800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800" dirty="0" smtClean="0"/>
          </a:p>
          <a:p>
            <a:endParaRPr lang="en-US" sz="2800" dirty="0">
              <a:cs typeface="Arial" charset="0"/>
            </a:endParaRPr>
          </a:p>
          <a:p>
            <a:r>
              <a:rPr lang="en-US" sz="2800" dirty="0" smtClean="0">
                <a:cs typeface="Arial" charset="0"/>
              </a:rPr>
              <a:t>Substitute</a:t>
            </a:r>
          </a:p>
          <a:p>
            <a:endParaRPr lang="en-US" i="1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990" y="4445943"/>
            <a:ext cx="1771650" cy="3429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8200" y="3628034"/>
            <a:ext cx="2971800" cy="252472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5093" y="4069116"/>
            <a:ext cx="2047875" cy="38100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5093" y="4592620"/>
            <a:ext cx="1371600" cy="38100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86748" y="5081585"/>
            <a:ext cx="752475" cy="38100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4018" y="5527340"/>
            <a:ext cx="685800" cy="7048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43000" y="3421108"/>
            <a:ext cx="2171700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34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295400"/>
            <a:ext cx="7239000" cy="685800"/>
          </a:xfrm>
        </p:spPr>
        <p:txBody>
          <a:bodyPr>
            <a:normAutofit/>
          </a:bodyPr>
          <a:lstStyle/>
          <a:p>
            <a:pPr algn="l"/>
            <a:r>
              <a:rPr lang="en-US" sz="2800" b="1" dirty="0" smtClean="0">
                <a:solidFill>
                  <a:srgbClr val="00823B"/>
                </a:solidFill>
              </a:rPr>
              <a:t>Changing Variable</a:t>
            </a:r>
            <a:endParaRPr lang="en-US" sz="2800" b="1" dirty="0">
              <a:solidFill>
                <a:srgbClr val="00823B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15" name="Picture 1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009899"/>
            <a:ext cx="3648075" cy="5524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" name="Group 15"/>
          <p:cNvGrpSpPr/>
          <p:nvPr/>
        </p:nvGrpSpPr>
        <p:grpSpPr>
          <a:xfrm>
            <a:off x="1379392" y="2702347"/>
            <a:ext cx="1152525" cy="352425"/>
            <a:chOff x="533400" y="2695575"/>
            <a:chExt cx="1152525" cy="352425"/>
          </a:xfrm>
        </p:grpSpPr>
        <p:pic>
          <p:nvPicPr>
            <p:cNvPr id="17" name="Picture 16"/>
            <p:cNvPicPr/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8200" y="2771775"/>
              <a:ext cx="314325" cy="2381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" name="Picture 17"/>
            <p:cNvPicPr/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23975" y="2695575"/>
              <a:ext cx="361950" cy="3524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" name="Picture 23"/>
            <p:cNvPicPr/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3400" y="2752725"/>
              <a:ext cx="209550" cy="2571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5" name="Group 24"/>
          <p:cNvGrpSpPr/>
          <p:nvPr/>
        </p:nvGrpSpPr>
        <p:grpSpPr>
          <a:xfrm>
            <a:off x="1026966" y="3395663"/>
            <a:ext cx="1628775" cy="457200"/>
            <a:chOff x="3757612" y="3200400"/>
            <a:chExt cx="1628775" cy="457200"/>
          </a:xfrm>
        </p:grpSpPr>
        <p:pic>
          <p:nvPicPr>
            <p:cNvPr id="26" name="Picture 25"/>
            <p:cNvPicPr/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57612" y="3200400"/>
              <a:ext cx="485775" cy="4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" name="Picture 26"/>
            <p:cNvPicPr/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14837" y="3324225"/>
              <a:ext cx="314325" cy="2381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" name="Picture 27"/>
            <p:cNvPicPr/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24412" y="3248025"/>
              <a:ext cx="561975" cy="3619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9" name="Picture 28"/>
          <p:cNvPicPr/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9853" y="3097296"/>
            <a:ext cx="129540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Picture 32"/>
          <p:cNvPicPr/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3608" y="2669009"/>
            <a:ext cx="2552700" cy="419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" name="Group 33"/>
          <p:cNvGrpSpPr/>
          <p:nvPr/>
        </p:nvGrpSpPr>
        <p:grpSpPr>
          <a:xfrm>
            <a:off x="4573608" y="3234790"/>
            <a:ext cx="3124200" cy="542925"/>
            <a:chOff x="3009900" y="3157538"/>
            <a:chExt cx="3124200" cy="542925"/>
          </a:xfrm>
        </p:grpSpPr>
        <p:pic>
          <p:nvPicPr>
            <p:cNvPr id="35" name="Picture 34"/>
            <p:cNvPicPr/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86200" y="3214688"/>
              <a:ext cx="2247900" cy="485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" name="Picture 35"/>
            <p:cNvPicPr/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09900" y="3157538"/>
              <a:ext cx="876300" cy="4762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7" name="Group 36"/>
          <p:cNvGrpSpPr/>
          <p:nvPr/>
        </p:nvGrpSpPr>
        <p:grpSpPr>
          <a:xfrm>
            <a:off x="4576701" y="3805238"/>
            <a:ext cx="3057525" cy="590550"/>
            <a:chOff x="3043237" y="3133725"/>
            <a:chExt cx="3057525" cy="590550"/>
          </a:xfrm>
        </p:grpSpPr>
        <p:pic>
          <p:nvPicPr>
            <p:cNvPr id="38" name="Picture 37"/>
            <p:cNvPicPr/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52862" y="3238500"/>
              <a:ext cx="2247900" cy="485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" name="Picture 38"/>
            <p:cNvPicPr/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43237" y="3133725"/>
              <a:ext cx="723900" cy="5334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0" name="Picture 39"/>
          <p:cNvPicPr/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005" y="4232936"/>
            <a:ext cx="328612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Picture 40"/>
          <p:cNvPicPr/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9910" y="4794540"/>
            <a:ext cx="1660195" cy="406079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Picture 41"/>
          <p:cNvPicPr/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005" y="5305023"/>
            <a:ext cx="307657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Picture 42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9908" y="4600173"/>
            <a:ext cx="685800" cy="70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861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918075" y="4539129"/>
            <a:ext cx="6420832" cy="1785471"/>
            <a:chOff x="613275" y="0"/>
            <a:chExt cx="6420832" cy="1785471"/>
          </a:xfrm>
        </p:grpSpPr>
        <p:sp>
          <p:nvSpPr>
            <p:cNvPr id="13" name="Pentagon 12"/>
            <p:cNvSpPr/>
            <p:nvPr/>
          </p:nvSpPr>
          <p:spPr>
            <a:xfrm rot="10800000">
              <a:off x="613275" y="0"/>
              <a:ext cx="6420832" cy="1785471"/>
            </a:xfrm>
            <a:prstGeom prst="homePlat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4" name="Pentagon 4"/>
            <p:cNvSpPr/>
            <p:nvPr/>
          </p:nvSpPr>
          <p:spPr>
            <a:xfrm rot="21600000">
              <a:off x="1059643" y="0"/>
              <a:ext cx="5974464" cy="178547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87343" tIns="76200" rIns="142240" bIns="76200" numCol="1" spcCol="1270" anchor="ctr" anchorCtr="0">
              <a:noAutofit/>
            </a:bodyPr>
            <a:lstStyle/>
            <a:p>
              <a:pPr lvl="0"/>
              <a:r>
                <a:rPr lang="en-US" sz="2000" dirty="0"/>
                <a:t>Allah (Alone) is Sufficient for us, and He is the Best Disposer of affairs (for us).</a:t>
              </a:r>
              <a:r>
                <a:rPr lang="en-US" sz="1400" b="1" dirty="0">
                  <a:solidFill>
                    <a:srgbClr val="FFFF00"/>
                  </a:solidFill>
                </a:rPr>
                <a:t>(Quran 3 : 173)</a:t>
              </a:r>
              <a:endParaRPr lang="en-US" sz="2000" b="1" dirty="0">
                <a:solidFill>
                  <a:srgbClr val="FFFF00"/>
                </a:solidFill>
              </a:endParaRPr>
            </a:p>
          </p:txBody>
        </p:sp>
      </p:grpSp>
      <p:sp>
        <p:nvSpPr>
          <p:cNvPr id="12" name="Oval 11"/>
          <p:cNvSpPr/>
          <p:nvPr/>
        </p:nvSpPr>
        <p:spPr>
          <a:xfrm>
            <a:off x="304800" y="4539129"/>
            <a:ext cx="1785471" cy="1785471"/>
          </a:xfrm>
          <a:prstGeom prst="ellipse">
            <a:avLst/>
          </a:prstGeo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39000" r="-39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pic>
        <p:nvPicPr>
          <p:cNvPr id="7" name="Content Placeholder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143000"/>
            <a:ext cx="6420213" cy="3213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900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Elemental</Template>
  <TotalTime>657</TotalTime>
  <Words>510</Words>
  <Application>Microsoft Office PowerPoint</Application>
  <PresentationFormat>On-screen Show (4:3)</PresentationFormat>
  <Paragraphs>153</Paragraphs>
  <Slides>23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Times New Roman</vt:lpstr>
      <vt:lpstr>Office Theme</vt:lpstr>
      <vt:lpstr>PowerPoint Presentation</vt:lpstr>
      <vt:lpstr>Algorithm Analysis</vt:lpstr>
      <vt:lpstr>Introduction</vt:lpstr>
      <vt:lpstr>Merge Sort - Recurrence</vt:lpstr>
      <vt:lpstr>Substitution Method</vt:lpstr>
      <vt:lpstr>Substitution Method -  Merge Sort</vt:lpstr>
      <vt:lpstr>Merge Sort – Upper Bound</vt:lpstr>
      <vt:lpstr>Merge Sort – Upper Bound</vt:lpstr>
      <vt:lpstr>Merge Sort – Upper Bound</vt:lpstr>
      <vt:lpstr>Merge Sort – Upper Bound</vt:lpstr>
      <vt:lpstr>Merge Sort – Lower Bound</vt:lpstr>
      <vt:lpstr>Merge Sort – Lower Bound</vt:lpstr>
      <vt:lpstr>Merge Sort – Lower Bound</vt:lpstr>
      <vt:lpstr>Merge Sort – Lower Bound</vt:lpstr>
      <vt:lpstr>Merge Sort – Analysis</vt:lpstr>
      <vt:lpstr>Recurrence</vt:lpstr>
      <vt:lpstr>Class Exercise</vt:lpstr>
      <vt:lpstr>Class Exercise</vt:lpstr>
      <vt:lpstr>Recurrence</vt:lpstr>
      <vt:lpstr>Subtracting Lower Order Term</vt:lpstr>
      <vt:lpstr>Subtracting Lower Order Term</vt:lpstr>
      <vt:lpstr>Changing Variable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cp:lastModifiedBy>Windows User</cp:lastModifiedBy>
  <cp:revision>183</cp:revision>
  <cp:lastPrinted>2021-02-14T06:18:41Z</cp:lastPrinted>
  <dcterms:created xsi:type="dcterms:W3CDTF">2018-06-20T09:11:51Z</dcterms:created>
  <dcterms:modified xsi:type="dcterms:W3CDTF">2025-01-23T15:31:39Z</dcterms:modified>
</cp:coreProperties>
</file>