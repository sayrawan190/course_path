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9"/>
  </p:notesMasterIdLst>
  <p:handoutMasterIdLst>
    <p:handoutMasterId r:id="rId60"/>
  </p:handoutMasterIdLst>
  <p:sldIdLst>
    <p:sldId id="476" r:id="rId2"/>
    <p:sldId id="302" r:id="rId3"/>
    <p:sldId id="303" r:id="rId4"/>
    <p:sldId id="304" r:id="rId5"/>
    <p:sldId id="305" r:id="rId6"/>
    <p:sldId id="306" r:id="rId7"/>
    <p:sldId id="307" r:id="rId8"/>
    <p:sldId id="477" r:id="rId9"/>
    <p:sldId id="309" r:id="rId10"/>
    <p:sldId id="308" r:id="rId11"/>
    <p:sldId id="310" r:id="rId12"/>
    <p:sldId id="478" r:id="rId13"/>
    <p:sldId id="311" r:id="rId14"/>
    <p:sldId id="312" r:id="rId15"/>
    <p:sldId id="479" r:id="rId16"/>
    <p:sldId id="313" r:id="rId17"/>
    <p:sldId id="314" r:id="rId18"/>
    <p:sldId id="315" r:id="rId19"/>
    <p:sldId id="320" r:id="rId20"/>
    <p:sldId id="326" r:id="rId21"/>
    <p:sldId id="327" r:id="rId22"/>
    <p:sldId id="328" r:id="rId23"/>
    <p:sldId id="329" r:id="rId24"/>
    <p:sldId id="383" r:id="rId25"/>
    <p:sldId id="377" r:id="rId26"/>
    <p:sldId id="331" r:id="rId27"/>
    <p:sldId id="376" r:id="rId28"/>
    <p:sldId id="388" r:id="rId29"/>
    <p:sldId id="378" r:id="rId30"/>
    <p:sldId id="394" r:id="rId31"/>
    <p:sldId id="396" r:id="rId32"/>
    <p:sldId id="400" r:id="rId33"/>
    <p:sldId id="335" r:id="rId34"/>
    <p:sldId id="336" r:id="rId35"/>
    <p:sldId id="337" r:id="rId36"/>
    <p:sldId id="404" r:id="rId37"/>
    <p:sldId id="406" r:id="rId38"/>
    <p:sldId id="341" r:id="rId39"/>
    <p:sldId id="342" r:id="rId40"/>
    <p:sldId id="343" r:id="rId41"/>
    <p:sldId id="344" r:id="rId42"/>
    <p:sldId id="408" r:id="rId43"/>
    <p:sldId id="379" r:id="rId44"/>
    <p:sldId id="414" r:id="rId45"/>
    <p:sldId id="421" r:id="rId46"/>
    <p:sldId id="429" r:id="rId47"/>
    <p:sldId id="346" r:id="rId48"/>
    <p:sldId id="347" r:id="rId49"/>
    <p:sldId id="348" r:id="rId50"/>
    <p:sldId id="437" r:id="rId51"/>
    <p:sldId id="350" r:id="rId52"/>
    <p:sldId id="351" r:id="rId53"/>
    <p:sldId id="352" r:id="rId54"/>
    <p:sldId id="353" r:id="rId55"/>
    <p:sldId id="354" r:id="rId56"/>
    <p:sldId id="355" r:id="rId57"/>
    <p:sldId id="301" r:id="rId5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00823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6" d="100"/>
          <a:sy n="106" d="100"/>
        </p:scale>
        <p:origin x="1686" y="11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presProps" Target="pres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00A867-0D2F-4317-B9F6-942331555E07}" type="datetimeFigureOut">
              <a:rPr lang="en-US" smtClean="0"/>
              <a:t>4/9/2025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D08E5B-3E4A-4BEF-9248-EB61691600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639999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49CE24-AB9C-43CD-AB59-1170152E142C}" type="datetimeFigureOut">
              <a:rPr lang="en-US" smtClean="0"/>
              <a:t>4/9/2025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406CE9-AE27-4DF9-BE7A-54F150597D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517769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406CE9-AE27-4DF9-BE7A-54F150597DF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3057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406CE9-AE27-4DF9-BE7A-54F150597DF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68112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406CE9-AE27-4DF9-BE7A-54F150597DF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14765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406CE9-AE27-4DF9-BE7A-54F150597DF7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54705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406CE9-AE27-4DF9-BE7A-54F150597DF7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6498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406CE9-AE27-4DF9-BE7A-54F150597DF7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516688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406CE9-AE27-4DF9-BE7A-54F150597DF7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52170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406CE9-AE27-4DF9-BE7A-54F150597DF7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753384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406CE9-AE27-4DF9-BE7A-54F150597DF7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10047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406CE9-AE27-4DF9-BE7A-54F150597DF7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247389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406CE9-AE27-4DF9-BE7A-54F150597DF7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443157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406CE9-AE27-4DF9-BE7A-54F150597DF7}" type="slidenum">
              <a:rPr lang="en-US" smtClean="0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05069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355768" y="6324600"/>
            <a:ext cx="1752600" cy="3651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Dr. Muhammad Umair Ramzan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58000" y="6324600"/>
            <a:ext cx="457200" cy="365125"/>
          </a:xfrm>
          <a:prstGeom prst="rect">
            <a:avLst/>
          </a:prstGeom>
        </p:spPr>
        <p:txBody>
          <a:bodyPr/>
          <a:lstStyle/>
          <a:p>
            <a:fld id="{EFBA8F76-60DD-4F65-80ED-7968AD89E0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959086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1143000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2514600"/>
            <a:ext cx="6248400" cy="36576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52400" y="6324600"/>
            <a:ext cx="1752600" cy="3651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10/2/2012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355768" y="6324600"/>
            <a:ext cx="1752600" cy="3651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Dr. Muhammad Umair Ramzan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781800" y="6324600"/>
            <a:ext cx="609600" cy="365125"/>
          </a:xfrm>
          <a:prstGeom prst="rect">
            <a:avLst/>
          </a:prstGeom>
        </p:spPr>
        <p:txBody>
          <a:bodyPr/>
          <a:lstStyle/>
          <a:p>
            <a:fld id="{EFBA8F76-60DD-4F65-80ED-7968AD89E0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16980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52400" y="6324600"/>
            <a:ext cx="1752600" cy="3651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10/2/2012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355768" y="6324600"/>
            <a:ext cx="1752600" cy="3651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Dr. Muhammad Umair Ramzan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486400" y="6324600"/>
            <a:ext cx="1828800" cy="365125"/>
          </a:xfrm>
          <a:prstGeom prst="rect">
            <a:avLst/>
          </a:prstGeom>
        </p:spPr>
        <p:txBody>
          <a:bodyPr/>
          <a:lstStyle/>
          <a:p>
            <a:fld id="{EFBA8F76-60DD-4F65-80ED-7968AD89E0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41049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52400" y="6324600"/>
            <a:ext cx="1752600" cy="3651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10/2/2012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355768" y="6324600"/>
            <a:ext cx="1752600" cy="3651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Dr. Muhammad Umair Ramzan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486400" y="6324600"/>
            <a:ext cx="1828800" cy="365125"/>
          </a:xfrm>
          <a:prstGeom prst="rect">
            <a:avLst/>
          </a:prstGeom>
        </p:spPr>
        <p:txBody>
          <a:bodyPr/>
          <a:lstStyle/>
          <a:p>
            <a:fld id="{EFBA8F76-60DD-4F65-80ED-7968AD89E0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18199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152400" y="6324600"/>
            <a:ext cx="1752600" cy="3651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10/2/2012</a:t>
            </a: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355768" y="6324600"/>
            <a:ext cx="1752600" cy="3651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Dr. Muhammad Umair Ramzan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5486400" y="6324600"/>
            <a:ext cx="1828800" cy="365125"/>
          </a:xfrm>
          <a:prstGeom prst="rect">
            <a:avLst/>
          </a:prstGeom>
        </p:spPr>
        <p:txBody>
          <a:bodyPr/>
          <a:lstStyle/>
          <a:p>
            <a:fld id="{EFBA8F76-60DD-4F65-80ED-7968AD89E0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38105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152400" y="6324600"/>
            <a:ext cx="1752600" cy="3651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10/2/2012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355768" y="6324600"/>
            <a:ext cx="1752600" cy="3651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Dr. Muhammad Umair Ramzan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5486400" y="6324600"/>
            <a:ext cx="1828800" cy="365125"/>
          </a:xfrm>
          <a:prstGeom prst="rect">
            <a:avLst/>
          </a:prstGeom>
        </p:spPr>
        <p:txBody>
          <a:bodyPr/>
          <a:lstStyle/>
          <a:p>
            <a:fld id="{EFBA8F76-60DD-4F65-80ED-7968AD89E0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34993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152400" y="6324600"/>
            <a:ext cx="1752600" cy="3651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10/2/2012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355768" y="6324600"/>
            <a:ext cx="1752600" cy="3651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Dr. Muhammad Umair Ramzan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5486400" y="6324600"/>
            <a:ext cx="1828800" cy="365125"/>
          </a:xfrm>
          <a:prstGeom prst="rect">
            <a:avLst/>
          </a:prstGeom>
        </p:spPr>
        <p:txBody>
          <a:bodyPr/>
          <a:lstStyle/>
          <a:p>
            <a:fld id="{EFBA8F76-60DD-4F65-80ED-7968AD89E0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05368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52400" y="6324600"/>
            <a:ext cx="1752600" cy="3651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10/2/2012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355768" y="6324600"/>
            <a:ext cx="1752600" cy="3651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Dr. Muhammad Umair Ramzan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486400" y="6324600"/>
            <a:ext cx="1828800" cy="365125"/>
          </a:xfrm>
          <a:prstGeom prst="rect">
            <a:avLst/>
          </a:prstGeom>
        </p:spPr>
        <p:txBody>
          <a:bodyPr/>
          <a:lstStyle/>
          <a:p>
            <a:fld id="{EFBA8F76-60DD-4F65-80ED-7968AD89E0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93863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52400" y="6324600"/>
            <a:ext cx="1752600" cy="3651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10/2/2012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355768" y="6324600"/>
            <a:ext cx="1752600" cy="3651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Dr. Muhammad Umair Ramzan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486400" y="6324600"/>
            <a:ext cx="1828800" cy="365125"/>
          </a:xfrm>
          <a:prstGeom prst="rect">
            <a:avLst/>
          </a:prstGeom>
        </p:spPr>
        <p:txBody>
          <a:bodyPr/>
          <a:lstStyle/>
          <a:p>
            <a:fld id="{EFBA8F76-60DD-4F65-80ED-7968AD89E0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96175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52400" y="6324600"/>
            <a:ext cx="1752600" cy="3651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10/2/2012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355768" y="6324600"/>
            <a:ext cx="1752600" cy="3651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Dr. Muhammad Umair Ramzan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486400" y="6324600"/>
            <a:ext cx="1828800" cy="365125"/>
          </a:xfrm>
          <a:prstGeom prst="rect">
            <a:avLst/>
          </a:prstGeom>
        </p:spPr>
        <p:txBody>
          <a:bodyPr/>
          <a:lstStyle/>
          <a:p>
            <a:fld id="{EFBA8F76-60DD-4F65-80ED-7968AD89E0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3817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52400" y="6324600"/>
            <a:ext cx="1752600" cy="3651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10/2/2012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355768" y="6324600"/>
            <a:ext cx="1752600" cy="3651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Dr. Muhammad Umair Ramzan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486400" y="6324600"/>
            <a:ext cx="1828800" cy="365125"/>
          </a:xfrm>
          <a:prstGeom prst="rect">
            <a:avLst/>
          </a:prstGeom>
        </p:spPr>
        <p:txBody>
          <a:bodyPr/>
          <a:lstStyle/>
          <a:p>
            <a:fld id="{EFBA8F76-60DD-4F65-80ED-7968AD89E0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4633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jp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4400" y="1752600"/>
            <a:ext cx="62484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0600" y="3276600"/>
            <a:ext cx="6248400" cy="2620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 userDrawn="1"/>
        </p:nvPicPr>
        <p:blipFill>
          <a:blip r:embed="rId13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4539052" y="-3484224"/>
            <a:ext cx="65619" cy="9144281"/>
          </a:xfrm>
          <a:prstGeom prst="rect">
            <a:avLst/>
          </a:prstGeom>
          <a:solidFill>
            <a:schemeClr val="accent6">
              <a:lumMod val="75000"/>
            </a:schemeClr>
          </a:solidFill>
          <a:ln w="9525">
            <a:noFill/>
            <a:miter lim="800000"/>
            <a:headEnd/>
            <a:tailEnd/>
          </a:ln>
          <a:effectLst/>
          <a:extLst/>
        </p:spPr>
      </p:pic>
      <p:pic>
        <p:nvPicPr>
          <p:cNvPr id="14" name="Picture 2"/>
          <p:cNvPicPr>
            <a:picLocks noChangeAspect="1" noChangeArrowheads="1"/>
          </p:cNvPicPr>
          <p:nvPr userDrawn="1"/>
        </p:nvPicPr>
        <p:blipFill>
          <a:blip r:embed="rId13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7696200" y="991"/>
            <a:ext cx="49212" cy="6857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6" name="TextBox 15"/>
          <p:cNvSpPr txBox="1"/>
          <p:nvPr userDrawn="1"/>
        </p:nvSpPr>
        <p:spPr>
          <a:xfrm>
            <a:off x="2646497" y="6437622"/>
            <a:ext cx="26088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Instructor Dr. Muhammad Umair</a:t>
            </a:r>
            <a:endParaRPr lang="en-US" sz="1400" dirty="0"/>
          </a:p>
        </p:txBody>
      </p:sp>
      <p:sp>
        <p:nvSpPr>
          <p:cNvPr id="4" name="TextBox 3"/>
          <p:cNvSpPr txBox="1"/>
          <p:nvPr userDrawn="1"/>
        </p:nvSpPr>
        <p:spPr>
          <a:xfrm>
            <a:off x="1055343" y="-10418"/>
            <a:ext cx="57912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i="1" dirty="0" smtClean="0">
                <a:solidFill>
                  <a:srgbClr val="00823B"/>
                </a:solidFill>
              </a:rPr>
              <a:t>Analysis</a:t>
            </a:r>
            <a:r>
              <a:rPr lang="en-US" sz="3200" b="1" i="1" baseline="0" dirty="0" smtClean="0">
                <a:solidFill>
                  <a:srgbClr val="00823B"/>
                </a:solidFill>
              </a:rPr>
              <a:t> and Design of Algorithms</a:t>
            </a:r>
            <a:endParaRPr lang="en-US" sz="3200" b="1" i="1" dirty="0">
              <a:solidFill>
                <a:srgbClr val="00823B"/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89065"/>
            <a:ext cx="762000" cy="91024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4800" y="76200"/>
            <a:ext cx="972911" cy="972911"/>
          </a:xfrm>
          <a:prstGeom prst="rect">
            <a:avLst/>
          </a:prstGeom>
        </p:spPr>
      </p:pic>
      <p:sp>
        <p:nvSpPr>
          <p:cNvPr id="5" name="TextBox 4"/>
          <p:cNvSpPr txBox="1"/>
          <p:nvPr userDrawn="1"/>
        </p:nvSpPr>
        <p:spPr>
          <a:xfrm>
            <a:off x="8077200" y="1295400"/>
            <a:ext cx="769121" cy="5257800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vert="wordArtVert" wrap="square" rtlCol="0">
            <a:spAutoFit/>
          </a:bodyPr>
          <a:lstStyle/>
          <a:p>
            <a:pPr algn="ctr"/>
            <a:r>
              <a:rPr lang="en-US" sz="3200" b="1" dirty="0" smtClean="0"/>
              <a:t>CPCS 223</a:t>
            </a:r>
            <a:endParaRPr 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40108021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rgbClr val="00823B"/>
        </a:buClr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Clr>
          <a:srgbClr val="00823B"/>
        </a:buClr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Clr>
          <a:srgbClr val="00823B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Clr>
          <a:srgbClr val="00823B"/>
        </a:buClr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Clr>
          <a:srgbClr val="00823B"/>
        </a:buClr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13" Type="http://schemas.openxmlformats.org/officeDocument/2006/relationships/image" Target="../media/image34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12" Type="http://schemas.openxmlformats.org/officeDocument/2006/relationships/image" Target="../media/image33.png"/><Relationship Id="rId2" Type="http://schemas.openxmlformats.org/officeDocument/2006/relationships/image" Target="../media/image18.png"/><Relationship Id="rId16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11" Type="http://schemas.openxmlformats.org/officeDocument/2006/relationships/image" Target="../media/image32.png"/><Relationship Id="rId5" Type="http://schemas.openxmlformats.org/officeDocument/2006/relationships/image" Target="../media/image26.png"/><Relationship Id="rId15" Type="http://schemas.openxmlformats.org/officeDocument/2006/relationships/image" Target="../media/image36.png"/><Relationship Id="rId10" Type="http://schemas.openxmlformats.org/officeDocument/2006/relationships/image" Target="../media/image31.png"/><Relationship Id="rId4" Type="http://schemas.openxmlformats.org/officeDocument/2006/relationships/image" Target="../media/image25.png"/><Relationship Id="rId9" Type="http://schemas.openxmlformats.org/officeDocument/2006/relationships/image" Target="../media/image30.png"/><Relationship Id="rId14" Type="http://schemas.openxmlformats.org/officeDocument/2006/relationships/image" Target="../media/image35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3" Type="http://schemas.openxmlformats.org/officeDocument/2006/relationships/image" Target="../media/image52.png"/><Relationship Id="rId7" Type="http://schemas.openxmlformats.org/officeDocument/2006/relationships/image" Target="../media/image56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13" Type="http://schemas.openxmlformats.org/officeDocument/2006/relationships/image" Target="../media/image62.png"/><Relationship Id="rId18" Type="http://schemas.openxmlformats.org/officeDocument/2006/relationships/image" Target="../media/image67.png"/><Relationship Id="rId3" Type="http://schemas.openxmlformats.org/officeDocument/2006/relationships/image" Target="../media/image52.png"/><Relationship Id="rId7" Type="http://schemas.openxmlformats.org/officeDocument/2006/relationships/image" Target="../media/image56.png"/><Relationship Id="rId12" Type="http://schemas.openxmlformats.org/officeDocument/2006/relationships/image" Target="../media/image61.png"/><Relationship Id="rId17" Type="http://schemas.openxmlformats.org/officeDocument/2006/relationships/image" Target="../media/image66.png"/><Relationship Id="rId2" Type="http://schemas.openxmlformats.org/officeDocument/2006/relationships/image" Target="../media/image51.png"/><Relationship Id="rId16" Type="http://schemas.openxmlformats.org/officeDocument/2006/relationships/image" Target="../media/image6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5.png"/><Relationship Id="rId11" Type="http://schemas.openxmlformats.org/officeDocument/2006/relationships/image" Target="../media/image60.png"/><Relationship Id="rId5" Type="http://schemas.openxmlformats.org/officeDocument/2006/relationships/image" Target="../media/image54.png"/><Relationship Id="rId15" Type="http://schemas.openxmlformats.org/officeDocument/2006/relationships/image" Target="../media/image64.png"/><Relationship Id="rId10" Type="http://schemas.openxmlformats.org/officeDocument/2006/relationships/image" Target="../media/image59.png"/><Relationship Id="rId19" Type="http://schemas.openxmlformats.org/officeDocument/2006/relationships/image" Target="../media/image68.png"/><Relationship Id="rId4" Type="http://schemas.openxmlformats.org/officeDocument/2006/relationships/image" Target="../media/image53.png"/><Relationship Id="rId9" Type="http://schemas.openxmlformats.org/officeDocument/2006/relationships/image" Target="../media/image58.png"/><Relationship Id="rId14" Type="http://schemas.openxmlformats.org/officeDocument/2006/relationships/image" Target="../media/image63.png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3" Type="http://schemas.openxmlformats.org/officeDocument/2006/relationships/image" Target="../media/image52.png"/><Relationship Id="rId7" Type="http://schemas.openxmlformats.org/officeDocument/2006/relationships/image" Target="../media/image56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13" Type="http://schemas.openxmlformats.org/officeDocument/2006/relationships/image" Target="../media/image73.png"/><Relationship Id="rId3" Type="http://schemas.openxmlformats.org/officeDocument/2006/relationships/image" Target="../media/image52.png"/><Relationship Id="rId7" Type="http://schemas.openxmlformats.org/officeDocument/2006/relationships/image" Target="../media/image56.png"/><Relationship Id="rId12" Type="http://schemas.openxmlformats.org/officeDocument/2006/relationships/image" Target="../media/image72.png"/><Relationship Id="rId17" Type="http://schemas.openxmlformats.org/officeDocument/2006/relationships/image" Target="../media/image77.png"/><Relationship Id="rId2" Type="http://schemas.openxmlformats.org/officeDocument/2006/relationships/image" Target="../media/image51.png"/><Relationship Id="rId16" Type="http://schemas.openxmlformats.org/officeDocument/2006/relationships/image" Target="../media/image7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5.png"/><Relationship Id="rId11" Type="http://schemas.openxmlformats.org/officeDocument/2006/relationships/image" Target="../media/image71.png"/><Relationship Id="rId5" Type="http://schemas.openxmlformats.org/officeDocument/2006/relationships/image" Target="../media/image54.png"/><Relationship Id="rId15" Type="http://schemas.openxmlformats.org/officeDocument/2006/relationships/image" Target="../media/image75.png"/><Relationship Id="rId10" Type="http://schemas.openxmlformats.org/officeDocument/2006/relationships/image" Target="../media/image70.png"/><Relationship Id="rId4" Type="http://schemas.openxmlformats.org/officeDocument/2006/relationships/image" Target="../media/image53.png"/><Relationship Id="rId9" Type="http://schemas.openxmlformats.org/officeDocument/2006/relationships/image" Target="../media/image69.png"/><Relationship Id="rId14" Type="http://schemas.openxmlformats.org/officeDocument/2006/relationships/image" Target="../media/image74.png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13" Type="http://schemas.openxmlformats.org/officeDocument/2006/relationships/image" Target="../media/image80.png"/><Relationship Id="rId18" Type="http://schemas.openxmlformats.org/officeDocument/2006/relationships/image" Target="../media/image85.png"/><Relationship Id="rId3" Type="http://schemas.openxmlformats.org/officeDocument/2006/relationships/image" Target="../media/image52.png"/><Relationship Id="rId7" Type="http://schemas.openxmlformats.org/officeDocument/2006/relationships/image" Target="../media/image56.png"/><Relationship Id="rId12" Type="http://schemas.openxmlformats.org/officeDocument/2006/relationships/image" Target="../media/image79.png"/><Relationship Id="rId17" Type="http://schemas.openxmlformats.org/officeDocument/2006/relationships/image" Target="../media/image84.png"/><Relationship Id="rId2" Type="http://schemas.openxmlformats.org/officeDocument/2006/relationships/image" Target="../media/image51.png"/><Relationship Id="rId16" Type="http://schemas.openxmlformats.org/officeDocument/2006/relationships/image" Target="../media/image8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5.png"/><Relationship Id="rId11" Type="http://schemas.openxmlformats.org/officeDocument/2006/relationships/image" Target="../media/image78.png"/><Relationship Id="rId5" Type="http://schemas.openxmlformats.org/officeDocument/2006/relationships/image" Target="../media/image54.png"/><Relationship Id="rId15" Type="http://schemas.openxmlformats.org/officeDocument/2006/relationships/image" Target="../media/image82.png"/><Relationship Id="rId10" Type="http://schemas.openxmlformats.org/officeDocument/2006/relationships/image" Target="../media/image77.png"/><Relationship Id="rId4" Type="http://schemas.openxmlformats.org/officeDocument/2006/relationships/image" Target="../media/image53.png"/><Relationship Id="rId9" Type="http://schemas.openxmlformats.org/officeDocument/2006/relationships/image" Target="../media/image69.png"/><Relationship Id="rId14" Type="http://schemas.openxmlformats.org/officeDocument/2006/relationships/image" Target="../media/image81.png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13" Type="http://schemas.openxmlformats.org/officeDocument/2006/relationships/image" Target="../media/image88.png"/><Relationship Id="rId18" Type="http://schemas.openxmlformats.org/officeDocument/2006/relationships/image" Target="../media/image93.png"/><Relationship Id="rId3" Type="http://schemas.openxmlformats.org/officeDocument/2006/relationships/image" Target="../media/image52.png"/><Relationship Id="rId7" Type="http://schemas.openxmlformats.org/officeDocument/2006/relationships/image" Target="../media/image56.png"/><Relationship Id="rId12" Type="http://schemas.openxmlformats.org/officeDocument/2006/relationships/image" Target="../media/image87.png"/><Relationship Id="rId17" Type="http://schemas.openxmlformats.org/officeDocument/2006/relationships/image" Target="../media/image92.png"/><Relationship Id="rId2" Type="http://schemas.openxmlformats.org/officeDocument/2006/relationships/image" Target="../media/image51.png"/><Relationship Id="rId16" Type="http://schemas.openxmlformats.org/officeDocument/2006/relationships/image" Target="../media/image9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5.png"/><Relationship Id="rId11" Type="http://schemas.openxmlformats.org/officeDocument/2006/relationships/image" Target="../media/image86.png"/><Relationship Id="rId5" Type="http://schemas.openxmlformats.org/officeDocument/2006/relationships/image" Target="../media/image54.png"/><Relationship Id="rId15" Type="http://schemas.openxmlformats.org/officeDocument/2006/relationships/image" Target="../media/image90.png"/><Relationship Id="rId10" Type="http://schemas.openxmlformats.org/officeDocument/2006/relationships/image" Target="../media/image85.png"/><Relationship Id="rId4" Type="http://schemas.openxmlformats.org/officeDocument/2006/relationships/image" Target="../media/image53.png"/><Relationship Id="rId9" Type="http://schemas.openxmlformats.org/officeDocument/2006/relationships/image" Target="../media/image69.png"/><Relationship Id="rId14" Type="http://schemas.openxmlformats.org/officeDocument/2006/relationships/image" Target="../media/image89.png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0.png"/><Relationship Id="rId3" Type="http://schemas.openxmlformats.org/officeDocument/2006/relationships/image" Target="../media/image95.png"/><Relationship Id="rId7" Type="http://schemas.openxmlformats.org/officeDocument/2006/relationships/image" Target="../media/image99.png"/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8.png"/><Relationship Id="rId5" Type="http://schemas.openxmlformats.org/officeDocument/2006/relationships/image" Target="../media/image97.png"/><Relationship Id="rId4" Type="http://schemas.openxmlformats.org/officeDocument/2006/relationships/image" Target="../media/image96.png"/><Relationship Id="rId9" Type="http://schemas.openxmlformats.org/officeDocument/2006/relationships/image" Target="../media/image101.png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0.png"/><Relationship Id="rId3" Type="http://schemas.openxmlformats.org/officeDocument/2006/relationships/image" Target="../media/image95.png"/><Relationship Id="rId7" Type="http://schemas.openxmlformats.org/officeDocument/2006/relationships/image" Target="../media/image99.png"/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8.png"/><Relationship Id="rId5" Type="http://schemas.openxmlformats.org/officeDocument/2006/relationships/image" Target="../media/image97.png"/><Relationship Id="rId4" Type="http://schemas.openxmlformats.org/officeDocument/2006/relationships/image" Target="../media/image96.png"/><Relationship Id="rId9" Type="http://schemas.openxmlformats.org/officeDocument/2006/relationships/image" Target="../media/image101.png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0.png"/><Relationship Id="rId3" Type="http://schemas.openxmlformats.org/officeDocument/2006/relationships/image" Target="../media/image95.png"/><Relationship Id="rId7" Type="http://schemas.openxmlformats.org/officeDocument/2006/relationships/image" Target="../media/image99.png"/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8.png"/><Relationship Id="rId5" Type="http://schemas.openxmlformats.org/officeDocument/2006/relationships/image" Target="../media/image97.png"/><Relationship Id="rId4" Type="http://schemas.openxmlformats.org/officeDocument/2006/relationships/image" Target="../media/image96.png"/><Relationship Id="rId9" Type="http://schemas.openxmlformats.org/officeDocument/2006/relationships/image" Target="../media/image101.png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png"/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24000"/>
            <a:ext cx="7675563" cy="2367907"/>
          </a:xfrm>
          <a:prstGeom prst="rect">
            <a:avLst/>
          </a:prstGeom>
        </p:spPr>
      </p:pic>
      <p:grpSp>
        <p:nvGrpSpPr>
          <p:cNvPr id="11" name="Group 10"/>
          <p:cNvGrpSpPr/>
          <p:nvPr/>
        </p:nvGrpSpPr>
        <p:grpSpPr>
          <a:xfrm>
            <a:off x="918075" y="4539129"/>
            <a:ext cx="6420832" cy="1785471"/>
            <a:chOff x="613275" y="0"/>
            <a:chExt cx="6420832" cy="1785471"/>
          </a:xfrm>
        </p:grpSpPr>
        <p:sp>
          <p:nvSpPr>
            <p:cNvPr id="13" name="Pentagon 12"/>
            <p:cNvSpPr/>
            <p:nvPr/>
          </p:nvSpPr>
          <p:spPr>
            <a:xfrm rot="10800000">
              <a:off x="613275" y="0"/>
              <a:ext cx="6420832" cy="1785471"/>
            </a:xfrm>
            <a:prstGeom prst="homePlate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4" name="Pentagon 4"/>
            <p:cNvSpPr/>
            <p:nvPr/>
          </p:nvSpPr>
          <p:spPr>
            <a:xfrm rot="21600000">
              <a:off x="1059643" y="0"/>
              <a:ext cx="5974464" cy="1785471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787343" tIns="76200" rIns="142240" bIns="76200" numCol="1" spcCol="1270" anchor="ctr" anchorCtr="0">
              <a:noAutofit/>
            </a:bodyPr>
            <a:lstStyle/>
            <a:p>
              <a:pPr lvl="0" algn="ctr" defTabSz="889000" rtl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000" b="1" i="0" kern="1200" dirty="0" smtClean="0">
                  <a:latin typeface="+mj-lt"/>
                </a:rPr>
                <a:t>O my Lord! Expand for me my chest [with assurance] and ease for me my task and untie the knot from my tongue that they may understand my speech. </a:t>
              </a:r>
              <a:r>
                <a:rPr lang="en-US" sz="2000" b="1" i="0" kern="1200" dirty="0" smtClean="0">
                  <a:solidFill>
                    <a:srgbClr val="FFFF00"/>
                  </a:solidFill>
                </a:rPr>
                <a:t>(Quran 20 : 25-28)</a:t>
              </a:r>
              <a:endParaRPr lang="en-US" sz="2000" b="1" kern="1200" dirty="0">
                <a:solidFill>
                  <a:srgbClr val="FFFF00"/>
                </a:solidFill>
                <a:latin typeface="+mj-lt"/>
              </a:endParaRPr>
            </a:p>
          </p:txBody>
        </p:sp>
      </p:grpSp>
      <p:sp>
        <p:nvSpPr>
          <p:cNvPr id="12" name="Oval 11"/>
          <p:cNvSpPr/>
          <p:nvPr/>
        </p:nvSpPr>
        <p:spPr>
          <a:xfrm>
            <a:off x="304800" y="4539129"/>
            <a:ext cx="1785471" cy="1785471"/>
          </a:xfrm>
          <a:prstGeom prst="ellipse">
            <a:avLst/>
          </a:prstGeom>
          <a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39000" r="-39000"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</p:sp>
    </p:spTree>
    <p:extLst>
      <p:ext uri="{BB962C8B-B14F-4D97-AF65-F5344CB8AC3E}">
        <p14:creationId xmlns:p14="http://schemas.microsoft.com/office/powerpoint/2010/main" val="22940864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2000" y="2133600"/>
            <a:ext cx="6248400" cy="1470025"/>
          </a:xfrm>
        </p:spPr>
        <p:txBody>
          <a:bodyPr/>
          <a:lstStyle/>
          <a:p>
            <a:r>
              <a:rPr lang="en-US" b="1" dirty="0" smtClean="0">
                <a:solidFill>
                  <a:srgbClr val="00823B"/>
                </a:solidFill>
              </a:rPr>
              <a:t>Decrease and Conquer</a:t>
            </a:r>
            <a:endParaRPr lang="en-US" b="1" dirty="0">
              <a:solidFill>
                <a:srgbClr val="00823B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62000" y="3962400"/>
            <a:ext cx="6400800" cy="17526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03744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53340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823B"/>
                </a:solidFill>
              </a:rPr>
              <a:t>Decrease and Conquer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752600"/>
            <a:ext cx="6248400" cy="441960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Reduce problem instance to </a:t>
            </a:r>
            <a:r>
              <a:rPr lang="en-US" b="1" dirty="0">
                <a:solidFill>
                  <a:srgbClr val="0000FF"/>
                </a:solidFill>
              </a:rPr>
              <a:t>smaller instance </a:t>
            </a:r>
            <a:r>
              <a:rPr lang="en-US" dirty="0"/>
              <a:t>of the same problem</a:t>
            </a:r>
          </a:p>
          <a:p>
            <a:r>
              <a:rPr lang="en-US" b="1" dirty="0">
                <a:solidFill>
                  <a:srgbClr val="0000FF"/>
                </a:solidFill>
              </a:rPr>
              <a:t>Solve smaller instance</a:t>
            </a:r>
          </a:p>
          <a:p>
            <a:r>
              <a:rPr lang="en-US" b="1" dirty="0">
                <a:solidFill>
                  <a:srgbClr val="0000FF"/>
                </a:solidFill>
              </a:rPr>
              <a:t>Extend solution </a:t>
            </a:r>
            <a:r>
              <a:rPr lang="en-US" dirty="0"/>
              <a:t>of smaller instance to obtain solution to original instance</a:t>
            </a:r>
          </a:p>
          <a:p>
            <a:r>
              <a:rPr lang="en-US" dirty="0" smtClean="0"/>
              <a:t>Can </a:t>
            </a:r>
            <a:r>
              <a:rPr lang="en-US" dirty="0"/>
              <a:t>be implemented either </a:t>
            </a:r>
            <a:r>
              <a:rPr lang="en-US" dirty="0" smtClean="0"/>
              <a:t>top-down (</a:t>
            </a:r>
            <a:r>
              <a:rPr lang="en-US" b="1" dirty="0" smtClean="0">
                <a:solidFill>
                  <a:srgbClr val="0000FF"/>
                </a:solidFill>
              </a:rPr>
              <a:t>Recursively</a:t>
            </a:r>
            <a:r>
              <a:rPr lang="en-US" dirty="0" smtClean="0"/>
              <a:t>) </a:t>
            </a:r>
            <a:r>
              <a:rPr lang="en-US" dirty="0"/>
              <a:t>or </a:t>
            </a:r>
            <a:r>
              <a:rPr lang="en-US" dirty="0" smtClean="0"/>
              <a:t>bottom-up (</a:t>
            </a:r>
            <a:r>
              <a:rPr lang="en-US" b="1" dirty="0">
                <a:solidFill>
                  <a:srgbClr val="0000FF"/>
                </a:solidFill>
              </a:rPr>
              <a:t>I</a:t>
            </a:r>
            <a:r>
              <a:rPr lang="en-US" b="1" dirty="0" smtClean="0">
                <a:solidFill>
                  <a:srgbClr val="0000FF"/>
                </a:solidFill>
              </a:rPr>
              <a:t>ncremental</a:t>
            </a:r>
            <a:r>
              <a:rPr lang="en-US" dirty="0" smtClean="0"/>
              <a:t>)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30627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53340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823B"/>
                </a:solidFill>
              </a:rPr>
              <a:t>Decrease and Conquer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752600"/>
            <a:ext cx="6248400" cy="4419600"/>
          </a:xfrm>
        </p:spPr>
        <p:txBody>
          <a:bodyPr>
            <a:normAutofit fontScale="62500" lnSpcReduction="20000"/>
          </a:bodyPr>
          <a:lstStyle/>
          <a:p>
            <a:r>
              <a:rPr lang="en-US" sz="4000" b="1" dirty="0">
                <a:solidFill>
                  <a:srgbClr val="00823B"/>
                </a:solidFill>
              </a:rPr>
              <a:t>Decrease by a constant (usually by 1):</a:t>
            </a:r>
          </a:p>
          <a:p>
            <a:pPr lvl="1"/>
            <a:r>
              <a:rPr lang="en-US" b="1" dirty="0"/>
              <a:t>insertion sort</a:t>
            </a:r>
          </a:p>
          <a:p>
            <a:pPr lvl="1"/>
            <a:r>
              <a:rPr lang="en-US" b="1" dirty="0"/>
              <a:t>topological sorting</a:t>
            </a:r>
          </a:p>
          <a:p>
            <a:pPr lvl="1"/>
            <a:r>
              <a:rPr lang="en-US" b="1" dirty="0"/>
              <a:t>algorithms for generating permutations, subsets</a:t>
            </a:r>
            <a:r>
              <a:rPr lang="en-US" dirty="0"/>
              <a:t>	</a:t>
            </a:r>
          </a:p>
          <a:p>
            <a:r>
              <a:rPr lang="en-US" sz="4000" b="1" dirty="0" smtClean="0">
                <a:solidFill>
                  <a:srgbClr val="00823B"/>
                </a:solidFill>
              </a:rPr>
              <a:t>Decrease </a:t>
            </a:r>
            <a:r>
              <a:rPr lang="en-US" sz="4000" b="1" dirty="0">
                <a:solidFill>
                  <a:srgbClr val="00823B"/>
                </a:solidFill>
              </a:rPr>
              <a:t>by a constant factor (usually by half)</a:t>
            </a:r>
          </a:p>
          <a:p>
            <a:pPr lvl="1"/>
            <a:r>
              <a:rPr lang="en-US" sz="2900" b="1" dirty="0"/>
              <a:t>binary search and bisection method</a:t>
            </a:r>
          </a:p>
          <a:p>
            <a:pPr lvl="1"/>
            <a:r>
              <a:rPr lang="en-US" sz="2900" b="1" dirty="0"/>
              <a:t>exponentiation by </a:t>
            </a:r>
            <a:r>
              <a:rPr lang="en-US" sz="2900" b="1" dirty="0" smtClean="0"/>
              <a:t>squaring</a:t>
            </a:r>
          </a:p>
          <a:p>
            <a:pPr lvl="1"/>
            <a:r>
              <a:rPr lang="en-US" sz="2900" b="1" dirty="0" smtClean="0"/>
              <a:t>Multiplication of TWO integer numbers</a:t>
            </a:r>
            <a:endParaRPr lang="en-US" sz="2900" b="1" dirty="0"/>
          </a:p>
          <a:p>
            <a:r>
              <a:rPr lang="en-US" sz="4000" b="1" dirty="0" smtClean="0">
                <a:solidFill>
                  <a:srgbClr val="00823B"/>
                </a:solidFill>
              </a:rPr>
              <a:t>Variable-size </a:t>
            </a:r>
            <a:r>
              <a:rPr lang="en-US" sz="4000" b="1" dirty="0">
                <a:solidFill>
                  <a:srgbClr val="00823B"/>
                </a:solidFill>
              </a:rPr>
              <a:t>decrease</a:t>
            </a:r>
          </a:p>
          <a:p>
            <a:pPr lvl="1"/>
            <a:r>
              <a:rPr lang="en-US" sz="2900" b="1" dirty="0"/>
              <a:t>Euclid’s algorithm</a:t>
            </a:r>
          </a:p>
          <a:p>
            <a:pPr lvl="1"/>
            <a:r>
              <a:rPr lang="en-US" sz="2900" b="1" dirty="0"/>
              <a:t>selection by partition</a:t>
            </a:r>
          </a:p>
          <a:p>
            <a:pPr lvl="1"/>
            <a:r>
              <a:rPr lang="en-US" sz="2900" b="1" dirty="0" err="1"/>
              <a:t>Nim</a:t>
            </a:r>
            <a:r>
              <a:rPr lang="en-US" sz="2900" b="1" dirty="0"/>
              <a:t>-like games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6134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2000" y="2133600"/>
            <a:ext cx="6248400" cy="1470025"/>
          </a:xfrm>
        </p:spPr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rgbClr val="00823B"/>
                </a:solidFill>
              </a:rPr>
              <a:t>Decrease</a:t>
            </a:r>
            <a:br>
              <a:rPr lang="en-US" b="1" dirty="0" smtClean="0">
                <a:solidFill>
                  <a:srgbClr val="00823B"/>
                </a:solidFill>
              </a:rPr>
            </a:br>
            <a:r>
              <a:rPr lang="en-US" b="1" dirty="0" smtClean="0">
                <a:solidFill>
                  <a:srgbClr val="00823B"/>
                </a:solidFill>
              </a:rPr>
              <a:t>by a</a:t>
            </a:r>
            <a:br>
              <a:rPr lang="en-US" b="1" dirty="0" smtClean="0">
                <a:solidFill>
                  <a:srgbClr val="00823B"/>
                </a:solidFill>
              </a:rPr>
            </a:br>
            <a:r>
              <a:rPr lang="en-US" b="1" dirty="0" smtClean="0">
                <a:solidFill>
                  <a:srgbClr val="00823B"/>
                </a:solidFill>
              </a:rPr>
              <a:t>Constant</a:t>
            </a:r>
            <a:endParaRPr lang="en-US" b="1" dirty="0">
              <a:solidFill>
                <a:srgbClr val="00823B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62000" y="3962400"/>
            <a:ext cx="6400800" cy="1752600"/>
          </a:xfrm>
        </p:spPr>
        <p:txBody>
          <a:bodyPr/>
          <a:lstStyle/>
          <a:p>
            <a:r>
              <a:rPr lang="en-US" b="1" dirty="0">
                <a:solidFill>
                  <a:schemeClr val="bg1">
                    <a:lumMod val="65000"/>
                  </a:schemeClr>
                </a:solidFill>
              </a:rPr>
              <a:t>Decrease and Conquer</a:t>
            </a:r>
            <a:endParaRPr lang="en-US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95868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00823B"/>
                </a:solidFill>
              </a:rPr>
              <a:t>Decrease by a Constant</a:t>
            </a:r>
            <a:endParaRPr lang="en-US" dirty="0">
              <a:solidFill>
                <a:srgbClr val="00823B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n-US" dirty="0"/>
              <a:t>the size of an instance is </a:t>
            </a:r>
            <a:r>
              <a:rPr lang="en-US" dirty="0" smtClean="0"/>
              <a:t>reduced by </a:t>
            </a:r>
            <a:r>
              <a:rPr lang="en-US" dirty="0"/>
              <a:t>the </a:t>
            </a:r>
            <a:r>
              <a:rPr lang="en-US" b="1" dirty="0">
                <a:solidFill>
                  <a:srgbClr val="0000FF"/>
                </a:solidFill>
              </a:rPr>
              <a:t>same constant </a:t>
            </a:r>
            <a:r>
              <a:rPr lang="en-US" dirty="0"/>
              <a:t>on each iteration of the </a:t>
            </a:r>
            <a:r>
              <a:rPr lang="en-US" dirty="0" smtClean="0"/>
              <a:t>algorithm</a:t>
            </a:r>
          </a:p>
          <a:p>
            <a:pPr algn="just"/>
            <a:r>
              <a:rPr lang="en-US" dirty="0"/>
              <a:t>Typically, this </a:t>
            </a:r>
            <a:r>
              <a:rPr lang="en-US" dirty="0" smtClean="0"/>
              <a:t>constant is </a:t>
            </a:r>
            <a:r>
              <a:rPr lang="en-US" b="1" dirty="0">
                <a:solidFill>
                  <a:srgbClr val="0000FF"/>
                </a:solidFill>
              </a:rPr>
              <a:t>equal to </a:t>
            </a:r>
            <a:r>
              <a:rPr lang="en-US" b="1" dirty="0" smtClean="0">
                <a:solidFill>
                  <a:srgbClr val="0000FF"/>
                </a:solidFill>
              </a:rPr>
              <a:t>one</a:t>
            </a:r>
          </a:p>
          <a:p>
            <a:pPr algn="just"/>
            <a:r>
              <a:rPr lang="en-US" b="1" dirty="0">
                <a:solidFill>
                  <a:srgbClr val="0000FF"/>
                </a:solidFill>
              </a:rPr>
              <a:t>other constant size </a:t>
            </a:r>
            <a:r>
              <a:rPr lang="en-US" dirty="0"/>
              <a:t>reductions do </a:t>
            </a:r>
            <a:r>
              <a:rPr lang="en-US" dirty="0" smtClean="0"/>
              <a:t>happen occasionally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75857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219200"/>
            <a:ext cx="2971800" cy="4572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828800"/>
            <a:ext cx="3352800" cy="4343400"/>
          </a:xfrm>
        </p:spPr>
        <p:txBody>
          <a:bodyPr>
            <a:normAutofit/>
          </a:bodyPr>
          <a:lstStyle/>
          <a:p>
            <a:pPr algn="just"/>
            <a:r>
              <a:rPr lang="en-US" dirty="0" smtClean="0"/>
              <a:t>Exponentiation </a:t>
            </a:r>
            <a:r>
              <a:rPr lang="en-US" b="1" dirty="0" smtClean="0">
                <a:solidFill>
                  <a:srgbClr val="0000FF"/>
                </a:solidFill>
              </a:rPr>
              <a:t>a</a:t>
            </a:r>
            <a:r>
              <a:rPr lang="en-US" b="1" baseline="30000" dirty="0" smtClean="0">
                <a:solidFill>
                  <a:srgbClr val="0000FF"/>
                </a:solidFill>
              </a:rPr>
              <a:t>n</a:t>
            </a:r>
          </a:p>
          <a:p>
            <a:pPr algn="just"/>
            <a:endParaRPr lang="en-US" dirty="0" smtClean="0"/>
          </a:p>
          <a:p>
            <a:pPr algn="just"/>
            <a:r>
              <a:rPr lang="en-US" dirty="0" smtClean="0"/>
              <a:t>So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7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7200" y="1219200"/>
            <a:ext cx="3276599" cy="504724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200" y="2971800"/>
            <a:ext cx="2250688" cy="5334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9200" y="4087091"/>
            <a:ext cx="1323975" cy="43815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19200" y="4844256"/>
            <a:ext cx="3867150" cy="895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4771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219200"/>
            <a:ext cx="6019800" cy="457200"/>
          </a:xfrm>
        </p:spPr>
        <p:txBody>
          <a:bodyPr>
            <a:normAutofit fontScale="90000"/>
          </a:bodyPr>
          <a:lstStyle/>
          <a:p>
            <a:pPr algn="l"/>
            <a:r>
              <a:rPr lang="en-US" dirty="0" smtClean="0"/>
              <a:t>Example - </a:t>
            </a:r>
            <a:r>
              <a:rPr lang="en-US" sz="3100" b="1" dirty="0" smtClean="0">
                <a:solidFill>
                  <a:srgbClr val="0000FF"/>
                </a:solidFill>
              </a:rPr>
              <a:t>Exponentiation</a:t>
            </a:r>
            <a:endParaRPr lang="en-US" sz="3100" b="1" dirty="0">
              <a:solidFill>
                <a:srgbClr val="0000FF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8</a:t>
            </a:fld>
            <a:endParaRPr lang="en-US"/>
          </a:p>
        </p:txBody>
      </p:sp>
      <p:sp>
        <p:nvSpPr>
          <p:cNvPr id="10" name="TextBox 9"/>
          <p:cNvSpPr txBox="1">
            <a:spLocks noChangeArrowheads="1"/>
          </p:cNvSpPr>
          <p:nvPr/>
        </p:nvSpPr>
        <p:spPr bwMode="auto">
          <a:xfrm>
            <a:off x="1168756" y="2399437"/>
            <a:ext cx="5511085" cy="1754326"/>
          </a:xfrm>
          <a:prstGeom prst="rect">
            <a:avLst/>
          </a:prstGeom>
          <a:solidFill>
            <a:schemeClr val="tx1"/>
          </a:solidFill>
          <a:ln w="28575">
            <a:solidFill>
              <a:srgbClr val="0000FF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public static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exp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(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a, </a:t>
            </a:r>
            <a:r>
              <a:rPr lang="en-US" b="1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n) </a:t>
            </a:r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{</a:t>
            </a:r>
          </a:p>
          <a:p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if ( 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n </a:t>
            </a:r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== 0 )</a:t>
            </a:r>
          </a:p>
          <a:p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return 1;</a:t>
            </a:r>
          </a:p>
          <a:p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else</a:t>
            </a:r>
          </a:p>
          <a:p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return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exp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(a, n-1) * a;</a:t>
            </a:r>
            <a:endParaRPr lang="en-US" b="1" dirty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0723" y="4572000"/>
            <a:ext cx="3867150" cy="895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83644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2000" y="2133600"/>
            <a:ext cx="6248400" cy="1470025"/>
          </a:xfrm>
        </p:spPr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rgbClr val="00823B"/>
                </a:solidFill>
              </a:rPr>
              <a:t>Decrease</a:t>
            </a:r>
            <a:br>
              <a:rPr lang="en-US" b="1" dirty="0" smtClean="0">
                <a:solidFill>
                  <a:srgbClr val="00823B"/>
                </a:solidFill>
              </a:rPr>
            </a:br>
            <a:r>
              <a:rPr lang="en-US" b="1" dirty="0" smtClean="0">
                <a:solidFill>
                  <a:srgbClr val="00823B"/>
                </a:solidFill>
              </a:rPr>
              <a:t>by a</a:t>
            </a:r>
            <a:br>
              <a:rPr lang="en-US" b="1" dirty="0" smtClean="0">
                <a:solidFill>
                  <a:srgbClr val="00823B"/>
                </a:solidFill>
              </a:rPr>
            </a:br>
            <a:r>
              <a:rPr lang="en-US" b="1" dirty="0" smtClean="0">
                <a:solidFill>
                  <a:srgbClr val="00823B"/>
                </a:solidFill>
              </a:rPr>
              <a:t>Constant Factor</a:t>
            </a:r>
            <a:endParaRPr lang="en-US" b="1" dirty="0">
              <a:solidFill>
                <a:srgbClr val="00823B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62000" y="3962400"/>
            <a:ext cx="6400800" cy="1752600"/>
          </a:xfrm>
        </p:spPr>
        <p:txBody>
          <a:bodyPr/>
          <a:lstStyle/>
          <a:p>
            <a:r>
              <a:rPr lang="en-US" b="1" dirty="0">
                <a:solidFill>
                  <a:schemeClr val="bg1">
                    <a:lumMod val="65000"/>
                  </a:schemeClr>
                </a:solidFill>
              </a:rPr>
              <a:t>Decrease and Conquer</a:t>
            </a:r>
            <a:endParaRPr lang="en-US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52794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>
                <a:solidFill>
                  <a:srgbClr val="00823B"/>
                </a:solidFill>
              </a:rPr>
              <a:t>Decrease by a Constant Factor</a:t>
            </a:r>
            <a:endParaRPr lang="en-US" dirty="0">
              <a:solidFill>
                <a:srgbClr val="00823B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just"/>
            <a:r>
              <a:rPr lang="en-US" dirty="0"/>
              <a:t>technique suggests reducing a </a:t>
            </a:r>
            <a:r>
              <a:rPr lang="en-US" dirty="0" smtClean="0"/>
              <a:t>problem instance </a:t>
            </a:r>
            <a:r>
              <a:rPr lang="en-US" dirty="0"/>
              <a:t>by the </a:t>
            </a:r>
            <a:r>
              <a:rPr lang="en-US" b="1" dirty="0">
                <a:solidFill>
                  <a:srgbClr val="0000FF"/>
                </a:solidFill>
              </a:rPr>
              <a:t>same constant factor</a:t>
            </a:r>
            <a:r>
              <a:rPr lang="en-US" dirty="0"/>
              <a:t> on each iteration of the algorithm</a:t>
            </a:r>
            <a:endParaRPr lang="en-US" dirty="0" smtClean="0"/>
          </a:p>
          <a:p>
            <a:r>
              <a:rPr lang="en-US" dirty="0"/>
              <a:t>In </a:t>
            </a:r>
            <a:r>
              <a:rPr lang="en-US" dirty="0" smtClean="0"/>
              <a:t>most applications, this </a:t>
            </a:r>
            <a:r>
              <a:rPr lang="en-US" dirty="0"/>
              <a:t>constant factor is </a:t>
            </a:r>
            <a:r>
              <a:rPr lang="en-US" b="1" dirty="0">
                <a:solidFill>
                  <a:srgbClr val="0000FF"/>
                </a:solidFill>
              </a:rPr>
              <a:t>equal to </a:t>
            </a:r>
            <a:r>
              <a:rPr lang="en-US" b="1" dirty="0" smtClean="0">
                <a:solidFill>
                  <a:srgbClr val="0000FF"/>
                </a:solidFill>
              </a:rPr>
              <a:t>two</a:t>
            </a:r>
          </a:p>
          <a:p>
            <a:pPr algn="just"/>
            <a:r>
              <a:rPr lang="en-US" b="1" dirty="0" smtClean="0">
                <a:solidFill>
                  <a:srgbClr val="0000FF"/>
                </a:solidFill>
              </a:rPr>
              <a:t>other constant factors</a:t>
            </a:r>
            <a:r>
              <a:rPr lang="en-US" dirty="0" smtClean="0"/>
              <a:t> may happen occasionally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10904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219200"/>
            <a:ext cx="2971800" cy="4572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828800"/>
            <a:ext cx="3352800" cy="4343400"/>
          </a:xfrm>
        </p:spPr>
        <p:txBody>
          <a:bodyPr>
            <a:normAutofit/>
          </a:bodyPr>
          <a:lstStyle/>
          <a:p>
            <a:pPr algn="just"/>
            <a:r>
              <a:rPr lang="en-US" dirty="0" smtClean="0"/>
              <a:t>Exponentiation </a:t>
            </a:r>
            <a:r>
              <a:rPr lang="en-US" b="1" dirty="0" smtClean="0">
                <a:solidFill>
                  <a:srgbClr val="0000FF"/>
                </a:solidFill>
              </a:rPr>
              <a:t>a</a:t>
            </a:r>
            <a:r>
              <a:rPr lang="en-US" b="1" baseline="30000" dirty="0" smtClean="0">
                <a:solidFill>
                  <a:srgbClr val="0000FF"/>
                </a:solidFill>
              </a:rPr>
              <a:t>n</a:t>
            </a:r>
          </a:p>
          <a:p>
            <a:pPr algn="just"/>
            <a:endParaRPr lang="en-US" dirty="0" smtClean="0"/>
          </a:p>
          <a:p>
            <a:pPr algn="just"/>
            <a:r>
              <a:rPr lang="en-US" dirty="0" smtClean="0"/>
              <a:t>So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11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281113"/>
            <a:ext cx="3075132" cy="4891087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5400" y="2971800"/>
            <a:ext cx="1514475" cy="39052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724400"/>
            <a:ext cx="4495800" cy="956087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19200" y="4087091"/>
            <a:ext cx="1323975" cy="438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89231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219200"/>
            <a:ext cx="6019800" cy="457200"/>
          </a:xfrm>
        </p:spPr>
        <p:txBody>
          <a:bodyPr>
            <a:normAutofit fontScale="90000"/>
          </a:bodyPr>
          <a:lstStyle/>
          <a:p>
            <a:pPr algn="l"/>
            <a:r>
              <a:rPr lang="en-US" dirty="0" smtClean="0"/>
              <a:t>Example - </a:t>
            </a:r>
            <a:r>
              <a:rPr lang="en-US" sz="3100" b="1" dirty="0" smtClean="0">
                <a:solidFill>
                  <a:srgbClr val="0000FF"/>
                </a:solidFill>
              </a:rPr>
              <a:t>Exponentiation</a:t>
            </a:r>
            <a:endParaRPr lang="en-US" sz="3100" b="1" dirty="0">
              <a:solidFill>
                <a:srgbClr val="0000FF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12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4933882"/>
            <a:ext cx="4495800" cy="956087"/>
          </a:xfrm>
          <a:prstGeom prst="rect">
            <a:avLst/>
          </a:prstGeom>
        </p:spPr>
      </p:pic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1187522" y="1981200"/>
            <a:ext cx="6280077" cy="2862322"/>
          </a:xfrm>
          <a:prstGeom prst="rect">
            <a:avLst/>
          </a:prstGeom>
          <a:solidFill>
            <a:schemeClr val="tx1"/>
          </a:solidFill>
          <a:ln w="28575">
            <a:solidFill>
              <a:srgbClr val="0000FF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public </a:t>
            </a:r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static </a:t>
            </a:r>
            <a:r>
              <a:rPr lang="en-US" b="1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expFac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a, </a:t>
            </a:r>
            <a:r>
              <a:rPr lang="en-US" b="1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n) </a:t>
            </a:r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{</a:t>
            </a:r>
          </a:p>
          <a:p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if (n </a:t>
            </a:r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== 0)</a:t>
            </a:r>
          </a:p>
          <a:p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return 1;</a:t>
            </a:r>
          </a:p>
          <a:p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else if 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(n </a:t>
            </a:r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== 1)</a:t>
            </a:r>
          </a:p>
          <a:p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return 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a;</a:t>
            </a:r>
            <a:endParaRPr lang="en-US" b="1" dirty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else if 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(n % 2 </a:t>
            </a:r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== 0)</a:t>
            </a:r>
          </a:p>
          <a:p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return </a:t>
            </a:r>
            <a:r>
              <a:rPr lang="en-US" b="1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expFac</a:t>
            </a:r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(a * a, n / 2</a:t>
            </a:r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);</a:t>
            </a:r>
          </a:p>
          <a:p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else</a:t>
            </a:r>
          </a:p>
          <a:p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return 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a *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expFac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(a, n - 1</a:t>
            </a:r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);    </a:t>
            </a:r>
          </a:p>
          <a:p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06698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2000" y="2133600"/>
            <a:ext cx="6248400" cy="1470025"/>
          </a:xfrm>
        </p:spPr>
        <p:txBody>
          <a:bodyPr>
            <a:normAutofit/>
          </a:bodyPr>
          <a:lstStyle/>
          <a:p>
            <a:r>
              <a:rPr lang="en-US" b="1" dirty="0" smtClean="0">
                <a:solidFill>
                  <a:srgbClr val="00823B"/>
                </a:solidFill>
              </a:rPr>
              <a:t>Variable Size Decrease</a:t>
            </a:r>
            <a:endParaRPr lang="en-US" b="1" dirty="0">
              <a:solidFill>
                <a:srgbClr val="00823B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62000" y="3962400"/>
            <a:ext cx="6400800" cy="1752600"/>
          </a:xfrm>
        </p:spPr>
        <p:txBody>
          <a:bodyPr/>
          <a:lstStyle/>
          <a:p>
            <a:r>
              <a:rPr lang="en-US" b="1" dirty="0">
                <a:solidFill>
                  <a:schemeClr val="bg1">
                    <a:lumMod val="65000"/>
                  </a:schemeClr>
                </a:solidFill>
              </a:rPr>
              <a:t>Decrease and Conquer</a:t>
            </a:r>
            <a:endParaRPr lang="en-US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33667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solidFill>
                  <a:srgbClr val="00823B"/>
                </a:solidFill>
              </a:rPr>
              <a:t>Variable Size Decrease</a:t>
            </a:r>
            <a:endParaRPr lang="en-US" dirty="0">
              <a:solidFill>
                <a:srgbClr val="00823B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The </a:t>
            </a:r>
            <a:r>
              <a:rPr lang="en-US" b="1" dirty="0" smtClean="0">
                <a:solidFill>
                  <a:srgbClr val="0000FF"/>
                </a:solidFill>
              </a:rPr>
              <a:t>size-reduction </a:t>
            </a:r>
            <a:r>
              <a:rPr lang="en-US" b="1" dirty="0">
                <a:solidFill>
                  <a:srgbClr val="0000FF"/>
                </a:solidFill>
              </a:rPr>
              <a:t>pattern varies </a:t>
            </a:r>
            <a:r>
              <a:rPr lang="en-US" dirty="0"/>
              <a:t>from one iteration of an algorithm to </a:t>
            </a:r>
            <a:r>
              <a:rPr lang="en-US" dirty="0" smtClean="0"/>
              <a:t>another</a:t>
            </a:r>
          </a:p>
          <a:p>
            <a:r>
              <a:rPr lang="en-US" dirty="0" smtClean="0"/>
              <a:t>Euclid’s algorithm </a:t>
            </a:r>
            <a:r>
              <a:rPr lang="en-US" dirty="0"/>
              <a:t>for computing the </a:t>
            </a:r>
            <a:r>
              <a:rPr lang="en-US" b="1" dirty="0">
                <a:solidFill>
                  <a:srgbClr val="0000FF"/>
                </a:solidFill>
              </a:rPr>
              <a:t>greatest common divisor </a:t>
            </a:r>
            <a:endParaRPr lang="en-US" b="1" dirty="0" smtClean="0">
              <a:solidFill>
                <a:srgbClr val="0000FF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14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200" y="5334000"/>
            <a:ext cx="462915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60897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219200"/>
            <a:ext cx="6019800" cy="457200"/>
          </a:xfrm>
        </p:spPr>
        <p:txBody>
          <a:bodyPr>
            <a:normAutofit fontScale="90000"/>
          </a:bodyPr>
          <a:lstStyle/>
          <a:p>
            <a:pPr algn="l"/>
            <a:r>
              <a:rPr lang="en-US" dirty="0" smtClean="0"/>
              <a:t>Example - </a:t>
            </a:r>
            <a:r>
              <a:rPr lang="en-US" sz="3100" b="1" dirty="0" smtClean="0">
                <a:solidFill>
                  <a:srgbClr val="0000FF"/>
                </a:solidFill>
              </a:rPr>
              <a:t>GCD</a:t>
            </a:r>
            <a:endParaRPr lang="en-US" sz="3100" b="1" dirty="0">
              <a:solidFill>
                <a:srgbClr val="0000FF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15</a:t>
            </a:fld>
            <a:endParaRPr lang="en-US"/>
          </a:p>
        </p:txBody>
      </p:sp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1168757" y="2667000"/>
            <a:ext cx="5511085" cy="1754326"/>
          </a:xfrm>
          <a:prstGeom prst="rect">
            <a:avLst/>
          </a:prstGeom>
          <a:solidFill>
            <a:schemeClr val="tx1"/>
          </a:solidFill>
          <a:ln w="28575">
            <a:solidFill>
              <a:srgbClr val="0000FF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public static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gcd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(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m, </a:t>
            </a:r>
            <a:r>
              <a:rPr lang="en-US" b="1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n) </a:t>
            </a:r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{</a:t>
            </a:r>
          </a:p>
          <a:p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if ( 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n </a:t>
            </a:r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== 0 )</a:t>
            </a:r>
          </a:p>
          <a:p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return 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m;</a:t>
            </a:r>
            <a:endParaRPr lang="en-US" b="1" dirty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else</a:t>
            </a:r>
          </a:p>
          <a:p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return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gcd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(n, m % n);</a:t>
            </a:r>
            <a:endParaRPr lang="en-US" b="1" dirty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9724" y="4802326"/>
            <a:ext cx="462915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28486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2000" y="2133600"/>
            <a:ext cx="6248400" cy="1470025"/>
          </a:xfrm>
        </p:spPr>
        <p:txBody>
          <a:bodyPr>
            <a:normAutofit/>
          </a:bodyPr>
          <a:lstStyle/>
          <a:p>
            <a:r>
              <a:rPr lang="en-US" b="1" dirty="0" smtClean="0">
                <a:solidFill>
                  <a:srgbClr val="00823B"/>
                </a:solidFill>
              </a:rPr>
              <a:t>Insertion Sort</a:t>
            </a:r>
            <a:endParaRPr lang="en-US" b="1" dirty="0">
              <a:solidFill>
                <a:srgbClr val="00823B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62000" y="3962400"/>
            <a:ext cx="6400800" cy="1752600"/>
          </a:xfrm>
        </p:spPr>
        <p:txBody>
          <a:bodyPr/>
          <a:lstStyle/>
          <a:p>
            <a:r>
              <a:rPr lang="en-US" b="1" dirty="0" smtClean="0">
                <a:solidFill>
                  <a:schemeClr val="bg1">
                    <a:lumMod val="65000"/>
                  </a:schemeClr>
                </a:solidFill>
              </a:rPr>
              <a:t>Decrease by a Constant</a:t>
            </a:r>
            <a:endParaRPr lang="en-US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0790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Example: Insertion sort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E5B06-AAC1-4FD1-966C-2ACFF9529C26}" type="slidenum">
              <a:rPr lang="en-US" smtClean="0"/>
              <a:t>17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450" y="2590800"/>
            <a:ext cx="6210300" cy="3019425"/>
          </a:xfrm>
          <a:prstGeom prst="rect">
            <a:avLst/>
          </a:prstGeom>
          <a:ln w="28575">
            <a:solidFill>
              <a:srgbClr val="0000FF"/>
            </a:solidFill>
          </a:ln>
        </p:spPr>
      </p:pic>
    </p:spTree>
    <p:extLst>
      <p:ext uri="{BB962C8B-B14F-4D97-AF65-F5344CB8AC3E}">
        <p14:creationId xmlns:p14="http://schemas.microsoft.com/office/powerpoint/2010/main" val="19194598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Example: Insertion sort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E5B06-AAC1-4FD1-966C-2ACFF9529C26}" type="slidenum">
              <a:rPr lang="en-US" smtClean="0"/>
              <a:t>18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985" y="2743200"/>
            <a:ext cx="6385815" cy="2667000"/>
          </a:xfrm>
          <a:prstGeom prst="rect">
            <a:avLst/>
          </a:prstGeom>
          <a:ln w="28575">
            <a:solidFill>
              <a:srgbClr val="0000FF"/>
            </a:solidFill>
          </a:ln>
        </p:spPr>
      </p:pic>
    </p:spTree>
    <p:extLst>
      <p:ext uri="{BB962C8B-B14F-4D97-AF65-F5344CB8AC3E}">
        <p14:creationId xmlns:p14="http://schemas.microsoft.com/office/powerpoint/2010/main" val="22484297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Analysis</a:t>
            </a:r>
            <a:endParaRPr lang="en-US" sz="2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02920" indent="-457200">
              <a:defRPr/>
            </a:pPr>
            <a:r>
              <a:rPr lang="en-US" dirty="0"/>
              <a:t>Worst Case</a:t>
            </a:r>
          </a:p>
          <a:p>
            <a:pPr marL="902970" lvl="1" indent="-457200">
              <a:defRPr/>
            </a:pPr>
            <a:r>
              <a:rPr lang="en-US" dirty="0"/>
              <a:t>T(n) = </a:t>
            </a:r>
            <a:r>
              <a:rPr lang="en-US" dirty="0" smtClean="0"/>
              <a:t>O(n</a:t>
            </a:r>
            <a:r>
              <a:rPr lang="en-US" baseline="30000" dirty="0" smtClean="0"/>
              <a:t>2</a:t>
            </a:r>
            <a:r>
              <a:rPr lang="en-US" dirty="0"/>
              <a:t>)</a:t>
            </a:r>
          </a:p>
          <a:p>
            <a:pPr marL="502920" indent="-457200">
              <a:defRPr/>
            </a:pPr>
            <a:r>
              <a:rPr lang="en-US" dirty="0" smtClean="0"/>
              <a:t>Best Case</a:t>
            </a:r>
          </a:p>
          <a:p>
            <a:pPr marL="902970" lvl="1" indent="-457200">
              <a:defRPr/>
            </a:pPr>
            <a:r>
              <a:rPr lang="en-US" dirty="0" smtClean="0"/>
              <a:t>T(n</a:t>
            </a:r>
            <a:r>
              <a:rPr lang="en-US" dirty="0"/>
              <a:t>) = </a:t>
            </a:r>
            <a:r>
              <a:rPr lang="en-US" dirty="0" smtClean="0"/>
              <a:t>O(n)</a:t>
            </a:r>
            <a:endParaRPr lang="en-US" dirty="0"/>
          </a:p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E5B06-AAC1-4FD1-966C-2ACFF9529C26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3206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2000" y="2133600"/>
            <a:ext cx="6248400" cy="1470025"/>
          </a:xfrm>
        </p:spPr>
        <p:txBody>
          <a:bodyPr>
            <a:normAutofit/>
          </a:bodyPr>
          <a:lstStyle/>
          <a:p>
            <a:r>
              <a:rPr lang="en-US" b="1" dirty="0" smtClean="0">
                <a:solidFill>
                  <a:srgbClr val="00823B"/>
                </a:solidFill>
              </a:rPr>
              <a:t>Topological Sorting</a:t>
            </a:r>
            <a:endParaRPr lang="en-US" b="1" dirty="0">
              <a:solidFill>
                <a:srgbClr val="00823B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62000" y="3962400"/>
            <a:ext cx="6400800" cy="1752600"/>
          </a:xfrm>
        </p:spPr>
        <p:txBody>
          <a:bodyPr/>
          <a:lstStyle/>
          <a:p>
            <a:r>
              <a:rPr lang="en-US" b="1" dirty="0" smtClean="0">
                <a:solidFill>
                  <a:schemeClr val="bg1">
                    <a:lumMod val="75000"/>
                  </a:schemeClr>
                </a:solidFill>
              </a:rPr>
              <a:t>Decrease by a Constant</a:t>
            </a:r>
            <a:endParaRPr lang="en-US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07277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45720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823B"/>
                </a:solidFill>
              </a:rPr>
              <a:t>Topological Sorting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752600"/>
            <a:ext cx="6248400" cy="4419600"/>
          </a:xfrm>
        </p:spPr>
        <p:txBody>
          <a:bodyPr/>
          <a:lstStyle/>
          <a:p>
            <a:r>
              <a:rPr lang="en-US" dirty="0" smtClean="0"/>
              <a:t>Applied in “Directed Graph” or “digraph”</a:t>
            </a:r>
          </a:p>
          <a:p>
            <a:r>
              <a:rPr lang="en-US" dirty="0" smtClean="0"/>
              <a:t>Represented by “adjacency matrix” or “adjacency list”</a:t>
            </a:r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21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2190750" y="3933825"/>
            <a:ext cx="1343025" cy="206692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5900" y="4114800"/>
            <a:ext cx="1485900" cy="1485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62479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45720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823B"/>
                </a:solidFill>
              </a:rPr>
              <a:t>Topological Sorting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752600"/>
            <a:ext cx="6248400" cy="4572000"/>
          </a:xfrm>
        </p:spPr>
        <p:txBody>
          <a:bodyPr>
            <a:noAutofit/>
          </a:bodyPr>
          <a:lstStyle/>
          <a:p>
            <a:pPr algn="just"/>
            <a:r>
              <a:rPr lang="en-US" sz="2000" b="1" dirty="0" smtClean="0">
                <a:solidFill>
                  <a:srgbClr val="0000FF"/>
                </a:solidFill>
              </a:rPr>
              <a:t>Five </a:t>
            </a:r>
            <a:r>
              <a:rPr lang="en-US" sz="2000" b="1" dirty="0">
                <a:solidFill>
                  <a:srgbClr val="0000FF"/>
                </a:solidFill>
              </a:rPr>
              <a:t>required courses </a:t>
            </a:r>
            <a:r>
              <a:rPr lang="en-US" sz="2000" b="1" dirty="0"/>
              <a:t>{C1, C2, C3, </a:t>
            </a:r>
            <a:r>
              <a:rPr lang="en-US" sz="2000" b="1" dirty="0" smtClean="0"/>
              <a:t>C4, C5</a:t>
            </a:r>
            <a:r>
              <a:rPr lang="en-US" sz="2000" b="1" dirty="0"/>
              <a:t>} a part-time student has to take in some degree </a:t>
            </a:r>
            <a:r>
              <a:rPr lang="en-US" sz="2000" b="1" dirty="0" smtClean="0"/>
              <a:t>program.</a:t>
            </a:r>
          </a:p>
          <a:p>
            <a:pPr algn="just"/>
            <a:r>
              <a:rPr lang="en-US" sz="2000" b="1" dirty="0" smtClean="0"/>
              <a:t>The </a:t>
            </a:r>
            <a:r>
              <a:rPr lang="en-US" sz="2000" b="1" dirty="0"/>
              <a:t>courses can </a:t>
            </a:r>
            <a:r>
              <a:rPr lang="en-US" sz="2000" b="1" dirty="0" smtClean="0"/>
              <a:t>be taken </a:t>
            </a:r>
            <a:r>
              <a:rPr lang="en-US" sz="2000" b="1" dirty="0"/>
              <a:t>in </a:t>
            </a:r>
            <a:r>
              <a:rPr lang="en-US" sz="2000" b="1" dirty="0">
                <a:solidFill>
                  <a:srgbClr val="0000FF"/>
                </a:solidFill>
              </a:rPr>
              <a:t>any </a:t>
            </a:r>
            <a:r>
              <a:rPr lang="en-US" sz="2000" b="1" dirty="0" smtClean="0">
                <a:solidFill>
                  <a:srgbClr val="0000FF"/>
                </a:solidFill>
              </a:rPr>
              <a:t>order</a:t>
            </a:r>
          </a:p>
          <a:p>
            <a:pPr algn="just"/>
            <a:r>
              <a:rPr lang="en-US" sz="2400" b="1" dirty="0" smtClean="0"/>
              <a:t>course prerequisites</a:t>
            </a:r>
          </a:p>
          <a:p>
            <a:pPr lvl="1" algn="just"/>
            <a:r>
              <a:rPr lang="en-US" sz="2000" b="1" dirty="0" smtClean="0">
                <a:solidFill>
                  <a:srgbClr val="0000FF"/>
                </a:solidFill>
              </a:rPr>
              <a:t>C1 and C2 </a:t>
            </a:r>
            <a:r>
              <a:rPr lang="en-US" sz="2000" b="1" dirty="0"/>
              <a:t>have </a:t>
            </a:r>
            <a:r>
              <a:rPr lang="en-US" sz="2000" b="1" dirty="0">
                <a:solidFill>
                  <a:srgbClr val="FF0000"/>
                </a:solidFill>
              </a:rPr>
              <a:t>no </a:t>
            </a:r>
            <a:r>
              <a:rPr lang="en-US" sz="2000" b="1" dirty="0" smtClean="0">
                <a:solidFill>
                  <a:srgbClr val="FF0000"/>
                </a:solidFill>
              </a:rPr>
              <a:t>prerequisites</a:t>
            </a:r>
          </a:p>
          <a:p>
            <a:pPr lvl="1" algn="just"/>
            <a:r>
              <a:rPr lang="en-US" sz="2000" b="1" dirty="0" smtClean="0">
                <a:solidFill>
                  <a:srgbClr val="0000FF"/>
                </a:solidFill>
              </a:rPr>
              <a:t>C3</a:t>
            </a:r>
            <a:r>
              <a:rPr lang="en-US" sz="2000" b="1" dirty="0" smtClean="0"/>
              <a:t> </a:t>
            </a:r>
            <a:r>
              <a:rPr lang="en-US" sz="2000" b="1" dirty="0"/>
              <a:t>requires </a:t>
            </a:r>
            <a:r>
              <a:rPr lang="en-US" sz="2000" b="1" dirty="0">
                <a:solidFill>
                  <a:srgbClr val="FF0000"/>
                </a:solidFill>
              </a:rPr>
              <a:t>C1</a:t>
            </a:r>
            <a:r>
              <a:rPr lang="en-US" sz="2000" b="1" dirty="0"/>
              <a:t> and </a:t>
            </a:r>
            <a:r>
              <a:rPr lang="en-US" sz="2000" b="1" dirty="0" smtClean="0">
                <a:solidFill>
                  <a:srgbClr val="FF0000"/>
                </a:solidFill>
              </a:rPr>
              <a:t>C2</a:t>
            </a:r>
          </a:p>
          <a:p>
            <a:pPr lvl="1" algn="just"/>
            <a:r>
              <a:rPr lang="en-US" sz="2000" b="1" dirty="0" smtClean="0">
                <a:solidFill>
                  <a:srgbClr val="0000FF"/>
                </a:solidFill>
              </a:rPr>
              <a:t>C4</a:t>
            </a:r>
            <a:r>
              <a:rPr lang="en-US" sz="2000" b="1" dirty="0" smtClean="0"/>
              <a:t> </a:t>
            </a:r>
            <a:r>
              <a:rPr lang="en-US" sz="2000" b="1" dirty="0"/>
              <a:t>requires </a:t>
            </a:r>
            <a:r>
              <a:rPr lang="en-US" sz="2000" b="1" dirty="0" smtClean="0">
                <a:solidFill>
                  <a:srgbClr val="FF0000"/>
                </a:solidFill>
              </a:rPr>
              <a:t>C3</a:t>
            </a:r>
          </a:p>
          <a:p>
            <a:pPr lvl="1" algn="just"/>
            <a:r>
              <a:rPr lang="en-US" sz="2000" b="1" dirty="0" smtClean="0">
                <a:solidFill>
                  <a:srgbClr val="0000FF"/>
                </a:solidFill>
              </a:rPr>
              <a:t>C5</a:t>
            </a:r>
            <a:r>
              <a:rPr lang="en-US" sz="2000" b="1" dirty="0" smtClean="0"/>
              <a:t> requires </a:t>
            </a:r>
            <a:r>
              <a:rPr lang="en-US" sz="2000" b="1" dirty="0" smtClean="0">
                <a:solidFill>
                  <a:srgbClr val="FF0000"/>
                </a:solidFill>
              </a:rPr>
              <a:t>C3</a:t>
            </a:r>
            <a:r>
              <a:rPr lang="en-US" sz="2000" b="1" dirty="0" smtClean="0"/>
              <a:t> </a:t>
            </a:r>
            <a:r>
              <a:rPr lang="en-US" sz="2000" b="1" dirty="0"/>
              <a:t>and </a:t>
            </a:r>
            <a:r>
              <a:rPr lang="en-US" sz="2000" b="1" dirty="0" smtClean="0">
                <a:solidFill>
                  <a:srgbClr val="FF0000"/>
                </a:solidFill>
              </a:rPr>
              <a:t>C4</a:t>
            </a:r>
            <a:r>
              <a:rPr lang="en-US" sz="2000" b="1" dirty="0" smtClean="0"/>
              <a:t>.</a:t>
            </a:r>
          </a:p>
          <a:p>
            <a:pPr algn="just"/>
            <a:r>
              <a:rPr lang="en-US" sz="2400" b="1" dirty="0" smtClean="0"/>
              <a:t>The </a:t>
            </a:r>
            <a:r>
              <a:rPr lang="en-US" sz="2400" b="1" dirty="0"/>
              <a:t>student can take only </a:t>
            </a:r>
            <a:r>
              <a:rPr lang="en-US" sz="2400" b="1" dirty="0">
                <a:solidFill>
                  <a:srgbClr val="0000FF"/>
                </a:solidFill>
              </a:rPr>
              <a:t>one course per </a:t>
            </a:r>
            <a:r>
              <a:rPr lang="en-US" sz="2400" b="1" dirty="0" smtClean="0">
                <a:solidFill>
                  <a:srgbClr val="0000FF"/>
                </a:solidFill>
              </a:rPr>
              <a:t>term</a:t>
            </a:r>
          </a:p>
          <a:p>
            <a:pPr algn="just"/>
            <a:r>
              <a:rPr lang="en-US" sz="24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 </a:t>
            </a:r>
            <a:r>
              <a:rPr 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which order </a:t>
            </a:r>
            <a:r>
              <a:rPr lang="en-US" sz="2400" b="1" dirty="0" smtClean="0"/>
              <a:t>should the </a:t>
            </a:r>
            <a:r>
              <a:rPr lang="en-US" sz="2400" b="1" dirty="0"/>
              <a:t>student take the courses</a:t>
            </a:r>
            <a:r>
              <a:rPr lang="en-US" sz="2400" b="1" dirty="0" smtClean="0"/>
              <a:t>?</a:t>
            </a:r>
            <a:endParaRPr lang="en-US" sz="2400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2635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45720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823B"/>
                </a:solidFill>
              </a:rPr>
              <a:t>Topological </a:t>
            </a:r>
            <a:r>
              <a:rPr lang="en-US" b="1" dirty="0" smtClean="0">
                <a:solidFill>
                  <a:srgbClr val="00823B"/>
                </a:solidFill>
              </a:rPr>
              <a:t>Sorting </a:t>
            </a:r>
            <a:r>
              <a:rPr lang="en-US" sz="2000" b="1" dirty="0" smtClean="0">
                <a:solidFill>
                  <a:srgbClr val="00823B"/>
                </a:solidFill>
              </a:rPr>
              <a:t>(Solution)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752600"/>
            <a:ext cx="6248400" cy="4572000"/>
          </a:xfrm>
        </p:spPr>
        <p:txBody>
          <a:bodyPr>
            <a:noAutofit/>
          </a:bodyPr>
          <a:lstStyle/>
          <a:p>
            <a:pPr algn="just"/>
            <a:r>
              <a:rPr lang="en-US" b="1" dirty="0" smtClean="0">
                <a:solidFill>
                  <a:srgbClr val="0000FF"/>
                </a:solidFill>
              </a:rPr>
              <a:t>Directed </a:t>
            </a:r>
            <a:r>
              <a:rPr lang="en-US" dirty="0" smtClean="0"/>
              <a:t>Graph</a:t>
            </a:r>
          </a:p>
          <a:p>
            <a:pPr algn="just"/>
            <a:r>
              <a:rPr lang="en-US" b="1" dirty="0" smtClean="0">
                <a:solidFill>
                  <a:srgbClr val="0000FF"/>
                </a:solidFill>
              </a:rPr>
              <a:t>Vertices</a:t>
            </a:r>
            <a:r>
              <a:rPr lang="en-US" dirty="0" smtClean="0"/>
              <a:t> will represent </a:t>
            </a:r>
            <a:r>
              <a:rPr lang="en-US" b="1" dirty="0" smtClean="0">
                <a:solidFill>
                  <a:srgbClr val="0000FF"/>
                </a:solidFill>
              </a:rPr>
              <a:t>courses</a:t>
            </a:r>
          </a:p>
          <a:p>
            <a:pPr algn="just"/>
            <a:r>
              <a:rPr lang="en-US" dirty="0" smtClean="0"/>
              <a:t>Directed </a:t>
            </a:r>
            <a:r>
              <a:rPr lang="en-US" b="1" dirty="0" smtClean="0">
                <a:solidFill>
                  <a:srgbClr val="0000FF"/>
                </a:solidFill>
              </a:rPr>
              <a:t>edge</a:t>
            </a:r>
            <a:r>
              <a:rPr lang="en-US" dirty="0" smtClean="0"/>
              <a:t> represents </a:t>
            </a:r>
            <a:r>
              <a:rPr lang="en-US" b="1" dirty="0" smtClean="0">
                <a:solidFill>
                  <a:srgbClr val="0000FF"/>
                </a:solidFill>
              </a:rPr>
              <a:t>prerequisite</a:t>
            </a:r>
          </a:p>
          <a:p>
            <a:pPr algn="just"/>
            <a:r>
              <a:rPr lang="en-US" dirty="0" smtClean="0"/>
              <a:t>Arranging the edges is known as “</a:t>
            </a:r>
            <a:r>
              <a:rPr lang="en-US" b="1" dirty="0">
                <a:solidFill>
                  <a:srgbClr val="0000FF"/>
                </a:solidFill>
              </a:rPr>
              <a:t>T</a:t>
            </a:r>
            <a:r>
              <a:rPr lang="en-US" b="1" dirty="0" smtClean="0">
                <a:solidFill>
                  <a:srgbClr val="0000FF"/>
                </a:solidFill>
              </a:rPr>
              <a:t>opological Sorting</a:t>
            </a:r>
            <a:r>
              <a:rPr lang="en-US" dirty="0" smtClean="0"/>
              <a:t>”</a:t>
            </a:r>
          </a:p>
          <a:p>
            <a:pPr algn="just"/>
            <a:r>
              <a:rPr lang="en-US" dirty="0" smtClean="0"/>
              <a:t>It can not be solved if it is not a </a:t>
            </a:r>
            <a:r>
              <a:rPr lang="en-US" b="1" dirty="0" smtClean="0">
                <a:solidFill>
                  <a:srgbClr val="FF0000"/>
                </a:solidFill>
              </a:rPr>
              <a:t>“dag”</a:t>
            </a:r>
          </a:p>
          <a:p>
            <a:pPr algn="just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47936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45720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823B"/>
                </a:solidFill>
              </a:rPr>
              <a:t>Topological Sorting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752600"/>
            <a:ext cx="6248400" cy="4572000"/>
          </a:xfrm>
        </p:spPr>
        <p:txBody>
          <a:bodyPr>
            <a:noAutofit/>
          </a:bodyPr>
          <a:lstStyle/>
          <a:p>
            <a:pPr algn="just"/>
            <a:r>
              <a:rPr lang="en-US" sz="2400" b="1" dirty="0" smtClean="0"/>
              <a:t>course prerequisites</a:t>
            </a:r>
          </a:p>
          <a:p>
            <a:pPr lvl="1" algn="just"/>
            <a:r>
              <a:rPr lang="en-US" sz="2000" b="1" dirty="0" smtClean="0">
                <a:solidFill>
                  <a:srgbClr val="0000FF"/>
                </a:solidFill>
              </a:rPr>
              <a:t>C1 and C2 </a:t>
            </a:r>
            <a:r>
              <a:rPr lang="en-US" sz="2000" b="1" dirty="0"/>
              <a:t>have </a:t>
            </a:r>
            <a:r>
              <a:rPr lang="en-US" sz="2000" b="1" dirty="0">
                <a:solidFill>
                  <a:srgbClr val="FF0000"/>
                </a:solidFill>
              </a:rPr>
              <a:t>no </a:t>
            </a:r>
            <a:r>
              <a:rPr lang="en-US" sz="2000" b="1" dirty="0" smtClean="0">
                <a:solidFill>
                  <a:srgbClr val="FF0000"/>
                </a:solidFill>
              </a:rPr>
              <a:t>prerequisites</a:t>
            </a:r>
          </a:p>
          <a:p>
            <a:pPr lvl="1" algn="just"/>
            <a:r>
              <a:rPr lang="en-US" sz="2000" b="1" dirty="0" smtClean="0">
                <a:solidFill>
                  <a:srgbClr val="0000FF"/>
                </a:solidFill>
              </a:rPr>
              <a:t>C3</a:t>
            </a:r>
            <a:r>
              <a:rPr lang="en-US" sz="2000" b="1" dirty="0" smtClean="0"/>
              <a:t> </a:t>
            </a:r>
            <a:r>
              <a:rPr lang="en-US" sz="2000" b="1" dirty="0"/>
              <a:t>requires </a:t>
            </a:r>
            <a:r>
              <a:rPr lang="en-US" sz="2000" b="1" dirty="0">
                <a:solidFill>
                  <a:srgbClr val="FF0000"/>
                </a:solidFill>
              </a:rPr>
              <a:t>C1</a:t>
            </a:r>
            <a:r>
              <a:rPr lang="en-US" sz="2000" b="1" dirty="0"/>
              <a:t> and </a:t>
            </a:r>
            <a:r>
              <a:rPr lang="en-US" sz="2000" b="1" dirty="0" smtClean="0">
                <a:solidFill>
                  <a:srgbClr val="FF0000"/>
                </a:solidFill>
              </a:rPr>
              <a:t>C2</a:t>
            </a:r>
          </a:p>
          <a:p>
            <a:pPr lvl="1" algn="just"/>
            <a:r>
              <a:rPr lang="en-US" sz="2000" b="1" dirty="0" smtClean="0">
                <a:solidFill>
                  <a:srgbClr val="0000FF"/>
                </a:solidFill>
              </a:rPr>
              <a:t>C4</a:t>
            </a:r>
            <a:r>
              <a:rPr lang="en-US" sz="2000" b="1" dirty="0" smtClean="0"/>
              <a:t> </a:t>
            </a:r>
            <a:r>
              <a:rPr lang="en-US" sz="2000" b="1" dirty="0"/>
              <a:t>requires </a:t>
            </a:r>
            <a:r>
              <a:rPr lang="en-US" sz="2000" b="1" dirty="0" smtClean="0">
                <a:solidFill>
                  <a:srgbClr val="FF0000"/>
                </a:solidFill>
              </a:rPr>
              <a:t>C3</a:t>
            </a:r>
          </a:p>
          <a:p>
            <a:pPr lvl="1" algn="just"/>
            <a:r>
              <a:rPr lang="en-US" sz="2000" b="1" dirty="0" smtClean="0">
                <a:solidFill>
                  <a:srgbClr val="0000FF"/>
                </a:solidFill>
              </a:rPr>
              <a:t>C5</a:t>
            </a:r>
            <a:r>
              <a:rPr lang="en-US" sz="2000" b="1" dirty="0" smtClean="0"/>
              <a:t> requires </a:t>
            </a:r>
            <a:r>
              <a:rPr lang="en-US" sz="2000" b="1" dirty="0" smtClean="0">
                <a:solidFill>
                  <a:srgbClr val="FF0000"/>
                </a:solidFill>
              </a:rPr>
              <a:t>C3</a:t>
            </a:r>
            <a:r>
              <a:rPr lang="en-US" sz="2000" b="1" dirty="0" smtClean="0"/>
              <a:t> </a:t>
            </a:r>
            <a:r>
              <a:rPr lang="en-US" sz="2000" b="1" dirty="0"/>
              <a:t>and </a:t>
            </a:r>
            <a:r>
              <a:rPr lang="en-US" sz="2000" b="1" dirty="0" smtClean="0">
                <a:solidFill>
                  <a:srgbClr val="FF0000"/>
                </a:solidFill>
              </a:rPr>
              <a:t>C4</a:t>
            </a:r>
            <a:r>
              <a:rPr lang="en-US" sz="2000" b="1" dirty="0" smtClean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24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7616" y="3733800"/>
            <a:ext cx="2799484" cy="23241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4056205"/>
            <a:ext cx="571500" cy="561975"/>
          </a:xfrm>
          <a:prstGeom prst="rect">
            <a:avLst/>
          </a:prstGeom>
        </p:spPr>
      </p:pic>
      <p:cxnSp>
        <p:nvCxnSpPr>
          <p:cNvPr id="8" name="Straight Arrow Connector 7"/>
          <p:cNvCxnSpPr/>
          <p:nvPr/>
        </p:nvCxnSpPr>
        <p:spPr>
          <a:xfrm>
            <a:off x="1066800" y="4495800"/>
            <a:ext cx="685800" cy="3048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4975" y="4618180"/>
            <a:ext cx="552450" cy="58102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363" y="5333064"/>
            <a:ext cx="552450" cy="54292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89177" y="3915711"/>
            <a:ext cx="561975" cy="59055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52725" y="5219445"/>
            <a:ext cx="590550" cy="561975"/>
          </a:xfrm>
          <a:prstGeom prst="rect">
            <a:avLst/>
          </a:prstGeom>
        </p:spPr>
      </p:pic>
      <p:cxnSp>
        <p:nvCxnSpPr>
          <p:cNvPr id="13" name="Straight Arrow Connector 12"/>
          <p:cNvCxnSpPr/>
          <p:nvPr/>
        </p:nvCxnSpPr>
        <p:spPr>
          <a:xfrm>
            <a:off x="2119264" y="5123005"/>
            <a:ext cx="685800" cy="3048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 flipV="1">
            <a:off x="1218767" y="5120693"/>
            <a:ext cx="610033" cy="3833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flipV="1">
            <a:off x="2180792" y="4421176"/>
            <a:ext cx="610033" cy="3833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stCxn id="11" idx="2"/>
            <a:endCxn id="12" idx="0"/>
          </p:cNvCxnSpPr>
          <p:nvPr/>
        </p:nvCxnSpPr>
        <p:spPr>
          <a:xfrm>
            <a:off x="2970165" y="4506261"/>
            <a:ext cx="77835" cy="7131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720423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45720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823B"/>
                </a:solidFill>
              </a:rPr>
              <a:t>Topological </a:t>
            </a:r>
            <a:r>
              <a:rPr lang="en-US" b="1" dirty="0" smtClean="0">
                <a:solidFill>
                  <a:srgbClr val="00823B"/>
                </a:solidFill>
              </a:rPr>
              <a:t>Sorting </a:t>
            </a:r>
            <a:r>
              <a:rPr lang="en-US" sz="2000" b="1" dirty="0" smtClean="0">
                <a:solidFill>
                  <a:srgbClr val="00823B"/>
                </a:solidFill>
              </a:rPr>
              <a:t>(</a:t>
            </a:r>
            <a:r>
              <a:rPr lang="en-US" sz="2000" b="1" dirty="0" err="1" smtClean="0">
                <a:solidFill>
                  <a:srgbClr val="00823B"/>
                </a:solidFill>
              </a:rPr>
              <a:t>Algo</a:t>
            </a:r>
            <a:r>
              <a:rPr lang="en-US" sz="2000" b="1" dirty="0" smtClean="0">
                <a:solidFill>
                  <a:srgbClr val="00823B"/>
                </a:solidFill>
              </a:rPr>
              <a:t> - 1)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752600"/>
            <a:ext cx="6629400" cy="4572000"/>
          </a:xfrm>
        </p:spPr>
        <p:txBody>
          <a:bodyPr>
            <a:noAutofit/>
          </a:bodyPr>
          <a:lstStyle/>
          <a:p>
            <a:pPr marL="457200" indent="-457200" algn="just">
              <a:buFont typeface="+mj-lt"/>
              <a:buAutoNum type="arabicPeriod"/>
            </a:pPr>
            <a:r>
              <a:rPr lang="en-US" sz="3600" b="1" dirty="0"/>
              <a:t>Apply </a:t>
            </a:r>
            <a:r>
              <a:rPr lang="en-US" sz="3600" b="1" dirty="0">
                <a:solidFill>
                  <a:srgbClr val="0000FF"/>
                </a:solidFill>
              </a:rPr>
              <a:t>DFS</a:t>
            </a:r>
            <a:endParaRPr lang="en-US" sz="3600" b="1" dirty="0" smtClean="0">
              <a:solidFill>
                <a:srgbClr val="0000FF"/>
              </a:solidFill>
            </a:endParaRPr>
          </a:p>
          <a:p>
            <a:pPr marL="457200" indent="-457200" algn="just">
              <a:buFont typeface="+mj-lt"/>
              <a:buAutoNum type="arabicPeriod"/>
            </a:pPr>
            <a:r>
              <a:rPr lang="en-US" sz="3600" b="1" dirty="0" smtClean="0">
                <a:solidFill>
                  <a:srgbClr val="0000FF"/>
                </a:solidFill>
              </a:rPr>
              <a:t>note the order </a:t>
            </a:r>
            <a:r>
              <a:rPr lang="en-US" sz="3600" b="1" dirty="0" smtClean="0"/>
              <a:t>in </a:t>
            </a:r>
            <a:r>
              <a:rPr lang="en-US" sz="3600" b="1" dirty="0"/>
              <a:t>which vertices </a:t>
            </a:r>
            <a:r>
              <a:rPr lang="en-US" sz="3600" b="1" dirty="0" smtClean="0"/>
              <a:t>become </a:t>
            </a:r>
            <a:r>
              <a:rPr lang="en-US" sz="3600" b="1" dirty="0" smtClean="0">
                <a:solidFill>
                  <a:srgbClr val="0000FF"/>
                </a:solidFill>
              </a:rPr>
              <a:t>dead-ends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3600" b="1" dirty="0">
                <a:solidFill>
                  <a:srgbClr val="0000FF"/>
                </a:solidFill>
              </a:rPr>
              <a:t>Reversing this order </a:t>
            </a:r>
            <a:r>
              <a:rPr lang="en-US" sz="3600" b="1" dirty="0"/>
              <a:t>yields a solution to the </a:t>
            </a:r>
            <a:r>
              <a:rPr lang="en-US" sz="3600" b="1" dirty="0" smtClean="0"/>
              <a:t>topological sorting </a:t>
            </a:r>
            <a:r>
              <a:rPr lang="en-US" sz="3600" b="1" dirty="0"/>
              <a:t>problem</a:t>
            </a:r>
            <a:endParaRPr lang="en-US" sz="3600" b="1" dirty="0" smtClean="0"/>
          </a:p>
          <a:p>
            <a:pPr algn="just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3549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45720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823B"/>
                </a:solidFill>
              </a:rPr>
              <a:t>Topological </a:t>
            </a:r>
            <a:r>
              <a:rPr lang="en-US" b="1" dirty="0" smtClean="0">
                <a:solidFill>
                  <a:srgbClr val="00823B"/>
                </a:solidFill>
              </a:rPr>
              <a:t>Sorting </a:t>
            </a:r>
            <a:r>
              <a:rPr lang="en-US" sz="2000" b="1" dirty="0" smtClean="0">
                <a:solidFill>
                  <a:srgbClr val="00823B"/>
                </a:solidFill>
              </a:rPr>
              <a:t>(</a:t>
            </a:r>
            <a:r>
              <a:rPr lang="en-US" sz="2000" b="1" dirty="0" err="1" smtClean="0">
                <a:solidFill>
                  <a:srgbClr val="00823B"/>
                </a:solidFill>
              </a:rPr>
              <a:t>Algo</a:t>
            </a:r>
            <a:r>
              <a:rPr lang="en-US" sz="2000" b="1" dirty="0" smtClean="0">
                <a:solidFill>
                  <a:srgbClr val="00823B"/>
                </a:solidFill>
              </a:rPr>
              <a:t> - 1)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752600"/>
            <a:ext cx="3581400" cy="4572000"/>
          </a:xfrm>
        </p:spPr>
        <p:txBody>
          <a:bodyPr>
            <a:noAutofit/>
          </a:bodyPr>
          <a:lstStyle/>
          <a:p>
            <a:pPr marL="457200" indent="-457200" algn="just">
              <a:buFont typeface="+mj-lt"/>
              <a:buAutoNum type="arabicPeriod"/>
            </a:pPr>
            <a:r>
              <a:rPr lang="en-US" sz="2400" b="1" dirty="0" smtClean="0"/>
              <a:t>Apply </a:t>
            </a:r>
            <a:r>
              <a:rPr lang="en-US" sz="2400" b="1" dirty="0" smtClean="0">
                <a:solidFill>
                  <a:srgbClr val="0000FF"/>
                </a:solidFill>
              </a:rPr>
              <a:t>DFS</a:t>
            </a:r>
          </a:p>
          <a:p>
            <a:pPr algn="just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26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7325" y="1752599"/>
            <a:ext cx="2047875" cy="170012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3429000"/>
            <a:ext cx="1295400" cy="1637862"/>
          </a:xfrm>
          <a:prstGeom prst="rect">
            <a:avLst/>
          </a:prstGeom>
        </p:spPr>
      </p:pic>
      <p:grpSp>
        <p:nvGrpSpPr>
          <p:cNvPr id="5" name="Group 4"/>
          <p:cNvGrpSpPr/>
          <p:nvPr/>
        </p:nvGrpSpPr>
        <p:grpSpPr>
          <a:xfrm>
            <a:off x="1171575" y="2370570"/>
            <a:ext cx="2409825" cy="1591830"/>
            <a:chOff x="935182" y="1905000"/>
            <a:chExt cx="2409825" cy="1591830"/>
          </a:xfrm>
        </p:grpSpPr>
        <p:pic>
          <p:nvPicPr>
            <p:cNvPr id="9" name="Content Placeholder 7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287607" y="2900796"/>
              <a:ext cx="1990725" cy="266700"/>
            </a:xfrm>
            <a:prstGeom prst="rect">
              <a:avLst/>
            </a:prstGeom>
          </p:spPr>
        </p:pic>
        <p:pic>
          <p:nvPicPr>
            <p:cNvPr id="10" name="Picture 9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35182" y="1905000"/>
              <a:ext cx="2343150" cy="257175"/>
            </a:xfrm>
            <a:prstGeom prst="rect">
              <a:avLst/>
            </a:prstGeom>
          </p:spPr>
        </p:pic>
        <p:pic>
          <p:nvPicPr>
            <p:cNvPr id="11" name="Picture 10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935182" y="2236932"/>
              <a:ext cx="1095375" cy="257175"/>
            </a:xfrm>
            <a:prstGeom prst="rect">
              <a:avLst/>
            </a:prstGeom>
          </p:spPr>
        </p:pic>
        <p:pic>
          <p:nvPicPr>
            <p:cNvPr id="12" name="Picture 11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935182" y="2568864"/>
              <a:ext cx="2409825" cy="257175"/>
            </a:xfrm>
            <a:prstGeom prst="rect">
              <a:avLst/>
            </a:prstGeom>
          </p:spPr>
        </p:pic>
        <p:pic>
          <p:nvPicPr>
            <p:cNvPr id="13" name="Picture 12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625744" y="3192030"/>
              <a:ext cx="657225" cy="304800"/>
            </a:xfrm>
            <a:prstGeom prst="rect">
              <a:avLst/>
            </a:prstGeom>
          </p:spPr>
        </p:pic>
      </p:grpSp>
      <p:grpSp>
        <p:nvGrpSpPr>
          <p:cNvPr id="14" name="Group 13"/>
          <p:cNvGrpSpPr/>
          <p:nvPr/>
        </p:nvGrpSpPr>
        <p:grpSpPr>
          <a:xfrm>
            <a:off x="1171575" y="4202861"/>
            <a:ext cx="3733800" cy="1905580"/>
            <a:chOff x="3886200" y="1885950"/>
            <a:chExt cx="3733800" cy="1905580"/>
          </a:xfrm>
        </p:grpSpPr>
        <p:pic>
          <p:nvPicPr>
            <p:cNvPr id="15" name="Picture 14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5486400" y="1885950"/>
              <a:ext cx="638175" cy="323850"/>
            </a:xfrm>
            <a:prstGeom prst="rect">
              <a:avLst/>
            </a:prstGeom>
          </p:spPr>
        </p:pic>
        <p:pic>
          <p:nvPicPr>
            <p:cNvPr id="16" name="Picture 15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3886200" y="2328862"/>
              <a:ext cx="1933575" cy="247650"/>
            </a:xfrm>
            <a:prstGeom prst="rect">
              <a:avLst/>
            </a:prstGeom>
          </p:spPr>
        </p:pic>
        <p:pic>
          <p:nvPicPr>
            <p:cNvPr id="17" name="Picture 16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3886200" y="2597438"/>
              <a:ext cx="1781175" cy="200025"/>
            </a:xfrm>
            <a:prstGeom prst="rect">
              <a:avLst/>
            </a:prstGeom>
          </p:spPr>
        </p:pic>
        <p:pic>
          <p:nvPicPr>
            <p:cNvPr id="18" name="Picture 17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3886200" y="2873087"/>
              <a:ext cx="3733800" cy="276225"/>
            </a:xfrm>
            <a:prstGeom prst="rect">
              <a:avLst/>
            </a:prstGeom>
          </p:spPr>
        </p:pic>
        <p:pic>
          <p:nvPicPr>
            <p:cNvPr id="19" name="Picture 18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4267200" y="3206752"/>
              <a:ext cx="2019300" cy="276225"/>
            </a:xfrm>
            <a:prstGeom prst="rect">
              <a:avLst/>
            </a:prstGeom>
          </p:spPr>
        </p:pic>
        <p:pic>
          <p:nvPicPr>
            <p:cNvPr id="20" name="Picture 19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4605770" y="3524830"/>
              <a:ext cx="657225" cy="266700"/>
            </a:xfrm>
            <a:prstGeom prst="rect">
              <a:avLst/>
            </a:prstGeom>
          </p:spPr>
        </p:pic>
        <p:pic>
          <p:nvPicPr>
            <p:cNvPr id="21" name="Picture 20"/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3886200" y="1946853"/>
              <a:ext cx="1400175" cy="200025"/>
            </a:xfrm>
            <a:prstGeom prst="rect">
              <a:avLst/>
            </a:prstGeom>
          </p:spPr>
        </p:pic>
      </p:grp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9200" y="5181600"/>
            <a:ext cx="2619375" cy="8118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051574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45720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823B"/>
                </a:solidFill>
              </a:rPr>
              <a:t>Topological </a:t>
            </a:r>
            <a:r>
              <a:rPr lang="en-US" b="1" dirty="0" smtClean="0">
                <a:solidFill>
                  <a:srgbClr val="00823B"/>
                </a:solidFill>
              </a:rPr>
              <a:t>Sorting </a:t>
            </a:r>
            <a:r>
              <a:rPr lang="en-US" sz="2000" b="1" dirty="0" smtClean="0">
                <a:solidFill>
                  <a:srgbClr val="00823B"/>
                </a:solidFill>
              </a:rPr>
              <a:t>(</a:t>
            </a:r>
            <a:r>
              <a:rPr lang="en-US" sz="2000" b="1" dirty="0" err="1" smtClean="0">
                <a:solidFill>
                  <a:srgbClr val="00823B"/>
                </a:solidFill>
              </a:rPr>
              <a:t>Algo</a:t>
            </a:r>
            <a:r>
              <a:rPr lang="en-US" sz="2000" b="1" dirty="0" smtClean="0">
                <a:solidFill>
                  <a:srgbClr val="00823B"/>
                </a:solidFill>
              </a:rPr>
              <a:t> - 1)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752600"/>
            <a:ext cx="3581400" cy="4572000"/>
          </a:xfrm>
        </p:spPr>
        <p:txBody>
          <a:bodyPr>
            <a:noAutofit/>
          </a:bodyPr>
          <a:lstStyle/>
          <a:p>
            <a:pPr marL="457200" indent="-457200" algn="just">
              <a:buFont typeface="+mj-lt"/>
              <a:buAutoNum type="arabicPeriod" startAt="2"/>
            </a:pPr>
            <a:r>
              <a:rPr lang="en-US" sz="2400" b="1" dirty="0" smtClean="0">
                <a:solidFill>
                  <a:srgbClr val="0000FF"/>
                </a:solidFill>
              </a:rPr>
              <a:t>note the order </a:t>
            </a:r>
            <a:r>
              <a:rPr lang="en-US" sz="2400" b="1" dirty="0" smtClean="0"/>
              <a:t>in </a:t>
            </a:r>
            <a:r>
              <a:rPr lang="en-US" sz="2400" b="1" dirty="0"/>
              <a:t>which vertices </a:t>
            </a:r>
            <a:r>
              <a:rPr lang="en-US" sz="2400" b="1" dirty="0" smtClean="0"/>
              <a:t>become </a:t>
            </a:r>
            <a:r>
              <a:rPr lang="en-US" sz="2400" b="1" dirty="0" smtClean="0">
                <a:solidFill>
                  <a:srgbClr val="0000FF"/>
                </a:solidFill>
              </a:rPr>
              <a:t>dead-ends</a:t>
            </a:r>
          </a:p>
          <a:p>
            <a:pPr marL="457200" indent="-457200">
              <a:buFont typeface="+mj-lt"/>
              <a:buAutoNum type="arabicPeriod" startAt="2"/>
            </a:pPr>
            <a:r>
              <a:rPr lang="en-US" sz="2400" b="1" dirty="0">
                <a:solidFill>
                  <a:srgbClr val="0000FF"/>
                </a:solidFill>
              </a:rPr>
              <a:t>Reversing this order </a:t>
            </a:r>
            <a:r>
              <a:rPr lang="en-US" sz="2400" b="1" dirty="0"/>
              <a:t>yields a solution to the </a:t>
            </a:r>
            <a:r>
              <a:rPr lang="en-US" sz="2400" b="1" dirty="0" smtClean="0"/>
              <a:t>topological sorting </a:t>
            </a:r>
            <a:r>
              <a:rPr lang="en-US" sz="2400" b="1" dirty="0"/>
              <a:t>problem</a:t>
            </a:r>
            <a:endParaRPr lang="en-US" sz="2400" b="1" dirty="0" smtClean="0"/>
          </a:p>
          <a:p>
            <a:pPr algn="just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27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7325" y="1752599"/>
            <a:ext cx="2047875" cy="1700123"/>
          </a:xfrm>
          <a:prstGeom prst="rect">
            <a:avLst/>
          </a:prstGeom>
        </p:spPr>
      </p:pic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81574" y="3469517"/>
            <a:ext cx="2619375" cy="8118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7108" y="4419600"/>
            <a:ext cx="2587540" cy="9764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602083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45720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823B"/>
                </a:solidFill>
              </a:rPr>
              <a:t>Topological </a:t>
            </a:r>
            <a:r>
              <a:rPr lang="en-US" b="1" dirty="0" smtClean="0">
                <a:solidFill>
                  <a:srgbClr val="00823B"/>
                </a:solidFill>
              </a:rPr>
              <a:t>Sorting </a:t>
            </a:r>
            <a:r>
              <a:rPr lang="en-US" sz="2000" b="1" dirty="0" smtClean="0">
                <a:solidFill>
                  <a:srgbClr val="00823B"/>
                </a:solidFill>
              </a:rPr>
              <a:t>(</a:t>
            </a:r>
            <a:r>
              <a:rPr lang="en-US" sz="2000" b="1" dirty="0" err="1" smtClean="0">
                <a:solidFill>
                  <a:srgbClr val="00823B"/>
                </a:solidFill>
              </a:rPr>
              <a:t>Algo</a:t>
            </a:r>
            <a:r>
              <a:rPr lang="en-US" sz="2000" b="1" dirty="0" smtClean="0">
                <a:solidFill>
                  <a:srgbClr val="00823B"/>
                </a:solidFill>
              </a:rPr>
              <a:t> - 2)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752600"/>
            <a:ext cx="3581400" cy="4724400"/>
          </a:xfrm>
        </p:spPr>
        <p:txBody>
          <a:bodyPr>
            <a:noAutofit/>
          </a:bodyPr>
          <a:lstStyle/>
          <a:p>
            <a:pPr algn="just"/>
            <a:r>
              <a:rPr lang="en-US" sz="2200" b="1" dirty="0" smtClean="0"/>
              <a:t>Apply </a:t>
            </a:r>
            <a:r>
              <a:rPr lang="en-US" sz="2200" b="1" dirty="0" smtClean="0">
                <a:solidFill>
                  <a:srgbClr val="0000FF"/>
                </a:solidFill>
              </a:rPr>
              <a:t>Decrease by a Constant i.e. by 1</a:t>
            </a:r>
          </a:p>
          <a:p>
            <a:r>
              <a:rPr lang="en-US" sz="2200" b="1" dirty="0" smtClean="0"/>
              <a:t>Identify a </a:t>
            </a:r>
            <a:r>
              <a:rPr lang="en-US" sz="2200" b="1" dirty="0" smtClean="0">
                <a:solidFill>
                  <a:srgbClr val="FF0000"/>
                </a:solidFill>
              </a:rPr>
              <a:t>source</a:t>
            </a:r>
            <a:r>
              <a:rPr lang="en-US" sz="2200" b="1" dirty="0" smtClean="0"/>
              <a:t>, which </a:t>
            </a:r>
            <a:r>
              <a:rPr lang="en-US" sz="2200" b="1" dirty="0"/>
              <a:t>is a vertex with </a:t>
            </a:r>
            <a:r>
              <a:rPr lang="en-US" sz="2200" b="1" dirty="0">
                <a:solidFill>
                  <a:srgbClr val="0000FF"/>
                </a:solidFill>
              </a:rPr>
              <a:t>no incoming edges</a:t>
            </a:r>
          </a:p>
          <a:p>
            <a:pPr lvl="1"/>
            <a:r>
              <a:rPr lang="en-US" sz="1800" b="1" dirty="0"/>
              <a:t>If there are </a:t>
            </a:r>
            <a:r>
              <a:rPr lang="en-US" sz="1800" b="1" dirty="0">
                <a:solidFill>
                  <a:srgbClr val="0000FF"/>
                </a:solidFill>
              </a:rPr>
              <a:t>several </a:t>
            </a:r>
            <a:r>
              <a:rPr lang="en-US" sz="1800" b="1" dirty="0">
                <a:solidFill>
                  <a:srgbClr val="FF0000"/>
                </a:solidFill>
              </a:rPr>
              <a:t>sources</a:t>
            </a:r>
            <a:r>
              <a:rPr lang="en-US" sz="1800" b="1" dirty="0"/>
              <a:t>, </a:t>
            </a:r>
            <a:r>
              <a:rPr lang="en-US" sz="1800" b="1" dirty="0">
                <a:solidFill>
                  <a:srgbClr val="00823B"/>
                </a:solidFill>
              </a:rPr>
              <a:t>break </a:t>
            </a:r>
            <a:r>
              <a:rPr lang="en-US" sz="1800" b="1" dirty="0"/>
              <a:t>the tie </a:t>
            </a:r>
            <a:r>
              <a:rPr lang="en-US" sz="1800" b="1" dirty="0">
                <a:solidFill>
                  <a:srgbClr val="00823B"/>
                </a:solidFill>
              </a:rPr>
              <a:t>arbitrarily</a:t>
            </a:r>
          </a:p>
          <a:p>
            <a:pPr lvl="1"/>
            <a:r>
              <a:rPr lang="en-US" sz="1800" b="1" dirty="0"/>
              <a:t>If there are </a:t>
            </a:r>
            <a:r>
              <a:rPr lang="en-US" sz="1800" b="1" dirty="0">
                <a:solidFill>
                  <a:srgbClr val="0000FF"/>
                </a:solidFill>
              </a:rPr>
              <a:t>none</a:t>
            </a:r>
            <a:r>
              <a:rPr lang="en-US" sz="1800" b="1" dirty="0"/>
              <a:t>, stop because the problem </a:t>
            </a:r>
            <a:r>
              <a:rPr lang="en-US" sz="1800" b="1" dirty="0">
                <a:solidFill>
                  <a:srgbClr val="0000FF"/>
                </a:solidFill>
              </a:rPr>
              <a:t>cannot be solved</a:t>
            </a:r>
          </a:p>
          <a:p>
            <a:r>
              <a:rPr lang="en-US" sz="2200" b="1" dirty="0" smtClean="0">
                <a:solidFill>
                  <a:srgbClr val="0000FF"/>
                </a:solidFill>
              </a:rPr>
              <a:t>delete</a:t>
            </a:r>
            <a:r>
              <a:rPr lang="en-US" sz="2200" b="1" dirty="0" smtClean="0"/>
              <a:t> </a:t>
            </a:r>
            <a:r>
              <a:rPr lang="en-US" sz="2200" b="1" dirty="0">
                <a:solidFill>
                  <a:srgbClr val="0000FF"/>
                </a:solidFill>
              </a:rPr>
              <a:t>it</a:t>
            </a:r>
            <a:r>
              <a:rPr lang="en-US" sz="2200" b="1" dirty="0"/>
              <a:t> along with all the </a:t>
            </a:r>
            <a:r>
              <a:rPr lang="en-US" sz="2200" b="1" dirty="0" smtClean="0">
                <a:solidFill>
                  <a:srgbClr val="0000FF"/>
                </a:solidFill>
              </a:rPr>
              <a:t>edges outgoing </a:t>
            </a:r>
            <a:r>
              <a:rPr lang="en-US" sz="2200" b="1" dirty="0"/>
              <a:t>from </a:t>
            </a:r>
            <a:r>
              <a:rPr lang="en-US" sz="2200" b="1" dirty="0" smtClean="0"/>
              <a:t>it</a:t>
            </a:r>
          </a:p>
          <a:p>
            <a:pPr algn="just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28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7325" y="1752599"/>
            <a:ext cx="2047875" cy="1700123"/>
          </a:xfrm>
          <a:prstGeom prst="rect">
            <a:avLst/>
          </a:prstGeom>
        </p:spPr>
      </p:pic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5786437" y="3952875"/>
            <a:ext cx="1009650" cy="1352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157275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45720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823B"/>
                </a:solidFill>
              </a:rPr>
              <a:t>Topological </a:t>
            </a:r>
            <a:r>
              <a:rPr lang="en-US" b="1" dirty="0" smtClean="0">
                <a:solidFill>
                  <a:srgbClr val="00823B"/>
                </a:solidFill>
              </a:rPr>
              <a:t>Sorting </a:t>
            </a:r>
            <a:r>
              <a:rPr lang="en-US" sz="2000" b="1" dirty="0" smtClean="0">
                <a:solidFill>
                  <a:srgbClr val="00823B"/>
                </a:solidFill>
              </a:rPr>
              <a:t>(</a:t>
            </a:r>
            <a:r>
              <a:rPr lang="en-US" sz="2000" b="1" dirty="0" err="1" smtClean="0">
                <a:solidFill>
                  <a:srgbClr val="00823B"/>
                </a:solidFill>
              </a:rPr>
              <a:t>Algo</a:t>
            </a:r>
            <a:r>
              <a:rPr lang="en-US" sz="2000" b="1" dirty="0" smtClean="0">
                <a:solidFill>
                  <a:srgbClr val="00823B"/>
                </a:solidFill>
              </a:rPr>
              <a:t> - 2)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752600"/>
            <a:ext cx="3581400" cy="4724400"/>
          </a:xfrm>
        </p:spPr>
        <p:txBody>
          <a:bodyPr>
            <a:noAutofit/>
          </a:bodyPr>
          <a:lstStyle/>
          <a:p>
            <a:r>
              <a:rPr lang="en-US" sz="2200" b="1" dirty="0" smtClean="0"/>
              <a:t>Identify a </a:t>
            </a:r>
            <a:r>
              <a:rPr lang="en-US" sz="2200" b="1" dirty="0" smtClean="0">
                <a:solidFill>
                  <a:srgbClr val="0000FF"/>
                </a:solidFill>
              </a:rPr>
              <a:t>source</a:t>
            </a:r>
            <a:r>
              <a:rPr lang="en-US" sz="2200" b="1" dirty="0" smtClean="0"/>
              <a:t>, which </a:t>
            </a:r>
            <a:r>
              <a:rPr lang="en-US" sz="2200" b="1" dirty="0"/>
              <a:t>is a vertex with </a:t>
            </a:r>
            <a:r>
              <a:rPr lang="en-US" sz="2200" b="1" dirty="0">
                <a:solidFill>
                  <a:srgbClr val="0000FF"/>
                </a:solidFill>
              </a:rPr>
              <a:t>no incoming edges</a:t>
            </a:r>
          </a:p>
          <a:p>
            <a:pPr lvl="1"/>
            <a:r>
              <a:rPr lang="en-US" sz="1800" b="1" dirty="0"/>
              <a:t>If there are </a:t>
            </a:r>
            <a:r>
              <a:rPr lang="en-US" sz="1800" b="1" dirty="0">
                <a:solidFill>
                  <a:srgbClr val="0000FF"/>
                </a:solidFill>
              </a:rPr>
              <a:t>several sources</a:t>
            </a:r>
            <a:r>
              <a:rPr lang="en-US" sz="1800" b="1" dirty="0"/>
              <a:t>, </a:t>
            </a:r>
            <a:r>
              <a:rPr lang="en-US" sz="1800" b="1" dirty="0">
                <a:solidFill>
                  <a:srgbClr val="00823B"/>
                </a:solidFill>
              </a:rPr>
              <a:t>break </a:t>
            </a:r>
            <a:r>
              <a:rPr lang="en-US" sz="1800" b="1" dirty="0"/>
              <a:t>the tie </a:t>
            </a:r>
            <a:r>
              <a:rPr lang="en-US" sz="1800" b="1" dirty="0">
                <a:solidFill>
                  <a:srgbClr val="00823B"/>
                </a:solidFill>
              </a:rPr>
              <a:t>arbitrarily</a:t>
            </a:r>
          </a:p>
          <a:p>
            <a:pPr lvl="1"/>
            <a:r>
              <a:rPr lang="en-US" sz="1800" b="1" dirty="0"/>
              <a:t>If there are </a:t>
            </a:r>
            <a:r>
              <a:rPr lang="en-US" sz="1800" b="1" dirty="0">
                <a:solidFill>
                  <a:srgbClr val="0000FF"/>
                </a:solidFill>
              </a:rPr>
              <a:t>none</a:t>
            </a:r>
            <a:r>
              <a:rPr lang="en-US" sz="1800" b="1" dirty="0"/>
              <a:t>, stop because the problem </a:t>
            </a:r>
            <a:r>
              <a:rPr lang="en-US" sz="1800" b="1" dirty="0">
                <a:solidFill>
                  <a:srgbClr val="0000FF"/>
                </a:solidFill>
              </a:rPr>
              <a:t>cannot be solved</a:t>
            </a:r>
          </a:p>
          <a:p>
            <a:r>
              <a:rPr lang="en-US" sz="2200" b="1" dirty="0" smtClean="0">
                <a:solidFill>
                  <a:srgbClr val="0000FF"/>
                </a:solidFill>
              </a:rPr>
              <a:t>delete</a:t>
            </a:r>
            <a:r>
              <a:rPr lang="en-US" sz="2200" b="1" dirty="0" smtClean="0"/>
              <a:t> </a:t>
            </a:r>
            <a:r>
              <a:rPr lang="en-US" sz="2200" b="1" dirty="0">
                <a:solidFill>
                  <a:srgbClr val="0000FF"/>
                </a:solidFill>
              </a:rPr>
              <a:t>it</a:t>
            </a:r>
            <a:r>
              <a:rPr lang="en-US" sz="2200" b="1" dirty="0"/>
              <a:t> along with all the </a:t>
            </a:r>
            <a:r>
              <a:rPr lang="en-US" sz="2200" b="1" dirty="0" smtClean="0">
                <a:solidFill>
                  <a:srgbClr val="0000FF"/>
                </a:solidFill>
              </a:rPr>
              <a:t>edges outgoing </a:t>
            </a:r>
            <a:r>
              <a:rPr lang="en-US" sz="2200" b="1" dirty="0"/>
              <a:t>from </a:t>
            </a:r>
            <a:r>
              <a:rPr lang="en-US" sz="2200" b="1" dirty="0" smtClean="0"/>
              <a:t>it</a:t>
            </a:r>
          </a:p>
          <a:p>
            <a:pPr algn="just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29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7325" y="1752599"/>
            <a:ext cx="2047875" cy="1700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87597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45720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823B"/>
                </a:solidFill>
              </a:rPr>
              <a:t>Topological </a:t>
            </a:r>
            <a:r>
              <a:rPr lang="en-US" b="1" dirty="0" smtClean="0">
                <a:solidFill>
                  <a:srgbClr val="00823B"/>
                </a:solidFill>
              </a:rPr>
              <a:t>Sorting </a:t>
            </a:r>
            <a:r>
              <a:rPr lang="en-US" sz="2000" b="1" dirty="0" smtClean="0">
                <a:solidFill>
                  <a:srgbClr val="00823B"/>
                </a:solidFill>
              </a:rPr>
              <a:t>(</a:t>
            </a:r>
            <a:r>
              <a:rPr lang="en-US" sz="2000" b="1" dirty="0" err="1" smtClean="0">
                <a:solidFill>
                  <a:srgbClr val="00823B"/>
                </a:solidFill>
              </a:rPr>
              <a:t>Algo</a:t>
            </a:r>
            <a:r>
              <a:rPr lang="en-US" sz="2000" b="1" dirty="0" smtClean="0">
                <a:solidFill>
                  <a:srgbClr val="00823B"/>
                </a:solidFill>
              </a:rPr>
              <a:t> - 2)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752600"/>
            <a:ext cx="3581400" cy="4724400"/>
          </a:xfrm>
        </p:spPr>
        <p:txBody>
          <a:bodyPr>
            <a:noAutofit/>
          </a:bodyPr>
          <a:lstStyle/>
          <a:p>
            <a:r>
              <a:rPr lang="en-US" sz="2200" b="1" dirty="0" smtClean="0"/>
              <a:t>Identify a </a:t>
            </a:r>
            <a:r>
              <a:rPr lang="en-US" sz="2200" b="1" dirty="0" smtClean="0">
                <a:solidFill>
                  <a:srgbClr val="0000FF"/>
                </a:solidFill>
              </a:rPr>
              <a:t>source</a:t>
            </a:r>
            <a:r>
              <a:rPr lang="en-US" sz="2200" b="1" dirty="0" smtClean="0"/>
              <a:t>, which </a:t>
            </a:r>
            <a:r>
              <a:rPr lang="en-US" sz="2200" b="1" dirty="0"/>
              <a:t>is a vertex with </a:t>
            </a:r>
            <a:r>
              <a:rPr lang="en-US" sz="2200" b="1" dirty="0">
                <a:solidFill>
                  <a:srgbClr val="0000FF"/>
                </a:solidFill>
              </a:rPr>
              <a:t>no incoming edges</a:t>
            </a:r>
          </a:p>
          <a:p>
            <a:pPr lvl="1"/>
            <a:r>
              <a:rPr lang="en-US" sz="1800" b="1" dirty="0"/>
              <a:t>If there are </a:t>
            </a:r>
            <a:r>
              <a:rPr lang="en-US" sz="1800" b="1" dirty="0">
                <a:solidFill>
                  <a:srgbClr val="0000FF"/>
                </a:solidFill>
              </a:rPr>
              <a:t>several sources</a:t>
            </a:r>
            <a:r>
              <a:rPr lang="en-US" sz="1800" b="1" dirty="0"/>
              <a:t>, </a:t>
            </a:r>
            <a:r>
              <a:rPr lang="en-US" sz="1800" b="1" dirty="0">
                <a:solidFill>
                  <a:srgbClr val="00823B"/>
                </a:solidFill>
              </a:rPr>
              <a:t>break </a:t>
            </a:r>
            <a:r>
              <a:rPr lang="en-US" sz="1800" b="1" dirty="0"/>
              <a:t>the tie </a:t>
            </a:r>
            <a:r>
              <a:rPr lang="en-US" sz="1800" b="1" dirty="0">
                <a:solidFill>
                  <a:srgbClr val="00823B"/>
                </a:solidFill>
              </a:rPr>
              <a:t>arbitrarily</a:t>
            </a:r>
          </a:p>
          <a:p>
            <a:pPr lvl="1"/>
            <a:r>
              <a:rPr lang="en-US" sz="1800" b="1" dirty="0"/>
              <a:t>If there are </a:t>
            </a:r>
            <a:r>
              <a:rPr lang="en-US" sz="1800" b="1" dirty="0">
                <a:solidFill>
                  <a:srgbClr val="0000FF"/>
                </a:solidFill>
              </a:rPr>
              <a:t>none</a:t>
            </a:r>
            <a:r>
              <a:rPr lang="en-US" sz="1800" b="1" dirty="0"/>
              <a:t>, stop because the problem </a:t>
            </a:r>
            <a:r>
              <a:rPr lang="en-US" sz="1800" b="1" dirty="0">
                <a:solidFill>
                  <a:srgbClr val="0000FF"/>
                </a:solidFill>
              </a:rPr>
              <a:t>cannot be solved</a:t>
            </a:r>
          </a:p>
          <a:p>
            <a:r>
              <a:rPr lang="en-US" sz="2200" b="1" dirty="0" smtClean="0">
                <a:solidFill>
                  <a:srgbClr val="0000FF"/>
                </a:solidFill>
              </a:rPr>
              <a:t>delete</a:t>
            </a:r>
            <a:r>
              <a:rPr lang="en-US" sz="2200" b="1" dirty="0" smtClean="0"/>
              <a:t> </a:t>
            </a:r>
            <a:r>
              <a:rPr lang="en-US" sz="2200" b="1" dirty="0">
                <a:solidFill>
                  <a:srgbClr val="0000FF"/>
                </a:solidFill>
              </a:rPr>
              <a:t>it</a:t>
            </a:r>
            <a:r>
              <a:rPr lang="en-US" sz="2200" b="1" dirty="0"/>
              <a:t> along with all the </a:t>
            </a:r>
            <a:r>
              <a:rPr lang="en-US" sz="2200" b="1" dirty="0" smtClean="0">
                <a:solidFill>
                  <a:srgbClr val="0000FF"/>
                </a:solidFill>
              </a:rPr>
              <a:t>edges outgoing </a:t>
            </a:r>
            <a:r>
              <a:rPr lang="en-US" sz="2200" b="1" dirty="0"/>
              <a:t>from </a:t>
            </a:r>
            <a:r>
              <a:rPr lang="en-US" sz="2200" b="1" dirty="0" smtClean="0"/>
              <a:t>it</a:t>
            </a:r>
          </a:p>
          <a:p>
            <a:pPr algn="just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30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7325" y="1752599"/>
            <a:ext cx="2047875" cy="170012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8224" y="3533775"/>
            <a:ext cx="790575" cy="58102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0" y="4195853"/>
            <a:ext cx="1400175" cy="1181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53331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45720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823B"/>
                </a:solidFill>
              </a:rPr>
              <a:t>Topological </a:t>
            </a:r>
            <a:r>
              <a:rPr lang="en-US" b="1" dirty="0" smtClean="0">
                <a:solidFill>
                  <a:srgbClr val="00823B"/>
                </a:solidFill>
              </a:rPr>
              <a:t>Sorting </a:t>
            </a:r>
            <a:r>
              <a:rPr lang="en-US" sz="2000" b="1" dirty="0" smtClean="0">
                <a:solidFill>
                  <a:srgbClr val="00823B"/>
                </a:solidFill>
              </a:rPr>
              <a:t>(</a:t>
            </a:r>
            <a:r>
              <a:rPr lang="en-US" sz="2000" b="1" dirty="0" err="1" smtClean="0">
                <a:solidFill>
                  <a:srgbClr val="00823B"/>
                </a:solidFill>
              </a:rPr>
              <a:t>Algo</a:t>
            </a:r>
            <a:r>
              <a:rPr lang="en-US" sz="2000" b="1" dirty="0" smtClean="0">
                <a:solidFill>
                  <a:srgbClr val="00823B"/>
                </a:solidFill>
              </a:rPr>
              <a:t> - 2)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752600"/>
            <a:ext cx="3581400" cy="4724400"/>
          </a:xfrm>
        </p:spPr>
        <p:txBody>
          <a:bodyPr>
            <a:noAutofit/>
          </a:bodyPr>
          <a:lstStyle/>
          <a:p>
            <a:r>
              <a:rPr lang="en-US" sz="2200" b="1" dirty="0" smtClean="0"/>
              <a:t>Identify a </a:t>
            </a:r>
            <a:r>
              <a:rPr lang="en-US" sz="2200" b="1" dirty="0" smtClean="0">
                <a:solidFill>
                  <a:srgbClr val="0000FF"/>
                </a:solidFill>
              </a:rPr>
              <a:t>source</a:t>
            </a:r>
            <a:r>
              <a:rPr lang="en-US" sz="2200" b="1" dirty="0" smtClean="0"/>
              <a:t>, which </a:t>
            </a:r>
            <a:r>
              <a:rPr lang="en-US" sz="2200" b="1" dirty="0"/>
              <a:t>is a vertex with </a:t>
            </a:r>
            <a:r>
              <a:rPr lang="en-US" sz="2200" b="1" dirty="0">
                <a:solidFill>
                  <a:srgbClr val="0000FF"/>
                </a:solidFill>
              </a:rPr>
              <a:t>no incoming edges</a:t>
            </a:r>
          </a:p>
          <a:p>
            <a:pPr lvl="1"/>
            <a:r>
              <a:rPr lang="en-US" sz="1800" b="1" dirty="0"/>
              <a:t>If there are </a:t>
            </a:r>
            <a:r>
              <a:rPr lang="en-US" sz="1800" b="1" dirty="0">
                <a:solidFill>
                  <a:srgbClr val="0000FF"/>
                </a:solidFill>
              </a:rPr>
              <a:t>several sources</a:t>
            </a:r>
            <a:r>
              <a:rPr lang="en-US" sz="1800" b="1" dirty="0"/>
              <a:t>, </a:t>
            </a:r>
            <a:r>
              <a:rPr lang="en-US" sz="1800" b="1" dirty="0">
                <a:solidFill>
                  <a:srgbClr val="00823B"/>
                </a:solidFill>
              </a:rPr>
              <a:t>break </a:t>
            </a:r>
            <a:r>
              <a:rPr lang="en-US" sz="1800" b="1" dirty="0"/>
              <a:t>the tie </a:t>
            </a:r>
            <a:r>
              <a:rPr lang="en-US" sz="1800" b="1" dirty="0">
                <a:solidFill>
                  <a:srgbClr val="00823B"/>
                </a:solidFill>
              </a:rPr>
              <a:t>arbitrarily</a:t>
            </a:r>
          </a:p>
          <a:p>
            <a:pPr lvl="1"/>
            <a:r>
              <a:rPr lang="en-US" sz="1800" b="1" dirty="0"/>
              <a:t>If there are </a:t>
            </a:r>
            <a:r>
              <a:rPr lang="en-US" sz="1800" b="1" dirty="0">
                <a:solidFill>
                  <a:srgbClr val="0000FF"/>
                </a:solidFill>
              </a:rPr>
              <a:t>none</a:t>
            </a:r>
            <a:r>
              <a:rPr lang="en-US" sz="1800" b="1" dirty="0"/>
              <a:t>, stop because the problem </a:t>
            </a:r>
            <a:r>
              <a:rPr lang="en-US" sz="1800" b="1" dirty="0">
                <a:solidFill>
                  <a:srgbClr val="0000FF"/>
                </a:solidFill>
              </a:rPr>
              <a:t>cannot be solved</a:t>
            </a:r>
          </a:p>
          <a:p>
            <a:r>
              <a:rPr lang="en-US" sz="2200" b="1" dirty="0" smtClean="0">
                <a:solidFill>
                  <a:srgbClr val="0000FF"/>
                </a:solidFill>
              </a:rPr>
              <a:t>delete</a:t>
            </a:r>
            <a:r>
              <a:rPr lang="en-US" sz="2200" b="1" dirty="0" smtClean="0"/>
              <a:t> </a:t>
            </a:r>
            <a:r>
              <a:rPr lang="en-US" sz="2200" b="1" dirty="0">
                <a:solidFill>
                  <a:srgbClr val="0000FF"/>
                </a:solidFill>
              </a:rPr>
              <a:t>it</a:t>
            </a:r>
            <a:r>
              <a:rPr lang="en-US" sz="2200" b="1" dirty="0"/>
              <a:t> along with all the </a:t>
            </a:r>
            <a:r>
              <a:rPr lang="en-US" sz="2200" b="1" dirty="0" smtClean="0">
                <a:solidFill>
                  <a:srgbClr val="0000FF"/>
                </a:solidFill>
              </a:rPr>
              <a:t>edges outgoing </a:t>
            </a:r>
            <a:r>
              <a:rPr lang="en-US" sz="2200" b="1" dirty="0"/>
              <a:t>from </a:t>
            </a:r>
            <a:r>
              <a:rPr lang="en-US" sz="2200" b="1" dirty="0" smtClean="0"/>
              <a:t>it</a:t>
            </a:r>
          </a:p>
          <a:p>
            <a:pPr algn="just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31</a:t>
            </a:fld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2570" y="1752600"/>
            <a:ext cx="1400175" cy="11811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1600" y="3138920"/>
            <a:ext cx="752475" cy="43815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5537" y="3533775"/>
            <a:ext cx="828675" cy="116205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48275" y="4695825"/>
            <a:ext cx="781050" cy="45720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57962" y="5067300"/>
            <a:ext cx="447675" cy="1114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01125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45720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823B"/>
                </a:solidFill>
              </a:rPr>
              <a:t>Topological </a:t>
            </a:r>
            <a:r>
              <a:rPr lang="en-US" b="1" dirty="0" smtClean="0">
                <a:solidFill>
                  <a:srgbClr val="00823B"/>
                </a:solidFill>
              </a:rPr>
              <a:t>Sorting </a:t>
            </a:r>
            <a:r>
              <a:rPr lang="en-US" sz="2000" b="1" dirty="0" smtClean="0">
                <a:solidFill>
                  <a:srgbClr val="00823B"/>
                </a:solidFill>
              </a:rPr>
              <a:t>(</a:t>
            </a:r>
            <a:r>
              <a:rPr lang="en-US" sz="2000" b="1" dirty="0" err="1" smtClean="0">
                <a:solidFill>
                  <a:srgbClr val="00823B"/>
                </a:solidFill>
              </a:rPr>
              <a:t>Algo</a:t>
            </a:r>
            <a:r>
              <a:rPr lang="en-US" sz="2000" b="1" dirty="0" smtClean="0">
                <a:solidFill>
                  <a:srgbClr val="00823B"/>
                </a:solidFill>
              </a:rPr>
              <a:t> - 2)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752600"/>
            <a:ext cx="3581400" cy="4724400"/>
          </a:xfrm>
        </p:spPr>
        <p:txBody>
          <a:bodyPr>
            <a:noAutofit/>
          </a:bodyPr>
          <a:lstStyle/>
          <a:p>
            <a:r>
              <a:rPr lang="en-US" sz="2200" b="1" dirty="0" smtClean="0"/>
              <a:t>Identify a </a:t>
            </a:r>
            <a:r>
              <a:rPr lang="en-US" sz="2200" b="1" dirty="0" smtClean="0">
                <a:solidFill>
                  <a:srgbClr val="0000FF"/>
                </a:solidFill>
              </a:rPr>
              <a:t>source</a:t>
            </a:r>
            <a:r>
              <a:rPr lang="en-US" sz="2200" b="1" dirty="0" smtClean="0"/>
              <a:t>, which </a:t>
            </a:r>
            <a:r>
              <a:rPr lang="en-US" sz="2200" b="1" dirty="0"/>
              <a:t>is a vertex with </a:t>
            </a:r>
            <a:r>
              <a:rPr lang="en-US" sz="2200" b="1" dirty="0">
                <a:solidFill>
                  <a:srgbClr val="0000FF"/>
                </a:solidFill>
              </a:rPr>
              <a:t>no incoming edges</a:t>
            </a:r>
          </a:p>
          <a:p>
            <a:pPr lvl="1"/>
            <a:r>
              <a:rPr lang="en-US" sz="1800" b="1" dirty="0"/>
              <a:t>If there are </a:t>
            </a:r>
            <a:r>
              <a:rPr lang="en-US" sz="1800" b="1" dirty="0">
                <a:solidFill>
                  <a:srgbClr val="0000FF"/>
                </a:solidFill>
              </a:rPr>
              <a:t>several sources</a:t>
            </a:r>
            <a:r>
              <a:rPr lang="en-US" sz="1800" b="1" dirty="0"/>
              <a:t>, </a:t>
            </a:r>
            <a:r>
              <a:rPr lang="en-US" sz="1800" b="1" dirty="0">
                <a:solidFill>
                  <a:srgbClr val="00823B"/>
                </a:solidFill>
              </a:rPr>
              <a:t>break </a:t>
            </a:r>
            <a:r>
              <a:rPr lang="en-US" sz="1800" b="1" dirty="0"/>
              <a:t>the tie </a:t>
            </a:r>
            <a:r>
              <a:rPr lang="en-US" sz="1800" b="1" dirty="0">
                <a:solidFill>
                  <a:srgbClr val="00823B"/>
                </a:solidFill>
              </a:rPr>
              <a:t>arbitrarily</a:t>
            </a:r>
          </a:p>
          <a:p>
            <a:pPr lvl="1"/>
            <a:r>
              <a:rPr lang="en-US" sz="1800" b="1" dirty="0"/>
              <a:t>If there are </a:t>
            </a:r>
            <a:r>
              <a:rPr lang="en-US" sz="1800" b="1" dirty="0">
                <a:solidFill>
                  <a:srgbClr val="0000FF"/>
                </a:solidFill>
              </a:rPr>
              <a:t>none</a:t>
            </a:r>
            <a:r>
              <a:rPr lang="en-US" sz="1800" b="1" dirty="0"/>
              <a:t>, stop because the problem </a:t>
            </a:r>
            <a:r>
              <a:rPr lang="en-US" sz="1800" b="1" dirty="0">
                <a:solidFill>
                  <a:srgbClr val="0000FF"/>
                </a:solidFill>
              </a:rPr>
              <a:t>cannot be solved</a:t>
            </a:r>
          </a:p>
          <a:p>
            <a:r>
              <a:rPr lang="en-US" sz="2200" b="1" dirty="0" smtClean="0">
                <a:solidFill>
                  <a:srgbClr val="0000FF"/>
                </a:solidFill>
              </a:rPr>
              <a:t>delete</a:t>
            </a:r>
            <a:r>
              <a:rPr lang="en-US" sz="2200" b="1" dirty="0" smtClean="0"/>
              <a:t> </a:t>
            </a:r>
            <a:r>
              <a:rPr lang="en-US" sz="2200" b="1" dirty="0">
                <a:solidFill>
                  <a:srgbClr val="0000FF"/>
                </a:solidFill>
              </a:rPr>
              <a:t>it</a:t>
            </a:r>
            <a:r>
              <a:rPr lang="en-US" sz="2200" b="1" dirty="0"/>
              <a:t> along with all the </a:t>
            </a:r>
            <a:r>
              <a:rPr lang="en-US" sz="2200" b="1" dirty="0" smtClean="0">
                <a:solidFill>
                  <a:srgbClr val="0000FF"/>
                </a:solidFill>
              </a:rPr>
              <a:t>edges outgoing </a:t>
            </a:r>
            <a:r>
              <a:rPr lang="en-US" sz="2200" b="1" dirty="0"/>
              <a:t>from </a:t>
            </a:r>
            <a:r>
              <a:rPr lang="en-US" sz="2200" b="1" dirty="0" smtClean="0"/>
              <a:t>it</a:t>
            </a:r>
          </a:p>
          <a:p>
            <a:pPr algn="just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32</a:t>
            </a:fld>
            <a:endParaRPr lang="en-US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8198" y="1752600"/>
            <a:ext cx="447675" cy="111442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5400" y="2867025"/>
            <a:ext cx="781050" cy="44767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6772" y="3371850"/>
            <a:ext cx="390525" cy="41910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23584" y="3790950"/>
            <a:ext cx="781050" cy="43815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38600" y="4953000"/>
            <a:ext cx="3597981" cy="319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7000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2000" y="2133600"/>
            <a:ext cx="6248400" cy="1470025"/>
          </a:xfrm>
        </p:spPr>
        <p:txBody>
          <a:bodyPr>
            <a:normAutofit/>
          </a:bodyPr>
          <a:lstStyle/>
          <a:p>
            <a:r>
              <a:rPr lang="en-US" b="1" dirty="0" smtClean="0">
                <a:solidFill>
                  <a:srgbClr val="00823B"/>
                </a:solidFill>
              </a:rPr>
              <a:t>Generation Permutation</a:t>
            </a:r>
            <a:endParaRPr lang="en-US" b="1" dirty="0">
              <a:solidFill>
                <a:srgbClr val="00823B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62000" y="3962400"/>
            <a:ext cx="6400800" cy="1752600"/>
          </a:xfrm>
        </p:spPr>
        <p:txBody>
          <a:bodyPr/>
          <a:lstStyle/>
          <a:p>
            <a:r>
              <a:rPr lang="en-US" dirty="0" smtClean="0"/>
              <a:t>Minimum Change Requirement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1831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Minimum Change </a:t>
            </a:r>
            <a:r>
              <a:rPr lang="en-US" dirty="0" smtClean="0"/>
              <a:t>Requirement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altLang="en-US" dirty="0"/>
              <a:t>If </a:t>
            </a:r>
            <a:r>
              <a:rPr lang="en-US" altLang="en-US" i="1" dirty="0"/>
              <a:t>n = </a:t>
            </a:r>
            <a:r>
              <a:rPr lang="en-US" altLang="en-US" dirty="0"/>
              <a:t>1 return 1</a:t>
            </a:r>
            <a:r>
              <a:rPr lang="en-US" altLang="en-US" dirty="0" smtClean="0"/>
              <a:t>;</a:t>
            </a:r>
          </a:p>
          <a:p>
            <a:r>
              <a:rPr lang="en-US" altLang="en-US" dirty="0" smtClean="0"/>
              <a:t>Otherwise</a:t>
            </a:r>
          </a:p>
          <a:p>
            <a:pPr lvl="1"/>
            <a:r>
              <a:rPr lang="en-US" altLang="en-US" dirty="0" smtClean="0"/>
              <a:t>generate </a:t>
            </a:r>
            <a:r>
              <a:rPr lang="en-US" altLang="en-US" dirty="0"/>
              <a:t>recursively the list of all permutations of </a:t>
            </a:r>
            <a:r>
              <a:rPr lang="en-US" altLang="en-US" dirty="0" smtClean="0"/>
              <a:t>12…</a:t>
            </a:r>
            <a:r>
              <a:rPr lang="en-US" altLang="en-US" i="1" dirty="0" smtClean="0"/>
              <a:t>n-</a:t>
            </a:r>
            <a:r>
              <a:rPr lang="en-US" altLang="en-US" dirty="0" smtClean="0"/>
              <a:t>1</a:t>
            </a:r>
          </a:p>
          <a:p>
            <a:pPr lvl="1"/>
            <a:r>
              <a:rPr lang="en-US" altLang="en-US" dirty="0"/>
              <a:t>insert </a:t>
            </a:r>
            <a:r>
              <a:rPr lang="en-US" altLang="en-US" i="1" dirty="0"/>
              <a:t>n </a:t>
            </a:r>
            <a:r>
              <a:rPr lang="en-US" altLang="en-US" dirty="0"/>
              <a:t>into each of those permutations by starting with inserting </a:t>
            </a:r>
            <a:r>
              <a:rPr lang="en-US" altLang="en-US" i="1" dirty="0"/>
              <a:t>n</a:t>
            </a:r>
            <a:r>
              <a:rPr lang="en-US" altLang="en-US" dirty="0"/>
              <a:t> into 12...</a:t>
            </a:r>
            <a:r>
              <a:rPr lang="en-US" altLang="en-US" i="1" dirty="0"/>
              <a:t>n</a:t>
            </a:r>
            <a:r>
              <a:rPr lang="en-US" altLang="en-US" dirty="0"/>
              <a:t>-1 by moving right to </a:t>
            </a:r>
            <a:r>
              <a:rPr lang="en-US" altLang="en-US" dirty="0" smtClean="0"/>
              <a:t>left</a:t>
            </a:r>
          </a:p>
          <a:p>
            <a:pPr lvl="1"/>
            <a:r>
              <a:rPr lang="en-US" altLang="en-US" dirty="0"/>
              <a:t>then switching direction for each new permutation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69882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Minimum Change </a:t>
            </a:r>
            <a:r>
              <a:rPr lang="en-US" dirty="0" smtClean="0"/>
              <a:t>Requirement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2479964"/>
            <a:ext cx="4038600" cy="3657600"/>
          </a:xfrm>
        </p:spPr>
        <p:txBody>
          <a:bodyPr>
            <a:normAutofit fontScale="77500" lnSpcReduction="20000"/>
          </a:bodyPr>
          <a:lstStyle/>
          <a:p>
            <a:r>
              <a:rPr lang="en-US" altLang="en-US" b="1" dirty="0">
                <a:solidFill>
                  <a:srgbClr val="00823B"/>
                </a:solidFill>
              </a:rPr>
              <a:t>If </a:t>
            </a:r>
            <a:r>
              <a:rPr lang="en-US" altLang="en-US" b="1" i="1" dirty="0">
                <a:solidFill>
                  <a:srgbClr val="00823B"/>
                </a:solidFill>
              </a:rPr>
              <a:t>n = </a:t>
            </a:r>
            <a:r>
              <a:rPr lang="en-US" altLang="en-US" b="1" dirty="0">
                <a:solidFill>
                  <a:srgbClr val="00823B"/>
                </a:solidFill>
              </a:rPr>
              <a:t>1 return 1</a:t>
            </a:r>
            <a:r>
              <a:rPr lang="en-US" altLang="en-US" b="1" dirty="0" smtClean="0">
                <a:solidFill>
                  <a:srgbClr val="00823B"/>
                </a:solidFill>
              </a:rPr>
              <a:t>;</a:t>
            </a:r>
          </a:p>
          <a:p>
            <a:r>
              <a:rPr lang="en-US" altLang="en-US" dirty="0" smtClean="0"/>
              <a:t>Otherwise</a:t>
            </a:r>
          </a:p>
          <a:p>
            <a:pPr lvl="1"/>
            <a:r>
              <a:rPr lang="en-US" altLang="en-US" dirty="0" smtClean="0"/>
              <a:t>generate </a:t>
            </a:r>
            <a:r>
              <a:rPr lang="en-US" altLang="en-US" dirty="0"/>
              <a:t>recursively the list of all permutations of </a:t>
            </a:r>
            <a:r>
              <a:rPr lang="en-US" altLang="en-US" dirty="0" smtClean="0"/>
              <a:t>12…</a:t>
            </a:r>
            <a:r>
              <a:rPr lang="en-US" altLang="en-US" i="1" dirty="0" smtClean="0"/>
              <a:t>n-</a:t>
            </a:r>
            <a:r>
              <a:rPr lang="en-US" altLang="en-US" dirty="0" smtClean="0"/>
              <a:t>1</a:t>
            </a:r>
          </a:p>
          <a:p>
            <a:pPr lvl="1"/>
            <a:r>
              <a:rPr lang="en-US" altLang="en-US" dirty="0"/>
              <a:t>insert </a:t>
            </a:r>
            <a:r>
              <a:rPr lang="en-US" altLang="en-US" i="1" dirty="0"/>
              <a:t>n </a:t>
            </a:r>
            <a:r>
              <a:rPr lang="en-US" altLang="en-US" dirty="0"/>
              <a:t>into each of those permutations by starting with inserting </a:t>
            </a:r>
            <a:r>
              <a:rPr lang="en-US" altLang="en-US" i="1" dirty="0"/>
              <a:t>n</a:t>
            </a:r>
            <a:r>
              <a:rPr lang="en-US" altLang="en-US" dirty="0"/>
              <a:t> into 12...</a:t>
            </a:r>
            <a:r>
              <a:rPr lang="en-US" altLang="en-US" i="1" dirty="0"/>
              <a:t>n</a:t>
            </a:r>
            <a:r>
              <a:rPr lang="en-US" altLang="en-US" dirty="0"/>
              <a:t>-1 by moving right to </a:t>
            </a:r>
            <a:r>
              <a:rPr lang="en-US" altLang="en-US" dirty="0" smtClean="0"/>
              <a:t>left</a:t>
            </a:r>
          </a:p>
          <a:p>
            <a:pPr lvl="1"/>
            <a:r>
              <a:rPr lang="en-US" altLang="en-US" dirty="0"/>
              <a:t>then switching direction for each new permutation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35</a:t>
            </a:fld>
            <a:endParaRPr lang="en-US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4343400" y="2479964"/>
            <a:ext cx="3027218" cy="33112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/>
              <a:t>Permutation for 1</a:t>
            </a:r>
          </a:p>
          <a:p>
            <a:r>
              <a:rPr lang="en-US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7975993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Minimum Change </a:t>
            </a:r>
            <a:r>
              <a:rPr lang="en-US" dirty="0" smtClean="0"/>
              <a:t>Requirement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2479964"/>
            <a:ext cx="4038600" cy="3657600"/>
          </a:xfrm>
        </p:spPr>
        <p:txBody>
          <a:bodyPr>
            <a:normAutofit fontScale="77500" lnSpcReduction="20000"/>
          </a:bodyPr>
          <a:lstStyle/>
          <a:p>
            <a:r>
              <a:rPr lang="en-US" altLang="en-US" dirty="0"/>
              <a:t>If </a:t>
            </a:r>
            <a:r>
              <a:rPr lang="en-US" altLang="en-US" i="1" dirty="0"/>
              <a:t>n = </a:t>
            </a:r>
            <a:r>
              <a:rPr lang="en-US" altLang="en-US" dirty="0"/>
              <a:t>1 return 1</a:t>
            </a:r>
            <a:r>
              <a:rPr lang="en-US" altLang="en-US" dirty="0" smtClean="0"/>
              <a:t>;</a:t>
            </a:r>
          </a:p>
          <a:p>
            <a:r>
              <a:rPr lang="en-US" altLang="en-US" b="1" dirty="0" smtClean="0">
                <a:solidFill>
                  <a:srgbClr val="00823B"/>
                </a:solidFill>
              </a:rPr>
              <a:t>Otherwise</a:t>
            </a:r>
          </a:p>
          <a:p>
            <a:pPr lvl="1"/>
            <a:r>
              <a:rPr lang="en-US" altLang="en-US" dirty="0" smtClean="0"/>
              <a:t>generate </a:t>
            </a:r>
            <a:r>
              <a:rPr lang="en-US" altLang="en-US" dirty="0"/>
              <a:t>recursively the list of all permutations of </a:t>
            </a:r>
            <a:r>
              <a:rPr lang="en-US" altLang="en-US" dirty="0" smtClean="0"/>
              <a:t>12…</a:t>
            </a:r>
            <a:r>
              <a:rPr lang="en-US" altLang="en-US" i="1" dirty="0" smtClean="0"/>
              <a:t>n-</a:t>
            </a:r>
            <a:r>
              <a:rPr lang="en-US" altLang="en-US" dirty="0" smtClean="0"/>
              <a:t>1</a:t>
            </a:r>
          </a:p>
          <a:p>
            <a:pPr lvl="1"/>
            <a:r>
              <a:rPr lang="en-US" altLang="en-US" dirty="0"/>
              <a:t>insert </a:t>
            </a:r>
            <a:r>
              <a:rPr lang="en-US" altLang="en-US" i="1" dirty="0"/>
              <a:t>n </a:t>
            </a:r>
            <a:r>
              <a:rPr lang="en-US" altLang="en-US" dirty="0"/>
              <a:t>into each of those permutations by starting with inserting </a:t>
            </a:r>
            <a:r>
              <a:rPr lang="en-US" altLang="en-US" i="1" dirty="0"/>
              <a:t>n</a:t>
            </a:r>
            <a:r>
              <a:rPr lang="en-US" altLang="en-US" dirty="0"/>
              <a:t> into 12...</a:t>
            </a:r>
            <a:r>
              <a:rPr lang="en-US" altLang="en-US" i="1" dirty="0"/>
              <a:t>n</a:t>
            </a:r>
            <a:r>
              <a:rPr lang="en-US" altLang="en-US" dirty="0"/>
              <a:t>-1 by moving right to </a:t>
            </a:r>
            <a:r>
              <a:rPr lang="en-US" altLang="en-US" dirty="0" smtClean="0"/>
              <a:t>left</a:t>
            </a:r>
          </a:p>
          <a:p>
            <a:pPr lvl="1"/>
            <a:r>
              <a:rPr lang="en-US" altLang="en-US" dirty="0"/>
              <a:t>then switching direction for each new permutation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36</a:t>
            </a:fld>
            <a:endParaRPr lang="en-US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4343400" y="2479964"/>
            <a:ext cx="3027218" cy="33112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/>
              <a:t>Permutation for 1, 2</a:t>
            </a:r>
          </a:p>
          <a:p>
            <a:r>
              <a:rPr lang="en-US" dirty="0" smtClean="0"/>
              <a:t>1</a:t>
            </a:r>
          </a:p>
          <a:p>
            <a:pPr lvl="1"/>
            <a:r>
              <a:rPr lang="en-US" dirty="0" smtClean="0"/>
              <a:t>1 2</a:t>
            </a:r>
          </a:p>
          <a:p>
            <a:pPr lvl="1"/>
            <a:r>
              <a:rPr lang="en-US" dirty="0" smtClean="0"/>
              <a:t>2 1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83182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Minimum Change </a:t>
            </a:r>
            <a:r>
              <a:rPr lang="en-US" dirty="0" smtClean="0"/>
              <a:t>Requirement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2479964"/>
            <a:ext cx="4038600" cy="3657600"/>
          </a:xfrm>
        </p:spPr>
        <p:txBody>
          <a:bodyPr>
            <a:normAutofit fontScale="77500" lnSpcReduction="20000"/>
          </a:bodyPr>
          <a:lstStyle/>
          <a:p>
            <a:r>
              <a:rPr lang="en-US" altLang="en-US" dirty="0"/>
              <a:t>If </a:t>
            </a:r>
            <a:r>
              <a:rPr lang="en-US" altLang="en-US" i="1" dirty="0"/>
              <a:t>n = </a:t>
            </a:r>
            <a:r>
              <a:rPr lang="en-US" altLang="en-US" dirty="0"/>
              <a:t>1 return 1</a:t>
            </a:r>
            <a:r>
              <a:rPr lang="en-US" altLang="en-US" dirty="0" smtClean="0"/>
              <a:t>;</a:t>
            </a:r>
          </a:p>
          <a:p>
            <a:r>
              <a:rPr lang="en-US" altLang="en-US" b="1" dirty="0" smtClean="0">
                <a:solidFill>
                  <a:srgbClr val="00823B"/>
                </a:solidFill>
              </a:rPr>
              <a:t>Otherwise</a:t>
            </a:r>
          </a:p>
          <a:p>
            <a:pPr lvl="1"/>
            <a:r>
              <a:rPr lang="en-US" altLang="en-US" dirty="0" smtClean="0"/>
              <a:t>generate </a:t>
            </a:r>
            <a:r>
              <a:rPr lang="en-US" altLang="en-US" dirty="0"/>
              <a:t>recursively the list of all permutations of </a:t>
            </a:r>
            <a:r>
              <a:rPr lang="en-US" altLang="en-US" dirty="0" smtClean="0"/>
              <a:t>12…</a:t>
            </a:r>
            <a:r>
              <a:rPr lang="en-US" altLang="en-US" i="1" dirty="0" smtClean="0"/>
              <a:t>n-</a:t>
            </a:r>
            <a:r>
              <a:rPr lang="en-US" altLang="en-US" dirty="0" smtClean="0"/>
              <a:t>1</a:t>
            </a:r>
          </a:p>
          <a:p>
            <a:pPr lvl="1"/>
            <a:r>
              <a:rPr lang="en-US" altLang="en-US" dirty="0"/>
              <a:t>insert </a:t>
            </a:r>
            <a:r>
              <a:rPr lang="en-US" altLang="en-US" i="1" dirty="0"/>
              <a:t>n </a:t>
            </a:r>
            <a:r>
              <a:rPr lang="en-US" altLang="en-US" dirty="0"/>
              <a:t>into each of those permutations by starting with inserting </a:t>
            </a:r>
            <a:r>
              <a:rPr lang="en-US" altLang="en-US" i="1" dirty="0"/>
              <a:t>n</a:t>
            </a:r>
            <a:r>
              <a:rPr lang="en-US" altLang="en-US" dirty="0"/>
              <a:t> into 12...</a:t>
            </a:r>
            <a:r>
              <a:rPr lang="en-US" altLang="en-US" i="1" dirty="0"/>
              <a:t>n</a:t>
            </a:r>
            <a:r>
              <a:rPr lang="en-US" altLang="en-US" dirty="0"/>
              <a:t>-1 by moving right to </a:t>
            </a:r>
            <a:r>
              <a:rPr lang="en-US" altLang="en-US" dirty="0" smtClean="0"/>
              <a:t>left</a:t>
            </a:r>
          </a:p>
          <a:p>
            <a:pPr lvl="1"/>
            <a:r>
              <a:rPr lang="en-US" altLang="en-US" dirty="0"/>
              <a:t>then switching direction for each new permutation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37</a:t>
            </a:fld>
            <a:endParaRPr lang="en-US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4343400" y="2479964"/>
            <a:ext cx="3027218" cy="33112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/>
              <a:t>Permutation for 1, 2, 3</a:t>
            </a:r>
          </a:p>
          <a:p>
            <a:r>
              <a:rPr lang="en-US" dirty="0" smtClean="0"/>
              <a:t>1 2</a:t>
            </a:r>
          </a:p>
          <a:p>
            <a:pPr lvl="1"/>
            <a:r>
              <a:rPr lang="en-US" dirty="0" smtClean="0"/>
              <a:t>12</a:t>
            </a:r>
            <a:r>
              <a:rPr lang="en-US" b="1" dirty="0" smtClean="0">
                <a:solidFill>
                  <a:srgbClr val="00823B"/>
                </a:solidFill>
              </a:rPr>
              <a:t>3</a:t>
            </a:r>
            <a:r>
              <a:rPr lang="en-US" dirty="0" smtClean="0"/>
              <a:t>, 1</a:t>
            </a:r>
            <a:r>
              <a:rPr lang="en-US" b="1" dirty="0" smtClean="0">
                <a:solidFill>
                  <a:srgbClr val="00823B"/>
                </a:solidFill>
              </a:rPr>
              <a:t>3</a:t>
            </a:r>
            <a:r>
              <a:rPr lang="en-US" dirty="0" smtClean="0"/>
              <a:t>2, </a:t>
            </a:r>
            <a:r>
              <a:rPr lang="en-US" b="1" dirty="0" smtClean="0">
                <a:solidFill>
                  <a:srgbClr val="00823B"/>
                </a:solidFill>
              </a:rPr>
              <a:t>3</a:t>
            </a:r>
            <a:r>
              <a:rPr lang="en-US" dirty="0" smtClean="0"/>
              <a:t>12</a:t>
            </a:r>
          </a:p>
          <a:p>
            <a:r>
              <a:rPr lang="en-US" dirty="0" smtClean="0"/>
              <a:t>2 1</a:t>
            </a:r>
          </a:p>
          <a:p>
            <a:pPr lvl="1"/>
            <a:r>
              <a:rPr lang="en-US" b="1" dirty="0" smtClean="0">
                <a:solidFill>
                  <a:srgbClr val="00823B"/>
                </a:solidFill>
              </a:rPr>
              <a:t>3</a:t>
            </a:r>
            <a:r>
              <a:rPr lang="en-US" dirty="0" smtClean="0"/>
              <a:t>21, 2</a:t>
            </a:r>
            <a:r>
              <a:rPr lang="en-US" b="1" dirty="0" smtClean="0">
                <a:solidFill>
                  <a:srgbClr val="00823B"/>
                </a:solidFill>
              </a:rPr>
              <a:t>3</a:t>
            </a:r>
            <a:r>
              <a:rPr lang="en-US" dirty="0" smtClean="0"/>
              <a:t>1, 21</a:t>
            </a:r>
            <a:r>
              <a:rPr lang="en-US" b="1" dirty="0" smtClean="0">
                <a:solidFill>
                  <a:srgbClr val="00823B"/>
                </a:solidFill>
              </a:rPr>
              <a:t>3</a:t>
            </a:r>
            <a:endParaRPr lang="en-US" b="1" dirty="0">
              <a:solidFill>
                <a:srgbClr val="00823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24978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2000" y="2133600"/>
            <a:ext cx="6248400" cy="1470025"/>
          </a:xfrm>
        </p:spPr>
        <p:txBody>
          <a:bodyPr>
            <a:normAutofit/>
          </a:bodyPr>
          <a:lstStyle/>
          <a:p>
            <a:r>
              <a:rPr lang="en-US" b="1" dirty="0" smtClean="0">
                <a:solidFill>
                  <a:srgbClr val="00823B"/>
                </a:solidFill>
              </a:rPr>
              <a:t>Generation Permutation</a:t>
            </a:r>
            <a:endParaRPr lang="en-US" b="1" dirty="0">
              <a:solidFill>
                <a:srgbClr val="00823B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62000" y="3962400"/>
            <a:ext cx="6400800" cy="1752600"/>
          </a:xfrm>
        </p:spPr>
        <p:txBody>
          <a:bodyPr/>
          <a:lstStyle/>
          <a:p>
            <a:r>
              <a:rPr lang="en-US" dirty="0" smtClean="0"/>
              <a:t>Johnson Trotter Algorithm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08854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Johnson Trotter </a:t>
            </a:r>
            <a:r>
              <a:rPr lang="en-US" dirty="0" smtClean="0"/>
              <a:t>Algorithm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possible </a:t>
            </a:r>
            <a:r>
              <a:rPr lang="en-US" dirty="0"/>
              <a:t>to </a:t>
            </a:r>
            <a:r>
              <a:rPr lang="en-US" b="1" dirty="0">
                <a:solidFill>
                  <a:srgbClr val="0000FF"/>
                </a:solidFill>
              </a:rPr>
              <a:t>get </a:t>
            </a:r>
            <a:r>
              <a:rPr lang="en-US" b="1" dirty="0" smtClean="0">
                <a:solidFill>
                  <a:srgbClr val="0000FF"/>
                </a:solidFill>
              </a:rPr>
              <a:t>permutations </a:t>
            </a:r>
            <a:r>
              <a:rPr lang="en-US" dirty="0"/>
              <a:t>of </a:t>
            </a:r>
            <a:r>
              <a:rPr lang="en-US" i="1" dirty="0"/>
              <a:t>n </a:t>
            </a:r>
            <a:r>
              <a:rPr lang="en-US" dirty="0"/>
              <a:t>elements </a:t>
            </a:r>
            <a:r>
              <a:rPr lang="en-US" b="1" dirty="0" smtClean="0"/>
              <a:t>without</a:t>
            </a:r>
            <a:r>
              <a:rPr lang="en-US" dirty="0" smtClean="0"/>
              <a:t> </a:t>
            </a:r>
            <a:r>
              <a:rPr lang="en-US" dirty="0"/>
              <a:t>generating permutations for </a:t>
            </a:r>
            <a:r>
              <a:rPr lang="en-US" b="1" dirty="0">
                <a:solidFill>
                  <a:srgbClr val="FF0000"/>
                </a:solidFill>
              </a:rPr>
              <a:t>smaller </a:t>
            </a:r>
            <a:r>
              <a:rPr lang="en-US" b="1" dirty="0" smtClean="0">
                <a:solidFill>
                  <a:srgbClr val="FF0000"/>
                </a:solidFill>
              </a:rPr>
              <a:t>values</a:t>
            </a:r>
            <a:endParaRPr lang="en-US" dirty="0" smtClean="0"/>
          </a:p>
          <a:p>
            <a:r>
              <a:rPr lang="en-US" b="1" dirty="0">
                <a:solidFill>
                  <a:srgbClr val="0000FF"/>
                </a:solidFill>
              </a:rPr>
              <a:t>associating a direction </a:t>
            </a:r>
            <a:r>
              <a:rPr lang="en-US" dirty="0"/>
              <a:t>with each element </a:t>
            </a:r>
            <a:r>
              <a:rPr lang="en-US" b="1" i="1" dirty="0">
                <a:solidFill>
                  <a:srgbClr val="0000FF"/>
                </a:solidFill>
              </a:rPr>
              <a:t>k</a:t>
            </a:r>
            <a:endParaRPr lang="en-US" b="1" dirty="0">
              <a:solidFill>
                <a:srgbClr val="0000FF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39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6200" y="4876800"/>
            <a:ext cx="1845733" cy="76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50216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Johnson Trotter </a:t>
            </a:r>
            <a:r>
              <a:rPr lang="en-US" dirty="0" smtClean="0"/>
              <a:t>Algorithm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00823B"/>
                </a:solidFill>
              </a:rPr>
              <a:t>Mobile </a:t>
            </a:r>
            <a:r>
              <a:rPr lang="en-US" b="1" dirty="0" smtClean="0">
                <a:solidFill>
                  <a:srgbClr val="00823B"/>
                </a:solidFill>
              </a:rPr>
              <a:t>element</a:t>
            </a:r>
          </a:p>
          <a:p>
            <a:pPr lvl="1"/>
            <a:r>
              <a:rPr lang="en-US" dirty="0" smtClean="0"/>
              <a:t>In </a:t>
            </a:r>
            <a:r>
              <a:rPr lang="en-US" b="1" dirty="0" smtClean="0">
                <a:solidFill>
                  <a:srgbClr val="FF0000"/>
                </a:solidFill>
              </a:rPr>
              <a:t>arrow-marked </a:t>
            </a:r>
            <a:r>
              <a:rPr lang="en-US" b="1" dirty="0">
                <a:solidFill>
                  <a:srgbClr val="FF0000"/>
                </a:solidFill>
              </a:rPr>
              <a:t>permutation </a:t>
            </a:r>
            <a:r>
              <a:rPr lang="en-US" dirty="0" smtClean="0"/>
              <a:t>if arrow </a:t>
            </a:r>
            <a:r>
              <a:rPr lang="en-US" b="1" dirty="0">
                <a:solidFill>
                  <a:srgbClr val="0000FF"/>
                </a:solidFill>
              </a:rPr>
              <a:t>points to a smaller </a:t>
            </a:r>
            <a:r>
              <a:rPr lang="en-US" dirty="0"/>
              <a:t>number </a:t>
            </a:r>
            <a:r>
              <a:rPr lang="en-US" b="1" dirty="0">
                <a:solidFill>
                  <a:srgbClr val="0000FF"/>
                </a:solidFill>
              </a:rPr>
              <a:t>adjacent</a:t>
            </a:r>
            <a:r>
              <a:rPr lang="en-US" dirty="0"/>
              <a:t> to it</a:t>
            </a:r>
            <a:endParaRPr lang="en-US" b="1" dirty="0">
              <a:solidFill>
                <a:srgbClr val="0000FF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40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8200" y="4114800"/>
            <a:ext cx="1845733" cy="762000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4495800" y="4114800"/>
            <a:ext cx="762000" cy="7620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5491304" y="4115554"/>
            <a:ext cx="762000" cy="7620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25145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Johnson Trotter </a:t>
            </a:r>
            <a:r>
              <a:rPr lang="en-US" dirty="0" smtClean="0"/>
              <a:t>Algorithm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41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362200"/>
            <a:ext cx="4314825" cy="29527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819400"/>
            <a:ext cx="5676900" cy="3810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3324225"/>
            <a:ext cx="6486525" cy="36195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95400" y="3786620"/>
            <a:ext cx="4076700" cy="33337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14450" y="4267200"/>
            <a:ext cx="6610350" cy="30480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04925" y="4743450"/>
            <a:ext cx="7762875" cy="36195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14450" y="5210175"/>
            <a:ext cx="4457700" cy="352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16728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609600"/>
          </a:xfrm>
        </p:spPr>
        <p:txBody>
          <a:bodyPr>
            <a:normAutofit fontScale="90000"/>
          </a:bodyPr>
          <a:lstStyle/>
          <a:p>
            <a:r>
              <a:rPr lang="en-US" dirty="0"/>
              <a:t>Johnson Trotter </a:t>
            </a:r>
            <a:r>
              <a:rPr lang="en-US" dirty="0" smtClean="0"/>
              <a:t>Algorithm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42</a:t>
            </a:fld>
            <a:endParaRPr lang="en-US"/>
          </a:p>
        </p:txBody>
      </p:sp>
      <p:grpSp>
        <p:nvGrpSpPr>
          <p:cNvPr id="3" name="Group 2"/>
          <p:cNvGrpSpPr/>
          <p:nvPr/>
        </p:nvGrpSpPr>
        <p:grpSpPr>
          <a:xfrm>
            <a:off x="228600" y="1835066"/>
            <a:ext cx="5638800" cy="2438400"/>
            <a:chOff x="914400" y="2362200"/>
            <a:chExt cx="8153400" cy="3200400"/>
          </a:xfrm>
        </p:grpSpPr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14400" y="2362200"/>
              <a:ext cx="4314825" cy="295275"/>
            </a:xfrm>
            <a:prstGeom prst="rect">
              <a:avLst/>
            </a:prstGeom>
          </p:spPr>
        </p:pic>
        <p:pic>
          <p:nvPicPr>
            <p:cNvPr id="7" name="Picture 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14400" y="2819400"/>
              <a:ext cx="5676900" cy="381000"/>
            </a:xfrm>
            <a:prstGeom prst="rect">
              <a:avLst/>
            </a:prstGeom>
          </p:spPr>
        </p:pic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14400" y="3324225"/>
              <a:ext cx="6486525" cy="361950"/>
            </a:xfrm>
            <a:prstGeom prst="rect">
              <a:avLst/>
            </a:prstGeom>
          </p:spPr>
        </p:pic>
        <p:pic>
          <p:nvPicPr>
            <p:cNvPr id="9" name="Picture 8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295400" y="3786620"/>
              <a:ext cx="4076700" cy="333375"/>
            </a:xfrm>
            <a:prstGeom prst="rect">
              <a:avLst/>
            </a:prstGeom>
          </p:spPr>
        </p:pic>
        <p:pic>
          <p:nvPicPr>
            <p:cNvPr id="10" name="Picture 9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314450" y="4267200"/>
              <a:ext cx="6610350" cy="304800"/>
            </a:xfrm>
            <a:prstGeom prst="rect">
              <a:avLst/>
            </a:prstGeom>
          </p:spPr>
        </p:pic>
        <p:pic>
          <p:nvPicPr>
            <p:cNvPr id="11" name="Picture 10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304925" y="4743450"/>
              <a:ext cx="7762875" cy="361950"/>
            </a:xfrm>
            <a:prstGeom prst="rect">
              <a:avLst/>
            </a:prstGeom>
          </p:spPr>
        </p:pic>
        <p:pic>
          <p:nvPicPr>
            <p:cNvPr id="12" name="Picture 11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314450" y="5210175"/>
              <a:ext cx="4457700" cy="352425"/>
            </a:xfrm>
            <a:prstGeom prst="rect">
              <a:avLst/>
            </a:prstGeom>
          </p:spPr>
        </p:pic>
      </p:grpSp>
      <p:sp>
        <p:nvSpPr>
          <p:cNvPr id="13" name="Content Placeholder 2"/>
          <p:cNvSpPr txBox="1">
            <a:spLocks/>
          </p:cNvSpPr>
          <p:nvPr/>
        </p:nvSpPr>
        <p:spPr>
          <a:xfrm>
            <a:off x="4840480" y="1782783"/>
            <a:ext cx="2676792" cy="10915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/>
              <a:t>Permutation for </a:t>
            </a:r>
            <a:r>
              <a:rPr lang="en-US" b="1" dirty="0" smtClean="0">
                <a:solidFill>
                  <a:srgbClr val="00823B"/>
                </a:solidFill>
              </a:rPr>
              <a:t>1, 2, 3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13368" y="4375025"/>
            <a:ext cx="800100" cy="476250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187989" y="4400137"/>
            <a:ext cx="781050" cy="447675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148323" y="4419187"/>
            <a:ext cx="790575" cy="428625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118182" y="4419186"/>
            <a:ext cx="742950" cy="409575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040416" y="4413125"/>
            <a:ext cx="742950" cy="400050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962650" y="4396403"/>
            <a:ext cx="742950" cy="428625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289568" y="4952834"/>
            <a:ext cx="723900" cy="323850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187989" y="4994730"/>
            <a:ext cx="752475" cy="295275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162610" y="4978807"/>
            <a:ext cx="762000" cy="285750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118182" y="4999492"/>
            <a:ext cx="781050" cy="285750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040416" y="4969282"/>
            <a:ext cx="762000" cy="304800"/>
          </a:xfrm>
          <a:prstGeom prst="rect">
            <a:avLst/>
          </a:prstGeom>
        </p:spPr>
      </p:pic>
      <p:cxnSp>
        <p:nvCxnSpPr>
          <p:cNvPr id="25" name="Straight Connector 24"/>
          <p:cNvCxnSpPr/>
          <p:nvPr/>
        </p:nvCxnSpPr>
        <p:spPr>
          <a:xfrm flipH="1">
            <a:off x="1394565" y="4913837"/>
            <a:ext cx="409130" cy="42627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 flipH="1">
            <a:off x="2347243" y="4901624"/>
            <a:ext cx="409130" cy="42627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 flipH="1">
            <a:off x="3311495" y="4913837"/>
            <a:ext cx="409130" cy="42627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 flipH="1">
            <a:off x="4338535" y="4918293"/>
            <a:ext cx="409130" cy="42627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 flipH="1">
            <a:off x="5228425" y="4908414"/>
            <a:ext cx="409130" cy="42627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01695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 smtClean="0"/>
              <a:t>Johnson Trotter Algorithm </a:t>
            </a:r>
            <a:r>
              <a:rPr lang="en-US" sz="1600" dirty="0" smtClean="0"/>
              <a:t>– </a:t>
            </a:r>
            <a:r>
              <a:rPr lang="en-US" sz="3200" b="1" dirty="0" smtClean="0">
                <a:solidFill>
                  <a:srgbClr val="00823B"/>
                </a:solidFill>
              </a:rPr>
              <a:t>Example 02</a:t>
            </a:r>
            <a:endParaRPr lang="en-US" sz="3200" b="1" dirty="0">
              <a:solidFill>
                <a:srgbClr val="00823B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2104352"/>
            <a:ext cx="6248400" cy="167640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Using the given algorithm </a:t>
            </a:r>
            <a:r>
              <a:rPr lang="en-US" b="1" dirty="0"/>
              <a:t>(Johnson Trotter)</a:t>
            </a:r>
            <a:r>
              <a:rPr lang="en-US" dirty="0"/>
              <a:t>, generate all permutations for </a:t>
            </a:r>
            <a:r>
              <a:rPr lang="en-US" b="1" dirty="0"/>
              <a:t>1234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43</a:t>
            </a:fld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3524742" y="3809995"/>
            <a:ext cx="3727449" cy="2057405"/>
            <a:chOff x="0" y="0"/>
            <a:chExt cx="8153400" cy="3200400"/>
          </a:xfrm>
        </p:grpSpPr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4314825" cy="295275"/>
            </a:xfrm>
            <a:prstGeom prst="rect">
              <a:avLst/>
            </a:prstGeom>
          </p:spPr>
        </p:pic>
        <p:pic>
          <p:nvPicPr>
            <p:cNvPr id="7" name="Picture 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457200"/>
              <a:ext cx="5676900" cy="381000"/>
            </a:xfrm>
            <a:prstGeom prst="rect">
              <a:avLst/>
            </a:prstGeom>
          </p:spPr>
        </p:pic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0" y="962025"/>
              <a:ext cx="6486525" cy="361950"/>
            </a:xfrm>
            <a:prstGeom prst="rect">
              <a:avLst/>
            </a:prstGeom>
          </p:spPr>
        </p:pic>
        <p:pic>
          <p:nvPicPr>
            <p:cNvPr id="9" name="Picture 8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81000" y="1424420"/>
              <a:ext cx="4076700" cy="333375"/>
            </a:xfrm>
            <a:prstGeom prst="rect">
              <a:avLst/>
            </a:prstGeom>
          </p:spPr>
        </p:pic>
        <p:pic>
          <p:nvPicPr>
            <p:cNvPr id="10" name="Picture 9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00050" y="1905000"/>
              <a:ext cx="6610350" cy="304800"/>
            </a:xfrm>
            <a:prstGeom prst="rect">
              <a:avLst/>
            </a:prstGeom>
          </p:spPr>
        </p:pic>
        <p:pic>
          <p:nvPicPr>
            <p:cNvPr id="11" name="Picture 10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90525" y="2381250"/>
              <a:ext cx="7762875" cy="361950"/>
            </a:xfrm>
            <a:prstGeom prst="rect">
              <a:avLst/>
            </a:prstGeom>
          </p:spPr>
        </p:pic>
        <p:pic>
          <p:nvPicPr>
            <p:cNvPr id="12" name="Picture 11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400050" y="2847975"/>
              <a:ext cx="4457700" cy="35242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004657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44</a:t>
            </a:fld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3886200" y="1787979"/>
            <a:ext cx="3727449" cy="2057405"/>
            <a:chOff x="0" y="0"/>
            <a:chExt cx="8153400" cy="3200400"/>
          </a:xfrm>
        </p:grpSpPr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4314825" cy="295275"/>
            </a:xfrm>
            <a:prstGeom prst="rect">
              <a:avLst/>
            </a:prstGeom>
          </p:spPr>
        </p:pic>
        <p:pic>
          <p:nvPicPr>
            <p:cNvPr id="7" name="Picture 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457200"/>
              <a:ext cx="5676900" cy="381000"/>
            </a:xfrm>
            <a:prstGeom prst="rect">
              <a:avLst/>
            </a:prstGeom>
          </p:spPr>
        </p:pic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0" y="962025"/>
              <a:ext cx="6486525" cy="361950"/>
            </a:xfrm>
            <a:prstGeom prst="rect">
              <a:avLst/>
            </a:prstGeom>
          </p:spPr>
        </p:pic>
        <p:pic>
          <p:nvPicPr>
            <p:cNvPr id="9" name="Picture 8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81000" y="1424420"/>
              <a:ext cx="4076700" cy="333375"/>
            </a:xfrm>
            <a:prstGeom prst="rect">
              <a:avLst/>
            </a:prstGeom>
          </p:spPr>
        </p:pic>
        <p:pic>
          <p:nvPicPr>
            <p:cNvPr id="10" name="Picture 9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00050" y="1905000"/>
              <a:ext cx="6610350" cy="304800"/>
            </a:xfrm>
            <a:prstGeom prst="rect">
              <a:avLst/>
            </a:prstGeom>
          </p:spPr>
        </p:pic>
        <p:pic>
          <p:nvPicPr>
            <p:cNvPr id="11" name="Picture 10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90525" y="2381250"/>
              <a:ext cx="7762875" cy="361950"/>
            </a:xfrm>
            <a:prstGeom prst="rect">
              <a:avLst/>
            </a:prstGeom>
          </p:spPr>
        </p:pic>
        <p:pic>
          <p:nvPicPr>
            <p:cNvPr id="12" name="Picture 11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400050" y="2847975"/>
              <a:ext cx="4457700" cy="352425"/>
            </a:xfrm>
            <a:prstGeom prst="rect">
              <a:avLst/>
            </a:prstGeom>
          </p:spPr>
        </p:pic>
      </p:grp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295400"/>
            <a:ext cx="2571750" cy="209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0525" y="1524000"/>
            <a:ext cx="2562225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0525" y="1905000"/>
            <a:ext cx="2562225" cy="33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5" name="Picture 5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0050" y="2286000"/>
            <a:ext cx="2552700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6" name="Picture 6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0050" y="2667000"/>
            <a:ext cx="2552700" cy="33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7" name="Picture 7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0050" y="3048000"/>
            <a:ext cx="2552700" cy="33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8" name="Picture 8"/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3429000"/>
            <a:ext cx="2552700" cy="314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9" name="Picture 9"/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0050" y="3857625"/>
            <a:ext cx="2552700" cy="33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30" name="Picture 10"/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0050" y="4267200"/>
            <a:ext cx="2552700" cy="33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668504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1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1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1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1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1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1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1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1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1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1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1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1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1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1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51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51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45</a:t>
            </a:fld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3886200" y="1787979"/>
            <a:ext cx="3727449" cy="2057405"/>
            <a:chOff x="0" y="0"/>
            <a:chExt cx="8153400" cy="3200400"/>
          </a:xfrm>
        </p:grpSpPr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4314825" cy="295275"/>
            </a:xfrm>
            <a:prstGeom prst="rect">
              <a:avLst/>
            </a:prstGeom>
          </p:spPr>
        </p:pic>
        <p:pic>
          <p:nvPicPr>
            <p:cNvPr id="7" name="Picture 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457200"/>
              <a:ext cx="5676900" cy="381000"/>
            </a:xfrm>
            <a:prstGeom prst="rect">
              <a:avLst/>
            </a:prstGeom>
          </p:spPr>
        </p:pic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0" y="962025"/>
              <a:ext cx="6486525" cy="361950"/>
            </a:xfrm>
            <a:prstGeom prst="rect">
              <a:avLst/>
            </a:prstGeom>
          </p:spPr>
        </p:pic>
        <p:pic>
          <p:nvPicPr>
            <p:cNvPr id="9" name="Picture 8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81000" y="1424420"/>
              <a:ext cx="4076700" cy="333375"/>
            </a:xfrm>
            <a:prstGeom prst="rect">
              <a:avLst/>
            </a:prstGeom>
          </p:spPr>
        </p:pic>
        <p:pic>
          <p:nvPicPr>
            <p:cNvPr id="10" name="Picture 9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00050" y="1905000"/>
              <a:ext cx="6610350" cy="304800"/>
            </a:xfrm>
            <a:prstGeom prst="rect">
              <a:avLst/>
            </a:prstGeom>
          </p:spPr>
        </p:pic>
        <p:pic>
          <p:nvPicPr>
            <p:cNvPr id="11" name="Picture 10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90525" y="2381250"/>
              <a:ext cx="7762875" cy="361950"/>
            </a:xfrm>
            <a:prstGeom prst="rect">
              <a:avLst/>
            </a:prstGeom>
          </p:spPr>
        </p:pic>
        <p:pic>
          <p:nvPicPr>
            <p:cNvPr id="12" name="Picture 11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400050" y="2847975"/>
              <a:ext cx="4457700" cy="352425"/>
            </a:xfrm>
            <a:prstGeom prst="rect">
              <a:avLst/>
            </a:prstGeom>
          </p:spPr>
        </p:pic>
      </p:grp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295400"/>
            <a:ext cx="2571750" cy="209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30" name="Picture 10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600200"/>
            <a:ext cx="2552700" cy="33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216" y="1981200"/>
            <a:ext cx="2552700" cy="33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216" y="2362200"/>
            <a:ext cx="2552700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216" y="2743200"/>
            <a:ext cx="2552700" cy="33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9" name="Picture 5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216" y="3124200"/>
            <a:ext cx="2552700" cy="33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50" name="Picture 6"/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3505200"/>
            <a:ext cx="2552700" cy="33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51" name="Picture 7"/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3886200"/>
            <a:ext cx="2552700" cy="33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52" name="Picture 8"/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4267200"/>
            <a:ext cx="2552700" cy="33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53" name="Picture 9"/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4695825"/>
            <a:ext cx="2552700" cy="33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783443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1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1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1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1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1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1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1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1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1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1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1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1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61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61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61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61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46</a:t>
            </a:fld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3886200" y="1787979"/>
            <a:ext cx="3727449" cy="2057405"/>
            <a:chOff x="0" y="0"/>
            <a:chExt cx="8153400" cy="3200400"/>
          </a:xfrm>
        </p:grpSpPr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4314825" cy="295275"/>
            </a:xfrm>
            <a:prstGeom prst="rect">
              <a:avLst/>
            </a:prstGeom>
          </p:spPr>
        </p:pic>
        <p:pic>
          <p:nvPicPr>
            <p:cNvPr id="7" name="Picture 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457200"/>
              <a:ext cx="5676900" cy="381000"/>
            </a:xfrm>
            <a:prstGeom prst="rect">
              <a:avLst/>
            </a:prstGeom>
          </p:spPr>
        </p:pic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0" y="962025"/>
              <a:ext cx="6486525" cy="361950"/>
            </a:xfrm>
            <a:prstGeom prst="rect">
              <a:avLst/>
            </a:prstGeom>
          </p:spPr>
        </p:pic>
        <p:pic>
          <p:nvPicPr>
            <p:cNvPr id="9" name="Picture 8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81000" y="1424420"/>
              <a:ext cx="4076700" cy="333375"/>
            </a:xfrm>
            <a:prstGeom prst="rect">
              <a:avLst/>
            </a:prstGeom>
          </p:spPr>
        </p:pic>
        <p:pic>
          <p:nvPicPr>
            <p:cNvPr id="10" name="Picture 9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00050" y="1905000"/>
              <a:ext cx="6610350" cy="304800"/>
            </a:xfrm>
            <a:prstGeom prst="rect">
              <a:avLst/>
            </a:prstGeom>
          </p:spPr>
        </p:pic>
        <p:pic>
          <p:nvPicPr>
            <p:cNvPr id="11" name="Picture 10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90525" y="2381250"/>
              <a:ext cx="7762875" cy="361950"/>
            </a:xfrm>
            <a:prstGeom prst="rect">
              <a:avLst/>
            </a:prstGeom>
          </p:spPr>
        </p:pic>
        <p:pic>
          <p:nvPicPr>
            <p:cNvPr id="12" name="Picture 11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400050" y="2847975"/>
              <a:ext cx="4457700" cy="352425"/>
            </a:xfrm>
            <a:prstGeom prst="rect">
              <a:avLst/>
            </a:prstGeom>
          </p:spPr>
        </p:pic>
      </p:grp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295400"/>
            <a:ext cx="2571750" cy="209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53" name="Picture 9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571625"/>
            <a:ext cx="2552700" cy="33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0050" y="1952625"/>
            <a:ext cx="2552700" cy="33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2362200"/>
            <a:ext cx="2552700" cy="33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2" name="Picture 4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0050" y="2743200"/>
            <a:ext cx="2552700" cy="33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3" name="Picture 5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327" y="3124200"/>
            <a:ext cx="2552700" cy="33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4" name="Picture 6"/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327" y="3505200"/>
            <a:ext cx="2552700" cy="33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5" name="Picture 7"/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100" y="3943350"/>
            <a:ext cx="2552700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6" name="Picture 8"/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100" y="4343400"/>
            <a:ext cx="2552700" cy="33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7" name="Picture 9"/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100" y="4781550"/>
            <a:ext cx="255270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51387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1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1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1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1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1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1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1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1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1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1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71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71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71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71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71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71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Johnson Trotter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00823B"/>
                </a:solidFill>
              </a:rPr>
              <a:t>Limitation</a:t>
            </a:r>
          </a:p>
          <a:p>
            <a:pPr lvl="1"/>
            <a:r>
              <a:rPr lang="en-US" dirty="0" smtClean="0"/>
              <a:t>The result is </a:t>
            </a:r>
            <a:r>
              <a:rPr lang="en-US" b="1" dirty="0" smtClean="0">
                <a:solidFill>
                  <a:srgbClr val="0000FF"/>
                </a:solidFill>
              </a:rPr>
              <a:t>not</a:t>
            </a:r>
            <a:r>
              <a:rPr lang="en-US" dirty="0" smtClean="0"/>
              <a:t> in </a:t>
            </a:r>
            <a:r>
              <a:rPr lang="en-US" b="1" dirty="0" smtClean="0">
                <a:solidFill>
                  <a:srgbClr val="0000FF"/>
                </a:solidFill>
              </a:rPr>
              <a:t>Lexicographic</a:t>
            </a:r>
            <a:r>
              <a:rPr lang="en-US" dirty="0" smtClean="0"/>
              <a:t> Order</a:t>
            </a:r>
          </a:p>
          <a:p>
            <a:r>
              <a:rPr lang="en-US" b="1" dirty="0" smtClean="0">
                <a:solidFill>
                  <a:srgbClr val="00823B"/>
                </a:solidFill>
              </a:rPr>
              <a:t>Solution</a:t>
            </a:r>
          </a:p>
          <a:p>
            <a:pPr lvl="1"/>
            <a:r>
              <a:rPr lang="en-US" b="1" i="1" dirty="0" err="1" smtClean="0">
                <a:solidFill>
                  <a:srgbClr val="0000FF"/>
                </a:solidFill>
              </a:rPr>
              <a:t>LexicographicPermute</a:t>
            </a:r>
            <a:r>
              <a:rPr lang="en-US" i="1" dirty="0" smtClean="0"/>
              <a:t> Algorithm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71202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2000" y="2133600"/>
            <a:ext cx="6248400" cy="1470025"/>
          </a:xfrm>
        </p:spPr>
        <p:txBody>
          <a:bodyPr>
            <a:normAutofit/>
          </a:bodyPr>
          <a:lstStyle/>
          <a:p>
            <a:r>
              <a:rPr lang="en-US" b="1" dirty="0" smtClean="0">
                <a:solidFill>
                  <a:srgbClr val="00823B"/>
                </a:solidFill>
              </a:rPr>
              <a:t>Generation Permutation</a:t>
            </a:r>
            <a:endParaRPr lang="en-US" b="1" dirty="0">
              <a:solidFill>
                <a:srgbClr val="00823B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62000" y="3962400"/>
            <a:ext cx="6400800" cy="1752600"/>
          </a:xfrm>
        </p:spPr>
        <p:txBody>
          <a:bodyPr/>
          <a:lstStyle/>
          <a:p>
            <a:r>
              <a:rPr lang="en-US" i="1" dirty="0" smtClean="0"/>
              <a:t>“</a:t>
            </a:r>
            <a:r>
              <a:rPr lang="en-US" i="1" dirty="0" err="1" smtClean="0"/>
              <a:t>LexicographicPermute</a:t>
            </a:r>
            <a:r>
              <a:rPr lang="en-US" i="1" dirty="0" smtClean="0"/>
              <a:t>”</a:t>
            </a:r>
            <a:r>
              <a:rPr lang="en-US" dirty="0" smtClean="0"/>
              <a:t> Algorithm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9877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i="1" dirty="0"/>
              <a:t>“</a:t>
            </a:r>
            <a:r>
              <a:rPr lang="en-US" i="1" dirty="0" err="1"/>
              <a:t>LexicographicPermute</a:t>
            </a:r>
            <a:r>
              <a:rPr lang="en-US" i="1" dirty="0"/>
              <a:t>”</a:t>
            </a:r>
            <a:r>
              <a:rPr lang="en-US" dirty="0"/>
              <a:t> </a:t>
            </a:r>
            <a:r>
              <a:rPr lang="en-US" dirty="0" smtClean="0"/>
              <a:t>Algorithm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49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396836"/>
            <a:ext cx="5267325" cy="33337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771774"/>
            <a:ext cx="5438775" cy="31432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214067"/>
            <a:ext cx="7086600" cy="291133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3633168"/>
            <a:ext cx="5362575" cy="40957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1327" y="4086223"/>
            <a:ext cx="5067300" cy="40957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1327" y="4467225"/>
            <a:ext cx="2019300" cy="409575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4400" y="4876800"/>
            <a:ext cx="7334250" cy="38100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4400" y="5324475"/>
            <a:ext cx="4486275" cy="390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60921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50</a:t>
            </a:fld>
            <a:endParaRPr lang="en-US"/>
          </a:p>
        </p:txBody>
      </p:sp>
      <p:grpSp>
        <p:nvGrpSpPr>
          <p:cNvPr id="3" name="Group 2"/>
          <p:cNvGrpSpPr/>
          <p:nvPr/>
        </p:nvGrpSpPr>
        <p:grpSpPr>
          <a:xfrm>
            <a:off x="914400" y="4559007"/>
            <a:ext cx="4648200" cy="1952005"/>
            <a:chOff x="457200" y="2396836"/>
            <a:chExt cx="7791450" cy="3136569"/>
          </a:xfrm>
        </p:grpSpPr>
        <p:pic>
          <p:nvPicPr>
            <p:cNvPr id="5" name="Picture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57200" y="2396836"/>
              <a:ext cx="5267325" cy="333375"/>
            </a:xfrm>
            <a:prstGeom prst="rect">
              <a:avLst/>
            </a:prstGeom>
          </p:spPr>
        </p:pic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57200" y="2771774"/>
              <a:ext cx="5438775" cy="314325"/>
            </a:xfrm>
            <a:prstGeom prst="rect">
              <a:avLst/>
            </a:prstGeom>
          </p:spPr>
        </p:pic>
        <p:pic>
          <p:nvPicPr>
            <p:cNvPr id="7" name="Picture 6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57200" y="3214067"/>
              <a:ext cx="7086600" cy="291133"/>
            </a:xfrm>
            <a:prstGeom prst="rect">
              <a:avLst/>
            </a:prstGeom>
          </p:spPr>
        </p:pic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14400" y="3633168"/>
              <a:ext cx="5362575" cy="409575"/>
            </a:xfrm>
            <a:prstGeom prst="rect">
              <a:avLst/>
            </a:prstGeom>
          </p:spPr>
        </p:pic>
        <p:pic>
          <p:nvPicPr>
            <p:cNvPr id="9" name="Picture 8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921327" y="4086223"/>
              <a:ext cx="5067300" cy="409575"/>
            </a:xfrm>
            <a:prstGeom prst="rect">
              <a:avLst/>
            </a:prstGeom>
          </p:spPr>
        </p:pic>
        <p:pic>
          <p:nvPicPr>
            <p:cNvPr id="11" name="Picture 10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921327" y="4467225"/>
              <a:ext cx="2019300" cy="409575"/>
            </a:xfrm>
            <a:prstGeom prst="rect">
              <a:avLst/>
            </a:prstGeom>
          </p:spPr>
        </p:pic>
        <p:pic>
          <p:nvPicPr>
            <p:cNvPr id="12" name="Picture 11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914400" y="4800600"/>
              <a:ext cx="7334250" cy="381000"/>
            </a:xfrm>
            <a:prstGeom prst="rect">
              <a:avLst/>
            </a:prstGeom>
          </p:spPr>
        </p:pic>
        <p:pic>
          <p:nvPicPr>
            <p:cNvPr id="13" name="Picture 12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914400" y="5142880"/>
              <a:ext cx="4486275" cy="390525"/>
            </a:xfrm>
            <a:prstGeom prst="rect">
              <a:avLst/>
            </a:prstGeom>
          </p:spPr>
        </p:pic>
      </p:grpSp>
      <p:graphicFrame>
        <p:nvGraphicFramePr>
          <p:cNvPr id="15" name="Table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1715368"/>
              </p:ext>
            </p:extLst>
          </p:nvPr>
        </p:nvGraphicFramePr>
        <p:xfrm>
          <a:off x="914400" y="1143000"/>
          <a:ext cx="6096000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462713069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89409097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658079678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369227194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12837744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8420874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Status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 smtClean="0"/>
                        <a:t>i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j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58039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75790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10676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70574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88558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46976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93877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643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6592893"/>
                  </a:ext>
                </a:extLst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2286000" y="1560329"/>
            <a:ext cx="3451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A</a:t>
            </a:r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3312405" y="1560329"/>
            <a:ext cx="3451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06240" y="1560329"/>
            <a:ext cx="3451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C</a:t>
            </a:r>
            <a:endParaRPr lang="en-US" dirty="0"/>
          </a:p>
        </p:txBody>
      </p:sp>
      <p:sp>
        <p:nvSpPr>
          <p:cNvPr id="19" name="TextBox 18"/>
          <p:cNvSpPr txBox="1"/>
          <p:nvPr/>
        </p:nvSpPr>
        <p:spPr>
          <a:xfrm>
            <a:off x="5313125" y="1560329"/>
            <a:ext cx="3451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2</a:t>
            </a:r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6320010" y="1537839"/>
            <a:ext cx="3451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3</a:t>
            </a:r>
            <a:endParaRPr lang="en-US" dirty="0"/>
          </a:p>
        </p:txBody>
      </p:sp>
      <p:sp>
        <p:nvSpPr>
          <p:cNvPr id="21" name="TextBox 20"/>
          <p:cNvSpPr txBox="1"/>
          <p:nvPr/>
        </p:nvSpPr>
        <p:spPr>
          <a:xfrm>
            <a:off x="1143000" y="1560329"/>
            <a:ext cx="3451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❶</a:t>
            </a:r>
            <a:endParaRPr lang="en-US" dirty="0"/>
          </a:p>
        </p:txBody>
      </p:sp>
      <p:sp>
        <p:nvSpPr>
          <p:cNvPr id="22" name="TextBox 21"/>
          <p:cNvSpPr txBox="1"/>
          <p:nvPr/>
        </p:nvSpPr>
        <p:spPr>
          <a:xfrm>
            <a:off x="2286000" y="1941329"/>
            <a:ext cx="3451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A</a:t>
            </a:r>
            <a:endParaRPr lang="en-US" dirty="0"/>
          </a:p>
        </p:txBody>
      </p:sp>
      <p:sp>
        <p:nvSpPr>
          <p:cNvPr id="23" name="TextBox 22"/>
          <p:cNvSpPr txBox="1"/>
          <p:nvPr/>
        </p:nvSpPr>
        <p:spPr>
          <a:xfrm>
            <a:off x="3312405" y="1941329"/>
            <a:ext cx="3451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C</a:t>
            </a:r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4306240" y="1941329"/>
            <a:ext cx="3451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B</a:t>
            </a:r>
            <a:endParaRPr lang="en-US" dirty="0"/>
          </a:p>
        </p:txBody>
      </p:sp>
      <p:sp>
        <p:nvSpPr>
          <p:cNvPr id="25" name="TextBox 24"/>
          <p:cNvSpPr txBox="1"/>
          <p:nvPr/>
        </p:nvSpPr>
        <p:spPr>
          <a:xfrm>
            <a:off x="1143000" y="1907171"/>
            <a:ext cx="3451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❷</a:t>
            </a:r>
            <a:endParaRPr lang="en-US" dirty="0"/>
          </a:p>
        </p:txBody>
      </p:sp>
      <p:sp>
        <p:nvSpPr>
          <p:cNvPr id="26" name="TextBox 25"/>
          <p:cNvSpPr txBox="1"/>
          <p:nvPr/>
        </p:nvSpPr>
        <p:spPr>
          <a:xfrm>
            <a:off x="5313125" y="1941329"/>
            <a:ext cx="3451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</a:t>
            </a:r>
            <a:endParaRPr lang="en-US" dirty="0"/>
          </a:p>
        </p:txBody>
      </p:sp>
      <p:sp>
        <p:nvSpPr>
          <p:cNvPr id="27" name="TextBox 26"/>
          <p:cNvSpPr txBox="1"/>
          <p:nvPr/>
        </p:nvSpPr>
        <p:spPr>
          <a:xfrm>
            <a:off x="6320010" y="1929661"/>
            <a:ext cx="3451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3</a:t>
            </a:r>
            <a:endParaRPr lang="en-US" dirty="0"/>
          </a:p>
        </p:txBody>
      </p:sp>
      <p:sp>
        <p:nvSpPr>
          <p:cNvPr id="28" name="TextBox 27"/>
          <p:cNvSpPr txBox="1"/>
          <p:nvPr/>
        </p:nvSpPr>
        <p:spPr>
          <a:xfrm>
            <a:off x="2286000" y="2322329"/>
            <a:ext cx="3451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B</a:t>
            </a:r>
            <a:endParaRPr lang="en-US" dirty="0"/>
          </a:p>
        </p:txBody>
      </p:sp>
      <p:sp>
        <p:nvSpPr>
          <p:cNvPr id="29" name="TextBox 28"/>
          <p:cNvSpPr txBox="1"/>
          <p:nvPr/>
        </p:nvSpPr>
        <p:spPr>
          <a:xfrm>
            <a:off x="3312405" y="2322329"/>
            <a:ext cx="3451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C</a:t>
            </a:r>
            <a:endParaRPr lang="en-US" dirty="0"/>
          </a:p>
        </p:txBody>
      </p:sp>
      <p:sp>
        <p:nvSpPr>
          <p:cNvPr id="30" name="TextBox 29"/>
          <p:cNvSpPr txBox="1"/>
          <p:nvPr/>
        </p:nvSpPr>
        <p:spPr>
          <a:xfrm>
            <a:off x="4306240" y="2322329"/>
            <a:ext cx="3451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A</a:t>
            </a:r>
            <a:endParaRPr lang="en-US" dirty="0"/>
          </a:p>
        </p:txBody>
      </p:sp>
      <p:sp>
        <p:nvSpPr>
          <p:cNvPr id="31" name="TextBox 30"/>
          <p:cNvSpPr txBox="1"/>
          <p:nvPr/>
        </p:nvSpPr>
        <p:spPr>
          <a:xfrm>
            <a:off x="2286000" y="2703329"/>
            <a:ext cx="3451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B</a:t>
            </a:r>
            <a:endParaRPr lang="en-US" dirty="0"/>
          </a:p>
        </p:txBody>
      </p:sp>
      <p:sp>
        <p:nvSpPr>
          <p:cNvPr id="32" name="TextBox 31"/>
          <p:cNvSpPr txBox="1"/>
          <p:nvPr/>
        </p:nvSpPr>
        <p:spPr>
          <a:xfrm>
            <a:off x="3312405" y="2703329"/>
            <a:ext cx="3451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A</a:t>
            </a:r>
            <a:endParaRPr lang="en-US" dirty="0"/>
          </a:p>
        </p:txBody>
      </p:sp>
      <p:sp>
        <p:nvSpPr>
          <p:cNvPr id="33" name="TextBox 32"/>
          <p:cNvSpPr txBox="1"/>
          <p:nvPr/>
        </p:nvSpPr>
        <p:spPr>
          <a:xfrm>
            <a:off x="4306240" y="2703329"/>
            <a:ext cx="3451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C</a:t>
            </a:r>
            <a:endParaRPr lang="en-US" dirty="0"/>
          </a:p>
        </p:txBody>
      </p:sp>
      <p:sp>
        <p:nvSpPr>
          <p:cNvPr id="34" name="TextBox 33"/>
          <p:cNvSpPr txBox="1"/>
          <p:nvPr/>
        </p:nvSpPr>
        <p:spPr>
          <a:xfrm>
            <a:off x="1143000" y="2615160"/>
            <a:ext cx="3451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❸</a:t>
            </a:r>
            <a:endParaRPr lang="en-US" dirty="0"/>
          </a:p>
        </p:txBody>
      </p:sp>
      <p:sp>
        <p:nvSpPr>
          <p:cNvPr id="35" name="TextBox 34"/>
          <p:cNvSpPr txBox="1"/>
          <p:nvPr/>
        </p:nvSpPr>
        <p:spPr>
          <a:xfrm>
            <a:off x="5353520" y="2703329"/>
            <a:ext cx="3451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2</a:t>
            </a:r>
            <a:endParaRPr lang="en-US" dirty="0"/>
          </a:p>
        </p:txBody>
      </p:sp>
      <p:sp>
        <p:nvSpPr>
          <p:cNvPr id="36" name="TextBox 35"/>
          <p:cNvSpPr txBox="1"/>
          <p:nvPr/>
        </p:nvSpPr>
        <p:spPr>
          <a:xfrm>
            <a:off x="6360405" y="2691661"/>
            <a:ext cx="3451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3</a:t>
            </a:r>
            <a:endParaRPr lang="en-US" dirty="0"/>
          </a:p>
        </p:txBody>
      </p:sp>
      <p:sp>
        <p:nvSpPr>
          <p:cNvPr id="37" name="TextBox 36"/>
          <p:cNvSpPr txBox="1"/>
          <p:nvPr/>
        </p:nvSpPr>
        <p:spPr>
          <a:xfrm>
            <a:off x="2286000" y="3084329"/>
            <a:ext cx="3451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B</a:t>
            </a:r>
            <a:endParaRPr lang="en-US" dirty="0"/>
          </a:p>
        </p:txBody>
      </p:sp>
      <p:sp>
        <p:nvSpPr>
          <p:cNvPr id="38" name="TextBox 37"/>
          <p:cNvSpPr txBox="1"/>
          <p:nvPr/>
        </p:nvSpPr>
        <p:spPr>
          <a:xfrm>
            <a:off x="3312405" y="3084329"/>
            <a:ext cx="3451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C</a:t>
            </a:r>
            <a:endParaRPr lang="en-US" dirty="0"/>
          </a:p>
        </p:txBody>
      </p:sp>
      <p:sp>
        <p:nvSpPr>
          <p:cNvPr id="39" name="TextBox 38"/>
          <p:cNvSpPr txBox="1"/>
          <p:nvPr/>
        </p:nvSpPr>
        <p:spPr>
          <a:xfrm>
            <a:off x="4306240" y="3084329"/>
            <a:ext cx="3451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A</a:t>
            </a:r>
            <a:endParaRPr lang="en-US" dirty="0"/>
          </a:p>
        </p:txBody>
      </p:sp>
      <p:sp>
        <p:nvSpPr>
          <p:cNvPr id="40" name="TextBox 39"/>
          <p:cNvSpPr txBox="1"/>
          <p:nvPr/>
        </p:nvSpPr>
        <p:spPr>
          <a:xfrm>
            <a:off x="1143000" y="3008129"/>
            <a:ext cx="3451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❹</a:t>
            </a:r>
            <a:endParaRPr lang="en-US" dirty="0"/>
          </a:p>
        </p:txBody>
      </p:sp>
      <p:sp>
        <p:nvSpPr>
          <p:cNvPr id="41" name="TextBox 40"/>
          <p:cNvSpPr txBox="1"/>
          <p:nvPr/>
        </p:nvSpPr>
        <p:spPr>
          <a:xfrm>
            <a:off x="5353520" y="3084329"/>
            <a:ext cx="3451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60405" y="3072661"/>
            <a:ext cx="3451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2</a:t>
            </a:r>
            <a:endParaRPr lang="en-US" dirty="0"/>
          </a:p>
        </p:txBody>
      </p:sp>
      <p:sp>
        <p:nvSpPr>
          <p:cNvPr id="43" name="TextBox 42"/>
          <p:cNvSpPr txBox="1"/>
          <p:nvPr/>
        </p:nvSpPr>
        <p:spPr>
          <a:xfrm>
            <a:off x="2286000" y="3389129"/>
            <a:ext cx="3451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C</a:t>
            </a:r>
            <a:endParaRPr lang="en-US" dirty="0"/>
          </a:p>
        </p:txBody>
      </p:sp>
      <p:sp>
        <p:nvSpPr>
          <p:cNvPr id="44" name="TextBox 43"/>
          <p:cNvSpPr txBox="1"/>
          <p:nvPr/>
        </p:nvSpPr>
        <p:spPr>
          <a:xfrm>
            <a:off x="3312405" y="3389129"/>
            <a:ext cx="3451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B</a:t>
            </a:r>
            <a:endParaRPr lang="en-US" dirty="0"/>
          </a:p>
        </p:txBody>
      </p:sp>
      <p:sp>
        <p:nvSpPr>
          <p:cNvPr id="45" name="TextBox 44"/>
          <p:cNvSpPr txBox="1"/>
          <p:nvPr/>
        </p:nvSpPr>
        <p:spPr>
          <a:xfrm>
            <a:off x="4306240" y="3389129"/>
            <a:ext cx="3451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A</a:t>
            </a:r>
            <a:endParaRPr lang="en-US" dirty="0"/>
          </a:p>
        </p:txBody>
      </p:sp>
      <p:sp>
        <p:nvSpPr>
          <p:cNvPr id="46" name="TextBox 45"/>
          <p:cNvSpPr txBox="1"/>
          <p:nvPr/>
        </p:nvSpPr>
        <p:spPr>
          <a:xfrm>
            <a:off x="2286000" y="3770129"/>
            <a:ext cx="3451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C</a:t>
            </a:r>
            <a:endParaRPr lang="en-US" dirty="0"/>
          </a:p>
        </p:txBody>
      </p:sp>
      <p:sp>
        <p:nvSpPr>
          <p:cNvPr id="47" name="TextBox 46"/>
          <p:cNvSpPr txBox="1"/>
          <p:nvPr/>
        </p:nvSpPr>
        <p:spPr>
          <a:xfrm>
            <a:off x="3312405" y="3770129"/>
            <a:ext cx="3451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A</a:t>
            </a:r>
            <a:endParaRPr lang="en-US" dirty="0"/>
          </a:p>
        </p:txBody>
      </p:sp>
      <p:sp>
        <p:nvSpPr>
          <p:cNvPr id="48" name="TextBox 47"/>
          <p:cNvSpPr txBox="1"/>
          <p:nvPr/>
        </p:nvSpPr>
        <p:spPr>
          <a:xfrm>
            <a:off x="4306240" y="3770129"/>
            <a:ext cx="3451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B</a:t>
            </a:r>
            <a:endParaRPr lang="en-US" dirty="0"/>
          </a:p>
        </p:txBody>
      </p:sp>
      <p:sp>
        <p:nvSpPr>
          <p:cNvPr id="49" name="TextBox 48"/>
          <p:cNvSpPr txBox="1"/>
          <p:nvPr/>
        </p:nvSpPr>
        <p:spPr>
          <a:xfrm>
            <a:off x="1143000" y="3693929"/>
            <a:ext cx="3451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❺</a:t>
            </a:r>
            <a:endParaRPr lang="en-US" dirty="0"/>
          </a:p>
        </p:txBody>
      </p:sp>
      <p:sp>
        <p:nvSpPr>
          <p:cNvPr id="50" name="TextBox 49"/>
          <p:cNvSpPr txBox="1"/>
          <p:nvPr/>
        </p:nvSpPr>
        <p:spPr>
          <a:xfrm>
            <a:off x="5353520" y="3745468"/>
            <a:ext cx="3451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2</a:t>
            </a:r>
            <a:endParaRPr lang="en-US" dirty="0"/>
          </a:p>
        </p:txBody>
      </p:sp>
      <p:sp>
        <p:nvSpPr>
          <p:cNvPr id="51" name="TextBox 50"/>
          <p:cNvSpPr txBox="1"/>
          <p:nvPr/>
        </p:nvSpPr>
        <p:spPr>
          <a:xfrm>
            <a:off x="6360405" y="3733800"/>
            <a:ext cx="3451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3</a:t>
            </a:r>
            <a:endParaRPr lang="en-US" dirty="0"/>
          </a:p>
        </p:txBody>
      </p:sp>
      <p:sp>
        <p:nvSpPr>
          <p:cNvPr id="52" name="TextBox 51"/>
          <p:cNvSpPr txBox="1"/>
          <p:nvPr/>
        </p:nvSpPr>
        <p:spPr>
          <a:xfrm>
            <a:off x="2286000" y="4114800"/>
            <a:ext cx="3451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C</a:t>
            </a:r>
            <a:endParaRPr lang="en-US" dirty="0"/>
          </a:p>
        </p:txBody>
      </p:sp>
      <p:sp>
        <p:nvSpPr>
          <p:cNvPr id="53" name="TextBox 52"/>
          <p:cNvSpPr txBox="1"/>
          <p:nvPr/>
        </p:nvSpPr>
        <p:spPr>
          <a:xfrm>
            <a:off x="3312405" y="4114800"/>
            <a:ext cx="3451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B</a:t>
            </a:r>
            <a:endParaRPr lang="en-US" dirty="0"/>
          </a:p>
        </p:txBody>
      </p:sp>
      <p:sp>
        <p:nvSpPr>
          <p:cNvPr id="54" name="TextBox 53"/>
          <p:cNvSpPr txBox="1"/>
          <p:nvPr/>
        </p:nvSpPr>
        <p:spPr>
          <a:xfrm>
            <a:off x="4306240" y="4114800"/>
            <a:ext cx="3451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A</a:t>
            </a:r>
            <a:endParaRPr lang="en-US" dirty="0"/>
          </a:p>
        </p:txBody>
      </p:sp>
      <p:sp>
        <p:nvSpPr>
          <p:cNvPr id="58" name="TextBox 57"/>
          <p:cNvSpPr txBox="1"/>
          <p:nvPr/>
        </p:nvSpPr>
        <p:spPr>
          <a:xfrm>
            <a:off x="1143000" y="4126468"/>
            <a:ext cx="3451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❻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57885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3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4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9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0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5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6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2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7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3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4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9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0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5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6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indefinite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1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2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7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8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9" fill="hold">
                      <p:stCondLst>
                        <p:cond delay="indefinite"/>
                      </p:stCondLst>
                      <p:childTnLst>
                        <p:par>
                          <p:cTn id="190" fill="hold">
                            <p:stCondLst>
                              <p:cond delay="0"/>
                            </p:stCondLst>
                            <p:childTnLst>
                              <p:par>
                                <p:cTn id="19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3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4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>
                      <p:stCondLst>
                        <p:cond delay="indefinite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9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0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1" fill="hold">
                      <p:stCondLst>
                        <p:cond delay="indefinite"/>
                      </p:stCondLst>
                      <p:childTnLst>
                        <p:par>
                          <p:cTn id="202" fill="hold">
                            <p:stCondLst>
                              <p:cond delay="0"/>
                            </p:stCondLst>
                            <p:childTnLst>
                              <p:par>
                                <p:cTn id="20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5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6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7" fill="hold">
                      <p:stCondLst>
                        <p:cond delay="indefinite"/>
                      </p:stCondLst>
                      <p:childTnLst>
                        <p:par>
                          <p:cTn id="208" fill="hold">
                            <p:stCondLst>
                              <p:cond delay="0"/>
                            </p:stCondLst>
                            <p:childTnLst>
                              <p:par>
                                <p:cTn id="20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1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2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3" fill="hold">
                      <p:stCondLst>
                        <p:cond delay="indefinite"/>
                      </p:stCondLst>
                      <p:childTnLst>
                        <p:par>
                          <p:cTn id="214" fill="hold">
                            <p:stCondLst>
                              <p:cond delay="0"/>
                            </p:stCondLst>
                            <p:childTnLst>
                              <p:par>
                                <p:cTn id="2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7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8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9" fill="hold">
                      <p:stCondLst>
                        <p:cond delay="indefinite"/>
                      </p:stCondLst>
                      <p:childTnLst>
                        <p:par>
                          <p:cTn id="220" fill="hold">
                            <p:stCondLst>
                              <p:cond delay="0"/>
                            </p:stCondLst>
                            <p:childTnLst>
                              <p:par>
                                <p:cTn id="2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3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4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5" fill="hold">
                      <p:stCondLst>
                        <p:cond delay="indefinite"/>
                      </p:stCondLst>
                      <p:childTnLst>
                        <p:par>
                          <p:cTn id="226" fill="hold">
                            <p:stCondLst>
                              <p:cond delay="0"/>
                            </p:stCondLst>
                            <p:childTnLst>
                              <p:par>
                                <p:cTn id="2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9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0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1" fill="hold">
                      <p:stCondLst>
                        <p:cond delay="indefinite"/>
                      </p:stCondLst>
                      <p:childTnLst>
                        <p:par>
                          <p:cTn id="232" fill="hold">
                            <p:stCondLst>
                              <p:cond delay="0"/>
                            </p:stCondLst>
                            <p:childTnLst>
                              <p:par>
                                <p:cTn id="2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5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6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7" fill="hold">
                      <p:stCondLst>
                        <p:cond delay="indefinite"/>
                      </p:stCondLst>
                      <p:childTnLst>
                        <p:par>
                          <p:cTn id="238" fill="hold">
                            <p:stCondLst>
                              <p:cond delay="0"/>
                            </p:stCondLst>
                            <p:childTnLst>
                              <p:par>
                                <p:cTn id="2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1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2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/>
      <p:bldP spid="32" grpId="0"/>
      <p:bldP spid="33" grpId="0"/>
      <p:bldP spid="34" grpId="0"/>
      <p:bldP spid="35" grpId="0"/>
      <p:bldP spid="36" grpId="0"/>
      <p:bldP spid="37" grpId="0"/>
      <p:bldP spid="38" grpId="0"/>
      <p:bldP spid="39" grpId="0"/>
      <p:bldP spid="40" grpId="0"/>
      <p:bldP spid="41" grpId="0"/>
      <p:bldP spid="42" grpId="0"/>
      <p:bldP spid="43" grpId="0"/>
      <p:bldP spid="44" grpId="0"/>
      <p:bldP spid="45" grpId="0"/>
      <p:bldP spid="46" grpId="0"/>
      <p:bldP spid="47" grpId="0"/>
      <p:bldP spid="48" grpId="0"/>
      <p:bldP spid="49" grpId="0"/>
      <p:bldP spid="50" grpId="0"/>
      <p:bldP spid="51" grpId="0"/>
      <p:bldP spid="52" grpId="0"/>
      <p:bldP spid="53" grpId="0"/>
      <p:bldP spid="54" grpId="0"/>
      <p:bldP spid="58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51</a:t>
            </a:fld>
            <a:endParaRPr lang="en-US"/>
          </a:p>
        </p:txBody>
      </p:sp>
      <p:grpSp>
        <p:nvGrpSpPr>
          <p:cNvPr id="3" name="Group 2"/>
          <p:cNvGrpSpPr/>
          <p:nvPr/>
        </p:nvGrpSpPr>
        <p:grpSpPr>
          <a:xfrm>
            <a:off x="914400" y="4559007"/>
            <a:ext cx="4648200" cy="1952005"/>
            <a:chOff x="457200" y="2396836"/>
            <a:chExt cx="7791450" cy="3136569"/>
          </a:xfrm>
        </p:grpSpPr>
        <p:pic>
          <p:nvPicPr>
            <p:cNvPr id="5" name="Picture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57200" y="2396836"/>
              <a:ext cx="5267325" cy="333375"/>
            </a:xfrm>
            <a:prstGeom prst="rect">
              <a:avLst/>
            </a:prstGeom>
          </p:spPr>
        </p:pic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57200" y="2771774"/>
              <a:ext cx="5438775" cy="314325"/>
            </a:xfrm>
            <a:prstGeom prst="rect">
              <a:avLst/>
            </a:prstGeom>
          </p:spPr>
        </p:pic>
        <p:pic>
          <p:nvPicPr>
            <p:cNvPr id="7" name="Picture 6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57200" y="3214067"/>
              <a:ext cx="7086600" cy="291133"/>
            </a:xfrm>
            <a:prstGeom prst="rect">
              <a:avLst/>
            </a:prstGeom>
          </p:spPr>
        </p:pic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14400" y="3633168"/>
              <a:ext cx="5362575" cy="409575"/>
            </a:xfrm>
            <a:prstGeom prst="rect">
              <a:avLst/>
            </a:prstGeom>
          </p:spPr>
        </p:pic>
        <p:pic>
          <p:nvPicPr>
            <p:cNvPr id="9" name="Picture 8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921327" y="4086223"/>
              <a:ext cx="5067300" cy="409575"/>
            </a:xfrm>
            <a:prstGeom prst="rect">
              <a:avLst/>
            </a:prstGeom>
          </p:spPr>
        </p:pic>
        <p:pic>
          <p:nvPicPr>
            <p:cNvPr id="11" name="Picture 10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921327" y="4467225"/>
              <a:ext cx="2019300" cy="409575"/>
            </a:xfrm>
            <a:prstGeom prst="rect">
              <a:avLst/>
            </a:prstGeom>
          </p:spPr>
        </p:pic>
        <p:pic>
          <p:nvPicPr>
            <p:cNvPr id="12" name="Picture 11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914400" y="4800600"/>
              <a:ext cx="7334250" cy="381000"/>
            </a:xfrm>
            <a:prstGeom prst="rect">
              <a:avLst/>
            </a:prstGeom>
          </p:spPr>
        </p:pic>
        <p:pic>
          <p:nvPicPr>
            <p:cNvPr id="13" name="Picture 12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914400" y="5142880"/>
              <a:ext cx="4486275" cy="390525"/>
            </a:xfrm>
            <a:prstGeom prst="rect">
              <a:avLst/>
            </a:prstGeom>
          </p:spPr>
        </p:pic>
      </p:grpSp>
      <p:graphicFrame>
        <p:nvGraphicFramePr>
          <p:cNvPr id="15" name="Table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3490206"/>
              </p:ext>
            </p:extLst>
          </p:nvPr>
        </p:nvGraphicFramePr>
        <p:xfrm>
          <a:off x="914400" y="1143000"/>
          <a:ext cx="6096000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462713069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89409097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658079678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369227194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12837744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8420874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Status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 smtClean="0"/>
                        <a:t>i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j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58039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75790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10676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70574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88558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46976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93877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643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6592893"/>
                  </a:ext>
                </a:extLst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2286000" y="1560329"/>
            <a:ext cx="3451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</a:t>
            </a:r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3312405" y="1560329"/>
            <a:ext cx="3451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06240" y="1560329"/>
            <a:ext cx="3451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3</a:t>
            </a:r>
            <a:endParaRPr lang="en-US" dirty="0"/>
          </a:p>
        </p:txBody>
      </p:sp>
      <p:sp>
        <p:nvSpPr>
          <p:cNvPr id="19" name="TextBox 18"/>
          <p:cNvSpPr txBox="1"/>
          <p:nvPr/>
        </p:nvSpPr>
        <p:spPr>
          <a:xfrm>
            <a:off x="5313125" y="1560329"/>
            <a:ext cx="3451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20010" y="1537839"/>
            <a:ext cx="3451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2</a:t>
            </a:r>
            <a:endParaRPr lang="en-US" dirty="0"/>
          </a:p>
        </p:txBody>
      </p:sp>
      <p:sp>
        <p:nvSpPr>
          <p:cNvPr id="21" name="TextBox 20"/>
          <p:cNvSpPr txBox="1"/>
          <p:nvPr/>
        </p:nvSpPr>
        <p:spPr>
          <a:xfrm>
            <a:off x="1143000" y="1560329"/>
            <a:ext cx="3451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❶</a:t>
            </a:r>
            <a:endParaRPr lang="en-US" dirty="0"/>
          </a:p>
        </p:txBody>
      </p:sp>
      <p:sp>
        <p:nvSpPr>
          <p:cNvPr id="22" name="TextBox 21"/>
          <p:cNvSpPr txBox="1"/>
          <p:nvPr/>
        </p:nvSpPr>
        <p:spPr>
          <a:xfrm>
            <a:off x="2286000" y="1941329"/>
            <a:ext cx="3451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12405" y="1941329"/>
            <a:ext cx="3451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3</a:t>
            </a:r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4306240" y="1941329"/>
            <a:ext cx="3451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" y="1907171"/>
            <a:ext cx="3451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❷</a:t>
            </a:r>
            <a:endParaRPr lang="en-US" dirty="0"/>
          </a:p>
        </p:txBody>
      </p:sp>
      <p:sp>
        <p:nvSpPr>
          <p:cNvPr id="26" name="TextBox 25"/>
          <p:cNvSpPr txBox="1"/>
          <p:nvPr/>
        </p:nvSpPr>
        <p:spPr>
          <a:xfrm>
            <a:off x="5313125" y="1941329"/>
            <a:ext cx="3451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0</a:t>
            </a:r>
            <a:endParaRPr lang="en-US" dirty="0"/>
          </a:p>
        </p:txBody>
      </p:sp>
      <p:sp>
        <p:nvSpPr>
          <p:cNvPr id="27" name="TextBox 26"/>
          <p:cNvSpPr txBox="1"/>
          <p:nvPr/>
        </p:nvSpPr>
        <p:spPr>
          <a:xfrm>
            <a:off x="6320010" y="1929661"/>
            <a:ext cx="3451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2</a:t>
            </a:r>
            <a:endParaRPr lang="en-US" dirty="0"/>
          </a:p>
        </p:txBody>
      </p:sp>
      <p:sp>
        <p:nvSpPr>
          <p:cNvPr id="28" name="TextBox 27"/>
          <p:cNvSpPr txBox="1"/>
          <p:nvPr/>
        </p:nvSpPr>
        <p:spPr>
          <a:xfrm>
            <a:off x="2286000" y="2322329"/>
            <a:ext cx="3451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2</a:t>
            </a:r>
            <a:endParaRPr lang="en-US" dirty="0"/>
          </a:p>
        </p:txBody>
      </p:sp>
      <p:sp>
        <p:nvSpPr>
          <p:cNvPr id="29" name="TextBox 28"/>
          <p:cNvSpPr txBox="1"/>
          <p:nvPr/>
        </p:nvSpPr>
        <p:spPr>
          <a:xfrm>
            <a:off x="3312405" y="2322329"/>
            <a:ext cx="3451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3</a:t>
            </a:r>
            <a:endParaRPr lang="en-US" dirty="0"/>
          </a:p>
        </p:txBody>
      </p:sp>
      <p:sp>
        <p:nvSpPr>
          <p:cNvPr id="30" name="TextBox 29"/>
          <p:cNvSpPr txBox="1"/>
          <p:nvPr/>
        </p:nvSpPr>
        <p:spPr>
          <a:xfrm>
            <a:off x="4306240" y="2322329"/>
            <a:ext cx="3451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</a:t>
            </a:r>
            <a:endParaRPr lang="en-US" dirty="0"/>
          </a:p>
        </p:txBody>
      </p:sp>
      <p:sp>
        <p:nvSpPr>
          <p:cNvPr id="31" name="TextBox 30"/>
          <p:cNvSpPr txBox="1"/>
          <p:nvPr/>
        </p:nvSpPr>
        <p:spPr>
          <a:xfrm>
            <a:off x="2286000" y="2703329"/>
            <a:ext cx="3451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2</a:t>
            </a:r>
            <a:endParaRPr lang="en-US" dirty="0"/>
          </a:p>
        </p:txBody>
      </p:sp>
      <p:sp>
        <p:nvSpPr>
          <p:cNvPr id="32" name="TextBox 31"/>
          <p:cNvSpPr txBox="1"/>
          <p:nvPr/>
        </p:nvSpPr>
        <p:spPr>
          <a:xfrm>
            <a:off x="3312405" y="2703329"/>
            <a:ext cx="3451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06240" y="2703329"/>
            <a:ext cx="3451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3</a:t>
            </a:r>
            <a:endParaRPr lang="en-US" dirty="0"/>
          </a:p>
        </p:txBody>
      </p:sp>
      <p:sp>
        <p:nvSpPr>
          <p:cNvPr id="34" name="TextBox 33"/>
          <p:cNvSpPr txBox="1"/>
          <p:nvPr/>
        </p:nvSpPr>
        <p:spPr>
          <a:xfrm>
            <a:off x="1143000" y="2615160"/>
            <a:ext cx="3451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❸</a:t>
            </a:r>
            <a:endParaRPr lang="en-US" dirty="0"/>
          </a:p>
        </p:txBody>
      </p:sp>
      <p:sp>
        <p:nvSpPr>
          <p:cNvPr id="35" name="TextBox 34"/>
          <p:cNvSpPr txBox="1"/>
          <p:nvPr/>
        </p:nvSpPr>
        <p:spPr>
          <a:xfrm>
            <a:off x="5353520" y="2703329"/>
            <a:ext cx="3451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</a:t>
            </a:r>
            <a:endParaRPr lang="en-US" dirty="0"/>
          </a:p>
        </p:txBody>
      </p:sp>
      <p:sp>
        <p:nvSpPr>
          <p:cNvPr id="36" name="TextBox 35"/>
          <p:cNvSpPr txBox="1"/>
          <p:nvPr/>
        </p:nvSpPr>
        <p:spPr>
          <a:xfrm>
            <a:off x="6360405" y="2691661"/>
            <a:ext cx="3451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2</a:t>
            </a:r>
            <a:endParaRPr lang="en-US" dirty="0"/>
          </a:p>
        </p:txBody>
      </p:sp>
      <p:sp>
        <p:nvSpPr>
          <p:cNvPr id="37" name="TextBox 36"/>
          <p:cNvSpPr txBox="1"/>
          <p:nvPr/>
        </p:nvSpPr>
        <p:spPr>
          <a:xfrm>
            <a:off x="2286000" y="3084329"/>
            <a:ext cx="3451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2</a:t>
            </a:r>
            <a:endParaRPr lang="en-US" dirty="0"/>
          </a:p>
        </p:txBody>
      </p:sp>
      <p:sp>
        <p:nvSpPr>
          <p:cNvPr id="38" name="TextBox 37"/>
          <p:cNvSpPr txBox="1"/>
          <p:nvPr/>
        </p:nvSpPr>
        <p:spPr>
          <a:xfrm>
            <a:off x="3312405" y="3084329"/>
            <a:ext cx="3451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3</a:t>
            </a:r>
            <a:endParaRPr lang="en-US" dirty="0"/>
          </a:p>
        </p:txBody>
      </p:sp>
      <p:sp>
        <p:nvSpPr>
          <p:cNvPr id="39" name="TextBox 38"/>
          <p:cNvSpPr txBox="1"/>
          <p:nvPr/>
        </p:nvSpPr>
        <p:spPr>
          <a:xfrm>
            <a:off x="4306240" y="3084329"/>
            <a:ext cx="3451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</a:t>
            </a:r>
            <a:endParaRPr lang="en-US" dirty="0"/>
          </a:p>
        </p:txBody>
      </p:sp>
      <p:sp>
        <p:nvSpPr>
          <p:cNvPr id="40" name="TextBox 39"/>
          <p:cNvSpPr txBox="1"/>
          <p:nvPr/>
        </p:nvSpPr>
        <p:spPr>
          <a:xfrm>
            <a:off x="1143000" y="3008129"/>
            <a:ext cx="3451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❹</a:t>
            </a:r>
            <a:endParaRPr lang="en-US" dirty="0"/>
          </a:p>
        </p:txBody>
      </p:sp>
      <p:sp>
        <p:nvSpPr>
          <p:cNvPr id="41" name="TextBox 40"/>
          <p:cNvSpPr txBox="1"/>
          <p:nvPr/>
        </p:nvSpPr>
        <p:spPr>
          <a:xfrm>
            <a:off x="5353520" y="3084329"/>
            <a:ext cx="3451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60405" y="3072661"/>
            <a:ext cx="3451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286000" y="3389129"/>
            <a:ext cx="3451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3</a:t>
            </a:r>
            <a:endParaRPr lang="en-US" dirty="0"/>
          </a:p>
        </p:txBody>
      </p:sp>
      <p:sp>
        <p:nvSpPr>
          <p:cNvPr id="44" name="TextBox 43"/>
          <p:cNvSpPr txBox="1"/>
          <p:nvPr/>
        </p:nvSpPr>
        <p:spPr>
          <a:xfrm>
            <a:off x="3312405" y="3389129"/>
            <a:ext cx="3451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306240" y="3389129"/>
            <a:ext cx="3451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</a:t>
            </a:r>
            <a:endParaRPr lang="en-US" dirty="0"/>
          </a:p>
        </p:txBody>
      </p:sp>
      <p:sp>
        <p:nvSpPr>
          <p:cNvPr id="46" name="TextBox 45"/>
          <p:cNvSpPr txBox="1"/>
          <p:nvPr/>
        </p:nvSpPr>
        <p:spPr>
          <a:xfrm>
            <a:off x="2286000" y="3770129"/>
            <a:ext cx="3451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312405" y="3770129"/>
            <a:ext cx="3451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</a:t>
            </a:r>
            <a:endParaRPr lang="en-US" dirty="0"/>
          </a:p>
        </p:txBody>
      </p:sp>
      <p:sp>
        <p:nvSpPr>
          <p:cNvPr id="48" name="TextBox 47"/>
          <p:cNvSpPr txBox="1"/>
          <p:nvPr/>
        </p:nvSpPr>
        <p:spPr>
          <a:xfrm>
            <a:off x="4306240" y="3770129"/>
            <a:ext cx="3451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43000" y="3693929"/>
            <a:ext cx="3451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❺</a:t>
            </a:r>
            <a:endParaRPr lang="en-US" dirty="0"/>
          </a:p>
        </p:txBody>
      </p:sp>
      <p:sp>
        <p:nvSpPr>
          <p:cNvPr id="50" name="TextBox 49"/>
          <p:cNvSpPr txBox="1"/>
          <p:nvPr/>
        </p:nvSpPr>
        <p:spPr>
          <a:xfrm>
            <a:off x="5353520" y="3745468"/>
            <a:ext cx="3451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</a:t>
            </a:r>
            <a:endParaRPr lang="en-US" dirty="0"/>
          </a:p>
        </p:txBody>
      </p:sp>
      <p:sp>
        <p:nvSpPr>
          <p:cNvPr id="51" name="TextBox 50"/>
          <p:cNvSpPr txBox="1"/>
          <p:nvPr/>
        </p:nvSpPr>
        <p:spPr>
          <a:xfrm>
            <a:off x="6360405" y="3733800"/>
            <a:ext cx="3451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2</a:t>
            </a:r>
            <a:endParaRPr lang="en-US" dirty="0"/>
          </a:p>
        </p:txBody>
      </p:sp>
      <p:sp>
        <p:nvSpPr>
          <p:cNvPr id="52" name="TextBox 51"/>
          <p:cNvSpPr txBox="1"/>
          <p:nvPr/>
        </p:nvSpPr>
        <p:spPr>
          <a:xfrm>
            <a:off x="2286000" y="4114800"/>
            <a:ext cx="3451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312405" y="4114800"/>
            <a:ext cx="3451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306240" y="4114800"/>
            <a:ext cx="3451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</a:t>
            </a:r>
            <a:endParaRPr lang="en-US" dirty="0"/>
          </a:p>
        </p:txBody>
      </p:sp>
      <p:sp>
        <p:nvSpPr>
          <p:cNvPr id="58" name="TextBox 57"/>
          <p:cNvSpPr txBox="1"/>
          <p:nvPr/>
        </p:nvSpPr>
        <p:spPr>
          <a:xfrm>
            <a:off x="1143000" y="4126468"/>
            <a:ext cx="3451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❻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93208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3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4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9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0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5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6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2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7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3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4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9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0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5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6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indefinite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1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2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7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8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9" fill="hold">
                      <p:stCondLst>
                        <p:cond delay="indefinite"/>
                      </p:stCondLst>
                      <p:childTnLst>
                        <p:par>
                          <p:cTn id="190" fill="hold">
                            <p:stCondLst>
                              <p:cond delay="0"/>
                            </p:stCondLst>
                            <p:childTnLst>
                              <p:par>
                                <p:cTn id="19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3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4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>
                      <p:stCondLst>
                        <p:cond delay="indefinite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9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0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1" fill="hold">
                      <p:stCondLst>
                        <p:cond delay="indefinite"/>
                      </p:stCondLst>
                      <p:childTnLst>
                        <p:par>
                          <p:cTn id="202" fill="hold">
                            <p:stCondLst>
                              <p:cond delay="0"/>
                            </p:stCondLst>
                            <p:childTnLst>
                              <p:par>
                                <p:cTn id="20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5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6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7" fill="hold">
                      <p:stCondLst>
                        <p:cond delay="indefinite"/>
                      </p:stCondLst>
                      <p:childTnLst>
                        <p:par>
                          <p:cTn id="208" fill="hold">
                            <p:stCondLst>
                              <p:cond delay="0"/>
                            </p:stCondLst>
                            <p:childTnLst>
                              <p:par>
                                <p:cTn id="20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1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2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3" fill="hold">
                      <p:stCondLst>
                        <p:cond delay="indefinite"/>
                      </p:stCondLst>
                      <p:childTnLst>
                        <p:par>
                          <p:cTn id="214" fill="hold">
                            <p:stCondLst>
                              <p:cond delay="0"/>
                            </p:stCondLst>
                            <p:childTnLst>
                              <p:par>
                                <p:cTn id="2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7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8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9" fill="hold">
                      <p:stCondLst>
                        <p:cond delay="indefinite"/>
                      </p:stCondLst>
                      <p:childTnLst>
                        <p:par>
                          <p:cTn id="220" fill="hold">
                            <p:stCondLst>
                              <p:cond delay="0"/>
                            </p:stCondLst>
                            <p:childTnLst>
                              <p:par>
                                <p:cTn id="2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3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4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5" fill="hold">
                      <p:stCondLst>
                        <p:cond delay="indefinite"/>
                      </p:stCondLst>
                      <p:childTnLst>
                        <p:par>
                          <p:cTn id="226" fill="hold">
                            <p:stCondLst>
                              <p:cond delay="0"/>
                            </p:stCondLst>
                            <p:childTnLst>
                              <p:par>
                                <p:cTn id="2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9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0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1" fill="hold">
                      <p:stCondLst>
                        <p:cond delay="indefinite"/>
                      </p:stCondLst>
                      <p:childTnLst>
                        <p:par>
                          <p:cTn id="232" fill="hold">
                            <p:stCondLst>
                              <p:cond delay="0"/>
                            </p:stCondLst>
                            <p:childTnLst>
                              <p:par>
                                <p:cTn id="2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5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6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7" fill="hold">
                      <p:stCondLst>
                        <p:cond delay="indefinite"/>
                      </p:stCondLst>
                      <p:childTnLst>
                        <p:par>
                          <p:cTn id="238" fill="hold">
                            <p:stCondLst>
                              <p:cond delay="0"/>
                            </p:stCondLst>
                            <p:childTnLst>
                              <p:par>
                                <p:cTn id="2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1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2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/>
      <p:bldP spid="32" grpId="0"/>
      <p:bldP spid="33" grpId="0"/>
      <p:bldP spid="34" grpId="0"/>
      <p:bldP spid="35" grpId="0"/>
      <p:bldP spid="36" grpId="0"/>
      <p:bldP spid="37" grpId="0"/>
      <p:bldP spid="38" grpId="0"/>
      <p:bldP spid="39" grpId="0"/>
      <p:bldP spid="40" grpId="0"/>
      <p:bldP spid="41" grpId="0"/>
      <p:bldP spid="42" grpId="0"/>
      <p:bldP spid="43" grpId="0"/>
      <p:bldP spid="44" grpId="0"/>
      <p:bldP spid="45" grpId="0"/>
      <p:bldP spid="46" grpId="0"/>
      <p:bldP spid="47" grpId="0"/>
      <p:bldP spid="48" grpId="0"/>
      <p:bldP spid="49" grpId="0"/>
      <p:bldP spid="50" grpId="0"/>
      <p:bldP spid="51" grpId="0"/>
      <p:bldP spid="52" grpId="0"/>
      <p:bldP spid="53" grpId="0"/>
      <p:bldP spid="54" grpId="0"/>
      <p:bldP spid="58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2000" y="2133600"/>
            <a:ext cx="6248400" cy="1470025"/>
          </a:xfrm>
        </p:spPr>
        <p:txBody>
          <a:bodyPr>
            <a:normAutofit/>
          </a:bodyPr>
          <a:lstStyle/>
          <a:p>
            <a:r>
              <a:rPr lang="en-US" b="1" dirty="0" smtClean="0">
                <a:solidFill>
                  <a:srgbClr val="00823B"/>
                </a:solidFill>
              </a:rPr>
              <a:t>Generating Subsets</a:t>
            </a:r>
            <a:br>
              <a:rPr lang="en-US" b="1" dirty="0" smtClean="0">
                <a:solidFill>
                  <a:srgbClr val="00823B"/>
                </a:solidFill>
              </a:rPr>
            </a:br>
            <a:r>
              <a:rPr lang="en-US" sz="2400" b="1" dirty="0" smtClean="0">
                <a:solidFill>
                  <a:srgbClr val="FF0000"/>
                </a:solidFill>
              </a:rPr>
              <a:t>Student Exercise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62000" y="3962400"/>
            <a:ext cx="6400800" cy="1752600"/>
          </a:xfrm>
        </p:spPr>
        <p:txBody>
          <a:bodyPr/>
          <a:lstStyle/>
          <a:p>
            <a:r>
              <a:rPr lang="en-US" dirty="0" smtClean="0"/>
              <a:t>Binary Reflected </a:t>
            </a:r>
            <a:r>
              <a:rPr lang="en-US" dirty="0"/>
              <a:t>Gray </a:t>
            </a:r>
            <a:r>
              <a:rPr lang="en-US" dirty="0" smtClean="0"/>
              <a:t>Code (BRGC) Algorithm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92931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Binary Reflected Gray Code (BRGC)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minimal-change </a:t>
            </a:r>
            <a:r>
              <a:rPr lang="en-US" altLang="en-US" dirty="0" smtClean="0"/>
              <a:t>algorithm</a:t>
            </a:r>
          </a:p>
          <a:p>
            <a:pPr lvl="1"/>
            <a:endParaRPr lang="en-US" altLang="en-US" dirty="0" smtClean="0"/>
          </a:p>
          <a:p>
            <a:pPr lvl="1"/>
            <a:r>
              <a:rPr lang="en-US" altLang="en-US" dirty="0" smtClean="0"/>
              <a:t>generating </a:t>
            </a:r>
            <a:r>
              <a:rPr lang="en-US" altLang="en-US" dirty="0"/>
              <a:t>2</a:t>
            </a:r>
            <a:r>
              <a:rPr lang="en-US" altLang="en-US" i="1" baseline="30000" dirty="0"/>
              <a:t>n </a:t>
            </a:r>
            <a:r>
              <a:rPr lang="en-US" altLang="en-US" dirty="0"/>
              <a:t>bit </a:t>
            </a:r>
            <a:r>
              <a:rPr lang="en-US" altLang="en-US" dirty="0" smtClean="0"/>
              <a:t>strings</a:t>
            </a:r>
          </a:p>
          <a:p>
            <a:pPr lvl="1"/>
            <a:endParaRPr lang="en-US" altLang="en-US" dirty="0" smtClean="0"/>
          </a:p>
          <a:p>
            <a:pPr lvl="1"/>
            <a:r>
              <a:rPr lang="en-US" altLang="en-US" dirty="0" smtClean="0"/>
              <a:t>corresponding </a:t>
            </a:r>
            <a:r>
              <a:rPr lang="en-US" altLang="en-US" dirty="0"/>
              <a:t>to all the subsets </a:t>
            </a:r>
            <a:r>
              <a:rPr lang="en-US" altLang="en-US" dirty="0" smtClean="0"/>
              <a:t>of an </a:t>
            </a:r>
            <a:r>
              <a:rPr lang="en-US" altLang="en-US" i="1" dirty="0"/>
              <a:t>n</a:t>
            </a:r>
            <a:r>
              <a:rPr lang="en-US" altLang="en-US" dirty="0"/>
              <a:t>-element set where </a:t>
            </a:r>
            <a:r>
              <a:rPr lang="en-US" altLang="en-US" i="1" dirty="0"/>
              <a:t>n</a:t>
            </a:r>
            <a:r>
              <a:rPr lang="en-US" altLang="en-US" dirty="0"/>
              <a:t> &gt; </a:t>
            </a:r>
            <a:r>
              <a:rPr lang="en-US" altLang="en-US" dirty="0" smtClean="0"/>
              <a:t>0</a:t>
            </a:r>
          </a:p>
          <a:p>
            <a:pPr lvl="1"/>
            <a:endParaRPr lang="en-US" alt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79411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Binary Reflected Gray Code (BRGC)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altLang="en-US" dirty="0"/>
              <a:t>If </a:t>
            </a:r>
            <a:r>
              <a:rPr lang="en-US" altLang="en-US" i="1" dirty="0" smtClean="0"/>
              <a:t>n</a:t>
            </a:r>
            <a:r>
              <a:rPr lang="en-US" altLang="en-US" dirty="0" smtClean="0"/>
              <a:t>=1</a:t>
            </a:r>
          </a:p>
          <a:p>
            <a:pPr lvl="1"/>
            <a:r>
              <a:rPr lang="en-US" altLang="en-US" dirty="0" smtClean="0"/>
              <a:t>make </a:t>
            </a:r>
            <a:r>
              <a:rPr lang="en-US" altLang="en-US" dirty="0"/>
              <a:t>list </a:t>
            </a:r>
            <a:r>
              <a:rPr lang="en-US" altLang="en-US" i="1" dirty="0"/>
              <a:t>L </a:t>
            </a:r>
            <a:r>
              <a:rPr lang="en-US" altLang="en-US" dirty="0"/>
              <a:t>of two bit strings 0 and 1</a:t>
            </a:r>
          </a:p>
          <a:p>
            <a:r>
              <a:rPr lang="en-US" altLang="en-US" dirty="0" smtClean="0"/>
              <a:t>Else</a:t>
            </a:r>
          </a:p>
          <a:p>
            <a:pPr lvl="1"/>
            <a:r>
              <a:rPr lang="en-US" altLang="en-US" dirty="0"/>
              <a:t>generate recursively list </a:t>
            </a:r>
            <a:r>
              <a:rPr lang="en-US" altLang="en-US" i="1" dirty="0"/>
              <a:t>L</a:t>
            </a:r>
            <a:r>
              <a:rPr lang="en-US" altLang="en-US" dirty="0"/>
              <a:t>1 of bit strings of length </a:t>
            </a:r>
            <a:r>
              <a:rPr lang="en-US" altLang="en-US" i="1" dirty="0" smtClean="0"/>
              <a:t>n</a:t>
            </a:r>
            <a:r>
              <a:rPr lang="en-US" altLang="en-US" dirty="0" smtClean="0"/>
              <a:t>-1</a:t>
            </a:r>
          </a:p>
          <a:p>
            <a:pPr lvl="1"/>
            <a:r>
              <a:rPr lang="en-US" altLang="en-US" dirty="0"/>
              <a:t>copy list </a:t>
            </a:r>
            <a:r>
              <a:rPr lang="en-US" altLang="en-US" i="1" dirty="0"/>
              <a:t>L</a:t>
            </a:r>
            <a:r>
              <a:rPr lang="en-US" altLang="en-US" dirty="0"/>
              <a:t>1 in reverse order to get list </a:t>
            </a:r>
            <a:r>
              <a:rPr lang="en-US" altLang="en-US" i="1" dirty="0" smtClean="0"/>
              <a:t>L</a:t>
            </a:r>
            <a:r>
              <a:rPr lang="en-US" altLang="en-US" dirty="0" smtClean="0"/>
              <a:t>2</a:t>
            </a:r>
          </a:p>
          <a:p>
            <a:pPr lvl="1"/>
            <a:r>
              <a:rPr lang="en-US" altLang="en-US" dirty="0"/>
              <a:t>add 0 in front of each bit string in list </a:t>
            </a:r>
            <a:r>
              <a:rPr lang="en-US" altLang="en-US" i="1" dirty="0"/>
              <a:t>L</a:t>
            </a:r>
            <a:r>
              <a:rPr lang="en-US" altLang="en-US" dirty="0"/>
              <a:t>1</a:t>
            </a:r>
          </a:p>
          <a:p>
            <a:pPr lvl="1"/>
            <a:r>
              <a:rPr lang="en-US" altLang="en-US" dirty="0"/>
              <a:t>add 1 in front of each bit string in list </a:t>
            </a:r>
            <a:r>
              <a:rPr lang="en-US" altLang="en-US" i="1" dirty="0" smtClean="0"/>
              <a:t>L</a:t>
            </a:r>
            <a:r>
              <a:rPr lang="en-US" altLang="en-US" dirty="0" smtClean="0"/>
              <a:t>2</a:t>
            </a:r>
          </a:p>
          <a:p>
            <a:pPr lvl="1"/>
            <a:r>
              <a:rPr lang="en-US" altLang="en-US" dirty="0"/>
              <a:t>append </a:t>
            </a:r>
            <a:r>
              <a:rPr lang="en-US" altLang="en-US" i="1" dirty="0"/>
              <a:t>L</a:t>
            </a:r>
            <a:r>
              <a:rPr lang="en-US" altLang="en-US" dirty="0"/>
              <a:t>2 to </a:t>
            </a:r>
            <a:r>
              <a:rPr lang="en-US" altLang="en-US" i="1" dirty="0"/>
              <a:t>L</a:t>
            </a:r>
            <a:r>
              <a:rPr lang="en-US" altLang="en-US" dirty="0"/>
              <a:t>1 to get </a:t>
            </a:r>
            <a:r>
              <a:rPr lang="en-US" altLang="en-US" i="1" dirty="0" smtClean="0"/>
              <a:t>L</a:t>
            </a:r>
          </a:p>
          <a:p>
            <a:r>
              <a:rPr lang="en-US" altLang="en-US" dirty="0"/>
              <a:t>return </a:t>
            </a:r>
            <a:r>
              <a:rPr lang="en-US" altLang="en-US" i="1" dirty="0" smtClean="0"/>
              <a:t>L</a:t>
            </a:r>
            <a:endParaRPr lang="en-US" altLang="en-US" dirty="0"/>
          </a:p>
          <a:p>
            <a:endParaRPr lang="en-US" alt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7956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Binary Reflected Gray Code (BRGC)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altLang="en-US" dirty="0"/>
              <a:t>If </a:t>
            </a:r>
            <a:r>
              <a:rPr lang="en-US" altLang="en-US" i="1" dirty="0" smtClean="0"/>
              <a:t>n</a:t>
            </a:r>
            <a:r>
              <a:rPr lang="en-US" altLang="en-US" dirty="0" smtClean="0"/>
              <a:t>=1</a:t>
            </a:r>
          </a:p>
          <a:p>
            <a:pPr lvl="1"/>
            <a:r>
              <a:rPr lang="en-US" altLang="en-US" dirty="0" smtClean="0"/>
              <a:t>make </a:t>
            </a:r>
            <a:r>
              <a:rPr lang="en-US" altLang="en-US" dirty="0"/>
              <a:t>list </a:t>
            </a:r>
            <a:r>
              <a:rPr lang="en-US" altLang="en-US" i="1" dirty="0"/>
              <a:t>L </a:t>
            </a:r>
            <a:r>
              <a:rPr lang="en-US" altLang="en-US" dirty="0"/>
              <a:t>of two bit strings 0 and 1</a:t>
            </a:r>
          </a:p>
          <a:p>
            <a:r>
              <a:rPr lang="en-US" altLang="en-US" dirty="0" smtClean="0"/>
              <a:t>Else</a:t>
            </a:r>
          </a:p>
          <a:p>
            <a:pPr lvl="1"/>
            <a:r>
              <a:rPr lang="en-US" altLang="en-US" dirty="0"/>
              <a:t>generate recursively list </a:t>
            </a:r>
            <a:r>
              <a:rPr lang="en-US" altLang="en-US" i="1" dirty="0"/>
              <a:t>L</a:t>
            </a:r>
            <a:r>
              <a:rPr lang="en-US" altLang="en-US" dirty="0"/>
              <a:t>1 of bit strings of length </a:t>
            </a:r>
            <a:r>
              <a:rPr lang="en-US" altLang="en-US" i="1" dirty="0" smtClean="0"/>
              <a:t>n</a:t>
            </a:r>
            <a:r>
              <a:rPr lang="en-US" altLang="en-US" dirty="0" smtClean="0"/>
              <a:t>-1</a:t>
            </a:r>
          </a:p>
          <a:p>
            <a:pPr lvl="1"/>
            <a:r>
              <a:rPr lang="en-US" altLang="en-US" dirty="0"/>
              <a:t>copy list </a:t>
            </a:r>
            <a:r>
              <a:rPr lang="en-US" altLang="en-US" i="1" dirty="0"/>
              <a:t>L</a:t>
            </a:r>
            <a:r>
              <a:rPr lang="en-US" altLang="en-US" dirty="0"/>
              <a:t>1 in reverse order to get list </a:t>
            </a:r>
            <a:r>
              <a:rPr lang="en-US" altLang="en-US" i="1" dirty="0" smtClean="0"/>
              <a:t>L</a:t>
            </a:r>
            <a:r>
              <a:rPr lang="en-US" altLang="en-US" dirty="0" smtClean="0"/>
              <a:t>2</a:t>
            </a:r>
          </a:p>
          <a:p>
            <a:pPr lvl="1"/>
            <a:r>
              <a:rPr lang="en-US" altLang="en-US" dirty="0"/>
              <a:t>add 0 in front of each bit string in list </a:t>
            </a:r>
            <a:r>
              <a:rPr lang="en-US" altLang="en-US" i="1" dirty="0"/>
              <a:t>L</a:t>
            </a:r>
            <a:r>
              <a:rPr lang="en-US" altLang="en-US" dirty="0"/>
              <a:t>1</a:t>
            </a:r>
          </a:p>
          <a:p>
            <a:pPr lvl="1"/>
            <a:r>
              <a:rPr lang="en-US" altLang="en-US" dirty="0"/>
              <a:t>add 1 in front of each bit string in list </a:t>
            </a:r>
            <a:r>
              <a:rPr lang="en-US" altLang="en-US" i="1" dirty="0" smtClean="0"/>
              <a:t>L</a:t>
            </a:r>
            <a:r>
              <a:rPr lang="en-US" altLang="en-US" dirty="0" smtClean="0"/>
              <a:t>2</a:t>
            </a:r>
          </a:p>
          <a:p>
            <a:pPr lvl="1"/>
            <a:r>
              <a:rPr lang="en-US" altLang="en-US" dirty="0"/>
              <a:t>append </a:t>
            </a:r>
            <a:r>
              <a:rPr lang="en-US" altLang="en-US" i="1" dirty="0"/>
              <a:t>L</a:t>
            </a:r>
            <a:r>
              <a:rPr lang="en-US" altLang="en-US" dirty="0"/>
              <a:t>2 to </a:t>
            </a:r>
            <a:r>
              <a:rPr lang="en-US" altLang="en-US" i="1" dirty="0"/>
              <a:t>L</a:t>
            </a:r>
            <a:r>
              <a:rPr lang="en-US" altLang="en-US" dirty="0"/>
              <a:t>1 to get </a:t>
            </a:r>
            <a:r>
              <a:rPr lang="en-US" altLang="en-US" i="1" dirty="0" smtClean="0"/>
              <a:t>L</a:t>
            </a:r>
          </a:p>
          <a:p>
            <a:r>
              <a:rPr lang="en-US" altLang="en-US" dirty="0"/>
              <a:t>return </a:t>
            </a:r>
            <a:r>
              <a:rPr lang="en-US" altLang="en-US" i="1" dirty="0" smtClean="0"/>
              <a:t>L</a:t>
            </a:r>
            <a:endParaRPr lang="en-US" altLang="en-US" dirty="0"/>
          </a:p>
          <a:p>
            <a:endParaRPr lang="en-US" alt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87150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Binary Reflected Gray Code (BRGC)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56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025" y="2514600"/>
            <a:ext cx="7677150" cy="199072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325" y="5029200"/>
            <a:ext cx="7077075" cy="552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96112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/>
          <p:cNvGrpSpPr/>
          <p:nvPr/>
        </p:nvGrpSpPr>
        <p:grpSpPr>
          <a:xfrm>
            <a:off x="918075" y="4539129"/>
            <a:ext cx="6420832" cy="1785471"/>
            <a:chOff x="613275" y="0"/>
            <a:chExt cx="6420832" cy="1785471"/>
          </a:xfrm>
        </p:grpSpPr>
        <p:sp>
          <p:nvSpPr>
            <p:cNvPr id="13" name="Pentagon 12"/>
            <p:cNvSpPr/>
            <p:nvPr/>
          </p:nvSpPr>
          <p:spPr>
            <a:xfrm rot="10800000">
              <a:off x="613275" y="0"/>
              <a:ext cx="6420832" cy="1785471"/>
            </a:xfrm>
            <a:prstGeom prst="homePlate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4" name="Pentagon 4"/>
            <p:cNvSpPr/>
            <p:nvPr/>
          </p:nvSpPr>
          <p:spPr>
            <a:xfrm rot="21600000">
              <a:off x="1059643" y="0"/>
              <a:ext cx="5974464" cy="1785471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787343" tIns="76200" rIns="142240" bIns="76200" numCol="1" spcCol="1270" anchor="ctr" anchorCtr="0">
              <a:noAutofit/>
            </a:bodyPr>
            <a:lstStyle/>
            <a:p>
              <a:pPr lvl="0"/>
              <a:r>
                <a:rPr lang="en-US" sz="2000" dirty="0"/>
                <a:t>Allah (Alone) is Sufficient for us, and He is the Best Disposer of affairs (for us).</a:t>
              </a:r>
              <a:r>
                <a:rPr lang="en-US" sz="1400" b="1" dirty="0">
                  <a:solidFill>
                    <a:srgbClr val="FFFF00"/>
                  </a:solidFill>
                </a:rPr>
                <a:t>(Quran 3 : 173)</a:t>
              </a:r>
              <a:endParaRPr lang="en-US" sz="2000" b="1" dirty="0">
                <a:solidFill>
                  <a:srgbClr val="FFFF00"/>
                </a:solidFill>
              </a:endParaRPr>
            </a:p>
          </p:txBody>
        </p:sp>
      </p:grpSp>
      <p:sp>
        <p:nvSpPr>
          <p:cNvPr id="12" name="Oval 11"/>
          <p:cNvSpPr/>
          <p:nvPr/>
        </p:nvSpPr>
        <p:spPr>
          <a:xfrm>
            <a:off x="304800" y="4539129"/>
            <a:ext cx="1785471" cy="1785471"/>
          </a:xfrm>
          <a:prstGeom prst="ellipse">
            <a:avLst/>
          </a:prstGeom>
          <a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39000" r="-39000"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</p:sp>
      <p:pic>
        <p:nvPicPr>
          <p:cNvPr id="7" name="Content Placeholder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1143000"/>
            <a:ext cx="6420213" cy="3213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37398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4143</TotalTime>
  <Words>1494</Words>
  <Application>Microsoft Office PowerPoint</Application>
  <PresentationFormat>On-screen Show (4:3)</PresentationFormat>
  <Paragraphs>388</Paragraphs>
  <Slides>57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57</vt:i4>
      </vt:variant>
    </vt:vector>
  </HeadingPairs>
  <TitlesOfParts>
    <vt:vector size="61" baseType="lpstr">
      <vt:lpstr>Arial</vt:lpstr>
      <vt:lpstr>Calibri</vt:lpstr>
      <vt:lpstr>Courier New</vt:lpstr>
      <vt:lpstr>Office Theme</vt:lpstr>
      <vt:lpstr>PowerPoint Presentation</vt:lpstr>
      <vt:lpstr>Decrease and Conquer</vt:lpstr>
      <vt:lpstr>Decrease and Conquer</vt:lpstr>
      <vt:lpstr>Decrease and Conquer</vt:lpstr>
      <vt:lpstr>Decrease by a Constant</vt:lpstr>
      <vt:lpstr>Decrease by a Constant</vt:lpstr>
      <vt:lpstr>Example</vt:lpstr>
      <vt:lpstr>Example - Exponentiation</vt:lpstr>
      <vt:lpstr>Decrease by a Constant Factor</vt:lpstr>
      <vt:lpstr>Decrease by a Constant Factor</vt:lpstr>
      <vt:lpstr>Example</vt:lpstr>
      <vt:lpstr>Example - Exponentiation</vt:lpstr>
      <vt:lpstr>Variable Size Decrease</vt:lpstr>
      <vt:lpstr>Variable Size Decrease</vt:lpstr>
      <vt:lpstr>Example - GCD</vt:lpstr>
      <vt:lpstr>Insertion Sort</vt:lpstr>
      <vt:lpstr>Example: Insertion sort</vt:lpstr>
      <vt:lpstr>Example: Insertion sort</vt:lpstr>
      <vt:lpstr>Analysis</vt:lpstr>
      <vt:lpstr>Topological Sorting</vt:lpstr>
      <vt:lpstr>Topological Sorting</vt:lpstr>
      <vt:lpstr>Topological Sorting</vt:lpstr>
      <vt:lpstr>Topological Sorting (Solution)</vt:lpstr>
      <vt:lpstr>Topological Sorting</vt:lpstr>
      <vt:lpstr>Topological Sorting (Algo - 1)</vt:lpstr>
      <vt:lpstr>Topological Sorting (Algo - 1)</vt:lpstr>
      <vt:lpstr>Topological Sorting (Algo - 1)</vt:lpstr>
      <vt:lpstr>Topological Sorting (Algo - 2)</vt:lpstr>
      <vt:lpstr>Topological Sorting (Algo - 2)</vt:lpstr>
      <vt:lpstr>Topological Sorting (Algo - 2)</vt:lpstr>
      <vt:lpstr>Topological Sorting (Algo - 2)</vt:lpstr>
      <vt:lpstr>Topological Sorting (Algo - 2)</vt:lpstr>
      <vt:lpstr>Generation Permutation</vt:lpstr>
      <vt:lpstr>Minimum Change Requirement</vt:lpstr>
      <vt:lpstr>Minimum Change Requirement</vt:lpstr>
      <vt:lpstr>Minimum Change Requirement</vt:lpstr>
      <vt:lpstr>Minimum Change Requirement</vt:lpstr>
      <vt:lpstr>Generation Permutation</vt:lpstr>
      <vt:lpstr>Johnson Trotter Algorithm</vt:lpstr>
      <vt:lpstr>Johnson Trotter Algorithm</vt:lpstr>
      <vt:lpstr>Johnson Trotter Algorithm</vt:lpstr>
      <vt:lpstr>Johnson Trotter Algorithm</vt:lpstr>
      <vt:lpstr>Johnson Trotter Algorithm – Example 02</vt:lpstr>
      <vt:lpstr>PowerPoint Presentation</vt:lpstr>
      <vt:lpstr>PowerPoint Presentation</vt:lpstr>
      <vt:lpstr>PowerPoint Presentation</vt:lpstr>
      <vt:lpstr>Johnson Trotter Algorithm</vt:lpstr>
      <vt:lpstr>Generation Permutation</vt:lpstr>
      <vt:lpstr>“LexicographicPermute” Algorithm</vt:lpstr>
      <vt:lpstr>PowerPoint Presentation</vt:lpstr>
      <vt:lpstr>PowerPoint Presentation</vt:lpstr>
      <vt:lpstr>Generating Subsets Student Exercise</vt:lpstr>
      <vt:lpstr>Binary Reflected Gray Code (BRGC)</vt:lpstr>
      <vt:lpstr>Binary Reflected Gray Code (BRGC)</vt:lpstr>
      <vt:lpstr>Binary Reflected Gray Code (BRGC)</vt:lpstr>
      <vt:lpstr>Binary Reflected Gray Code (BRGC)</vt:lpstr>
      <vt:lpstr>PowerPoint Presentation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pc</dc:creator>
  <cp:lastModifiedBy>Windows User</cp:lastModifiedBy>
  <cp:revision>298</cp:revision>
  <dcterms:created xsi:type="dcterms:W3CDTF">2018-06-20T09:11:51Z</dcterms:created>
  <dcterms:modified xsi:type="dcterms:W3CDTF">2025-04-11T07:33:47Z</dcterms:modified>
</cp:coreProperties>
</file>