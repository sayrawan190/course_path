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3"/>
  </p:notesMasterIdLst>
  <p:handoutMasterIdLst>
    <p:handoutMasterId r:id="rId184"/>
  </p:handoutMasterIdLst>
  <p:sldIdLst>
    <p:sldId id="537" r:id="rId2"/>
    <p:sldId id="302" r:id="rId3"/>
    <p:sldId id="356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420" r:id="rId19"/>
    <p:sldId id="419" r:id="rId20"/>
    <p:sldId id="418" r:id="rId21"/>
    <p:sldId id="417" r:id="rId22"/>
    <p:sldId id="416" r:id="rId23"/>
    <p:sldId id="415" r:id="rId24"/>
    <p:sldId id="414" r:id="rId25"/>
    <p:sldId id="413" r:id="rId26"/>
    <p:sldId id="412" r:id="rId27"/>
    <p:sldId id="411" r:id="rId28"/>
    <p:sldId id="410" r:id="rId29"/>
    <p:sldId id="409" r:id="rId30"/>
    <p:sldId id="371" r:id="rId31"/>
    <p:sldId id="372" r:id="rId32"/>
    <p:sldId id="373" r:id="rId33"/>
    <p:sldId id="374" r:id="rId34"/>
    <p:sldId id="425" r:id="rId35"/>
    <p:sldId id="424" r:id="rId36"/>
    <p:sldId id="423" r:id="rId37"/>
    <p:sldId id="422" r:id="rId38"/>
    <p:sldId id="421" r:id="rId39"/>
    <p:sldId id="375" r:id="rId40"/>
    <p:sldId id="431" r:id="rId41"/>
    <p:sldId id="430" r:id="rId42"/>
    <p:sldId id="429" r:id="rId43"/>
    <p:sldId id="428" r:id="rId44"/>
    <p:sldId id="427" r:id="rId45"/>
    <p:sldId id="426" r:id="rId46"/>
    <p:sldId id="376" r:id="rId47"/>
    <p:sldId id="377" r:id="rId48"/>
    <p:sldId id="378" r:id="rId49"/>
    <p:sldId id="379" r:id="rId50"/>
    <p:sldId id="380" r:id="rId51"/>
    <p:sldId id="381" r:id="rId52"/>
    <p:sldId id="432" r:id="rId53"/>
    <p:sldId id="382" r:id="rId54"/>
    <p:sldId id="435" r:id="rId55"/>
    <p:sldId id="434" r:id="rId56"/>
    <p:sldId id="433" r:id="rId57"/>
    <p:sldId id="383" r:id="rId58"/>
    <p:sldId id="443" r:id="rId59"/>
    <p:sldId id="384" r:id="rId60"/>
    <p:sldId id="440" r:id="rId61"/>
    <p:sldId id="439" r:id="rId62"/>
    <p:sldId id="441" r:id="rId63"/>
    <p:sldId id="442" r:id="rId64"/>
    <p:sldId id="437" r:id="rId65"/>
    <p:sldId id="436" r:id="rId66"/>
    <p:sldId id="386" r:id="rId67"/>
    <p:sldId id="444" r:id="rId68"/>
    <p:sldId id="387" r:id="rId69"/>
    <p:sldId id="468" r:id="rId70"/>
    <p:sldId id="467" r:id="rId71"/>
    <p:sldId id="466" r:id="rId72"/>
    <p:sldId id="465" r:id="rId73"/>
    <p:sldId id="464" r:id="rId74"/>
    <p:sldId id="463" r:id="rId75"/>
    <p:sldId id="462" r:id="rId76"/>
    <p:sldId id="461" r:id="rId77"/>
    <p:sldId id="460" r:id="rId78"/>
    <p:sldId id="459" r:id="rId79"/>
    <p:sldId id="458" r:id="rId80"/>
    <p:sldId id="457" r:id="rId81"/>
    <p:sldId id="456" r:id="rId82"/>
    <p:sldId id="455" r:id="rId83"/>
    <p:sldId id="454" r:id="rId84"/>
    <p:sldId id="453" r:id="rId85"/>
    <p:sldId id="452" r:id="rId86"/>
    <p:sldId id="451" r:id="rId87"/>
    <p:sldId id="450" r:id="rId88"/>
    <p:sldId id="449" r:id="rId89"/>
    <p:sldId id="448" r:id="rId90"/>
    <p:sldId id="447" r:id="rId91"/>
    <p:sldId id="446" r:id="rId92"/>
    <p:sldId id="445" r:id="rId93"/>
    <p:sldId id="388" r:id="rId94"/>
    <p:sldId id="389" r:id="rId95"/>
    <p:sldId id="390" r:id="rId96"/>
    <p:sldId id="391" r:id="rId97"/>
    <p:sldId id="392" r:id="rId98"/>
    <p:sldId id="393" r:id="rId99"/>
    <p:sldId id="394" r:id="rId100"/>
    <p:sldId id="395" r:id="rId101"/>
    <p:sldId id="488" r:id="rId102"/>
    <p:sldId id="487" r:id="rId103"/>
    <p:sldId id="486" r:id="rId104"/>
    <p:sldId id="485" r:id="rId105"/>
    <p:sldId id="484" r:id="rId106"/>
    <p:sldId id="483" r:id="rId107"/>
    <p:sldId id="482" r:id="rId108"/>
    <p:sldId id="481" r:id="rId109"/>
    <p:sldId id="480" r:id="rId110"/>
    <p:sldId id="479" r:id="rId111"/>
    <p:sldId id="478" r:id="rId112"/>
    <p:sldId id="477" r:id="rId113"/>
    <p:sldId id="476" r:id="rId114"/>
    <p:sldId id="475" r:id="rId115"/>
    <p:sldId id="474" r:id="rId116"/>
    <p:sldId id="473" r:id="rId117"/>
    <p:sldId id="472" r:id="rId118"/>
    <p:sldId id="471" r:id="rId119"/>
    <p:sldId id="470" r:id="rId120"/>
    <p:sldId id="469" r:id="rId121"/>
    <p:sldId id="396" r:id="rId122"/>
    <p:sldId id="397" r:id="rId123"/>
    <p:sldId id="508" r:id="rId124"/>
    <p:sldId id="507" r:id="rId125"/>
    <p:sldId id="506" r:id="rId126"/>
    <p:sldId id="505" r:id="rId127"/>
    <p:sldId id="504" r:id="rId128"/>
    <p:sldId id="503" r:id="rId129"/>
    <p:sldId id="502" r:id="rId130"/>
    <p:sldId id="501" r:id="rId131"/>
    <p:sldId id="500" r:id="rId132"/>
    <p:sldId id="499" r:id="rId133"/>
    <p:sldId id="498" r:id="rId134"/>
    <p:sldId id="497" r:id="rId135"/>
    <p:sldId id="496" r:id="rId136"/>
    <p:sldId id="495" r:id="rId137"/>
    <p:sldId id="494" r:id="rId138"/>
    <p:sldId id="493" r:id="rId139"/>
    <p:sldId id="492" r:id="rId140"/>
    <p:sldId id="491" r:id="rId141"/>
    <p:sldId id="490" r:id="rId142"/>
    <p:sldId id="489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529" r:id="rId153"/>
    <p:sldId id="528" r:id="rId154"/>
    <p:sldId id="527" r:id="rId155"/>
    <p:sldId id="526" r:id="rId156"/>
    <p:sldId id="525" r:id="rId157"/>
    <p:sldId id="524" r:id="rId158"/>
    <p:sldId id="523" r:id="rId159"/>
    <p:sldId id="522" r:id="rId160"/>
    <p:sldId id="521" r:id="rId161"/>
    <p:sldId id="520" r:id="rId162"/>
    <p:sldId id="519" r:id="rId163"/>
    <p:sldId id="518" r:id="rId164"/>
    <p:sldId id="517" r:id="rId165"/>
    <p:sldId id="516" r:id="rId166"/>
    <p:sldId id="515" r:id="rId167"/>
    <p:sldId id="514" r:id="rId168"/>
    <p:sldId id="513" r:id="rId169"/>
    <p:sldId id="512" r:id="rId170"/>
    <p:sldId id="511" r:id="rId171"/>
    <p:sldId id="510" r:id="rId172"/>
    <p:sldId id="509" r:id="rId173"/>
    <p:sldId id="407" r:id="rId174"/>
    <p:sldId id="536" r:id="rId175"/>
    <p:sldId id="535" r:id="rId176"/>
    <p:sldId id="534" r:id="rId177"/>
    <p:sldId id="533" r:id="rId178"/>
    <p:sldId id="531" r:id="rId179"/>
    <p:sldId id="530" r:id="rId180"/>
    <p:sldId id="408" r:id="rId181"/>
    <p:sldId id="301" r:id="rId18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0" y="7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421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11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55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7087250-C945-4D62-9B29-BE749FBC0D72}" type="slidenum">
              <a:rPr lang="en-US" altLang="en-US" sz="1200"/>
              <a:pPr algn="r"/>
              <a:t>9</a:t>
            </a:fld>
            <a:endParaRPr lang="en-US" alt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87929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70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34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68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25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63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6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06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95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Instructor Dr. Muhammad Umair</a:t>
            </a:r>
            <a:endParaRPr lang="en-US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smtClean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 smtClean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 smtClean="0"/>
              <a:t>CPCS 223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 smtClean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 smtClean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26423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/>
          <a:lstStyle/>
          <a:p>
            <a:r>
              <a:rPr lang="en-US" b="1" dirty="0" smtClean="0">
                <a:solidFill>
                  <a:srgbClr val="00823B"/>
                </a:solidFill>
              </a:rPr>
              <a:t>Decrease and Conquer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7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Decrease</a:t>
            </a:r>
            <a:br>
              <a:rPr lang="en-US" b="1" dirty="0" smtClean="0">
                <a:solidFill>
                  <a:srgbClr val="00823B"/>
                </a:solidFill>
              </a:rPr>
            </a:br>
            <a:r>
              <a:rPr lang="en-US" b="1" dirty="0" smtClean="0">
                <a:solidFill>
                  <a:srgbClr val="00823B"/>
                </a:solidFill>
              </a:rPr>
              <a:t>by a</a:t>
            </a:r>
            <a:br>
              <a:rPr lang="en-US" b="1" dirty="0" smtClean="0">
                <a:solidFill>
                  <a:srgbClr val="00823B"/>
                </a:solidFill>
              </a:rPr>
            </a:br>
            <a:r>
              <a:rPr lang="en-US" b="1" dirty="0" smtClean="0">
                <a:solidFill>
                  <a:srgbClr val="00823B"/>
                </a:solidFill>
              </a:rPr>
              <a:t>Constant Factor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Decrease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Decrease by a Constant Factor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 dirty="0"/>
              <a:t>In this variation of decrease-and-conquer, instance size is </a:t>
            </a:r>
            <a:r>
              <a:rPr lang="en-US" altLang="en-US" b="1" dirty="0">
                <a:solidFill>
                  <a:srgbClr val="0000FF"/>
                </a:solidFill>
              </a:rPr>
              <a:t>reduced </a:t>
            </a:r>
            <a:r>
              <a:rPr lang="en-US" altLang="en-US" b="1" dirty="0" smtClean="0">
                <a:solidFill>
                  <a:srgbClr val="0000FF"/>
                </a:solidFill>
              </a:rPr>
              <a:t>by </a:t>
            </a:r>
            <a:r>
              <a:rPr lang="en-US" altLang="en-US" b="1" dirty="0">
                <a:solidFill>
                  <a:srgbClr val="0000FF"/>
                </a:solidFill>
              </a:rPr>
              <a:t>the same factor (typically, 2</a:t>
            </a:r>
            <a:r>
              <a:rPr lang="en-US" altLang="en-US" b="1" dirty="0" smtClean="0">
                <a:solidFill>
                  <a:srgbClr val="0000FF"/>
                </a:solidFill>
              </a:rPr>
              <a:t>)</a:t>
            </a:r>
          </a:p>
          <a:p>
            <a:pPr marL="0" indent="0">
              <a:lnSpc>
                <a:spcPct val="90000"/>
              </a:lnSpc>
              <a:buFontTx/>
              <a:buNone/>
            </a:pPr>
            <a:endParaRPr lang="en-US" altLang="en-US" dirty="0" smtClean="0"/>
          </a:p>
          <a:p>
            <a:pPr marL="0" indent="0">
              <a:lnSpc>
                <a:spcPct val="90000"/>
              </a:lnSpc>
              <a:buFontTx/>
              <a:buNone/>
            </a:pPr>
            <a:r>
              <a:rPr lang="en-US" altLang="en-US" dirty="0" smtClean="0"/>
              <a:t>Examples</a:t>
            </a:r>
            <a:r>
              <a:rPr lang="en-US" altLang="en-US" dirty="0"/>
              <a:t>:</a:t>
            </a:r>
          </a:p>
          <a:p>
            <a:pPr marL="400050" lvl="1" indent="0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en-US" dirty="0"/>
              <a:t>  binary search and the method of bisection</a:t>
            </a:r>
            <a:br>
              <a:rPr lang="en-US" altLang="en-US" dirty="0"/>
            </a:br>
            <a:endParaRPr lang="en-US" altLang="en-US" dirty="0"/>
          </a:p>
          <a:p>
            <a:pPr marL="400050" lvl="1" indent="0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en-US" dirty="0"/>
              <a:t>  exponentiation by squaring</a:t>
            </a:r>
            <a:br>
              <a:rPr lang="en-US" altLang="en-US" dirty="0"/>
            </a:br>
            <a:endParaRPr lang="en-US" altLang="en-US" dirty="0"/>
          </a:p>
          <a:p>
            <a:pPr marL="400050" lvl="1" indent="0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en-US" dirty="0"/>
              <a:t>  multiplication </a:t>
            </a:r>
            <a:r>
              <a:rPr lang="en-US" altLang="en-US" dirty="0">
                <a:cs typeface="Times New Roman" panose="02020603050405020304" pitchFamily="18" charset="0"/>
              </a:rPr>
              <a:t>à</a:t>
            </a:r>
            <a:r>
              <a:rPr lang="en-US" altLang="en-US" dirty="0"/>
              <a:t> la </a:t>
            </a:r>
            <a:r>
              <a:rPr lang="en-US" altLang="en-US" dirty="0" err="1"/>
              <a:t>russe</a:t>
            </a:r>
            <a:r>
              <a:rPr lang="en-US" altLang="en-US" dirty="0"/>
              <a:t> (Russian peasant method)</a:t>
            </a:r>
            <a:br>
              <a:rPr lang="en-US" altLang="en-US" dirty="0"/>
            </a:br>
            <a:endParaRPr lang="en-US" altLang="en-US" dirty="0"/>
          </a:p>
          <a:p>
            <a:pPr marL="400050" lvl="1" indent="0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en-US" dirty="0"/>
              <a:t>  fake-coin puzzle</a:t>
            </a:r>
            <a:br>
              <a:rPr lang="en-US" altLang="en-US" dirty="0"/>
            </a:br>
            <a:endParaRPr lang="en-US" altLang="en-US" dirty="0"/>
          </a:p>
          <a:p>
            <a:pPr marL="400050" lvl="1" indent="0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en-US" altLang="en-US" dirty="0"/>
              <a:t>  Josephus problem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9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Binary Search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i="1" dirty="0" smtClean="0"/>
              <a:t>Decrease by a Constant Factor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Binary Search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Remarkably </a:t>
            </a:r>
            <a:r>
              <a:rPr lang="en-US" b="1" dirty="0">
                <a:solidFill>
                  <a:srgbClr val="0000FF"/>
                </a:solidFill>
              </a:rPr>
              <a:t>efficient</a:t>
            </a:r>
            <a:r>
              <a:rPr lang="en-US" dirty="0"/>
              <a:t> </a:t>
            </a:r>
            <a:r>
              <a:rPr lang="en-US" dirty="0" smtClean="0"/>
              <a:t>algorithm</a:t>
            </a:r>
          </a:p>
          <a:p>
            <a:r>
              <a:rPr lang="en-US" dirty="0" smtClean="0"/>
              <a:t>Searching </a:t>
            </a:r>
            <a:r>
              <a:rPr lang="en-US" dirty="0"/>
              <a:t>in a </a:t>
            </a:r>
            <a:r>
              <a:rPr lang="en-US" b="1" dirty="0">
                <a:solidFill>
                  <a:srgbClr val="0000FF"/>
                </a:solidFill>
              </a:rPr>
              <a:t>sorted </a:t>
            </a:r>
            <a:r>
              <a:rPr lang="en-US" b="1" dirty="0" smtClean="0">
                <a:solidFill>
                  <a:srgbClr val="0000FF"/>
                </a:solidFill>
              </a:rPr>
              <a:t>array</a:t>
            </a:r>
          </a:p>
          <a:p>
            <a:pPr lvl="1"/>
            <a:r>
              <a:rPr lang="en-US" dirty="0" smtClean="0"/>
              <a:t>Comparing </a:t>
            </a:r>
            <a:r>
              <a:rPr lang="en-US" dirty="0"/>
              <a:t>a search </a:t>
            </a:r>
            <a:r>
              <a:rPr lang="en-US" b="1" dirty="0">
                <a:solidFill>
                  <a:srgbClr val="0000FF"/>
                </a:solidFill>
              </a:rPr>
              <a:t>key </a:t>
            </a:r>
            <a:r>
              <a:rPr lang="en-US" b="1" dirty="0" smtClean="0">
                <a:solidFill>
                  <a:srgbClr val="0000FF"/>
                </a:solidFill>
              </a:rPr>
              <a:t>“</a:t>
            </a:r>
            <a:r>
              <a:rPr lang="en-US" b="1" i="1" dirty="0" smtClean="0">
                <a:solidFill>
                  <a:srgbClr val="0000FF"/>
                </a:solidFill>
              </a:rPr>
              <a:t>K”</a:t>
            </a:r>
          </a:p>
          <a:p>
            <a:pPr lvl="1"/>
            <a:r>
              <a:rPr lang="en-US" dirty="0"/>
              <a:t>array’s </a:t>
            </a:r>
            <a:r>
              <a:rPr lang="en-US" b="1" dirty="0">
                <a:solidFill>
                  <a:srgbClr val="0000FF"/>
                </a:solidFill>
              </a:rPr>
              <a:t>middle</a:t>
            </a:r>
            <a:r>
              <a:rPr lang="en-US" dirty="0"/>
              <a:t> element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[</a:t>
            </a:r>
            <a:r>
              <a:rPr lang="en-US" b="1" i="1" dirty="0">
                <a:solidFill>
                  <a:srgbClr val="0000FF"/>
                </a:solidFill>
              </a:rPr>
              <a:t>m</a:t>
            </a:r>
            <a:r>
              <a:rPr lang="en-US" b="1" dirty="0" smtClean="0">
                <a:solidFill>
                  <a:srgbClr val="0000FF"/>
                </a:solidFill>
              </a:rPr>
              <a:t>]</a:t>
            </a:r>
          </a:p>
          <a:p>
            <a:pPr lvl="1"/>
            <a:r>
              <a:rPr lang="en-US" dirty="0"/>
              <a:t>If </a:t>
            </a:r>
            <a:r>
              <a:rPr lang="en-US" b="1" dirty="0" smtClean="0">
                <a:solidFill>
                  <a:srgbClr val="0000FF"/>
                </a:solidFill>
              </a:rPr>
              <a:t>match</a:t>
            </a:r>
            <a:r>
              <a:rPr lang="en-US" dirty="0"/>
              <a:t>, the algorithm </a:t>
            </a:r>
            <a:r>
              <a:rPr lang="en-US" b="1" dirty="0" smtClean="0">
                <a:solidFill>
                  <a:srgbClr val="0000FF"/>
                </a:solidFill>
              </a:rPr>
              <a:t>stops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otherwise, the </a:t>
            </a:r>
            <a:r>
              <a:rPr lang="en-US" b="1" dirty="0" smtClean="0">
                <a:solidFill>
                  <a:srgbClr val="0000FF"/>
                </a:solidFill>
              </a:rPr>
              <a:t>same operation</a:t>
            </a:r>
            <a:r>
              <a:rPr lang="en-US" dirty="0" smtClean="0"/>
              <a:t> is repeated </a:t>
            </a:r>
            <a:r>
              <a:rPr lang="en-US" b="1" dirty="0" smtClean="0">
                <a:solidFill>
                  <a:srgbClr val="0000FF"/>
                </a:solidFill>
              </a:rPr>
              <a:t>recursively</a:t>
            </a:r>
          </a:p>
          <a:p>
            <a:pPr lvl="2"/>
            <a:r>
              <a:rPr lang="en-US" dirty="0" smtClean="0"/>
              <a:t>for the first half of the array </a:t>
            </a:r>
            <a:r>
              <a:rPr lang="en-US" b="1" dirty="0" smtClean="0">
                <a:solidFill>
                  <a:srgbClr val="0000FF"/>
                </a:solidFill>
              </a:rPr>
              <a:t>if </a:t>
            </a:r>
            <a:r>
              <a:rPr lang="en-US" b="1" i="1" dirty="0" smtClean="0">
                <a:solidFill>
                  <a:srgbClr val="0000FF"/>
                </a:solidFill>
              </a:rPr>
              <a:t>K &lt;A</a:t>
            </a:r>
            <a:r>
              <a:rPr lang="en-US" b="1" dirty="0" smtClean="0">
                <a:solidFill>
                  <a:srgbClr val="0000FF"/>
                </a:solidFill>
              </a:rPr>
              <a:t>[</a:t>
            </a:r>
            <a:r>
              <a:rPr lang="en-US" b="1" i="1" dirty="0" smtClean="0">
                <a:solidFill>
                  <a:srgbClr val="0000FF"/>
                </a:solidFill>
              </a:rPr>
              <a:t>m</a:t>
            </a:r>
            <a:r>
              <a:rPr lang="en-US" b="1" dirty="0" smtClean="0">
                <a:solidFill>
                  <a:srgbClr val="0000FF"/>
                </a:solidFill>
              </a:rPr>
              <a:t>]</a:t>
            </a:r>
          </a:p>
          <a:p>
            <a:pPr lvl="2"/>
            <a:r>
              <a:rPr lang="en-US" dirty="0" smtClean="0"/>
              <a:t>for the second half </a:t>
            </a:r>
            <a:r>
              <a:rPr lang="en-US" b="1" dirty="0" smtClean="0">
                <a:solidFill>
                  <a:srgbClr val="0000FF"/>
                </a:solidFill>
              </a:rPr>
              <a:t>if </a:t>
            </a:r>
            <a:r>
              <a:rPr lang="en-US" b="1" i="1" dirty="0" smtClean="0">
                <a:solidFill>
                  <a:srgbClr val="0000FF"/>
                </a:solidFill>
              </a:rPr>
              <a:t>K &gt;A</a:t>
            </a:r>
            <a:r>
              <a:rPr lang="en-US" b="1" dirty="0" smtClean="0">
                <a:solidFill>
                  <a:srgbClr val="0000FF"/>
                </a:solidFill>
              </a:rPr>
              <a:t>[</a:t>
            </a:r>
            <a:r>
              <a:rPr lang="en-US" b="1" i="1" dirty="0" smtClean="0">
                <a:solidFill>
                  <a:srgbClr val="0000FF"/>
                </a:solidFill>
              </a:rPr>
              <a:t>m</a:t>
            </a:r>
            <a:r>
              <a:rPr lang="en-US" b="1" dirty="0" smtClean="0">
                <a:solidFill>
                  <a:srgbClr val="0000FF"/>
                </a:solidFill>
              </a:rPr>
              <a:t>]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Binary Search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905000"/>
            <a:ext cx="561975" cy="895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466975"/>
            <a:ext cx="1714500" cy="8096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475" y="2466975"/>
            <a:ext cx="2076450" cy="8191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62325"/>
            <a:ext cx="4324350" cy="295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690937"/>
            <a:ext cx="1847850" cy="2952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071937"/>
            <a:ext cx="1390650" cy="2952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832" y="4367212"/>
            <a:ext cx="1581150" cy="266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832" y="4633912"/>
            <a:ext cx="2028825" cy="2667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832" y="4929187"/>
            <a:ext cx="2667000" cy="2857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5400" y="5171209"/>
            <a:ext cx="1419225" cy="2476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5472111"/>
            <a:ext cx="9620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5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52400" y="1219200"/>
            <a:ext cx="4324350" cy="2386011"/>
            <a:chOff x="914400" y="3362325"/>
            <a:chExt cx="4324350" cy="238601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3362325"/>
              <a:ext cx="4324350" cy="29527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3690937"/>
              <a:ext cx="1847850" cy="29527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400" y="4071937"/>
              <a:ext cx="1390650" cy="295275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5832" y="4367212"/>
              <a:ext cx="1581150" cy="26670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95832" y="4633912"/>
              <a:ext cx="2028825" cy="26670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95832" y="4929187"/>
              <a:ext cx="2667000" cy="28575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95400" y="5171209"/>
              <a:ext cx="1419225" cy="24765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4400" y="5472111"/>
              <a:ext cx="962025" cy="276225"/>
            </a:xfrm>
            <a:prstGeom prst="rect">
              <a:avLst/>
            </a:prstGeom>
          </p:spPr>
        </p:pic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8675" y="2809875"/>
            <a:ext cx="723900" cy="3143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5900" y="3324225"/>
            <a:ext cx="6172200" cy="6381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43582" y="4010891"/>
            <a:ext cx="219075" cy="2667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91400" y="4010891"/>
            <a:ext cx="180975" cy="2000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4425" y="4010891"/>
            <a:ext cx="933450" cy="2476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72253" y="4048125"/>
            <a:ext cx="209550" cy="21907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3037" y="4338634"/>
            <a:ext cx="219075" cy="2667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4425" y="4380633"/>
            <a:ext cx="962025" cy="2286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91400" y="4371975"/>
            <a:ext cx="180975" cy="20002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0" y="4380633"/>
            <a:ext cx="209550" cy="21907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3569" y="4829175"/>
            <a:ext cx="180975" cy="20002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3037" y="4762500"/>
            <a:ext cx="219075" cy="2667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57800" y="4800600"/>
            <a:ext cx="314325" cy="24765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0750" y="4750378"/>
            <a:ext cx="933450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47875" y="5257800"/>
            <a:ext cx="3645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4800" b="1" dirty="0" smtClean="0">
                <a:solidFill>
                  <a:srgbClr val="0000FF"/>
                </a:solidFill>
              </a:rPr>
              <a:t>Θ</a:t>
            </a:r>
            <a:r>
              <a:rPr lang="en-US" sz="4800" b="1" dirty="0" smtClean="0">
                <a:solidFill>
                  <a:srgbClr val="0000FF"/>
                </a:solidFill>
              </a:rPr>
              <a:t> (log n)</a:t>
            </a:r>
            <a:endParaRPr lang="en-US" sz="4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20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F85C0BEF-6F7F-48CD-A2BE-B01036A9FDC9}" type="slidenum">
              <a:rPr lang="en-US" altLang="en-US" sz="1400">
                <a:latin typeface="Arial Narrow" panose="020B0606020202030204" pitchFamily="34" charset="0"/>
              </a:rPr>
              <a:pPr algn="r"/>
              <a:t>9</a:t>
            </a:fld>
            <a:endParaRPr lang="en-US" altLang="en-US" sz="1400">
              <a:latin typeface="Arial Narrow" panose="020B0606020202030204" pitchFamily="34" charset="0"/>
            </a:endParaRPr>
          </a:p>
        </p:txBody>
      </p:sp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3379" y="1219200"/>
            <a:ext cx="62484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 smtClean="0">
                <a:solidFill>
                  <a:srgbClr val="00823B"/>
                </a:solidFill>
              </a:rPr>
              <a:t>A(n) = A(floor(n/2)) + 1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905000"/>
            <a:ext cx="2543175" cy="323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1952625"/>
            <a:ext cx="762000" cy="276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2305050"/>
            <a:ext cx="828675" cy="247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647395"/>
            <a:ext cx="2476500" cy="333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9965" y="2971985"/>
            <a:ext cx="809625" cy="285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337911"/>
            <a:ext cx="2314575" cy="2381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9507" y="3695885"/>
            <a:ext cx="1619250" cy="3429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2050" y="3729222"/>
            <a:ext cx="2647950" cy="2762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7875" y="4042669"/>
            <a:ext cx="2733675" cy="3048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0" y="4071244"/>
            <a:ext cx="2667000" cy="2762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27400" y="4362773"/>
            <a:ext cx="2724150" cy="2667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0957" y="4623879"/>
            <a:ext cx="1447800" cy="4476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0957" y="5105400"/>
            <a:ext cx="1485900" cy="4095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00162" y="5471604"/>
            <a:ext cx="1647825" cy="3143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05400" y="4737993"/>
            <a:ext cx="2181225" cy="3714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05635" y="5331133"/>
            <a:ext cx="2980990" cy="51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323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Fake–Coin Problem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i="1" dirty="0" smtClean="0"/>
              <a:t>Decrease by a Constant Factor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3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Fake – Coin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Solve through the </a:t>
            </a:r>
            <a:r>
              <a:rPr lang="en-US" b="1" dirty="0">
                <a:solidFill>
                  <a:srgbClr val="0000FF"/>
                </a:solidFill>
              </a:rPr>
              <a:t>decrease-by-a-constant-factor</a:t>
            </a:r>
            <a:r>
              <a:rPr lang="en-US" dirty="0"/>
              <a:t> </a:t>
            </a:r>
            <a:r>
              <a:rPr lang="en-US" dirty="0" smtClean="0"/>
              <a:t>strategy.</a:t>
            </a:r>
          </a:p>
          <a:p>
            <a:r>
              <a:rPr lang="en-US" dirty="0" smtClean="0"/>
              <a:t>Among </a:t>
            </a:r>
            <a:r>
              <a:rPr lang="en-US" b="1" i="1" dirty="0" smtClean="0">
                <a:solidFill>
                  <a:srgbClr val="0000FF"/>
                </a:solidFill>
              </a:rPr>
              <a:t>n</a:t>
            </a:r>
            <a:r>
              <a:rPr lang="en-US" i="1" dirty="0" smtClean="0"/>
              <a:t> </a:t>
            </a:r>
            <a:r>
              <a:rPr lang="en-US" dirty="0" smtClean="0"/>
              <a:t>identical-looking </a:t>
            </a:r>
            <a:r>
              <a:rPr lang="en-US" b="1" dirty="0">
                <a:solidFill>
                  <a:srgbClr val="0000FF"/>
                </a:solidFill>
              </a:rPr>
              <a:t>coins</a:t>
            </a:r>
            <a:r>
              <a:rPr lang="en-US" dirty="0" smtClean="0"/>
              <a:t>, identify the </a:t>
            </a:r>
            <a:r>
              <a:rPr lang="en-US" b="1" dirty="0">
                <a:solidFill>
                  <a:srgbClr val="00823B"/>
                </a:solidFill>
              </a:rPr>
              <a:t>one</a:t>
            </a:r>
            <a:r>
              <a:rPr lang="en-US" dirty="0"/>
              <a:t> is </a:t>
            </a:r>
            <a:r>
              <a:rPr lang="en-US" dirty="0" smtClean="0"/>
              <a:t>which is </a:t>
            </a:r>
            <a:r>
              <a:rPr lang="en-US" b="1" dirty="0" smtClean="0">
                <a:solidFill>
                  <a:srgbClr val="00823B"/>
                </a:solidFill>
              </a:rPr>
              <a:t>fake</a:t>
            </a:r>
            <a:r>
              <a:rPr lang="en-US" dirty="0" smtClean="0"/>
              <a:t>.</a:t>
            </a:r>
          </a:p>
          <a:p>
            <a:r>
              <a:rPr lang="en-US" dirty="0"/>
              <a:t>Assumption</a:t>
            </a:r>
          </a:p>
          <a:p>
            <a:pPr lvl="1"/>
            <a:r>
              <a:rPr lang="en-US" dirty="0"/>
              <a:t>the fake coin is known to be, say, </a:t>
            </a:r>
            <a:r>
              <a:rPr lang="en-US" b="1" dirty="0" smtClean="0">
                <a:solidFill>
                  <a:srgbClr val="0000FF"/>
                </a:solidFill>
              </a:rPr>
              <a:t>lighter</a:t>
            </a:r>
            <a:r>
              <a:rPr lang="en-US" dirty="0" smtClean="0"/>
              <a:t> </a:t>
            </a:r>
            <a:r>
              <a:rPr lang="en-US" dirty="0"/>
              <a:t>than the genuine one</a:t>
            </a:r>
          </a:p>
          <a:p>
            <a:r>
              <a:rPr lang="en-US" dirty="0" smtClean="0"/>
              <a:t>Tool</a:t>
            </a:r>
          </a:p>
          <a:p>
            <a:pPr lvl="1"/>
            <a:r>
              <a:rPr lang="en-US" dirty="0" smtClean="0"/>
              <a:t>Make </a:t>
            </a:r>
            <a:r>
              <a:rPr lang="en-US" b="1" dirty="0" smtClean="0">
                <a:solidFill>
                  <a:srgbClr val="0000FF"/>
                </a:solidFill>
              </a:rPr>
              <a:t>2 sets </a:t>
            </a:r>
            <a:r>
              <a:rPr lang="en-US" dirty="0" smtClean="0"/>
              <a:t>of coin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a </a:t>
            </a:r>
            <a:r>
              <a:rPr lang="en-US" b="1" dirty="0">
                <a:solidFill>
                  <a:srgbClr val="0000FF"/>
                </a:solidFill>
              </a:rPr>
              <a:t>balance </a:t>
            </a:r>
            <a:r>
              <a:rPr lang="en-US" b="1" dirty="0" smtClean="0">
                <a:solidFill>
                  <a:srgbClr val="0000FF"/>
                </a:solidFill>
              </a:rPr>
              <a:t>scale</a:t>
            </a:r>
            <a:endParaRPr lang="en-US" dirty="0" smtClean="0"/>
          </a:p>
          <a:p>
            <a:r>
              <a:rPr lang="en-US" dirty="0" smtClean="0"/>
              <a:t>Possibilities</a:t>
            </a:r>
          </a:p>
          <a:p>
            <a:pPr lvl="1"/>
            <a:r>
              <a:rPr lang="en-US" dirty="0" smtClean="0"/>
              <a:t>Tipping </a:t>
            </a:r>
            <a:r>
              <a:rPr lang="en-US" dirty="0"/>
              <a:t>to the </a:t>
            </a:r>
            <a:r>
              <a:rPr lang="en-US" b="1" dirty="0" smtClean="0">
                <a:solidFill>
                  <a:srgbClr val="0000FF"/>
                </a:solidFill>
              </a:rPr>
              <a:t>left</a:t>
            </a:r>
          </a:p>
          <a:p>
            <a:pPr lvl="1"/>
            <a:r>
              <a:rPr lang="en-US" dirty="0" smtClean="0"/>
              <a:t>Tipping to </a:t>
            </a:r>
            <a:r>
              <a:rPr lang="en-US" dirty="0"/>
              <a:t>the </a:t>
            </a:r>
            <a:r>
              <a:rPr lang="en-US" b="1" dirty="0" smtClean="0">
                <a:solidFill>
                  <a:srgbClr val="0000FF"/>
                </a:solidFill>
              </a:rPr>
              <a:t>right</a:t>
            </a:r>
          </a:p>
          <a:p>
            <a:pPr lvl="1"/>
            <a:r>
              <a:rPr lang="en-US" dirty="0" smtClean="0"/>
              <a:t>staying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7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Fake – Coin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Divide coins into </a:t>
            </a:r>
            <a:r>
              <a:rPr lang="en-US" b="1" dirty="0" smtClean="0">
                <a:solidFill>
                  <a:srgbClr val="0000FF"/>
                </a:solidFill>
              </a:rPr>
              <a:t>2 groups </a:t>
            </a:r>
            <a:r>
              <a:rPr lang="en-US" dirty="0" smtClean="0"/>
              <a:t>of size </a:t>
            </a:r>
            <a:r>
              <a:rPr lang="en-US" b="1" dirty="0" smtClean="0">
                <a:solidFill>
                  <a:srgbClr val="0000FF"/>
                </a:solidFill>
              </a:rPr>
              <a:t>n/2</a:t>
            </a:r>
          </a:p>
          <a:p>
            <a:r>
              <a:rPr lang="en-US" dirty="0" smtClean="0"/>
              <a:t>If </a:t>
            </a:r>
            <a:r>
              <a:rPr lang="en-US" b="1" dirty="0" smtClean="0">
                <a:solidFill>
                  <a:srgbClr val="0000FF"/>
                </a:solidFill>
              </a:rPr>
              <a:t>n is odd</a:t>
            </a:r>
            <a:r>
              <a:rPr lang="en-US" dirty="0" smtClean="0"/>
              <a:t>, it will leave one coin extra</a:t>
            </a:r>
          </a:p>
          <a:p>
            <a:r>
              <a:rPr lang="en-US" dirty="0"/>
              <a:t>put the </a:t>
            </a:r>
            <a:r>
              <a:rPr lang="en-US" dirty="0" smtClean="0"/>
              <a:t>two piles </a:t>
            </a:r>
            <a:r>
              <a:rPr lang="en-US" dirty="0"/>
              <a:t>on the </a:t>
            </a:r>
            <a:r>
              <a:rPr lang="en-US" dirty="0" smtClean="0"/>
              <a:t>scale</a:t>
            </a:r>
          </a:p>
          <a:p>
            <a:r>
              <a:rPr lang="en-US" dirty="0"/>
              <a:t>If the piles weigh the </a:t>
            </a:r>
            <a:r>
              <a:rPr lang="en-US" dirty="0" smtClean="0"/>
              <a:t>same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Extra coin must </a:t>
            </a:r>
            <a:r>
              <a:rPr lang="en-US" b="1" dirty="0">
                <a:solidFill>
                  <a:srgbClr val="00823B"/>
                </a:solidFill>
              </a:rPr>
              <a:t>be </a:t>
            </a:r>
            <a:r>
              <a:rPr lang="en-US" b="1" dirty="0" smtClean="0">
                <a:solidFill>
                  <a:srgbClr val="00823B"/>
                </a:solidFill>
              </a:rPr>
              <a:t>fake</a:t>
            </a:r>
          </a:p>
          <a:p>
            <a:r>
              <a:rPr lang="en-US" dirty="0" smtClean="0"/>
              <a:t>Otherwise proceed </a:t>
            </a:r>
            <a:r>
              <a:rPr lang="en-US" dirty="0"/>
              <a:t>in the same manner with the </a:t>
            </a:r>
            <a:r>
              <a:rPr lang="en-US" b="1" dirty="0">
                <a:solidFill>
                  <a:srgbClr val="0000FF"/>
                </a:solidFill>
              </a:rPr>
              <a:t>lighter pile</a:t>
            </a:r>
            <a:endParaRPr lang="en-US" b="1" dirty="0" smtClean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Fake – Coin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(Recurrence)</a:t>
            </a:r>
            <a:endParaRPr lang="en-US" sz="27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886" y="3202998"/>
            <a:ext cx="1190625" cy="3905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2258291"/>
            <a:ext cx="2800350" cy="485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2744066"/>
            <a:ext cx="1152525" cy="419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886" y="4191000"/>
            <a:ext cx="20574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Fake – Coin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Divide coins into </a:t>
            </a:r>
            <a:r>
              <a:rPr lang="en-US" b="1" dirty="0" smtClean="0">
                <a:solidFill>
                  <a:srgbClr val="0000FF"/>
                </a:solidFill>
              </a:rPr>
              <a:t>3 groups </a:t>
            </a:r>
          </a:p>
          <a:p>
            <a:r>
              <a:rPr lang="en-US" dirty="0" smtClean="0"/>
              <a:t>Find the </a:t>
            </a:r>
            <a:r>
              <a:rPr lang="en-US" b="1" dirty="0" smtClean="0">
                <a:solidFill>
                  <a:srgbClr val="0000FF"/>
                </a:solidFill>
              </a:rPr>
              <a:t>recurrence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Solve</a:t>
            </a:r>
            <a:r>
              <a:rPr lang="en-US" dirty="0" smtClean="0"/>
              <a:t> </a:t>
            </a:r>
            <a:r>
              <a:rPr lang="en-US" dirty="0"/>
              <a:t>it as your exercise</a:t>
            </a:r>
          </a:p>
          <a:p>
            <a:r>
              <a:rPr lang="en-US" dirty="0"/>
              <a:t>Prove that its </a:t>
            </a:r>
            <a:r>
              <a:rPr lang="en-US" b="1" dirty="0">
                <a:solidFill>
                  <a:srgbClr val="0000FF"/>
                </a:solidFill>
              </a:rPr>
              <a:t>efficiency</a:t>
            </a:r>
            <a:r>
              <a:rPr lang="en-US" dirty="0"/>
              <a:t> is</a:t>
            </a:r>
          </a:p>
          <a:p>
            <a:r>
              <a:rPr lang="el-GR" b="1" dirty="0">
                <a:solidFill>
                  <a:srgbClr val="00823B"/>
                </a:solidFill>
              </a:rPr>
              <a:t>Θ</a:t>
            </a:r>
            <a:r>
              <a:rPr lang="en-US" b="1" dirty="0">
                <a:solidFill>
                  <a:srgbClr val="00823B"/>
                </a:solidFill>
              </a:rPr>
              <a:t> (log</a:t>
            </a:r>
            <a:r>
              <a:rPr lang="en-US" b="1" baseline="-25000" dirty="0">
                <a:solidFill>
                  <a:srgbClr val="00823B"/>
                </a:solidFill>
              </a:rPr>
              <a:t>3</a:t>
            </a:r>
            <a:r>
              <a:rPr lang="en-US" b="1" dirty="0">
                <a:solidFill>
                  <a:srgbClr val="00823B"/>
                </a:solidFill>
              </a:rPr>
              <a:t> n</a:t>
            </a:r>
            <a:r>
              <a:rPr lang="en-US" b="1" dirty="0" smtClean="0">
                <a:solidFill>
                  <a:srgbClr val="00823B"/>
                </a:solidFill>
              </a:rPr>
              <a:t>)</a:t>
            </a:r>
            <a:r>
              <a:rPr lang="en-US" b="1" dirty="0" smtClean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3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5532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Russian Peasant Multiplication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i="1" dirty="0" smtClean="0"/>
              <a:t>Decrease by a Constant Factor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94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Russian </a:t>
            </a:r>
            <a:r>
              <a:rPr lang="en-US" b="1" dirty="0" smtClean="0">
                <a:solidFill>
                  <a:srgbClr val="00823B"/>
                </a:solidFill>
              </a:rPr>
              <a:t>Peasant Multiplication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0"/>
            <a:ext cx="6781800" cy="3657600"/>
          </a:xfrm>
        </p:spPr>
        <p:txBody>
          <a:bodyPr/>
          <a:lstStyle/>
          <a:p>
            <a:r>
              <a:rPr lang="en-US" dirty="0"/>
              <a:t>nonorthodox algorithm </a:t>
            </a:r>
            <a:r>
              <a:rPr lang="en-US" dirty="0" smtClean="0"/>
              <a:t>for </a:t>
            </a:r>
            <a:r>
              <a:rPr lang="en-US" b="1" dirty="0" smtClean="0">
                <a:solidFill>
                  <a:srgbClr val="0000FF"/>
                </a:solidFill>
              </a:rPr>
              <a:t>multiplying</a:t>
            </a:r>
            <a:r>
              <a:rPr lang="en-US" dirty="0" smtClean="0"/>
              <a:t> </a:t>
            </a:r>
            <a:r>
              <a:rPr lang="en-US" b="1" dirty="0">
                <a:solidFill>
                  <a:srgbClr val="0000FF"/>
                </a:solidFill>
              </a:rPr>
              <a:t>two</a:t>
            </a:r>
            <a:r>
              <a:rPr lang="en-US" dirty="0"/>
              <a:t> positive </a:t>
            </a:r>
            <a:r>
              <a:rPr lang="en-US" b="1" dirty="0" smtClean="0">
                <a:solidFill>
                  <a:srgbClr val="0000FF"/>
                </a:solidFill>
              </a:rPr>
              <a:t>integers</a:t>
            </a:r>
          </a:p>
          <a:p>
            <a:pPr lvl="1"/>
            <a:r>
              <a:rPr lang="en-US" dirty="0"/>
              <a:t>Let </a:t>
            </a:r>
            <a:r>
              <a:rPr lang="en-US" i="1" dirty="0"/>
              <a:t>n </a:t>
            </a:r>
            <a:r>
              <a:rPr lang="en-US" dirty="0"/>
              <a:t>and </a:t>
            </a:r>
            <a:r>
              <a:rPr lang="en-US" i="1" dirty="0" smtClean="0"/>
              <a:t>m </a:t>
            </a:r>
            <a:r>
              <a:rPr lang="en-US" dirty="0" smtClean="0"/>
              <a:t>be </a:t>
            </a:r>
            <a:r>
              <a:rPr lang="en-US" dirty="0"/>
              <a:t>positive </a:t>
            </a:r>
            <a:r>
              <a:rPr lang="en-US" dirty="0" smtClean="0"/>
              <a:t>integers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dirty="0" smtClean="0"/>
              <a:t>even</a:t>
            </a:r>
          </a:p>
          <a:p>
            <a:pPr lvl="1"/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odd</a:t>
            </a:r>
          </a:p>
          <a:p>
            <a:pPr lvl="1"/>
            <a:r>
              <a:rPr lang="en-US" dirty="0" smtClean="0"/>
              <a:t>If </a:t>
            </a:r>
            <a:r>
              <a:rPr lang="en-US" i="1" dirty="0" smtClean="0"/>
              <a:t>n </a:t>
            </a:r>
            <a:r>
              <a:rPr lang="en-US" dirty="0" smtClean="0"/>
              <a:t>= 1, 	      </a:t>
            </a:r>
            <a:r>
              <a:rPr lang="en-US" dirty="0"/>
              <a:t>1 </a:t>
            </a:r>
            <a:r>
              <a:rPr lang="en-US" i="1" dirty="0"/>
              <a:t>. m </a:t>
            </a:r>
            <a:r>
              <a:rPr lang="en-US" dirty="0"/>
              <a:t>= </a:t>
            </a:r>
            <a:r>
              <a:rPr lang="en-US" i="1" dirty="0" smtClean="0"/>
              <a:t>m</a:t>
            </a:r>
            <a:endParaRPr lang="en-US" dirty="0" smtClean="0"/>
          </a:p>
          <a:p>
            <a:pPr lvl="1"/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918" y="3609975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408" y="4162425"/>
            <a:ext cx="21621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8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9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8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0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4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032" y="3276600"/>
            <a:ext cx="333375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8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032" y="3276600"/>
            <a:ext cx="333375" cy="22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90059"/>
            <a:ext cx="32385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8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032" y="3276600"/>
            <a:ext cx="333375" cy="22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90059"/>
            <a:ext cx="323850" cy="266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0031" y="3637684"/>
            <a:ext cx="333375" cy="2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5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032" y="3276600"/>
            <a:ext cx="333375" cy="22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90059"/>
            <a:ext cx="323850" cy="266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0031" y="3637684"/>
            <a:ext cx="333375" cy="219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1387" y="3614304"/>
            <a:ext cx="638175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6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032" y="3276600"/>
            <a:ext cx="333375" cy="22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90059"/>
            <a:ext cx="323850" cy="266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0031" y="3637684"/>
            <a:ext cx="333375" cy="219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1387" y="3614304"/>
            <a:ext cx="638175" cy="2381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231" y="3922568"/>
            <a:ext cx="101917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6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032" y="3276600"/>
            <a:ext cx="333375" cy="22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90059"/>
            <a:ext cx="323850" cy="266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0031" y="3637684"/>
            <a:ext cx="333375" cy="219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1387" y="3614304"/>
            <a:ext cx="638175" cy="2381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231" y="3922568"/>
            <a:ext cx="1019175" cy="2857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941" y="4283652"/>
            <a:ext cx="1028700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032" y="3276600"/>
            <a:ext cx="333375" cy="22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90059"/>
            <a:ext cx="323850" cy="266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0031" y="3637684"/>
            <a:ext cx="333375" cy="219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1387" y="3614304"/>
            <a:ext cx="638175" cy="2381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231" y="3922568"/>
            <a:ext cx="1019175" cy="2857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941" y="4283652"/>
            <a:ext cx="1028700" cy="2381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2637" y="4534766"/>
            <a:ext cx="20669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5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032" y="3276600"/>
            <a:ext cx="333375" cy="22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90059"/>
            <a:ext cx="323850" cy="266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0031" y="3637684"/>
            <a:ext cx="333375" cy="219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1387" y="3614304"/>
            <a:ext cx="638175" cy="2381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231" y="3922568"/>
            <a:ext cx="1019175" cy="2857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941" y="4283652"/>
            <a:ext cx="1028700" cy="2381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2637" y="4534766"/>
            <a:ext cx="2066925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4920095"/>
            <a:ext cx="27336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05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823B"/>
                </a:solidFill>
              </a:rPr>
              <a:t>Russian </a:t>
            </a:r>
            <a:r>
              <a:rPr lang="en-US" sz="3200" b="1" dirty="0" smtClean="0">
                <a:solidFill>
                  <a:srgbClr val="00823B"/>
                </a:solidFill>
              </a:rPr>
              <a:t>Peasant Multiplication (Example)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8018"/>
            <a:ext cx="1419225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480" y="1793730"/>
            <a:ext cx="2162175" cy="581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73" y="2360468"/>
            <a:ext cx="3486150" cy="571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63141"/>
            <a:ext cx="1114425" cy="247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116" y="3276600"/>
            <a:ext cx="247650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0032" y="3276600"/>
            <a:ext cx="333375" cy="228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90059"/>
            <a:ext cx="323850" cy="2667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0031" y="3637684"/>
            <a:ext cx="333375" cy="219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51387" y="3614304"/>
            <a:ext cx="638175" cy="2381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231" y="3922568"/>
            <a:ext cx="1019175" cy="2857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941" y="4283652"/>
            <a:ext cx="1028700" cy="2381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2637" y="4534766"/>
            <a:ext cx="2066925" cy="304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4920095"/>
            <a:ext cx="2733675" cy="2952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16260" y="2447059"/>
            <a:ext cx="19240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2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5532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i="1" dirty="0" smtClean="0"/>
              <a:t>Decrease by a Constant Factor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1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fontScale="92500"/>
          </a:bodyPr>
          <a:lstStyle/>
          <a:p>
            <a:pPr algn="just"/>
            <a:r>
              <a:rPr lang="en-US" b="1" dirty="0">
                <a:solidFill>
                  <a:srgbClr val="0000FF"/>
                </a:solidFill>
              </a:rPr>
              <a:t>Flavius </a:t>
            </a:r>
            <a:r>
              <a:rPr lang="en-US" b="1" dirty="0" smtClean="0">
                <a:solidFill>
                  <a:srgbClr val="0000FF"/>
                </a:solidFill>
              </a:rPr>
              <a:t>Josephus</a:t>
            </a:r>
            <a:r>
              <a:rPr lang="en-US" dirty="0" smtClean="0"/>
              <a:t>, General of Jewish army</a:t>
            </a:r>
          </a:p>
          <a:p>
            <a:pPr algn="just"/>
            <a:r>
              <a:rPr lang="en-US" dirty="0" smtClean="0"/>
              <a:t>Fighting against Romans</a:t>
            </a:r>
          </a:p>
          <a:p>
            <a:pPr algn="just"/>
            <a:r>
              <a:rPr lang="en-US" dirty="0" smtClean="0"/>
              <a:t>So </a:t>
            </a:r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</a:rPr>
              <a:t>n </a:t>
            </a:r>
            <a:r>
              <a:rPr lang="en-US" b="1" dirty="0">
                <a:solidFill>
                  <a:srgbClr val="0000FF"/>
                </a:solidFill>
              </a:rPr>
              <a:t>people </a:t>
            </a:r>
            <a:r>
              <a:rPr lang="en-US" dirty="0"/>
              <a:t>numbered 1 to </a:t>
            </a:r>
            <a:r>
              <a:rPr lang="en-US" i="1" dirty="0"/>
              <a:t>n </a:t>
            </a:r>
            <a:r>
              <a:rPr lang="en-US" dirty="0"/>
              <a:t>stand in a </a:t>
            </a:r>
            <a:r>
              <a:rPr lang="en-US" b="1" dirty="0">
                <a:solidFill>
                  <a:srgbClr val="0000FF"/>
                </a:solidFill>
              </a:rPr>
              <a:t>circle</a:t>
            </a:r>
            <a:r>
              <a:rPr lang="en-US" dirty="0"/>
              <a:t>. Starting the </a:t>
            </a:r>
            <a:r>
              <a:rPr lang="en-US" dirty="0" smtClean="0"/>
              <a:t>count with person </a:t>
            </a:r>
            <a:r>
              <a:rPr lang="en-US" dirty="0"/>
              <a:t>number 1, we </a:t>
            </a:r>
            <a:r>
              <a:rPr lang="en-US" b="1" dirty="0">
                <a:solidFill>
                  <a:srgbClr val="0000FF"/>
                </a:solidFill>
              </a:rPr>
              <a:t>eliminate every second person </a:t>
            </a:r>
            <a:r>
              <a:rPr lang="en-US" dirty="0"/>
              <a:t>until only one </a:t>
            </a:r>
            <a:r>
              <a:rPr lang="en-US" sz="3600" b="1" dirty="0" smtClean="0">
                <a:solidFill>
                  <a:srgbClr val="00823B"/>
                </a:solidFill>
              </a:rPr>
              <a:t>survivor i.e. </a:t>
            </a:r>
            <a:r>
              <a:rPr lang="en-US" b="1" dirty="0">
                <a:solidFill>
                  <a:srgbClr val="FF0000"/>
                </a:solidFill>
              </a:rPr>
              <a:t>J(n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en-US" dirty="0" smtClean="0"/>
              <a:t> </a:t>
            </a:r>
            <a:r>
              <a:rPr lang="en-US" dirty="0"/>
              <a:t>is </a:t>
            </a:r>
            <a:r>
              <a:rPr lang="en-US" dirty="0" smtClean="0"/>
              <a:t>left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4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dirty="0"/>
              <a:t>, i.e., </a:t>
            </a:r>
            <a:r>
              <a:rPr lang="en-US" i="1" dirty="0"/>
              <a:t>n </a:t>
            </a: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i.e</a:t>
            </a:r>
            <a:r>
              <a:rPr lang="en-US" dirty="0"/>
              <a:t>., </a:t>
            </a:r>
            <a:r>
              <a:rPr lang="en-US" i="1" dirty="0"/>
              <a:t>n </a:t>
            </a: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i="1" dirty="0" smtClean="0"/>
              <a:t>k </a:t>
            </a:r>
            <a:r>
              <a:rPr lang="en-US" dirty="0"/>
              <a:t>+ </a:t>
            </a:r>
            <a:r>
              <a:rPr lang="en-US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6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057400"/>
            <a:ext cx="3415878" cy="362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6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6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057400"/>
            <a:ext cx="3415878" cy="3625013"/>
          </a:xfrm>
          <a:prstGeom prst="rect">
            <a:avLst/>
          </a:prstGeom>
        </p:spPr>
      </p:pic>
      <p:sp>
        <p:nvSpPr>
          <p:cNvPr id="6" name="&quot;No&quot; Symbol 5"/>
          <p:cNvSpPr/>
          <p:nvPr/>
        </p:nvSpPr>
        <p:spPr>
          <a:xfrm>
            <a:off x="6664769" y="2819400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48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6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057400"/>
            <a:ext cx="3415878" cy="3625013"/>
          </a:xfrm>
          <a:prstGeom prst="rect">
            <a:avLst/>
          </a:prstGeom>
        </p:spPr>
      </p:pic>
      <p:sp>
        <p:nvSpPr>
          <p:cNvPr id="6" name="&quot;No&quot; Symbol 5"/>
          <p:cNvSpPr/>
          <p:nvPr/>
        </p:nvSpPr>
        <p:spPr>
          <a:xfrm>
            <a:off x="6664769" y="2819400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&quot;No&quot; Symbol 6"/>
          <p:cNvSpPr/>
          <p:nvPr/>
        </p:nvSpPr>
        <p:spPr>
          <a:xfrm>
            <a:off x="5282045" y="5097058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24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6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057400"/>
            <a:ext cx="3415878" cy="3625013"/>
          </a:xfrm>
          <a:prstGeom prst="rect">
            <a:avLst/>
          </a:prstGeom>
        </p:spPr>
      </p:pic>
      <p:sp>
        <p:nvSpPr>
          <p:cNvPr id="6" name="&quot;No&quot; Symbol 5"/>
          <p:cNvSpPr/>
          <p:nvPr/>
        </p:nvSpPr>
        <p:spPr>
          <a:xfrm>
            <a:off x="6664769" y="2819400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&quot;No&quot; Symbol 6"/>
          <p:cNvSpPr/>
          <p:nvPr/>
        </p:nvSpPr>
        <p:spPr>
          <a:xfrm>
            <a:off x="5282045" y="5097058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&quot;No&quot; Symbol 8"/>
          <p:cNvSpPr/>
          <p:nvPr/>
        </p:nvSpPr>
        <p:spPr>
          <a:xfrm>
            <a:off x="3983182" y="2803814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53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6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057400"/>
            <a:ext cx="3415878" cy="3625013"/>
          </a:xfrm>
          <a:prstGeom prst="rect">
            <a:avLst/>
          </a:prstGeom>
        </p:spPr>
      </p:pic>
      <p:sp>
        <p:nvSpPr>
          <p:cNvPr id="6" name="&quot;No&quot; Symbol 5"/>
          <p:cNvSpPr/>
          <p:nvPr/>
        </p:nvSpPr>
        <p:spPr>
          <a:xfrm>
            <a:off x="6664769" y="2819400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&quot;No&quot; Symbol 6"/>
          <p:cNvSpPr/>
          <p:nvPr/>
        </p:nvSpPr>
        <p:spPr>
          <a:xfrm>
            <a:off x="5282045" y="5097058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&quot;No&quot; Symbol 7"/>
          <p:cNvSpPr/>
          <p:nvPr/>
        </p:nvSpPr>
        <p:spPr>
          <a:xfrm>
            <a:off x="3983182" y="2803814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&quot;No&quot; Symbol 10"/>
          <p:cNvSpPr/>
          <p:nvPr/>
        </p:nvSpPr>
        <p:spPr>
          <a:xfrm>
            <a:off x="6615546" y="4267200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3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6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2057400"/>
            <a:ext cx="3415878" cy="3625013"/>
          </a:xfrm>
          <a:prstGeom prst="rect">
            <a:avLst/>
          </a:prstGeom>
        </p:spPr>
      </p:pic>
      <p:sp>
        <p:nvSpPr>
          <p:cNvPr id="6" name="&quot;No&quot; Symbol 5"/>
          <p:cNvSpPr/>
          <p:nvPr/>
        </p:nvSpPr>
        <p:spPr>
          <a:xfrm>
            <a:off x="6664769" y="2819400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&quot;No&quot; Symbol 6"/>
          <p:cNvSpPr/>
          <p:nvPr/>
        </p:nvSpPr>
        <p:spPr>
          <a:xfrm>
            <a:off x="5282045" y="5097058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&quot;No&quot; Symbol 7"/>
          <p:cNvSpPr/>
          <p:nvPr/>
        </p:nvSpPr>
        <p:spPr>
          <a:xfrm>
            <a:off x="3983182" y="2803814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&quot;No&quot; Symbol 8"/>
          <p:cNvSpPr/>
          <p:nvPr/>
        </p:nvSpPr>
        <p:spPr>
          <a:xfrm>
            <a:off x="6615546" y="4267200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&quot;No&quot; Symbol 9"/>
          <p:cNvSpPr/>
          <p:nvPr/>
        </p:nvSpPr>
        <p:spPr>
          <a:xfrm>
            <a:off x="5282045" y="2057400"/>
            <a:ext cx="789709" cy="6858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60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7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39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93" y="1927514"/>
            <a:ext cx="3949865" cy="386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57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7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40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93" y="1927514"/>
            <a:ext cx="3949865" cy="3863686"/>
          </a:xfrm>
          <a:prstGeom prst="rect">
            <a:avLst/>
          </a:prstGeom>
        </p:spPr>
      </p:pic>
      <p:sp>
        <p:nvSpPr>
          <p:cNvPr id="16" name="&quot;No&quot; Symbol 15"/>
          <p:cNvSpPr/>
          <p:nvPr/>
        </p:nvSpPr>
        <p:spPr>
          <a:xfrm>
            <a:off x="6858000" y="25908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61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7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41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93" y="1927514"/>
            <a:ext cx="3949865" cy="3863686"/>
          </a:xfrm>
          <a:prstGeom prst="rect">
            <a:avLst/>
          </a:prstGeom>
        </p:spPr>
      </p:pic>
      <p:sp>
        <p:nvSpPr>
          <p:cNvPr id="14" name="&quot;No&quot; Symbol 13"/>
          <p:cNvSpPr/>
          <p:nvPr/>
        </p:nvSpPr>
        <p:spPr>
          <a:xfrm>
            <a:off x="6248400" y="51435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&quot;No&quot; Symbol 15"/>
          <p:cNvSpPr/>
          <p:nvPr/>
        </p:nvSpPr>
        <p:spPr>
          <a:xfrm>
            <a:off x="6858000" y="25908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7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7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42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93" y="1927514"/>
            <a:ext cx="3949865" cy="3863686"/>
          </a:xfrm>
          <a:prstGeom prst="rect">
            <a:avLst/>
          </a:prstGeom>
        </p:spPr>
      </p:pic>
      <p:sp>
        <p:nvSpPr>
          <p:cNvPr id="14" name="&quot;No&quot; Symbol 13"/>
          <p:cNvSpPr/>
          <p:nvPr/>
        </p:nvSpPr>
        <p:spPr>
          <a:xfrm>
            <a:off x="6248400" y="51435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/>
          <p:cNvSpPr/>
          <p:nvPr/>
        </p:nvSpPr>
        <p:spPr>
          <a:xfrm>
            <a:off x="3893817" y="39624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&quot;No&quot; Symbol 15"/>
          <p:cNvSpPr/>
          <p:nvPr/>
        </p:nvSpPr>
        <p:spPr>
          <a:xfrm>
            <a:off x="6858000" y="25908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97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7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93" y="1927514"/>
            <a:ext cx="3949865" cy="3863686"/>
          </a:xfrm>
          <a:prstGeom prst="rect">
            <a:avLst/>
          </a:prstGeom>
        </p:spPr>
      </p:pic>
      <p:sp>
        <p:nvSpPr>
          <p:cNvPr id="12" name="&quot;No&quot; Symbol 11"/>
          <p:cNvSpPr/>
          <p:nvPr/>
        </p:nvSpPr>
        <p:spPr>
          <a:xfrm>
            <a:off x="5562600" y="19812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&quot;No&quot; Symbol 13"/>
          <p:cNvSpPr/>
          <p:nvPr/>
        </p:nvSpPr>
        <p:spPr>
          <a:xfrm>
            <a:off x="6248400" y="51435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/>
          <p:cNvSpPr/>
          <p:nvPr/>
        </p:nvSpPr>
        <p:spPr>
          <a:xfrm>
            <a:off x="3893817" y="39624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&quot;No&quot; Symbol 15"/>
          <p:cNvSpPr/>
          <p:nvPr/>
        </p:nvSpPr>
        <p:spPr>
          <a:xfrm>
            <a:off x="6858000" y="25908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355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7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44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93" y="1927514"/>
            <a:ext cx="3949865" cy="3863686"/>
          </a:xfrm>
          <a:prstGeom prst="rect">
            <a:avLst/>
          </a:prstGeom>
        </p:spPr>
      </p:pic>
      <p:sp>
        <p:nvSpPr>
          <p:cNvPr id="12" name="&quot;No&quot; Symbol 11"/>
          <p:cNvSpPr/>
          <p:nvPr/>
        </p:nvSpPr>
        <p:spPr>
          <a:xfrm>
            <a:off x="5562600" y="19812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&quot;No&quot; Symbol 13"/>
          <p:cNvSpPr/>
          <p:nvPr/>
        </p:nvSpPr>
        <p:spPr>
          <a:xfrm>
            <a:off x="6248400" y="51435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/>
          <p:cNvSpPr/>
          <p:nvPr/>
        </p:nvSpPr>
        <p:spPr>
          <a:xfrm>
            <a:off x="3893817" y="39624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&quot;No&quot; Symbol 15"/>
          <p:cNvSpPr/>
          <p:nvPr/>
        </p:nvSpPr>
        <p:spPr>
          <a:xfrm>
            <a:off x="6858000" y="25908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&quot;No&quot; Symbol 16"/>
          <p:cNvSpPr/>
          <p:nvPr/>
        </p:nvSpPr>
        <p:spPr>
          <a:xfrm>
            <a:off x="4800600" y="5136573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2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Josephus </a:t>
            </a:r>
            <a:r>
              <a:rPr lang="en-US" b="1" dirty="0" smtClean="0">
                <a:solidFill>
                  <a:srgbClr val="00823B"/>
                </a:solidFill>
              </a:rPr>
              <a:t>problem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3962400" cy="42672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 = 7</a:t>
            </a:r>
          </a:p>
          <a:p>
            <a:r>
              <a:rPr lang="en-US" dirty="0" smtClean="0"/>
              <a:t>If </a:t>
            </a:r>
            <a:r>
              <a:rPr lang="en-US" i="1" dirty="0"/>
              <a:t>n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even</a:t>
            </a:r>
            <a:r>
              <a:rPr lang="en-US" sz="2400" dirty="0"/>
              <a:t>, i.e., </a:t>
            </a:r>
            <a:r>
              <a:rPr lang="en-US" sz="2400" i="1" dirty="0"/>
              <a:t>n </a:t>
            </a:r>
            <a:r>
              <a:rPr lang="en-US" sz="2400" dirty="0"/>
              <a:t>= </a:t>
            </a:r>
            <a:r>
              <a:rPr lang="en-US" sz="2400" dirty="0" smtClean="0"/>
              <a:t>2</a:t>
            </a:r>
            <a:r>
              <a:rPr lang="en-US" sz="2400" i="1" dirty="0" smtClean="0"/>
              <a:t>k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J(2k) = 2J(k) −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  <a:endParaRPr lang="en-US" b="1" dirty="0">
              <a:solidFill>
                <a:srgbClr val="00823B"/>
              </a:solidFill>
            </a:endParaRPr>
          </a:p>
          <a:p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is </a:t>
            </a:r>
            <a:r>
              <a:rPr lang="en-US" b="1" dirty="0" smtClean="0">
                <a:solidFill>
                  <a:srgbClr val="0000FF"/>
                </a:solidFill>
              </a:rPr>
              <a:t>odd</a:t>
            </a:r>
            <a:r>
              <a:rPr lang="en-US" dirty="0" smtClean="0"/>
              <a:t>, </a:t>
            </a:r>
            <a:r>
              <a:rPr lang="en-US" sz="2000" dirty="0" smtClean="0"/>
              <a:t>i.e</a:t>
            </a:r>
            <a:r>
              <a:rPr lang="en-US" sz="2000" dirty="0"/>
              <a:t>., </a:t>
            </a:r>
            <a:r>
              <a:rPr lang="en-US" sz="2000" i="1" dirty="0"/>
              <a:t>n </a:t>
            </a:r>
            <a:r>
              <a:rPr lang="en-US" sz="2000" dirty="0"/>
              <a:t>= </a:t>
            </a:r>
            <a:r>
              <a:rPr lang="en-US" sz="2000" dirty="0" smtClean="0"/>
              <a:t>2</a:t>
            </a:r>
            <a:r>
              <a:rPr lang="en-US" sz="2000" i="1" dirty="0" smtClean="0"/>
              <a:t>k </a:t>
            </a:r>
            <a:r>
              <a:rPr lang="en-US" sz="2000" dirty="0"/>
              <a:t>+ </a:t>
            </a:r>
            <a:r>
              <a:rPr lang="en-US" sz="2000" dirty="0" smtClean="0"/>
              <a:t>1</a:t>
            </a:r>
          </a:p>
          <a:p>
            <a:pPr lvl="1"/>
            <a:r>
              <a:rPr lang="en-US" b="1" dirty="0">
                <a:solidFill>
                  <a:srgbClr val="00823B"/>
                </a:solidFill>
              </a:rPr>
              <a:t>J(2k + 1) = 2J(k) + </a:t>
            </a:r>
            <a:r>
              <a:rPr lang="en-US" b="1" dirty="0" smtClean="0">
                <a:solidFill>
                  <a:srgbClr val="00823B"/>
                </a:solidFill>
              </a:rPr>
              <a:t>1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00FF"/>
                </a:solidFill>
              </a:rPr>
              <a:t>1</a:t>
            </a:r>
            <a:r>
              <a:rPr lang="en-US" dirty="0" smtClean="0"/>
              <a:t>,</a:t>
            </a:r>
          </a:p>
          <a:p>
            <a:pPr lvl="1"/>
            <a:r>
              <a:rPr lang="en-US" b="1" dirty="0" smtClean="0">
                <a:solidFill>
                  <a:srgbClr val="00823B"/>
                </a:solidFill>
              </a:rPr>
              <a:t>J(1</a:t>
            </a:r>
            <a:r>
              <a:rPr lang="en-US" b="1" dirty="0">
                <a:solidFill>
                  <a:srgbClr val="00823B"/>
                </a:solidFill>
              </a:rPr>
              <a:t>)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45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93" y="1927514"/>
            <a:ext cx="3949865" cy="3863686"/>
          </a:xfrm>
          <a:prstGeom prst="rect">
            <a:avLst/>
          </a:prstGeom>
        </p:spPr>
      </p:pic>
      <p:sp>
        <p:nvSpPr>
          <p:cNvPr id="12" name="&quot;No&quot; Symbol 11"/>
          <p:cNvSpPr/>
          <p:nvPr/>
        </p:nvSpPr>
        <p:spPr>
          <a:xfrm>
            <a:off x="5562600" y="19812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&quot;No&quot; Symbol 13"/>
          <p:cNvSpPr/>
          <p:nvPr/>
        </p:nvSpPr>
        <p:spPr>
          <a:xfrm>
            <a:off x="6248400" y="51435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/>
          <p:cNvSpPr/>
          <p:nvPr/>
        </p:nvSpPr>
        <p:spPr>
          <a:xfrm>
            <a:off x="3893817" y="39624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&quot;No&quot; Symbol 15"/>
          <p:cNvSpPr/>
          <p:nvPr/>
        </p:nvSpPr>
        <p:spPr>
          <a:xfrm>
            <a:off x="6858000" y="25908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&quot;No&quot; Symbol 16"/>
          <p:cNvSpPr/>
          <p:nvPr/>
        </p:nvSpPr>
        <p:spPr>
          <a:xfrm>
            <a:off x="4800600" y="5136573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&quot;No&quot; Symbol 17"/>
          <p:cNvSpPr/>
          <p:nvPr/>
        </p:nvSpPr>
        <p:spPr>
          <a:xfrm>
            <a:off x="7168593" y="3962400"/>
            <a:ext cx="685800" cy="609600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Variable Size Decrease Algorithms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Decrease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06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00823B"/>
                </a:solidFill>
              </a:rPr>
              <a:t>Variable Size Decrease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3600"/>
            <a:ext cx="6248400" cy="4038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0000FF"/>
                </a:solidFill>
              </a:rPr>
              <a:t>size-reduction </a:t>
            </a:r>
            <a:r>
              <a:rPr lang="en-US" b="1" dirty="0">
                <a:solidFill>
                  <a:srgbClr val="0000FF"/>
                </a:solidFill>
              </a:rPr>
              <a:t>pattern varies </a:t>
            </a:r>
            <a:r>
              <a:rPr lang="en-US" dirty="0"/>
              <a:t>from one iteration of an algorithm to </a:t>
            </a:r>
            <a:r>
              <a:rPr lang="en-US" dirty="0" smtClean="0"/>
              <a:t>another</a:t>
            </a:r>
          </a:p>
          <a:p>
            <a:pPr marL="0" indent="0">
              <a:buFontTx/>
              <a:buNone/>
            </a:pPr>
            <a:r>
              <a:rPr lang="en-US" altLang="en-US" dirty="0" smtClean="0"/>
              <a:t>Examples</a:t>
            </a:r>
            <a:r>
              <a:rPr lang="en-US" altLang="en-US" dirty="0"/>
              <a:t>:</a:t>
            </a:r>
          </a:p>
          <a:p>
            <a:pPr marL="400050" lvl="1" indent="0">
              <a:buFontTx/>
              <a:buChar char="•"/>
            </a:pPr>
            <a:r>
              <a:rPr lang="en-US" altLang="en-US" dirty="0"/>
              <a:t>  </a:t>
            </a:r>
            <a:r>
              <a:rPr lang="en-US" altLang="en-US" dirty="0" smtClean="0"/>
              <a:t>Euclid’s </a:t>
            </a:r>
            <a:r>
              <a:rPr lang="en-US" altLang="en-US" dirty="0"/>
              <a:t>algorithm  for greatest common divisor</a:t>
            </a:r>
          </a:p>
          <a:p>
            <a:pPr marL="400050" lvl="1" indent="0">
              <a:buClr>
                <a:schemeClr val="tx1"/>
              </a:buClr>
              <a:buFontTx/>
              <a:buChar char="•"/>
            </a:pPr>
            <a:r>
              <a:rPr lang="en-US" altLang="en-US" dirty="0"/>
              <a:t>  </a:t>
            </a:r>
            <a:r>
              <a:rPr lang="en-US" altLang="en-US" dirty="0" smtClean="0"/>
              <a:t>partition-based </a:t>
            </a:r>
            <a:r>
              <a:rPr lang="en-US" altLang="en-US" dirty="0"/>
              <a:t>algorithm for selection problem</a:t>
            </a:r>
          </a:p>
          <a:p>
            <a:pPr marL="400050" lvl="1" indent="0">
              <a:buClr>
                <a:schemeClr val="tx1"/>
              </a:buClr>
              <a:buFontTx/>
              <a:buChar char="•"/>
            </a:pPr>
            <a:r>
              <a:rPr lang="en-US" altLang="en-US" dirty="0"/>
              <a:t>  </a:t>
            </a:r>
            <a:r>
              <a:rPr lang="en-US" altLang="en-US" dirty="0" smtClean="0"/>
              <a:t>interpolation </a:t>
            </a:r>
            <a:r>
              <a:rPr lang="en-US" altLang="en-US" dirty="0"/>
              <a:t>search</a:t>
            </a:r>
          </a:p>
          <a:p>
            <a:pPr marL="400050" lvl="1" indent="0">
              <a:buClr>
                <a:schemeClr val="tx1"/>
              </a:buClr>
              <a:buFontTx/>
              <a:buChar char="•"/>
            </a:pPr>
            <a:r>
              <a:rPr lang="en-US" altLang="en-US" dirty="0"/>
              <a:t>  </a:t>
            </a:r>
            <a:r>
              <a:rPr lang="en-US" altLang="en-US" dirty="0" smtClean="0"/>
              <a:t>some </a:t>
            </a:r>
            <a:r>
              <a:rPr lang="en-US" altLang="en-US" dirty="0"/>
              <a:t>algorithms on binary search trees</a:t>
            </a:r>
          </a:p>
          <a:p>
            <a:pPr marL="400050" lvl="1" indent="0">
              <a:buClr>
                <a:schemeClr val="tx1"/>
              </a:buClr>
              <a:buFontTx/>
              <a:buChar char="•"/>
            </a:pPr>
            <a:r>
              <a:rPr lang="en-US" altLang="en-US" dirty="0"/>
              <a:t> </a:t>
            </a:r>
            <a:r>
              <a:rPr lang="en-US" altLang="en-US" dirty="0" smtClean="0"/>
              <a:t> </a:t>
            </a:r>
            <a:r>
              <a:rPr lang="en-US" altLang="en-US" dirty="0" err="1"/>
              <a:t>Nim</a:t>
            </a:r>
            <a:r>
              <a:rPr lang="en-US" altLang="en-US" dirty="0"/>
              <a:t> and </a:t>
            </a:r>
            <a:r>
              <a:rPr lang="en-US" altLang="en-US" dirty="0" err="1"/>
              <a:t>Nim</a:t>
            </a:r>
            <a:r>
              <a:rPr lang="en-US" altLang="en-US" dirty="0"/>
              <a:t>-like games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1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823B"/>
                </a:solidFill>
              </a:rPr>
              <a:t>Variable Size Decrease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Euclid’s algorithm </a:t>
            </a:r>
            <a:r>
              <a:rPr lang="en-US" dirty="0"/>
              <a:t>for computing the </a:t>
            </a:r>
            <a:r>
              <a:rPr lang="en-US" b="1" dirty="0">
                <a:solidFill>
                  <a:srgbClr val="0000FF"/>
                </a:solidFill>
              </a:rPr>
              <a:t>greatest common </a:t>
            </a:r>
            <a:r>
              <a:rPr lang="en-US" b="1" dirty="0" smtClean="0">
                <a:solidFill>
                  <a:srgbClr val="0000FF"/>
                </a:solidFill>
              </a:rPr>
              <a:t>divisor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pt-BR" altLang="en-US" dirty="0" smtClean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pt-BR" altLang="en-US" dirty="0"/>
          </a:p>
          <a:p>
            <a:pPr lvl="1">
              <a:lnSpc>
                <a:spcPct val="90000"/>
              </a:lnSpc>
            </a:pPr>
            <a:r>
              <a:rPr lang="pt-BR" altLang="en-US" dirty="0" smtClean="0"/>
              <a:t>Ex</a:t>
            </a:r>
            <a:r>
              <a:rPr lang="pt-BR" altLang="en-US" dirty="0"/>
              <a:t>.: </a:t>
            </a:r>
            <a:r>
              <a:rPr lang="en-US" altLang="en-US" dirty="0" err="1"/>
              <a:t>gcd</a:t>
            </a:r>
            <a:r>
              <a:rPr lang="en-US" altLang="en-US" dirty="0"/>
              <a:t>(80,44) </a:t>
            </a:r>
            <a:endParaRPr lang="en-US" altLang="en-US" dirty="0" smtClean="0"/>
          </a:p>
          <a:p>
            <a:pPr lvl="2">
              <a:lnSpc>
                <a:spcPct val="90000"/>
              </a:lnSpc>
            </a:pPr>
            <a:r>
              <a:rPr lang="en-US" altLang="en-US" dirty="0" smtClean="0"/>
              <a:t>= </a:t>
            </a:r>
            <a:r>
              <a:rPr lang="en-US" altLang="en-US" dirty="0" err="1"/>
              <a:t>gcd</a:t>
            </a:r>
            <a:r>
              <a:rPr lang="en-US" altLang="en-US" dirty="0"/>
              <a:t>(44,36) </a:t>
            </a:r>
            <a:endParaRPr lang="en-US" altLang="en-US" dirty="0" smtClean="0"/>
          </a:p>
          <a:p>
            <a:pPr lvl="2">
              <a:lnSpc>
                <a:spcPct val="90000"/>
              </a:lnSpc>
            </a:pPr>
            <a:r>
              <a:rPr lang="en-US" altLang="en-US" dirty="0" smtClean="0"/>
              <a:t>= </a:t>
            </a:r>
            <a:r>
              <a:rPr lang="en-US" altLang="en-US" dirty="0" err="1"/>
              <a:t>gcd</a:t>
            </a:r>
            <a:r>
              <a:rPr lang="en-US" altLang="en-US" dirty="0"/>
              <a:t>(36, 12</a:t>
            </a:r>
            <a:r>
              <a:rPr lang="en-US" altLang="en-US" dirty="0" smtClean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 dirty="0" smtClean="0"/>
              <a:t>= </a:t>
            </a:r>
            <a:r>
              <a:rPr lang="en-US" altLang="en-US" dirty="0" err="1"/>
              <a:t>gcd</a:t>
            </a:r>
            <a:r>
              <a:rPr lang="en-US" altLang="en-US" dirty="0"/>
              <a:t>(12,0) = 12</a:t>
            </a:r>
            <a:endParaRPr lang="pt-BR" altLang="en-US" dirty="0"/>
          </a:p>
          <a:p>
            <a:pPr lvl="1">
              <a:lnSpc>
                <a:spcPct val="90000"/>
              </a:lnSpc>
            </a:pPr>
            <a:r>
              <a:rPr lang="pt-BR" altLang="en-US" dirty="0" smtClean="0"/>
              <a:t>One </a:t>
            </a:r>
            <a:r>
              <a:rPr lang="pt-BR" altLang="en-US" dirty="0"/>
              <a:t>can prove that the size, measured by the second number,</a:t>
            </a:r>
          </a:p>
          <a:p>
            <a:pPr lvl="1">
              <a:lnSpc>
                <a:spcPct val="90000"/>
              </a:lnSpc>
            </a:pPr>
            <a:r>
              <a:rPr lang="pt-BR" altLang="en-US" dirty="0"/>
              <a:t>decreases at least by half after two consecutive iterations. </a:t>
            </a:r>
          </a:p>
          <a:p>
            <a:pPr lvl="1">
              <a:lnSpc>
                <a:spcPct val="90000"/>
              </a:lnSpc>
            </a:pPr>
            <a:r>
              <a:rPr lang="pt-BR" altLang="en-US" dirty="0"/>
              <a:t>Hence, T(</a:t>
            </a:r>
            <a:r>
              <a:rPr lang="pt-BR" altLang="en-US" i="1" dirty="0"/>
              <a:t>n</a:t>
            </a:r>
            <a:r>
              <a:rPr lang="pt-BR" altLang="en-US" dirty="0"/>
              <a:t>) </a:t>
            </a:r>
            <a:r>
              <a:rPr lang="en-US" altLang="en-US" dirty="0">
                <a:solidFill>
                  <a:schemeClr val="hlink"/>
                </a:solidFill>
                <a:sym typeface="Symbol" panose="05050102010706020507" pitchFamily="18" charset="2"/>
              </a:rPr>
              <a:t>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chemeClr val="hlink"/>
                </a:solidFill>
                <a:sym typeface="Symbol" panose="05050102010706020507" pitchFamily="18" charset="2"/>
              </a:rPr>
              <a:t>O(log </a:t>
            </a:r>
            <a:r>
              <a:rPr lang="en-US" altLang="en-US" i="1" dirty="0">
                <a:solidFill>
                  <a:schemeClr val="hlink"/>
                </a:solidFill>
                <a:sym typeface="Symbol" panose="05050102010706020507" pitchFamily="18" charset="2"/>
              </a:rPr>
              <a:t>n</a:t>
            </a:r>
            <a:r>
              <a:rPr lang="en-US" altLang="en-US" dirty="0" smtClean="0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r>
              <a:rPr lang="en-US" b="1" dirty="0" smtClean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514600"/>
            <a:ext cx="46291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4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Variable Size Decrease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Algorithms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/>
              <a:t>selection problem </a:t>
            </a:r>
            <a:r>
              <a:rPr lang="en-US" dirty="0"/>
              <a:t>is the problem of finding the </a:t>
            </a:r>
            <a:r>
              <a:rPr lang="en-US" b="1" dirty="0" smtClean="0">
                <a:solidFill>
                  <a:srgbClr val="0000FF"/>
                </a:solidFill>
              </a:rPr>
              <a:t>k</a:t>
            </a:r>
            <a:r>
              <a:rPr lang="en-US" b="1" baseline="30000" dirty="0" smtClean="0">
                <a:solidFill>
                  <a:srgbClr val="0000FF"/>
                </a:solidFill>
              </a:rPr>
              <a:t>th</a:t>
            </a:r>
            <a:r>
              <a:rPr lang="en-US" b="1" dirty="0" smtClean="0">
                <a:solidFill>
                  <a:srgbClr val="0000FF"/>
                </a:solidFill>
              </a:rPr>
              <a:t> </a:t>
            </a:r>
            <a:r>
              <a:rPr lang="en-US" dirty="0" smtClean="0"/>
              <a:t>smallest </a:t>
            </a:r>
            <a:r>
              <a:rPr lang="en-US" dirty="0"/>
              <a:t>element in a </a:t>
            </a:r>
            <a:r>
              <a:rPr lang="en-US" dirty="0" smtClean="0"/>
              <a:t>list of </a:t>
            </a:r>
            <a:r>
              <a:rPr lang="en-US" i="1" dirty="0"/>
              <a:t>n </a:t>
            </a:r>
            <a:r>
              <a:rPr lang="en-US" dirty="0"/>
              <a:t>numbers. This number is called the </a:t>
            </a:r>
            <a:r>
              <a:rPr lang="en-US" i="1" dirty="0"/>
              <a:t>k</a:t>
            </a:r>
            <a:r>
              <a:rPr lang="en-US" dirty="0"/>
              <a:t>th </a:t>
            </a:r>
            <a:r>
              <a:rPr lang="en-US" b="1" dirty="0">
                <a:solidFill>
                  <a:srgbClr val="0000FF"/>
                </a:solidFill>
              </a:rPr>
              <a:t>order </a:t>
            </a:r>
            <a:r>
              <a:rPr lang="en-US" b="1" dirty="0" smtClean="0">
                <a:solidFill>
                  <a:srgbClr val="0000FF"/>
                </a:solidFill>
              </a:rPr>
              <a:t>statistic</a:t>
            </a:r>
          </a:p>
          <a:p>
            <a:pPr algn="just"/>
            <a:r>
              <a:rPr lang="en-US" dirty="0" smtClean="0"/>
              <a:t>K = 1 find </a:t>
            </a:r>
            <a:r>
              <a:rPr lang="en-US" b="1" dirty="0" smtClean="0">
                <a:solidFill>
                  <a:srgbClr val="0000FF"/>
                </a:solidFill>
              </a:rPr>
              <a:t>smallest</a:t>
            </a:r>
          </a:p>
          <a:p>
            <a:pPr algn="just"/>
            <a:r>
              <a:rPr lang="en-US" dirty="0" smtClean="0"/>
              <a:t>K = n find </a:t>
            </a:r>
            <a:r>
              <a:rPr lang="en-US" b="1" dirty="0" smtClean="0">
                <a:solidFill>
                  <a:srgbClr val="0000FF"/>
                </a:solidFill>
              </a:rPr>
              <a:t>largest</a:t>
            </a:r>
          </a:p>
          <a:p>
            <a:pPr algn="just"/>
            <a:r>
              <a:rPr lang="en-US" dirty="0" smtClean="0"/>
              <a:t>K = n/2, find </a:t>
            </a:r>
            <a:r>
              <a:rPr lang="en-US" dirty="0"/>
              <a:t>the </a:t>
            </a:r>
            <a:r>
              <a:rPr lang="en-US" b="1" dirty="0" smtClean="0">
                <a:solidFill>
                  <a:srgbClr val="0000FF"/>
                </a:solidFill>
              </a:rPr>
              <a:t>median</a:t>
            </a:r>
          </a:p>
          <a:p>
            <a:pPr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7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First Solution</a:t>
            </a:r>
          </a:p>
          <a:p>
            <a:pPr lvl="1" algn="just"/>
            <a:r>
              <a:rPr lang="en-US" b="1" dirty="0" smtClean="0">
                <a:solidFill>
                  <a:srgbClr val="0000FF"/>
                </a:solidFill>
              </a:rPr>
              <a:t>Sort </a:t>
            </a:r>
            <a:r>
              <a:rPr lang="en-US" sz="3200" dirty="0"/>
              <a:t>the list </a:t>
            </a:r>
            <a:r>
              <a:rPr lang="en-US" sz="3200" dirty="0" smtClean="0"/>
              <a:t>first</a:t>
            </a:r>
          </a:p>
          <a:p>
            <a:pPr lvl="1" algn="just"/>
            <a:r>
              <a:rPr lang="en-US" sz="3200" dirty="0" smtClean="0"/>
              <a:t>Select the </a:t>
            </a:r>
            <a:r>
              <a:rPr lang="en-US" sz="3200" b="1" dirty="0" smtClean="0">
                <a:solidFill>
                  <a:srgbClr val="0000FF"/>
                </a:solidFill>
              </a:rPr>
              <a:t>“k</a:t>
            </a:r>
            <a:r>
              <a:rPr lang="en-US" sz="3200" b="1" baseline="30000" dirty="0" smtClean="0">
                <a:solidFill>
                  <a:srgbClr val="0000FF"/>
                </a:solidFill>
              </a:rPr>
              <a:t>th</a:t>
            </a:r>
            <a:r>
              <a:rPr lang="en-US" sz="3200" b="1" dirty="0" smtClean="0">
                <a:solidFill>
                  <a:srgbClr val="0000FF"/>
                </a:solidFill>
              </a:rPr>
              <a:t>” </a:t>
            </a:r>
            <a:r>
              <a:rPr lang="en-US" sz="3200" dirty="0" smtClean="0"/>
              <a:t>element</a:t>
            </a:r>
          </a:p>
          <a:p>
            <a:pPr lvl="1" algn="just"/>
            <a:r>
              <a:rPr lang="en-US" sz="3200" dirty="0" smtClean="0"/>
              <a:t>Efficiency</a:t>
            </a:r>
          </a:p>
          <a:p>
            <a:pPr lvl="2" algn="just"/>
            <a:r>
              <a:rPr lang="en-US" sz="2800" dirty="0" smtClean="0"/>
              <a:t>Depend on sorting algorithm i.e. Merge Sort</a:t>
            </a:r>
          </a:p>
          <a:p>
            <a:pPr lvl="2" algn="just"/>
            <a:r>
              <a:rPr lang="en-US" sz="2800" dirty="0" smtClean="0"/>
              <a:t>O(n log 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6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First Solution</a:t>
            </a:r>
          </a:p>
          <a:p>
            <a:pPr lvl="1" algn="just"/>
            <a:r>
              <a:rPr lang="en-US" b="1" dirty="0" smtClean="0">
                <a:solidFill>
                  <a:srgbClr val="0000FF"/>
                </a:solidFill>
              </a:rPr>
              <a:t>Sort </a:t>
            </a:r>
            <a:r>
              <a:rPr lang="en-US" sz="3200" dirty="0"/>
              <a:t>the list </a:t>
            </a:r>
            <a:r>
              <a:rPr lang="en-US" sz="3200" dirty="0" smtClean="0"/>
              <a:t>first</a:t>
            </a:r>
          </a:p>
          <a:p>
            <a:pPr lvl="1" algn="just"/>
            <a:r>
              <a:rPr lang="en-US" sz="3200" dirty="0" smtClean="0"/>
              <a:t>Select the </a:t>
            </a:r>
            <a:r>
              <a:rPr lang="en-US" sz="3200" b="1" dirty="0" smtClean="0">
                <a:solidFill>
                  <a:srgbClr val="0000FF"/>
                </a:solidFill>
              </a:rPr>
              <a:t>“k</a:t>
            </a:r>
            <a:r>
              <a:rPr lang="en-US" sz="3200" b="1" baseline="30000" dirty="0" smtClean="0">
                <a:solidFill>
                  <a:srgbClr val="0000FF"/>
                </a:solidFill>
              </a:rPr>
              <a:t>th</a:t>
            </a:r>
            <a:r>
              <a:rPr lang="en-US" sz="3200" b="1" dirty="0" smtClean="0">
                <a:solidFill>
                  <a:srgbClr val="0000FF"/>
                </a:solidFill>
              </a:rPr>
              <a:t>” </a:t>
            </a:r>
            <a:r>
              <a:rPr lang="en-US" sz="3200" dirty="0" smtClean="0"/>
              <a:t>element</a:t>
            </a:r>
          </a:p>
          <a:p>
            <a:pPr lvl="1" algn="just"/>
            <a:r>
              <a:rPr lang="en-US" sz="3200" dirty="0" smtClean="0"/>
              <a:t>Efficiency</a:t>
            </a:r>
          </a:p>
          <a:p>
            <a:pPr lvl="2" algn="just"/>
            <a:r>
              <a:rPr lang="en-US" sz="2800" dirty="0" smtClean="0"/>
              <a:t>Depend on sorting algorithm i.e. Merge Sort</a:t>
            </a:r>
          </a:p>
          <a:p>
            <a:pPr lvl="2" algn="just"/>
            <a:r>
              <a:rPr lang="en-US" sz="2800" dirty="0" smtClean="0"/>
              <a:t>O(n log n)</a:t>
            </a:r>
          </a:p>
          <a:p>
            <a:pPr lvl="2" algn="just"/>
            <a:r>
              <a:rPr lang="en-US" sz="2800" dirty="0" smtClean="0"/>
              <a:t>Not efficient;  </a:t>
            </a:r>
            <a:r>
              <a:rPr lang="en-US" sz="2800" b="1" dirty="0" smtClean="0">
                <a:solidFill>
                  <a:srgbClr val="0000FF"/>
                </a:solidFill>
              </a:rPr>
              <a:t>Sorting is required</a:t>
            </a:r>
            <a:endParaRPr lang="en-US" sz="2800" b="1" dirty="0">
              <a:solidFill>
                <a:srgbClr val="0000FF"/>
              </a:solidFill>
            </a:endParaRPr>
          </a:p>
          <a:p>
            <a:pPr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9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 </a:t>
            </a:r>
            <a:r>
              <a:rPr lang="en-US" sz="2700" b="1" dirty="0" smtClean="0">
                <a:solidFill>
                  <a:srgbClr val="00823B"/>
                </a:solidFill>
              </a:rPr>
              <a:t>(Variable Size 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Apply </a:t>
            </a:r>
            <a:r>
              <a:rPr lang="en-US" b="1" i="1" dirty="0" smtClean="0">
                <a:solidFill>
                  <a:srgbClr val="0000FF"/>
                </a:solidFill>
              </a:rPr>
              <a:t>“partitioning”</a:t>
            </a:r>
          </a:p>
          <a:p>
            <a:pPr algn="just"/>
            <a:r>
              <a:rPr lang="en-US" dirty="0" smtClean="0"/>
              <a:t>Based on </a:t>
            </a:r>
            <a:r>
              <a:rPr lang="en-US" b="1" i="1" dirty="0" smtClean="0">
                <a:solidFill>
                  <a:srgbClr val="0000FF"/>
                </a:solidFill>
              </a:rPr>
              <a:t>“pivot” </a:t>
            </a:r>
            <a:r>
              <a:rPr lang="en-US" dirty="0" smtClean="0"/>
              <a:t>say </a:t>
            </a:r>
            <a:r>
              <a:rPr lang="en-US" b="1" dirty="0" smtClean="0">
                <a:solidFill>
                  <a:srgbClr val="0000FF"/>
                </a:solidFill>
              </a:rPr>
              <a:t>p</a:t>
            </a:r>
          </a:p>
          <a:p>
            <a:pPr lvl="1" algn="just"/>
            <a:r>
              <a:rPr lang="en-US" dirty="0" smtClean="0"/>
              <a:t>Place all </a:t>
            </a:r>
            <a:r>
              <a:rPr lang="en-US" b="1" dirty="0" smtClean="0">
                <a:solidFill>
                  <a:srgbClr val="0000FF"/>
                </a:solidFill>
              </a:rPr>
              <a:t>“small” </a:t>
            </a:r>
            <a:r>
              <a:rPr lang="en-US" dirty="0" smtClean="0"/>
              <a:t>elements on left</a:t>
            </a:r>
          </a:p>
          <a:p>
            <a:pPr lvl="1" algn="just"/>
            <a:r>
              <a:rPr lang="en-US" dirty="0" smtClean="0"/>
              <a:t>Followed by </a:t>
            </a:r>
            <a:r>
              <a:rPr lang="en-US" b="1" dirty="0" smtClean="0">
                <a:solidFill>
                  <a:srgbClr val="0000FF"/>
                </a:solidFill>
              </a:rPr>
              <a:t>p</a:t>
            </a:r>
          </a:p>
          <a:p>
            <a:pPr lvl="1" algn="just"/>
            <a:r>
              <a:rPr lang="en-US" dirty="0" smtClean="0"/>
              <a:t>Place all </a:t>
            </a:r>
            <a:r>
              <a:rPr lang="en-US" b="1" dirty="0" smtClean="0">
                <a:solidFill>
                  <a:srgbClr val="0000FF"/>
                </a:solidFill>
              </a:rPr>
              <a:t>“large” </a:t>
            </a:r>
            <a:r>
              <a:rPr lang="en-US" dirty="0" smtClean="0"/>
              <a:t>elements on right </a:t>
            </a:r>
          </a:p>
          <a:p>
            <a:pPr algn="just"/>
            <a:endParaRPr lang="en-US" dirty="0"/>
          </a:p>
          <a:p>
            <a:pPr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93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 </a:t>
            </a:r>
            <a:r>
              <a:rPr lang="en-US" sz="2700" b="1" dirty="0" smtClean="0">
                <a:solidFill>
                  <a:srgbClr val="00823B"/>
                </a:solidFill>
              </a:rPr>
              <a:t>(Variable Size 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Apply </a:t>
            </a:r>
            <a:r>
              <a:rPr lang="en-US" b="1" i="1" dirty="0" smtClean="0">
                <a:solidFill>
                  <a:srgbClr val="0000FF"/>
                </a:solidFill>
              </a:rPr>
              <a:t>“partitioning”</a:t>
            </a:r>
          </a:p>
          <a:p>
            <a:pPr algn="just"/>
            <a:r>
              <a:rPr lang="en-US" dirty="0" smtClean="0"/>
              <a:t>Based on </a:t>
            </a:r>
            <a:r>
              <a:rPr lang="en-US" b="1" i="1" dirty="0" smtClean="0">
                <a:solidFill>
                  <a:srgbClr val="0000FF"/>
                </a:solidFill>
              </a:rPr>
              <a:t>“pivot” </a:t>
            </a:r>
            <a:r>
              <a:rPr lang="en-US" dirty="0" smtClean="0"/>
              <a:t>say </a:t>
            </a:r>
            <a:r>
              <a:rPr lang="en-US" b="1" dirty="0" smtClean="0">
                <a:solidFill>
                  <a:srgbClr val="0000FF"/>
                </a:solidFill>
              </a:rPr>
              <a:t>p</a:t>
            </a:r>
          </a:p>
          <a:p>
            <a:pPr lvl="1" algn="just"/>
            <a:r>
              <a:rPr lang="en-US" dirty="0" smtClean="0"/>
              <a:t>Place all </a:t>
            </a:r>
            <a:r>
              <a:rPr lang="en-US" b="1" dirty="0" smtClean="0">
                <a:solidFill>
                  <a:srgbClr val="0000FF"/>
                </a:solidFill>
              </a:rPr>
              <a:t>“small” </a:t>
            </a:r>
            <a:r>
              <a:rPr lang="en-US" dirty="0" smtClean="0"/>
              <a:t>elements on left</a:t>
            </a:r>
          </a:p>
          <a:p>
            <a:pPr lvl="1" algn="just"/>
            <a:r>
              <a:rPr lang="en-US" dirty="0" smtClean="0"/>
              <a:t>Followed by </a:t>
            </a:r>
            <a:r>
              <a:rPr lang="en-US" b="1" dirty="0" smtClean="0">
                <a:solidFill>
                  <a:srgbClr val="0000FF"/>
                </a:solidFill>
              </a:rPr>
              <a:t>p</a:t>
            </a:r>
          </a:p>
          <a:p>
            <a:pPr lvl="1" algn="just"/>
            <a:r>
              <a:rPr lang="en-US" dirty="0" smtClean="0"/>
              <a:t>Place all </a:t>
            </a:r>
            <a:r>
              <a:rPr lang="en-US" b="1" dirty="0" smtClean="0">
                <a:solidFill>
                  <a:srgbClr val="0000FF"/>
                </a:solidFill>
              </a:rPr>
              <a:t>“large” </a:t>
            </a:r>
            <a:r>
              <a:rPr lang="en-US" dirty="0" smtClean="0"/>
              <a:t>elements on right </a:t>
            </a:r>
          </a:p>
          <a:p>
            <a:pPr algn="just"/>
            <a:endParaRPr lang="en-US" dirty="0"/>
          </a:p>
          <a:p>
            <a:pPr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648200"/>
            <a:ext cx="34544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 </a:t>
            </a:r>
            <a:r>
              <a:rPr lang="en-US" sz="2700" b="1" dirty="0" smtClean="0">
                <a:solidFill>
                  <a:srgbClr val="00823B"/>
                </a:solidFill>
              </a:rPr>
              <a:t>(Variable Size 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Apply </a:t>
            </a:r>
            <a:r>
              <a:rPr lang="en-US" b="1" i="1" dirty="0" smtClean="0">
                <a:solidFill>
                  <a:srgbClr val="0000FF"/>
                </a:solidFill>
              </a:rPr>
              <a:t>“partitioning”</a:t>
            </a:r>
          </a:p>
          <a:p>
            <a:pPr algn="just"/>
            <a:r>
              <a:rPr lang="en-US" dirty="0" smtClean="0"/>
              <a:t>Based on </a:t>
            </a:r>
            <a:r>
              <a:rPr lang="en-US" b="1" i="1" dirty="0" smtClean="0">
                <a:solidFill>
                  <a:srgbClr val="0000FF"/>
                </a:solidFill>
              </a:rPr>
              <a:t>“pivot” </a:t>
            </a:r>
            <a:r>
              <a:rPr lang="en-US" dirty="0" smtClean="0"/>
              <a:t>say </a:t>
            </a:r>
            <a:r>
              <a:rPr lang="en-US" b="1" dirty="0" smtClean="0">
                <a:solidFill>
                  <a:srgbClr val="0000FF"/>
                </a:solidFill>
              </a:rPr>
              <a:t>p</a:t>
            </a:r>
          </a:p>
          <a:p>
            <a:pPr lvl="1" algn="just"/>
            <a:r>
              <a:rPr lang="en-US" dirty="0" smtClean="0"/>
              <a:t>Place all </a:t>
            </a:r>
            <a:r>
              <a:rPr lang="en-US" b="1" dirty="0" smtClean="0">
                <a:solidFill>
                  <a:srgbClr val="0000FF"/>
                </a:solidFill>
              </a:rPr>
              <a:t>“small” </a:t>
            </a:r>
            <a:r>
              <a:rPr lang="en-US" dirty="0" smtClean="0"/>
              <a:t>elements on left</a:t>
            </a:r>
          </a:p>
          <a:p>
            <a:pPr lvl="1" algn="just"/>
            <a:r>
              <a:rPr lang="en-US" dirty="0" smtClean="0"/>
              <a:t>Followed by </a:t>
            </a:r>
            <a:r>
              <a:rPr lang="en-US" b="1" dirty="0" smtClean="0">
                <a:solidFill>
                  <a:srgbClr val="0000FF"/>
                </a:solidFill>
              </a:rPr>
              <a:t>p</a:t>
            </a:r>
          </a:p>
          <a:p>
            <a:pPr lvl="1" algn="just"/>
            <a:r>
              <a:rPr lang="en-US" dirty="0" smtClean="0"/>
              <a:t>Place all </a:t>
            </a:r>
            <a:r>
              <a:rPr lang="en-US" b="1" dirty="0" smtClean="0">
                <a:solidFill>
                  <a:srgbClr val="0000FF"/>
                </a:solidFill>
              </a:rPr>
              <a:t>“large” </a:t>
            </a:r>
            <a:r>
              <a:rPr lang="en-US" dirty="0" smtClean="0"/>
              <a:t>elements on right </a:t>
            </a:r>
          </a:p>
          <a:p>
            <a:pPr algn="just"/>
            <a:endParaRPr lang="en-US" dirty="0"/>
          </a:p>
          <a:p>
            <a:pPr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648200"/>
            <a:ext cx="3454400" cy="45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00" y="5105400"/>
            <a:ext cx="32385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45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 </a:t>
            </a:r>
            <a:r>
              <a:rPr lang="en-US" sz="2700" b="1" dirty="0" smtClean="0">
                <a:solidFill>
                  <a:srgbClr val="00823B"/>
                </a:solidFill>
              </a:rPr>
              <a:t>(Variable Size 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Apply </a:t>
            </a:r>
            <a:r>
              <a:rPr lang="en-US" b="1" i="1" dirty="0" smtClean="0">
                <a:solidFill>
                  <a:srgbClr val="0000FF"/>
                </a:solidFill>
              </a:rPr>
              <a:t>“partitioning”</a:t>
            </a:r>
          </a:p>
          <a:p>
            <a:pPr algn="just"/>
            <a:r>
              <a:rPr lang="en-US" dirty="0" smtClean="0"/>
              <a:t>Based on </a:t>
            </a:r>
            <a:r>
              <a:rPr lang="en-US" b="1" i="1" dirty="0" smtClean="0">
                <a:solidFill>
                  <a:srgbClr val="0000FF"/>
                </a:solidFill>
              </a:rPr>
              <a:t>“pivot” </a:t>
            </a:r>
            <a:r>
              <a:rPr lang="en-US" dirty="0" smtClean="0"/>
              <a:t>say </a:t>
            </a:r>
            <a:r>
              <a:rPr lang="en-US" b="1" dirty="0" smtClean="0">
                <a:solidFill>
                  <a:srgbClr val="0000FF"/>
                </a:solidFill>
              </a:rPr>
              <a:t>p</a:t>
            </a:r>
          </a:p>
          <a:p>
            <a:pPr lvl="1" algn="just"/>
            <a:r>
              <a:rPr lang="en-US" dirty="0" smtClean="0"/>
              <a:t>Place all </a:t>
            </a:r>
            <a:r>
              <a:rPr lang="en-US" b="1" dirty="0" smtClean="0">
                <a:solidFill>
                  <a:srgbClr val="0000FF"/>
                </a:solidFill>
              </a:rPr>
              <a:t>“small” </a:t>
            </a:r>
            <a:r>
              <a:rPr lang="en-US" dirty="0" smtClean="0"/>
              <a:t>elements on left</a:t>
            </a:r>
          </a:p>
          <a:p>
            <a:pPr lvl="1" algn="just"/>
            <a:r>
              <a:rPr lang="en-US" dirty="0" smtClean="0"/>
              <a:t>Followed by </a:t>
            </a:r>
            <a:r>
              <a:rPr lang="en-US" b="1" dirty="0" smtClean="0">
                <a:solidFill>
                  <a:srgbClr val="0000FF"/>
                </a:solidFill>
              </a:rPr>
              <a:t>p</a:t>
            </a:r>
          </a:p>
          <a:p>
            <a:pPr lvl="1" algn="just"/>
            <a:r>
              <a:rPr lang="en-US" dirty="0" smtClean="0"/>
              <a:t>Place all </a:t>
            </a:r>
            <a:r>
              <a:rPr lang="en-US" b="1" dirty="0" smtClean="0">
                <a:solidFill>
                  <a:srgbClr val="0000FF"/>
                </a:solidFill>
              </a:rPr>
              <a:t>“large” </a:t>
            </a:r>
            <a:r>
              <a:rPr lang="en-US" dirty="0" smtClean="0"/>
              <a:t>elements on right </a:t>
            </a:r>
          </a:p>
          <a:p>
            <a:pPr algn="just"/>
            <a:endParaRPr lang="en-US" dirty="0"/>
          </a:p>
          <a:p>
            <a:pPr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648200"/>
            <a:ext cx="3454400" cy="45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00" y="5105400"/>
            <a:ext cx="323850" cy="22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650" y="5417561"/>
            <a:ext cx="3895532" cy="52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1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Lomuto</a:t>
            </a:r>
            <a:r>
              <a:rPr lang="en-US" b="1" dirty="0">
                <a:solidFill>
                  <a:srgbClr val="00823B"/>
                </a:solidFill>
              </a:rPr>
              <a:t> partitioning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Lets have a </a:t>
            </a:r>
            <a:r>
              <a:rPr lang="en-US" b="1" dirty="0" smtClean="0">
                <a:solidFill>
                  <a:srgbClr val="0000FF"/>
                </a:solidFill>
              </a:rPr>
              <a:t>subarray A[I .. r] </a:t>
            </a:r>
            <a:r>
              <a:rPr lang="en-US" dirty="0" smtClean="0"/>
              <a:t>of size “n”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“l”</a:t>
            </a:r>
            <a:r>
              <a:rPr lang="en-US" dirty="0" smtClean="0"/>
              <a:t> is leftmost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“r”</a:t>
            </a:r>
            <a:r>
              <a:rPr lang="en-US" dirty="0" smtClean="0"/>
              <a:t> is rightmost</a:t>
            </a:r>
          </a:p>
          <a:p>
            <a:r>
              <a:rPr lang="pt-BR" b="1" dirty="0" smtClean="0">
                <a:solidFill>
                  <a:srgbClr val="0000FF"/>
                </a:solidFill>
              </a:rPr>
              <a:t>0 </a:t>
            </a:r>
            <a:r>
              <a:rPr lang="pt-BR" b="1" dirty="0">
                <a:solidFill>
                  <a:srgbClr val="0000FF"/>
                </a:solidFill>
              </a:rPr>
              <a:t>≤ </a:t>
            </a:r>
            <a:r>
              <a:rPr lang="pt-BR" b="1" i="1" dirty="0">
                <a:solidFill>
                  <a:srgbClr val="0000FF"/>
                </a:solidFill>
              </a:rPr>
              <a:t>l </a:t>
            </a:r>
            <a:r>
              <a:rPr lang="pt-BR" b="1" dirty="0">
                <a:solidFill>
                  <a:srgbClr val="0000FF"/>
                </a:solidFill>
              </a:rPr>
              <a:t>≤ </a:t>
            </a:r>
            <a:r>
              <a:rPr lang="pt-BR" b="1" i="1" dirty="0">
                <a:solidFill>
                  <a:srgbClr val="0000FF"/>
                </a:solidFill>
              </a:rPr>
              <a:t>r </a:t>
            </a:r>
            <a:r>
              <a:rPr lang="pt-BR" b="1" dirty="0">
                <a:solidFill>
                  <a:srgbClr val="0000FF"/>
                </a:solidFill>
              </a:rPr>
              <a:t>≤ </a:t>
            </a:r>
            <a:r>
              <a:rPr lang="pt-BR" b="1" i="1" dirty="0">
                <a:solidFill>
                  <a:srgbClr val="0000FF"/>
                </a:solidFill>
              </a:rPr>
              <a:t>n </a:t>
            </a:r>
            <a:r>
              <a:rPr lang="pt-BR" b="1" dirty="0">
                <a:solidFill>
                  <a:srgbClr val="0000FF"/>
                </a:solidFill>
              </a:rPr>
              <a:t>− </a:t>
            </a:r>
            <a:r>
              <a:rPr lang="pt-BR" b="1" dirty="0" smtClean="0">
                <a:solidFill>
                  <a:srgbClr val="0000FF"/>
                </a:solidFill>
              </a:rPr>
              <a:t>1</a:t>
            </a:r>
            <a:endParaRPr lang="en-US" b="1" dirty="0" smtClean="0">
              <a:solidFill>
                <a:srgbClr val="0000FF"/>
              </a:solidFill>
            </a:endParaRPr>
          </a:p>
          <a:p>
            <a:r>
              <a:rPr lang="en-US" dirty="0" smtClean="0"/>
              <a:t>Arrange values w.r.t. “p” i.e. pivot</a:t>
            </a:r>
          </a:p>
          <a:p>
            <a:pPr lvl="1"/>
            <a:r>
              <a:rPr lang="en-US" dirty="0" smtClean="0"/>
              <a:t>segment of elements </a:t>
            </a:r>
            <a:r>
              <a:rPr lang="en-US" b="1" dirty="0" smtClean="0">
                <a:solidFill>
                  <a:srgbClr val="0000FF"/>
                </a:solidFill>
              </a:rPr>
              <a:t>smaller </a:t>
            </a:r>
            <a:r>
              <a:rPr lang="en-US" b="1" dirty="0">
                <a:solidFill>
                  <a:srgbClr val="0000FF"/>
                </a:solidFill>
              </a:rPr>
              <a:t>than </a:t>
            </a:r>
            <a:r>
              <a:rPr lang="en-US" b="1" i="1" dirty="0" smtClean="0">
                <a:solidFill>
                  <a:srgbClr val="0000FF"/>
                </a:solidFill>
              </a:rPr>
              <a:t>p</a:t>
            </a:r>
          </a:p>
          <a:p>
            <a:pPr lvl="1"/>
            <a:r>
              <a:rPr lang="en-US" dirty="0" smtClean="0"/>
              <a:t>segment </a:t>
            </a:r>
            <a:r>
              <a:rPr lang="en-US" dirty="0"/>
              <a:t>of elements </a:t>
            </a:r>
            <a:r>
              <a:rPr lang="en-US" b="1" dirty="0" smtClean="0">
                <a:solidFill>
                  <a:srgbClr val="0000FF"/>
                </a:solidFill>
              </a:rPr>
              <a:t>greater/equal than p</a:t>
            </a:r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dirty="0" smtClean="0"/>
              <a:t>segment </a:t>
            </a:r>
            <a:r>
              <a:rPr lang="en-US" dirty="0"/>
              <a:t>of elements </a:t>
            </a:r>
            <a:r>
              <a:rPr lang="en-US" b="1" dirty="0">
                <a:solidFill>
                  <a:srgbClr val="0000FF"/>
                </a:solidFill>
              </a:rPr>
              <a:t>yet to be compared </a:t>
            </a:r>
            <a:r>
              <a:rPr lang="en-US" dirty="0"/>
              <a:t>to </a:t>
            </a:r>
            <a:r>
              <a:rPr lang="en-US" i="1" dirty="0"/>
              <a:t>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186" y="2818256"/>
            <a:ext cx="4829014" cy="53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7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Lomuto</a:t>
            </a:r>
            <a:r>
              <a:rPr lang="en-US" b="1" dirty="0">
                <a:solidFill>
                  <a:srgbClr val="00823B"/>
                </a:solidFill>
              </a:rPr>
              <a:t> partitioning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58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447800" y="1905000"/>
            <a:ext cx="5486400" cy="4343400"/>
            <a:chOff x="838200" y="1752600"/>
            <a:chExt cx="4337104" cy="325291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240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Lomuto</a:t>
            </a:r>
            <a:r>
              <a:rPr lang="en-US" b="1" dirty="0">
                <a:solidFill>
                  <a:srgbClr val="00823B"/>
                </a:solidFill>
              </a:rPr>
              <a:t> partitioning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4260904" cy="322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5584"/>
            <a:ext cx="1410843" cy="458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26723"/>
            <a:ext cx="986910" cy="4450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71799"/>
            <a:ext cx="2626698" cy="3359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510" y="3422939"/>
            <a:ext cx="1450618" cy="4450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840" y="3924299"/>
            <a:ext cx="2831831" cy="2796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50325"/>
            <a:ext cx="1820788" cy="2970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404" y="4720067"/>
            <a:ext cx="910710" cy="2854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8200" y="2304617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indexed </a:t>
            </a:r>
            <a:r>
              <a:rPr lang="en-US" b="1" dirty="0">
                <a:solidFill>
                  <a:srgbClr val="0000FF"/>
                </a:solidFill>
              </a:rPr>
              <a:t>starting with </a:t>
            </a:r>
            <a:r>
              <a:rPr lang="en-US" b="1" dirty="0" smtClean="0">
                <a:solidFill>
                  <a:srgbClr val="0000FF"/>
                </a:solidFill>
              </a:rPr>
              <a:t>“0”</a:t>
            </a:r>
          </a:p>
        </p:txBody>
      </p:sp>
    </p:spTree>
    <p:extLst>
      <p:ext uri="{BB962C8B-B14F-4D97-AF65-F5344CB8AC3E}">
        <p14:creationId xmlns:p14="http://schemas.microsoft.com/office/powerpoint/2010/main" val="88119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Lomuto</a:t>
            </a:r>
            <a:r>
              <a:rPr lang="en-US" b="1" dirty="0">
                <a:solidFill>
                  <a:srgbClr val="00823B"/>
                </a:solidFill>
              </a:rPr>
              <a:t> partitioning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4260904" cy="322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5584"/>
            <a:ext cx="1410843" cy="458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26723"/>
            <a:ext cx="986910" cy="4450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71799"/>
            <a:ext cx="2626698" cy="3359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510" y="3422939"/>
            <a:ext cx="1450618" cy="4450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840" y="3924299"/>
            <a:ext cx="2831831" cy="2796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50325"/>
            <a:ext cx="1820788" cy="2970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404" y="4720067"/>
            <a:ext cx="910710" cy="2854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8200" y="2304617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indexed </a:t>
            </a:r>
            <a:r>
              <a:rPr lang="en-US" b="1" dirty="0">
                <a:solidFill>
                  <a:srgbClr val="0000FF"/>
                </a:solidFill>
              </a:rPr>
              <a:t>starting with </a:t>
            </a:r>
            <a:r>
              <a:rPr lang="en-US" b="1" dirty="0" smtClean="0">
                <a:solidFill>
                  <a:srgbClr val="0000FF"/>
                </a:solidFill>
              </a:rPr>
              <a:t>“0”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800865"/>
              </p:ext>
            </p:extLst>
          </p:nvPr>
        </p:nvGraphicFramePr>
        <p:xfrm>
          <a:off x="76200" y="5963920"/>
          <a:ext cx="6096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22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Lomuto</a:t>
            </a:r>
            <a:r>
              <a:rPr lang="en-US" b="1" dirty="0">
                <a:solidFill>
                  <a:srgbClr val="00823B"/>
                </a:solidFill>
              </a:rPr>
              <a:t> partitioning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4260904" cy="322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5584"/>
            <a:ext cx="1410843" cy="458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26723"/>
            <a:ext cx="986910" cy="4450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71799"/>
            <a:ext cx="2626698" cy="3359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510" y="3422939"/>
            <a:ext cx="1450618" cy="4450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840" y="3924299"/>
            <a:ext cx="2831831" cy="2796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50325"/>
            <a:ext cx="1820788" cy="2970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404" y="4720067"/>
            <a:ext cx="910710" cy="2854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8200" y="2304617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indexed </a:t>
            </a:r>
            <a:r>
              <a:rPr lang="en-US" b="1" dirty="0">
                <a:solidFill>
                  <a:srgbClr val="0000FF"/>
                </a:solidFill>
              </a:rPr>
              <a:t>starting with </a:t>
            </a:r>
            <a:r>
              <a:rPr lang="en-US" b="1" dirty="0" smtClean="0">
                <a:solidFill>
                  <a:srgbClr val="0000FF"/>
                </a:solidFill>
              </a:rPr>
              <a:t>“0”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 smtClean="0">
                <a:solidFill>
                  <a:srgbClr val="0000FF"/>
                </a:solidFill>
              </a:rPr>
              <a:t>s</a:t>
            </a:r>
            <a:r>
              <a:rPr lang="en-US" i="1" dirty="0" smtClean="0"/>
              <a:t> </a:t>
            </a:r>
            <a:r>
              <a:rPr lang="en-US" dirty="0"/>
              <a:t>be the partition’s </a:t>
            </a:r>
            <a:r>
              <a:rPr lang="en-US" b="1" dirty="0">
                <a:solidFill>
                  <a:srgbClr val="0000FF"/>
                </a:solidFill>
              </a:rPr>
              <a:t>split </a:t>
            </a:r>
            <a:r>
              <a:rPr lang="en-US" dirty="0" smtClean="0"/>
              <a:t>position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640194"/>
              </p:ext>
            </p:extLst>
          </p:nvPr>
        </p:nvGraphicFramePr>
        <p:xfrm>
          <a:off x="76200" y="5963920"/>
          <a:ext cx="6096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01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Lomuto</a:t>
            </a:r>
            <a:r>
              <a:rPr lang="en-US" b="1" dirty="0">
                <a:solidFill>
                  <a:srgbClr val="00823B"/>
                </a:solidFill>
              </a:rPr>
              <a:t> partitioning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4260904" cy="322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5584"/>
            <a:ext cx="1410843" cy="458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26723"/>
            <a:ext cx="986910" cy="4450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71799"/>
            <a:ext cx="2626698" cy="3359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510" y="3422939"/>
            <a:ext cx="1450618" cy="4450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840" y="3924299"/>
            <a:ext cx="2831831" cy="2796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50325"/>
            <a:ext cx="1820788" cy="2970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404" y="4720067"/>
            <a:ext cx="910710" cy="2854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8200" y="2304617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indexed </a:t>
            </a:r>
            <a:r>
              <a:rPr lang="en-US" b="1" dirty="0">
                <a:solidFill>
                  <a:srgbClr val="0000FF"/>
                </a:solidFill>
              </a:rPr>
              <a:t>starting with </a:t>
            </a:r>
            <a:r>
              <a:rPr lang="en-US" b="1" dirty="0" smtClean="0">
                <a:solidFill>
                  <a:srgbClr val="0000FF"/>
                </a:solidFill>
              </a:rPr>
              <a:t>“0”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 smtClean="0">
                <a:solidFill>
                  <a:srgbClr val="0000FF"/>
                </a:solidFill>
              </a:rPr>
              <a:t>s</a:t>
            </a:r>
            <a:r>
              <a:rPr lang="en-US" i="1" dirty="0" smtClean="0"/>
              <a:t> </a:t>
            </a:r>
            <a:r>
              <a:rPr lang="en-US" dirty="0"/>
              <a:t>be the partition’s </a:t>
            </a:r>
            <a:r>
              <a:rPr lang="en-US" b="1" dirty="0">
                <a:solidFill>
                  <a:srgbClr val="0000FF"/>
                </a:solidFill>
              </a:rPr>
              <a:t>split </a:t>
            </a:r>
            <a:r>
              <a:rPr lang="en-US" dirty="0" smtClean="0"/>
              <a:t>position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432570"/>
              </p:ext>
            </p:extLst>
          </p:nvPr>
        </p:nvGraphicFramePr>
        <p:xfrm>
          <a:off x="76200" y="5963920"/>
          <a:ext cx="6096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2209800" y="5410200"/>
            <a:ext cx="0" cy="457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25243" y="5410200"/>
            <a:ext cx="26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65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Lomuto</a:t>
            </a:r>
            <a:r>
              <a:rPr lang="en-US" b="1" dirty="0">
                <a:solidFill>
                  <a:srgbClr val="00823B"/>
                </a:solidFill>
              </a:rPr>
              <a:t> partitioning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4260904" cy="322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5584"/>
            <a:ext cx="1410843" cy="458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26723"/>
            <a:ext cx="986910" cy="4450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71799"/>
            <a:ext cx="2626698" cy="3359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510" y="3422939"/>
            <a:ext cx="1450618" cy="4450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840" y="3924299"/>
            <a:ext cx="2831831" cy="2796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50325"/>
            <a:ext cx="1820788" cy="2970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404" y="4720067"/>
            <a:ext cx="910710" cy="2854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8200" y="2304617"/>
            <a:ext cx="297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indexed </a:t>
            </a:r>
            <a:r>
              <a:rPr lang="en-US" b="1" dirty="0">
                <a:solidFill>
                  <a:srgbClr val="0000FF"/>
                </a:solidFill>
              </a:rPr>
              <a:t>starting with </a:t>
            </a:r>
            <a:r>
              <a:rPr lang="en-US" b="1" dirty="0" smtClean="0">
                <a:solidFill>
                  <a:srgbClr val="0000FF"/>
                </a:solidFill>
              </a:rPr>
              <a:t>“0”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 smtClean="0">
                <a:solidFill>
                  <a:srgbClr val="0000FF"/>
                </a:solidFill>
              </a:rPr>
              <a:t>s</a:t>
            </a:r>
            <a:r>
              <a:rPr lang="en-US" i="1" dirty="0" smtClean="0"/>
              <a:t> </a:t>
            </a:r>
            <a:r>
              <a:rPr lang="en-US" dirty="0"/>
              <a:t>be the partition’s </a:t>
            </a:r>
            <a:r>
              <a:rPr lang="en-US" b="1" dirty="0">
                <a:solidFill>
                  <a:srgbClr val="0000FF"/>
                </a:solidFill>
              </a:rPr>
              <a:t>split </a:t>
            </a:r>
            <a:r>
              <a:rPr lang="en-US" dirty="0" smtClean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b="1" i="1" dirty="0">
                <a:solidFill>
                  <a:srgbClr val="0000FF"/>
                </a:solidFill>
              </a:rPr>
              <a:t>s </a:t>
            </a:r>
            <a:r>
              <a:rPr lang="en-US" b="1" dirty="0">
                <a:solidFill>
                  <a:srgbClr val="0000FF"/>
                </a:solidFill>
              </a:rPr>
              <a:t>= </a:t>
            </a:r>
            <a:r>
              <a:rPr lang="en-US" b="1" i="1" dirty="0">
                <a:solidFill>
                  <a:srgbClr val="0000FF"/>
                </a:solidFill>
              </a:rPr>
              <a:t>k </a:t>
            </a:r>
            <a:r>
              <a:rPr lang="en-US" b="1" dirty="0">
                <a:solidFill>
                  <a:srgbClr val="0000FF"/>
                </a:solidFill>
              </a:rPr>
              <a:t>− </a:t>
            </a:r>
            <a:r>
              <a:rPr lang="en-US" b="1" dirty="0" smtClean="0">
                <a:solidFill>
                  <a:srgbClr val="0000FF"/>
                </a:solidFill>
              </a:rPr>
              <a:t>1 </a:t>
            </a:r>
            <a:r>
              <a:rPr lang="en-US" dirty="0" smtClean="0"/>
              <a:t>pivot 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itself </a:t>
            </a:r>
            <a:r>
              <a:rPr lang="en-US" dirty="0"/>
              <a:t>is obviously the </a:t>
            </a:r>
            <a:r>
              <a:rPr lang="en-US" i="1" dirty="0"/>
              <a:t>k</a:t>
            </a:r>
            <a:r>
              <a:rPr lang="en-US" dirty="0"/>
              <a:t>th smallest </a:t>
            </a:r>
            <a:r>
              <a:rPr lang="en-US" dirty="0" smtClean="0"/>
              <a:t>element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741954"/>
              </p:ext>
            </p:extLst>
          </p:nvPr>
        </p:nvGraphicFramePr>
        <p:xfrm>
          <a:off x="76200" y="5963920"/>
          <a:ext cx="6096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/>
          <p:cNvCxnSpPr/>
          <p:nvPr/>
        </p:nvCxnSpPr>
        <p:spPr>
          <a:xfrm>
            <a:off x="2209800" y="5410200"/>
            <a:ext cx="0" cy="457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25243" y="5410200"/>
            <a:ext cx="26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0" y="13716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K = 4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62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Lomuto</a:t>
            </a:r>
            <a:r>
              <a:rPr lang="en-US" b="1" dirty="0">
                <a:solidFill>
                  <a:srgbClr val="00823B"/>
                </a:solidFill>
              </a:rPr>
              <a:t> partitioning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4260904" cy="322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5584"/>
            <a:ext cx="1410843" cy="458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26723"/>
            <a:ext cx="986910" cy="4450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71799"/>
            <a:ext cx="2626698" cy="3359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510" y="3422939"/>
            <a:ext cx="1450618" cy="4450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840" y="3924299"/>
            <a:ext cx="2831831" cy="2796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50325"/>
            <a:ext cx="1820788" cy="2970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404" y="4720067"/>
            <a:ext cx="910710" cy="2854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8200" y="2304617"/>
            <a:ext cx="297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indexed </a:t>
            </a:r>
            <a:r>
              <a:rPr lang="en-US" b="1" dirty="0">
                <a:solidFill>
                  <a:srgbClr val="0000FF"/>
                </a:solidFill>
              </a:rPr>
              <a:t>starting with </a:t>
            </a:r>
            <a:r>
              <a:rPr lang="en-US" b="1" dirty="0" smtClean="0">
                <a:solidFill>
                  <a:srgbClr val="0000FF"/>
                </a:solidFill>
              </a:rPr>
              <a:t>“0”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 smtClean="0">
                <a:solidFill>
                  <a:srgbClr val="0000FF"/>
                </a:solidFill>
              </a:rPr>
              <a:t>s</a:t>
            </a:r>
            <a:r>
              <a:rPr lang="en-US" i="1" dirty="0" smtClean="0"/>
              <a:t> </a:t>
            </a:r>
            <a:r>
              <a:rPr lang="en-US" dirty="0"/>
              <a:t>be the partition’s </a:t>
            </a:r>
            <a:r>
              <a:rPr lang="en-US" b="1" dirty="0">
                <a:solidFill>
                  <a:srgbClr val="0000FF"/>
                </a:solidFill>
              </a:rPr>
              <a:t>split </a:t>
            </a:r>
            <a:r>
              <a:rPr lang="en-US" dirty="0" smtClean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b="1" i="1" dirty="0">
                <a:solidFill>
                  <a:srgbClr val="0000FF"/>
                </a:solidFill>
              </a:rPr>
              <a:t>s </a:t>
            </a:r>
            <a:r>
              <a:rPr lang="en-US" b="1" dirty="0">
                <a:solidFill>
                  <a:srgbClr val="0000FF"/>
                </a:solidFill>
              </a:rPr>
              <a:t>= </a:t>
            </a:r>
            <a:r>
              <a:rPr lang="en-US" b="1" i="1" dirty="0">
                <a:solidFill>
                  <a:srgbClr val="0000FF"/>
                </a:solidFill>
              </a:rPr>
              <a:t>k </a:t>
            </a:r>
            <a:r>
              <a:rPr lang="en-US" b="1" dirty="0">
                <a:solidFill>
                  <a:srgbClr val="0000FF"/>
                </a:solidFill>
              </a:rPr>
              <a:t>− </a:t>
            </a:r>
            <a:r>
              <a:rPr lang="en-US" b="1" dirty="0" smtClean="0">
                <a:solidFill>
                  <a:srgbClr val="0000FF"/>
                </a:solidFill>
              </a:rPr>
              <a:t>1 </a:t>
            </a:r>
            <a:r>
              <a:rPr lang="en-US" dirty="0" smtClean="0"/>
              <a:t>pivot 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itself </a:t>
            </a:r>
            <a:r>
              <a:rPr lang="en-US" dirty="0"/>
              <a:t>is obviously the </a:t>
            </a:r>
            <a:r>
              <a:rPr lang="en-US" i="1" dirty="0"/>
              <a:t>k</a:t>
            </a:r>
            <a:r>
              <a:rPr lang="en-US" dirty="0"/>
              <a:t>th smallest </a:t>
            </a:r>
            <a:r>
              <a:rPr lang="en-US" dirty="0" smtClean="0"/>
              <a:t>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b="1" i="1" dirty="0" smtClean="0">
                <a:solidFill>
                  <a:srgbClr val="0000FF"/>
                </a:solidFill>
              </a:rPr>
              <a:t>s </a:t>
            </a:r>
            <a:r>
              <a:rPr lang="en-US" b="1" i="1" dirty="0">
                <a:solidFill>
                  <a:srgbClr val="0000FF"/>
                </a:solidFill>
              </a:rPr>
              <a:t>&gt; k </a:t>
            </a:r>
            <a:r>
              <a:rPr lang="en-US" b="1" dirty="0">
                <a:solidFill>
                  <a:srgbClr val="0000FF"/>
                </a:solidFill>
              </a:rPr>
              <a:t>− 1</a:t>
            </a:r>
            <a:r>
              <a:rPr lang="en-US" i="1" dirty="0"/>
              <a:t>, </a:t>
            </a:r>
            <a:r>
              <a:rPr lang="en-US" dirty="0" smtClean="0"/>
              <a:t>be found as the </a:t>
            </a:r>
            <a:r>
              <a:rPr lang="en-US" b="1" i="1" dirty="0"/>
              <a:t>k</a:t>
            </a:r>
            <a:r>
              <a:rPr lang="en-US" b="1" dirty="0"/>
              <a:t>th smallest </a:t>
            </a:r>
            <a:r>
              <a:rPr lang="en-US" dirty="0" smtClean="0"/>
              <a:t>element found </a:t>
            </a:r>
            <a:r>
              <a:rPr lang="en-US" b="1" dirty="0" smtClean="0">
                <a:solidFill>
                  <a:srgbClr val="0000FF"/>
                </a:solidFill>
              </a:rPr>
              <a:t>in </a:t>
            </a:r>
            <a:r>
              <a:rPr lang="en-US" b="1" dirty="0">
                <a:solidFill>
                  <a:srgbClr val="0000FF"/>
                </a:solidFill>
              </a:rPr>
              <a:t>the left </a:t>
            </a:r>
            <a:r>
              <a:rPr lang="en-US" b="1" dirty="0" smtClean="0">
                <a:solidFill>
                  <a:srgbClr val="0000FF"/>
                </a:solidFill>
              </a:rPr>
              <a:t>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3716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K = 2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47780"/>
              </p:ext>
            </p:extLst>
          </p:nvPr>
        </p:nvGraphicFramePr>
        <p:xfrm>
          <a:off x="76200" y="5963920"/>
          <a:ext cx="6096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2209800" y="5410200"/>
            <a:ext cx="0" cy="457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25243" y="5410200"/>
            <a:ext cx="26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7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Lomuto</a:t>
            </a:r>
            <a:r>
              <a:rPr lang="en-US" b="1" dirty="0">
                <a:solidFill>
                  <a:srgbClr val="00823B"/>
                </a:solidFill>
              </a:rPr>
              <a:t> partitioning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4260904" cy="322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75584"/>
            <a:ext cx="1410843" cy="458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26723"/>
            <a:ext cx="986910" cy="4450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971799"/>
            <a:ext cx="2626698" cy="3359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510" y="3422939"/>
            <a:ext cx="1450618" cy="4450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840" y="3924299"/>
            <a:ext cx="2831831" cy="2796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50325"/>
            <a:ext cx="1820788" cy="2970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404" y="4720067"/>
            <a:ext cx="910710" cy="2854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8200" y="2304617"/>
            <a:ext cx="2971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indexed </a:t>
            </a:r>
            <a:r>
              <a:rPr lang="en-US" b="1" dirty="0">
                <a:solidFill>
                  <a:srgbClr val="0000FF"/>
                </a:solidFill>
              </a:rPr>
              <a:t>starting with </a:t>
            </a:r>
            <a:r>
              <a:rPr lang="en-US" b="1" dirty="0" smtClean="0">
                <a:solidFill>
                  <a:srgbClr val="0000FF"/>
                </a:solidFill>
              </a:rPr>
              <a:t>“0”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 smtClean="0">
                <a:solidFill>
                  <a:srgbClr val="0000FF"/>
                </a:solidFill>
              </a:rPr>
              <a:t>s</a:t>
            </a:r>
            <a:r>
              <a:rPr lang="en-US" i="1" dirty="0" smtClean="0"/>
              <a:t> </a:t>
            </a:r>
            <a:r>
              <a:rPr lang="en-US" dirty="0"/>
              <a:t>be the partition’s </a:t>
            </a:r>
            <a:r>
              <a:rPr lang="en-US" b="1" dirty="0">
                <a:solidFill>
                  <a:srgbClr val="0000FF"/>
                </a:solidFill>
              </a:rPr>
              <a:t>split </a:t>
            </a:r>
            <a:r>
              <a:rPr lang="en-US" dirty="0" smtClean="0"/>
              <a:t>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b="1" i="1" dirty="0">
                <a:solidFill>
                  <a:srgbClr val="0000FF"/>
                </a:solidFill>
              </a:rPr>
              <a:t>s </a:t>
            </a:r>
            <a:r>
              <a:rPr lang="en-US" b="1" dirty="0">
                <a:solidFill>
                  <a:srgbClr val="0000FF"/>
                </a:solidFill>
              </a:rPr>
              <a:t>= </a:t>
            </a:r>
            <a:r>
              <a:rPr lang="en-US" b="1" i="1" dirty="0">
                <a:solidFill>
                  <a:srgbClr val="0000FF"/>
                </a:solidFill>
              </a:rPr>
              <a:t>k </a:t>
            </a:r>
            <a:r>
              <a:rPr lang="en-US" b="1" dirty="0">
                <a:solidFill>
                  <a:srgbClr val="0000FF"/>
                </a:solidFill>
              </a:rPr>
              <a:t>− </a:t>
            </a:r>
            <a:r>
              <a:rPr lang="en-US" b="1" dirty="0" smtClean="0">
                <a:solidFill>
                  <a:srgbClr val="0000FF"/>
                </a:solidFill>
              </a:rPr>
              <a:t>1 </a:t>
            </a:r>
            <a:r>
              <a:rPr lang="en-US" dirty="0" smtClean="0"/>
              <a:t>pivot 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itself </a:t>
            </a:r>
            <a:r>
              <a:rPr lang="en-US" dirty="0"/>
              <a:t>is obviously the </a:t>
            </a:r>
            <a:r>
              <a:rPr lang="en-US" i="1" dirty="0"/>
              <a:t>k</a:t>
            </a:r>
            <a:r>
              <a:rPr lang="en-US" dirty="0"/>
              <a:t>th smallest </a:t>
            </a:r>
            <a:r>
              <a:rPr lang="en-US" dirty="0" smtClean="0"/>
              <a:t>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b="1" i="1" dirty="0" smtClean="0">
                <a:solidFill>
                  <a:srgbClr val="0000FF"/>
                </a:solidFill>
              </a:rPr>
              <a:t>s </a:t>
            </a:r>
            <a:r>
              <a:rPr lang="en-US" b="1" i="1" dirty="0">
                <a:solidFill>
                  <a:srgbClr val="0000FF"/>
                </a:solidFill>
              </a:rPr>
              <a:t>&gt; k </a:t>
            </a:r>
            <a:r>
              <a:rPr lang="en-US" b="1" dirty="0">
                <a:solidFill>
                  <a:srgbClr val="0000FF"/>
                </a:solidFill>
              </a:rPr>
              <a:t>− 1</a:t>
            </a:r>
            <a:r>
              <a:rPr lang="en-US" i="1" dirty="0"/>
              <a:t>, </a:t>
            </a:r>
            <a:r>
              <a:rPr lang="en-US" dirty="0" smtClean="0"/>
              <a:t>be found as the </a:t>
            </a:r>
            <a:r>
              <a:rPr lang="en-US" b="1" i="1" dirty="0"/>
              <a:t>k</a:t>
            </a:r>
            <a:r>
              <a:rPr lang="en-US" b="1" dirty="0"/>
              <a:t>th smallest </a:t>
            </a:r>
            <a:r>
              <a:rPr lang="en-US" dirty="0" smtClean="0"/>
              <a:t>element found </a:t>
            </a:r>
            <a:r>
              <a:rPr lang="en-US" b="1" dirty="0" smtClean="0">
                <a:solidFill>
                  <a:srgbClr val="0000FF"/>
                </a:solidFill>
              </a:rPr>
              <a:t>in </a:t>
            </a:r>
            <a:r>
              <a:rPr lang="en-US" b="1" dirty="0">
                <a:solidFill>
                  <a:srgbClr val="0000FF"/>
                </a:solidFill>
              </a:rPr>
              <a:t>the left </a:t>
            </a:r>
            <a:r>
              <a:rPr lang="en-US" b="1" dirty="0" smtClean="0">
                <a:solidFill>
                  <a:srgbClr val="0000FF"/>
                </a:solidFill>
              </a:rPr>
              <a:t>part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b="1" dirty="0" smtClean="0">
                <a:solidFill>
                  <a:srgbClr val="0000FF"/>
                </a:solidFill>
              </a:rPr>
              <a:t>s &lt; k-1</a:t>
            </a:r>
            <a:r>
              <a:rPr lang="en-US" dirty="0" smtClean="0"/>
              <a:t>, </a:t>
            </a:r>
            <a:r>
              <a:rPr lang="en-US" dirty="0"/>
              <a:t>be found as the </a:t>
            </a:r>
            <a:r>
              <a:rPr lang="en-US" b="1" i="1" dirty="0"/>
              <a:t>(k </a:t>
            </a:r>
            <a:r>
              <a:rPr lang="en-US" b="1" dirty="0" smtClean="0"/>
              <a:t>− 1 - </a:t>
            </a:r>
            <a:r>
              <a:rPr lang="en-US" b="1" i="1" dirty="0" smtClean="0"/>
              <a:t>s)</a:t>
            </a:r>
            <a:r>
              <a:rPr lang="en-US" b="1" dirty="0" err="1" smtClean="0"/>
              <a:t>th</a:t>
            </a:r>
            <a:r>
              <a:rPr lang="en-US" b="1" dirty="0" smtClean="0"/>
              <a:t> </a:t>
            </a:r>
            <a:r>
              <a:rPr lang="en-US" dirty="0"/>
              <a:t>smallest element </a:t>
            </a:r>
            <a:r>
              <a:rPr lang="en-US" b="1" dirty="0">
                <a:solidFill>
                  <a:srgbClr val="0000FF"/>
                </a:solidFill>
              </a:rPr>
              <a:t>in its right 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371600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</a:rPr>
              <a:t>K = 7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47780"/>
              </p:ext>
            </p:extLst>
          </p:nvPr>
        </p:nvGraphicFramePr>
        <p:xfrm>
          <a:off x="76200" y="5963920"/>
          <a:ext cx="6096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2209800" y="5410200"/>
            <a:ext cx="0" cy="457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25243" y="5410200"/>
            <a:ext cx="26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10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Quick Select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286000"/>
            <a:ext cx="4051300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1" y="2604654"/>
            <a:ext cx="3516119" cy="36714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1" y="3089564"/>
            <a:ext cx="2971028" cy="41563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05200"/>
            <a:ext cx="2128345" cy="381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073" y="3962400"/>
            <a:ext cx="2455254" cy="3394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097" y="4301836"/>
            <a:ext cx="470065" cy="34636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9733" y="4730461"/>
            <a:ext cx="3506611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0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Quick Select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286000"/>
            <a:ext cx="4051300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1" y="2604654"/>
            <a:ext cx="3516119" cy="36714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1" y="3089564"/>
            <a:ext cx="2971028" cy="41563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505200"/>
            <a:ext cx="2128345" cy="381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8073" y="3962400"/>
            <a:ext cx="2455254" cy="33943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097" y="4301836"/>
            <a:ext cx="470065" cy="34636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39733" y="4730461"/>
            <a:ext cx="3506611" cy="33337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5005" y="3505200"/>
            <a:ext cx="3349674" cy="39918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8342" y="4071937"/>
            <a:ext cx="2018806" cy="35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6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68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05400" y="3056772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</p:txBody>
      </p:sp>
    </p:spTree>
    <p:extLst>
      <p:ext uri="{BB962C8B-B14F-4D97-AF65-F5344CB8AC3E}">
        <p14:creationId xmlns:p14="http://schemas.microsoft.com/office/powerpoint/2010/main" val="330773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69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7956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70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36903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71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7353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72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16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8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73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96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74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45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4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75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8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76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98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9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77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65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78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79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79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80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7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81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25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82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75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5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83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15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84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6379" y="4107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05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85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3555" y="4114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6379" y="4107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59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88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86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3555" y="4114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6379" y="4107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5189068" y="2226539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56462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048849" y="2236365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519973" y="223636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0178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897127" y="2211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8372362" y="2224697"/>
            <a:ext cx="5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373965" y="2209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776385" y="2224697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07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87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3555" y="4114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6379" y="4107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87955" y="4419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5189068" y="2226539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56462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048849" y="2236365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519973" y="223636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0178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897127" y="2211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8372362" y="2224697"/>
            <a:ext cx="5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373965" y="2209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776385" y="2224697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12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49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8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88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3555" y="4114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6379" y="4107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57600" y="44277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587955" y="4419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5189068" y="2226539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56462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048849" y="2236365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519973" y="223636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0178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897127" y="2211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8372362" y="2224697"/>
            <a:ext cx="5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373965" y="2209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776385" y="2224697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85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48" grpId="0"/>
      <p:bldP spid="49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8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89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3555" y="4114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6379" y="4107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57600" y="44277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587955" y="4419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03910" y="4804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5189068" y="2226539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56462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048849" y="2236365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519973" y="223636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0178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897127" y="2211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8372362" y="2224697"/>
            <a:ext cx="5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373965" y="2209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776385" y="2224697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575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48" grpId="0"/>
      <p:bldP spid="49" grpId="0"/>
      <p:bldP spid="51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8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90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3555" y="4114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6379" y="4107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57600" y="44277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587955" y="4419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03910" y="4804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5189068" y="2226539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56462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048849" y="2236365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519973" y="223636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0178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897127" y="2211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8372362" y="2224697"/>
            <a:ext cx="5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373965" y="2209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776385" y="2224697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3688080" y="4719935"/>
            <a:ext cx="473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823B"/>
                </a:solidFill>
              </a:rPr>
              <a:t>2</a:t>
            </a:r>
            <a:endParaRPr lang="en-US" sz="2400" b="1" dirty="0">
              <a:solidFill>
                <a:srgbClr val="00823B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01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48" grpId="0"/>
      <p:bldP spid="49" grpId="0"/>
      <p:bldP spid="51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0" grpId="0"/>
      <p:bldP spid="88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91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3555" y="4114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6379" y="4107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57600" y="44277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587955" y="4419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03910" y="4804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5189068" y="2226539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56462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048849" y="2236365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519973" y="223636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0178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897127" y="2211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8372362" y="2224697"/>
            <a:ext cx="5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373965" y="2209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776385" y="2224697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3688080" y="4719935"/>
            <a:ext cx="473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823B"/>
                </a:solidFill>
              </a:rPr>
              <a:t>2</a:t>
            </a:r>
            <a:endParaRPr lang="en-US" sz="2400" b="1" dirty="0">
              <a:solidFill>
                <a:srgbClr val="00823B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189068" y="2607539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646268" y="2605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6048849" y="2617365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519973" y="261736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7017868" y="2605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7897127" y="2592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8372362" y="2605697"/>
            <a:ext cx="5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7373965" y="2590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8776385" y="2605697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8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48" grpId="0"/>
      <p:bldP spid="49" grpId="0"/>
      <p:bldP spid="51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0" grpId="0"/>
      <p:bldP spid="88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92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76200" y="1219200"/>
            <a:ext cx="3429000" cy="2438400"/>
            <a:chOff x="838200" y="1752600"/>
            <a:chExt cx="4337104" cy="3252913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1752600"/>
              <a:ext cx="4260904" cy="322984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075584"/>
              <a:ext cx="1410843" cy="45806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2526723"/>
              <a:ext cx="986910" cy="44507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2971799"/>
              <a:ext cx="2626698" cy="33597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5510" y="3422939"/>
              <a:ext cx="1450618" cy="445076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840" y="3924299"/>
              <a:ext cx="2831831" cy="279687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400" y="4350325"/>
              <a:ext cx="1820788" cy="29700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404" y="4720067"/>
              <a:ext cx="910710" cy="285446"/>
            </a:xfrm>
            <a:prstGeom prst="rect">
              <a:avLst/>
            </a:prstGeom>
          </p:spPr>
        </p:pic>
      </p:grp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352800" y="1095550"/>
          <a:ext cx="170688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184604667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676682450"/>
                    </a:ext>
                  </a:extLst>
                </a:gridCol>
              </a:tblGrid>
              <a:tr h="3152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25773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610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6285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82902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520017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539760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872788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64912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36194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463775"/>
                  </a:ext>
                </a:extLst>
              </a:tr>
              <a:tr h="31527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40826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5076060" y="1095550"/>
          <a:ext cx="408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610228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432093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4795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23221" y="146131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495800" y="1840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22349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511755" y="222687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97355" y="2590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4530179" y="2583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15779" y="29834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546134" y="29753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23221" y="3276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556045" y="32690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41645" y="36692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572000" y="3661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3555" y="4114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606379" y="4107253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657600" y="44277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587955" y="44196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03910" y="4804168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0019" y="1830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6172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019800" y="1840468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490924" y="1840468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6988819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868078" y="181574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8343313" y="1828800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344916" y="1813903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747336" y="1828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56772"/>
            <a:ext cx="2590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 = 0, r = 8</a:t>
            </a:r>
          </a:p>
          <a:p>
            <a:r>
              <a:rPr lang="en-US" sz="2800" b="1" dirty="0"/>
              <a:t>p</a:t>
            </a:r>
            <a:r>
              <a:rPr lang="en-US" sz="2800" b="1" dirty="0" smtClean="0"/>
              <a:t> = 4</a:t>
            </a:r>
            <a:endParaRPr lang="en-US" sz="2800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5189068" y="2226539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56462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048849" y="2236365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519973" y="223636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7017868" y="2224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897127" y="2211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8372362" y="2224697"/>
            <a:ext cx="5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373965" y="2209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776385" y="2224697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3688080" y="4719935"/>
            <a:ext cx="473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823B"/>
                </a:solidFill>
              </a:rPr>
              <a:t>2</a:t>
            </a:r>
            <a:endParaRPr lang="en-US" sz="2400" b="1" dirty="0">
              <a:solidFill>
                <a:srgbClr val="00823B"/>
              </a:solidFill>
            </a:endParaRPr>
          </a:p>
        </p:txBody>
      </p:sp>
      <p:sp>
        <p:nvSpPr>
          <p:cNvPr id="86" name="Bent-Up Arrow 85"/>
          <p:cNvSpPr/>
          <p:nvPr/>
        </p:nvSpPr>
        <p:spPr>
          <a:xfrm rot="10800000" flipV="1">
            <a:off x="477289" y="3712121"/>
            <a:ext cx="2829790" cy="1406789"/>
          </a:xfrm>
          <a:prstGeom prst="bentUpArrow">
            <a:avLst/>
          </a:prstGeom>
          <a:solidFill>
            <a:srgbClr val="00823B"/>
          </a:solidFill>
          <a:ln>
            <a:solidFill>
              <a:srgbClr val="008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3610988" y="1828800"/>
            <a:ext cx="47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189068" y="2607539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646268" y="2605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6048849" y="2617365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519973" y="2617365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7017868" y="2605697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7897127" y="2592642"/>
            <a:ext cx="25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8372362" y="2605697"/>
            <a:ext cx="57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7373965" y="2590800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8776385" y="2605697"/>
            <a:ext cx="59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98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9" grpId="0"/>
      <p:bldP spid="33" grpId="0"/>
      <p:bldP spid="34" grpId="0"/>
      <p:bldP spid="38" grpId="0"/>
      <p:bldP spid="39" grpId="0"/>
      <p:bldP spid="40" grpId="0"/>
      <p:bldP spid="42" grpId="0"/>
      <p:bldP spid="44" grpId="0"/>
      <p:bldP spid="45" grpId="0"/>
      <p:bldP spid="48" grpId="0"/>
      <p:bldP spid="49" grpId="0"/>
      <p:bldP spid="51" grpId="0"/>
      <p:bldP spid="1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0" grpId="0"/>
      <p:bldP spid="86" grpId="0" animBg="1"/>
      <p:bldP spid="88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93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23669" y="1143000"/>
            <a:ext cx="4203344" cy="2777836"/>
            <a:chOff x="533399" y="1752600"/>
            <a:chExt cx="4203344" cy="277783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752600"/>
              <a:ext cx="4051300" cy="30480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071254"/>
              <a:ext cx="3516119" cy="36714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400" y="2556164"/>
              <a:ext cx="2971028" cy="41563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399" y="2971800"/>
              <a:ext cx="2128345" cy="38100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48472" y="3429000"/>
              <a:ext cx="2455254" cy="339436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7496" y="3768436"/>
              <a:ext cx="470065" cy="346364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30132" y="4197061"/>
              <a:ext cx="3506611" cy="333375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6526" y="1143000"/>
            <a:ext cx="3349674" cy="3991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49685" y="685800"/>
            <a:ext cx="2018806" cy="3532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154544" y="1427673"/>
            <a:ext cx="911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823B"/>
                </a:solidFill>
              </a:rPr>
              <a:t>S = 2</a:t>
            </a:r>
            <a:endParaRPr lang="en-US" sz="2800" b="1" dirty="0">
              <a:solidFill>
                <a:srgbClr val="00823B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755111" y="1645226"/>
            <a:ext cx="2266252" cy="183573"/>
          </a:xfrm>
          <a:prstGeom prst="rightArrow">
            <a:avLst/>
          </a:prstGeom>
          <a:solidFill>
            <a:srgbClr val="00823B"/>
          </a:solidFill>
          <a:ln>
            <a:solidFill>
              <a:srgbClr val="0082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/>
          </p:nvPr>
        </p:nvGraphicFramePr>
        <p:xfrm>
          <a:off x="3657600" y="1900237"/>
          <a:ext cx="40863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1098133729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3082279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101928071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endParaRPr lang="en-US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lang="en-US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</a:t>
                      </a:r>
                      <a:endParaRPr lang="en-US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800" y="2743200"/>
            <a:ext cx="2667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 &gt; 0 + 5 – 1</a:t>
            </a:r>
          </a:p>
          <a:p>
            <a:r>
              <a:rPr lang="en-US" dirty="0" smtClean="0"/>
              <a:t>2 &gt; 4</a:t>
            </a:r>
          </a:p>
          <a:p>
            <a:r>
              <a:rPr lang="en-US" dirty="0" err="1" smtClean="0"/>
              <a:t>Quickselect</a:t>
            </a:r>
            <a:r>
              <a:rPr lang="en-US" dirty="0" smtClean="0"/>
              <a:t> (A[3 .. 8], 2)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405452" y="3492538"/>
            <a:ext cx="911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823B"/>
                </a:solidFill>
              </a:rPr>
              <a:t>K = 2</a:t>
            </a:r>
            <a:endParaRPr lang="en-US" sz="2800" b="1" dirty="0">
              <a:solidFill>
                <a:srgbClr val="00823B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429000" y="1826857"/>
            <a:ext cx="794865" cy="30496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725201"/>
              </p:ext>
            </p:extLst>
          </p:nvPr>
        </p:nvGraphicFramePr>
        <p:xfrm>
          <a:off x="4792424" y="4015758"/>
          <a:ext cx="2724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40">
                  <a:extLst>
                    <a:ext uri="{9D8B030D-6E8A-4147-A177-3AD203B41FA5}">
                      <a16:colId xmlns:a16="http://schemas.microsoft.com/office/drawing/2014/main" val="9968536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177108516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03863741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875208001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97720904"/>
                    </a:ext>
                  </a:extLst>
                </a:gridCol>
                <a:gridCol w="454040">
                  <a:extLst>
                    <a:ext uri="{9D8B030D-6E8A-4147-A177-3AD203B41FA5}">
                      <a16:colId xmlns:a16="http://schemas.microsoft.com/office/drawing/2014/main" val="2656820407"/>
                    </a:ext>
                  </a:extLst>
                </a:gridCol>
              </a:tblGrid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795819"/>
                  </a:ext>
                </a:extLst>
              </a:tr>
              <a:tr h="30132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00823B"/>
                          </a:solidFill>
                        </a:rPr>
                        <a:t>8</a:t>
                      </a:r>
                      <a:endParaRPr lang="en-US" b="1" dirty="0">
                        <a:solidFill>
                          <a:srgbClr val="00823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000777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922873" y="4730001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 smtClean="0"/>
              <a:t> = 2 – 1</a:t>
            </a:r>
          </a:p>
          <a:p>
            <a:r>
              <a:rPr lang="en-US" dirty="0" smtClean="0"/>
              <a:t>Return A[1]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901665" y="4709852"/>
            <a:ext cx="911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823B"/>
                </a:solidFill>
              </a:rPr>
              <a:t>S = 1</a:t>
            </a:r>
            <a:endParaRPr lang="en-US" sz="28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7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/>
      <p:bldP spid="22" grpId="0"/>
      <p:bldP spid="24" grpId="0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 </a:t>
            </a:r>
            <a:r>
              <a:rPr lang="en-US" sz="2700" b="1" dirty="0" smtClean="0">
                <a:solidFill>
                  <a:srgbClr val="00823B"/>
                </a:solidFill>
              </a:rPr>
              <a:t>(Analysis)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35052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Best Case</a:t>
            </a:r>
          </a:p>
          <a:p>
            <a:pPr lvl="1"/>
            <a:r>
              <a:rPr lang="en-US" dirty="0"/>
              <a:t>Partitioning </a:t>
            </a:r>
            <a:r>
              <a:rPr lang="en-US" dirty="0" smtClean="0"/>
              <a:t>always requires </a:t>
            </a:r>
            <a:r>
              <a:rPr lang="en-US" b="1" i="1" dirty="0" smtClean="0">
                <a:solidFill>
                  <a:srgbClr val="0000FF"/>
                </a:solidFill>
              </a:rPr>
              <a:t>n </a:t>
            </a:r>
            <a:r>
              <a:rPr lang="en-US" b="1" dirty="0">
                <a:solidFill>
                  <a:srgbClr val="0000FF"/>
                </a:solidFill>
              </a:rPr>
              <a:t>− 1 </a:t>
            </a:r>
            <a:r>
              <a:rPr lang="en-US" dirty="0"/>
              <a:t>key </a:t>
            </a:r>
            <a:r>
              <a:rPr lang="en-US" dirty="0" smtClean="0"/>
              <a:t>comparisons</a:t>
            </a:r>
          </a:p>
          <a:p>
            <a:pPr lvl="1"/>
            <a:r>
              <a:rPr lang="en-US" dirty="0" smtClean="0"/>
              <a:t>Solve </a:t>
            </a:r>
            <a:r>
              <a:rPr lang="en-US" dirty="0"/>
              <a:t>the selection </a:t>
            </a:r>
            <a:r>
              <a:rPr lang="en-US" dirty="0" smtClean="0"/>
              <a:t>problem without </a:t>
            </a:r>
            <a:r>
              <a:rPr lang="en-US" dirty="0"/>
              <a:t>requiring more </a:t>
            </a:r>
            <a:r>
              <a:rPr lang="en-US" dirty="0" smtClean="0"/>
              <a:t>iterations</a:t>
            </a:r>
          </a:p>
          <a:p>
            <a:pPr lvl="1"/>
            <a:r>
              <a:rPr lang="en-US" i="1" dirty="0" smtClean="0"/>
              <a:t>C</a:t>
            </a:r>
            <a:r>
              <a:rPr lang="en-US" sz="400" i="1" dirty="0" smtClean="0"/>
              <a:t> </a:t>
            </a:r>
            <a:r>
              <a:rPr lang="en-US" i="1" dirty="0" smtClean="0"/>
              <a:t>(n</a:t>
            </a:r>
            <a:r>
              <a:rPr lang="en-US" i="1" dirty="0"/>
              <a:t>) </a:t>
            </a:r>
            <a:r>
              <a:rPr lang="en-US" dirty="0" smtClean="0"/>
              <a:t>= </a:t>
            </a:r>
            <a:r>
              <a:rPr lang="en-US" i="1" dirty="0" smtClean="0"/>
              <a:t>n </a:t>
            </a:r>
            <a:r>
              <a:rPr lang="en-US" dirty="0"/>
              <a:t>− 1 ∈ </a:t>
            </a:r>
            <a:r>
              <a:rPr lang="el-GR" b="1" dirty="0" smtClean="0">
                <a:solidFill>
                  <a:srgbClr val="0000FF"/>
                </a:solidFill>
              </a:rPr>
              <a:t>Θ</a:t>
            </a:r>
            <a:r>
              <a:rPr lang="en-US" b="1" i="1" dirty="0" smtClean="0">
                <a:solidFill>
                  <a:srgbClr val="0000FF"/>
                </a:solidFill>
              </a:rPr>
              <a:t>(n)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4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Selection Problem </a:t>
            </a:r>
            <a:r>
              <a:rPr lang="en-US" sz="2700" b="1" dirty="0" smtClean="0">
                <a:solidFill>
                  <a:srgbClr val="00823B"/>
                </a:solidFill>
              </a:rPr>
              <a:t>(Analysis)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Worst Case</a:t>
            </a:r>
            <a:endParaRPr lang="en-US" b="1" dirty="0" smtClean="0">
              <a:solidFill>
                <a:srgbClr val="0000FF"/>
              </a:solidFill>
            </a:endParaRPr>
          </a:p>
          <a:p>
            <a:pPr lvl="1"/>
            <a:r>
              <a:rPr lang="en-US" dirty="0"/>
              <a:t>produce an extremely </a:t>
            </a:r>
            <a:r>
              <a:rPr lang="en-US" dirty="0" smtClean="0"/>
              <a:t>unbalanced partition</a:t>
            </a:r>
          </a:p>
          <a:p>
            <a:pPr lvl="1"/>
            <a:r>
              <a:rPr lang="en-US" dirty="0"/>
              <a:t>one part being </a:t>
            </a:r>
            <a:r>
              <a:rPr lang="en-US" dirty="0" smtClean="0"/>
              <a:t>empty</a:t>
            </a:r>
          </a:p>
          <a:p>
            <a:pPr lvl="1"/>
            <a:r>
              <a:rPr lang="en-US" dirty="0"/>
              <a:t>other containing </a:t>
            </a:r>
            <a:r>
              <a:rPr lang="en-US" i="1" dirty="0"/>
              <a:t>n </a:t>
            </a:r>
            <a:r>
              <a:rPr lang="en-US" dirty="0"/>
              <a:t>− </a:t>
            </a:r>
            <a:r>
              <a:rPr lang="en-US" dirty="0" smtClean="0"/>
              <a:t>1 elements</a:t>
            </a:r>
            <a:endParaRPr lang="en-US" dirty="0"/>
          </a:p>
          <a:p>
            <a:pPr algn="just"/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419600"/>
            <a:ext cx="3676650" cy="371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4784148"/>
            <a:ext cx="1238250" cy="333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753841"/>
            <a:ext cx="80962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33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Interpolation Search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Variable Size Decrease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Algorithms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3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Interpolation Search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 smtClean="0"/>
              <a:t>Arrays must be </a:t>
            </a:r>
            <a:r>
              <a:rPr lang="en-US" b="1" dirty="0" smtClean="0">
                <a:solidFill>
                  <a:srgbClr val="0000FF"/>
                </a:solidFill>
              </a:rPr>
              <a:t>Sorted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Mid location </a:t>
            </a:r>
            <a:r>
              <a:rPr lang="en-US" dirty="0" smtClean="0"/>
              <a:t>value is </a:t>
            </a:r>
            <a:r>
              <a:rPr lang="en-US" b="1" dirty="0" smtClean="0">
                <a:solidFill>
                  <a:srgbClr val="0000FF"/>
                </a:solidFill>
              </a:rPr>
              <a:t>not picked</a:t>
            </a:r>
          </a:p>
          <a:p>
            <a:r>
              <a:rPr lang="en-US" dirty="0" smtClean="0"/>
              <a:t>Based on the </a:t>
            </a:r>
            <a:r>
              <a:rPr lang="en-US" b="1" dirty="0">
                <a:solidFill>
                  <a:srgbClr val="0000FF"/>
                </a:solidFill>
              </a:rPr>
              <a:t>value of </a:t>
            </a:r>
            <a:r>
              <a:rPr lang="en-US" dirty="0"/>
              <a:t>the search </a:t>
            </a:r>
            <a:r>
              <a:rPr lang="en-US" b="1" dirty="0" smtClean="0">
                <a:solidFill>
                  <a:srgbClr val="0000FF"/>
                </a:solidFill>
              </a:rPr>
              <a:t>key</a:t>
            </a:r>
            <a:r>
              <a:rPr lang="en-US" dirty="0" smtClean="0"/>
              <a:t>, array’s </a:t>
            </a:r>
            <a:r>
              <a:rPr lang="en-US" b="1" dirty="0" smtClean="0">
                <a:solidFill>
                  <a:srgbClr val="00823B"/>
                </a:solidFill>
              </a:rPr>
              <a:t>element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823B"/>
                </a:solidFill>
              </a:rPr>
              <a:t>picked</a:t>
            </a:r>
            <a:r>
              <a:rPr lang="en-US" dirty="0" smtClean="0"/>
              <a:t> for </a:t>
            </a:r>
            <a:r>
              <a:rPr lang="en-US" b="1" dirty="0" smtClean="0">
                <a:solidFill>
                  <a:srgbClr val="00823B"/>
                </a:solidFill>
              </a:rPr>
              <a:t>comparison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Finding a “word” in </a:t>
            </a:r>
            <a:r>
              <a:rPr lang="en-US" b="1" dirty="0" smtClean="0">
                <a:solidFill>
                  <a:srgbClr val="0000FF"/>
                </a:solidFill>
              </a:rPr>
              <a:t>dictionary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Interpolation Search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952625"/>
            <a:ext cx="55816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6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Interpolation </a:t>
            </a:r>
            <a:r>
              <a:rPr lang="en-US" b="1" dirty="0" smtClean="0">
                <a:solidFill>
                  <a:srgbClr val="00823B"/>
                </a:solidFill>
              </a:rPr>
              <a:t>Search</a:t>
            </a:r>
            <a:r>
              <a:rPr lang="en-US" sz="3100" b="1" dirty="0" smtClean="0">
                <a:solidFill>
                  <a:srgbClr val="00823B"/>
                </a:solidFill>
              </a:rPr>
              <a:t>(Algorithm)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Key value is </a:t>
            </a:r>
            <a:r>
              <a:rPr lang="en-US" b="1" dirty="0" smtClean="0">
                <a:solidFill>
                  <a:srgbClr val="0000FF"/>
                </a:solidFill>
              </a:rPr>
              <a:t>“</a:t>
            </a:r>
            <a:r>
              <a:rPr lang="en-US" b="1" i="1" dirty="0" smtClean="0">
                <a:solidFill>
                  <a:srgbClr val="0000FF"/>
                </a:solidFill>
              </a:rPr>
              <a:t>v</a:t>
            </a:r>
            <a:r>
              <a:rPr lang="en-US" b="1" dirty="0" smtClean="0">
                <a:solidFill>
                  <a:srgbClr val="0000FF"/>
                </a:solidFill>
              </a:rPr>
              <a:t>”</a:t>
            </a:r>
          </a:p>
          <a:p>
            <a:r>
              <a:rPr lang="en-US" dirty="0" smtClean="0"/>
              <a:t>Subarray is </a:t>
            </a:r>
            <a:r>
              <a:rPr lang="en-US" b="1" dirty="0" smtClean="0">
                <a:solidFill>
                  <a:srgbClr val="0000FF"/>
                </a:solidFill>
              </a:rPr>
              <a:t>A[l .. </a:t>
            </a:r>
            <a:r>
              <a:rPr lang="en-US" b="1" dirty="0">
                <a:solidFill>
                  <a:srgbClr val="0000FF"/>
                </a:solidFill>
              </a:rPr>
              <a:t>r</a:t>
            </a:r>
            <a:r>
              <a:rPr lang="en-US" b="1" dirty="0" smtClean="0">
                <a:solidFill>
                  <a:srgbClr val="0000FF"/>
                </a:solidFill>
              </a:rPr>
              <a:t>]</a:t>
            </a:r>
          </a:p>
          <a:p>
            <a:r>
              <a:rPr lang="en-US" dirty="0" smtClean="0"/>
              <a:t>Find index </a:t>
            </a:r>
            <a:r>
              <a:rPr lang="en-US" b="1" dirty="0" smtClean="0">
                <a:solidFill>
                  <a:srgbClr val="0000FF"/>
                </a:solidFill>
              </a:rPr>
              <a:t>“x”</a:t>
            </a:r>
          </a:p>
          <a:p>
            <a:endParaRPr lang="en-US" dirty="0"/>
          </a:p>
          <a:p>
            <a:pPr lvl="1"/>
            <a:r>
              <a:rPr lang="en-US" dirty="0" smtClean="0"/>
              <a:t>If  v = A[x]	</a:t>
            </a:r>
            <a:r>
              <a:rPr lang="en-US" b="1" dirty="0" smtClean="0">
                <a:solidFill>
                  <a:srgbClr val="00823B"/>
                </a:solidFill>
              </a:rPr>
              <a:t>value found</a:t>
            </a:r>
          </a:p>
          <a:p>
            <a:pPr lvl="1"/>
            <a:r>
              <a:rPr lang="en-US" dirty="0" smtClean="0"/>
              <a:t>If  v &lt; A[x]	</a:t>
            </a:r>
            <a:r>
              <a:rPr lang="en-US" b="1" dirty="0" smtClean="0">
                <a:solidFill>
                  <a:srgbClr val="0000FF"/>
                </a:solidFill>
              </a:rPr>
              <a:t>r = x -1</a:t>
            </a:r>
          </a:p>
          <a:p>
            <a:pPr lvl="1"/>
            <a:r>
              <a:rPr lang="en-US" dirty="0" smtClean="0"/>
              <a:t>If  v &gt; A[x]	</a:t>
            </a:r>
            <a:r>
              <a:rPr lang="en-US" b="1" dirty="0" smtClean="0">
                <a:solidFill>
                  <a:srgbClr val="0000FF"/>
                </a:solidFill>
              </a:rPr>
              <a:t>l = x +1</a:t>
            </a:r>
          </a:p>
          <a:p>
            <a:r>
              <a:rPr lang="en-US" dirty="0" smtClean="0"/>
              <a:t>Search subarray is A[l .. r] again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333750"/>
            <a:ext cx="264795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3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30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29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72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01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87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27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41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9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63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76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59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05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53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3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46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10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3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16819" y="4338935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14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3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16819" y="4338935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38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16819" y="4338935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1 + [(2-2)(8-1) / (15-2)]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1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91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30" grpId="0"/>
      <p:bldP spid="3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16819" y="4338935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12219" y="4329109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1 + [(2-2)(8-1) / (15-2)]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1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02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8" grpId="0"/>
      <p:bldP spid="30" grpId="0"/>
      <p:bldP spid="3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16819" y="4338935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98019" y="4314212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12219" y="4329109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1 + [(2-2)(8-1) / (15-2)]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1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56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16819" y="4338935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98019" y="4314212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12219" y="4329109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1 + [(2-2)(8-1) / (15-2)]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1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urved Up Arrow 4"/>
          <p:cNvSpPr/>
          <p:nvPr/>
        </p:nvSpPr>
        <p:spPr>
          <a:xfrm>
            <a:off x="1828800" y="4800600"/>
            <a:ext cx="2764781" cy="6096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839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" grpId="0" animBg="1"/>
      <p:bldP spid="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2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400" y="2971800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[(2-1)(8-0)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0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2 &gt; 1	l = x+1    l = 1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32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2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16819" y="4338935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98019" y="4314212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12219" y="4329109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8599" y="5024735"/>
            <a:ext cx="3019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v = A[x]</a:t>
            </a:r>
          </a:p>
          <a:p>
            <a:pPr algn="r"/>
            <a:r>
              <a:rPr lang="en-US" sz="2800" b="1" dirty="0" smtClean="0">
                <a:solidFill>
                  <a:srgbClr val="00823B"/>
                </a:solidFill>
              </a:rPr>
              <a:t>FOUND	</a:t>
            </a:r>
            <a:endParaRPr lang="en-US" sz="2800" b="1" dirty="0">
              <a:solidFill>
                <a:srgbClr val="00823B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1 + [(2-2)(8-1) / (15-2)]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1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905000" y="1981200"/>
            <a:ext cx="2688581" cy="6858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urved Up Arrow 4"/>
          <p:cNvSpPr/>
          <p:nvPr/>
        </p:nvSpPr>
        <p:spPr>
          <a:xfrm>
            <a:off x="1828800" y="4800600"/>
            <a:ext cx="2764781" cy="6096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48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" grpId="0" animBg="1"/>
      <p:bldP spid="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Interpolation </a:t>
            </a:r>
            <a:r>
              <a:rPr lang="en-US" b="1" dirty="0" smtClean="0">
                <a:solidFill>
                  <a:srgbClr val="00823B"/>
                </a:solidFill>
              </a:rPr>
              <a:t>Search </a:t>
            </a:r>
            <a:r>
              <a:rPr lang="en-US" sz="3100" b="1" dirty="0" smtClean="0">
                <a:solidFill>
                  <a:srgbClr val="00823B"/>
                </a:solidFill>
              </a:rPr>
              <a:t>(Analysis)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 lnSpcReduction="10000"/>
          </a:bodyPr>
          <a:lstStyle/>
          <a:p>
            <a:pPr>
              <a:spcBef>
                <a:spcPct val="40000"/>
              </a:spcBef>
            </a:pPr>
            <a:r>
              <a:rPr lang="en-US" altLang="en-US" sz="4100" dirty="0" smtClean="0"/>
              <a:t>Efficiency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700" dirty="0" smtClean="0"/>
              <a:t>average case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en-US" altLang="en-US" sz="3300" dirty="0" smtClean="0"/>
              <a:t>C(n</a:t>
            </a:r>
            <a:r>
              <a:rPr lang="en-US" altLang="en-US" sz="3300" dirty="0"/>
              <a:t>) &lt; log</a:t>
            </a:r>
            <a:r>
              <a:rPr lang="en-US" altLang="en-US" sz="3300" baseline="-25000" dirty="0"/>
              <a:t>2</a:t>
            </a:r>
            <a:r>
              <a:rPr lang="en-US" altLang="en-US" sz="3300" dirty="0"/>
              <a:t> log</a:t>
            </a:r>
            <a:r>
              <a:rPr lang="en-US" altLang="en-US" sz="3300" baseline="-25000" dirty="0"/>
              <a:t>2</a:t>
            </a:r>
            <a:r>
              <a:rPr lang="en-US" altLang="en-US" sz="3300" dirty="0"/>
              <a:t> n + </a:t>
            </a:r>
            <a:r>
              <a:rPr lang="en-US" altLang="en-US" sz="3300" dirty="0" smtClean="0"/>
              <a:t>1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700" dirty="0" smtClean="0"/>
              <a:t>worst case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en-US" altLang="en-US" sz="3300" dirty="0" smtClean="0"/>
              <a:t>C(n</a:t>
            </a:r>
            <a:r>
              <a:rPr lang="en-US" altLang="en-US" sz="3300" dirty="0"/>
              <a:t>) = </a:t>
            </a:r>
            <a:r>
              <a:rPr lang="en-US" altLang="en-US" sz="3300" dirty="0" smtClean="0"/>
              <a:t>n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en-US" sz="4100" dirty="0" smtClean="0"/>
              <a:t>binary search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3700" dirty="0" smtClean="0"/>
              <a:t>Small files</a:t>
            </a:r>
          </a:p>
          <a:p>
            <a:pPr>
              <a:spcBef>
                <a:spcPct val="40000"/>
              </a:spcBef>
            </a:pPr>
            <a:endParaRPr lang="en-US" altLang="en-US" sz="4100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2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31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11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94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87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38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82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34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9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57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8" grpId="0"/>
      <p:bldP spid="19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91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19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3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3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59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3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70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3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50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76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3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50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4338935"/>
            <a:ext cx="5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57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3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50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4338935"/>
            <a:ext cx="5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9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3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50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4338935"/>
            <a:ext cx="5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6 + [(10-10)(8-6) / (15-10)]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6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35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30" grpId="0"/>
      <p:bldP spid="3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50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4338935"/>
            <a:ext cx="5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12219" y="4329109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6 + [(10-10)(8-6) / (15-10)]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6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21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8" grpId="0"/>
      <p:bldP spid="30" grpId="0"/>
      <p:bldP spid="3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50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4338935"/>
            <a:ext cx="5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10115" y="4314212"/>
            <a:ext cx="590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12219" y="4329109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6 + [(10-10)(8-6) / (15-10)]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6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41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50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4338935"/>
            <a:ext cx="5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10115" y="4314212"/>
            <a:ext cx="590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12219" y="4329109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6 + [(10-10)(8-6) / (15-10)]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6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urved Up Arrow 4"/>
          <p:cNvSpPr/>
          <p:nvPr/>
        </p:nvSpPr>
        <p:spPr>
          <a:xfrm>
            <a:off x="1981200" y="4788932"/>
            <a:ext cx="2612381" cy="62126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2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0" grpId="0"/>
      <p:bldP spid="3" grpId="0" animBg="1"/>
      <p:bldP spid="5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00FF"/>
                </a:solidFill>
              </a:rPr>
              <a:t>Example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600200" y="1752600"/>
          <a:ext cx="6095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3339775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81711418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2703267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324200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3897033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48295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74129461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69199303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99619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68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818692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20" y="2864695"/>
            <a:ext cx="2647950" cy="70485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228600" y="2746375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1847949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</a:rPr>
              <a:t>V = 10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5219" y="2986697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76399" y="2971800"/>
            <a:ext cx="49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2996523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8758" y="2984855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9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0" y="2986697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36105" y="3569545"/>
            <a:ext cx="2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0 + [(10-1)(8-0) / (15-1)]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5</a:t>
            </a:r>
            <a:endParaRPr 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28599" y="4114800"/>
          <a:ext cx="4607505" cy="6591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8215">
                  <a:extLst>
                    <a:ext uri="{9D8B030D-6E8A-4147-A177-3AD203B41FA5}">
                      <a16:colId xmlns:a16="http://schemas.microsoft.com/office/drawing/2014/main" val="298196102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31583902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594352104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1032683248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68310305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4283486236"/>
                    </a:ext>
                  </a:extLst>
                </a:gridCol>
                <a:gridCol w="658215">
                  <a:extLst>
                    <a:ext uri="{9D8B030D-6E8A-4147-A177-3AD203B41FA5}">
                      <a16:colId xmlns:a16="http://schemas.microsoft.com/office/drawing/2014/main" val="3800518310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French Script MT" panose="03020402040607040605" pitchFamily="66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A[l]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A[r]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Engravers MT" panose="02090707080505020304" pitchFamily="18" charset="0"/>
                        </a:rPr>
                        <a:t>A[x]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115978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7460476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829177" y="4154269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v &gt; A[x]</a:t>
            </a:r>
          </a:p>
          <a:p>
            <a:r>
              <a:rPr lang="en-US" b="1" dirty="0" smtClean="0"/>
              <a:t>10 &gt; 9	l = x+1    l = 6</a:t>
            </a:r>
            <a:r>
              <a:rPr lang="en-US" b="1" dirty="0" smtClean="0">
                <a:solidFill>
                  <a:srgbClr val="0000FF"/>
                </a:solidFill>
              </a:rPr>
              <a:t>	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19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9838" y="4329109"/>
            <a:ext cx="250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8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1019" y="4314212"/>
            <a:ext cx="504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10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86000" y="4338935"/>
            <a:ext cx="511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83377" y="4327267"/>
            <a:ext cx="5764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</a:rPr>
              <a:t>15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10115" y="4314212"/>
            <a:ext cx="590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10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12219" y="4329109"/>
            <a:ext cx="37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8599" y="5024735"/>
            <a:ext cx="3019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v = A[x]</a:t>
            </a:r>
          </a:p>
          <a:p>
            <a:pPr algn="r"/>
            <a:r>
              <a:rPr lang="en-US" sz="2800" b="1" dirty="0" smtClean="0">
                <a:solidFill>
                  <a:srgbClr val="00823B"/>
                </a:solidFill>
              </a:rPr>
              <a:t>FOUND	</a:t>
            </a:r>
            <a:endParaRPr lang="en-US" sz="2800" b="1" dirty="0">
              <a:solidFill>
                <a:srgbClr val="00823B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29177" y="4967975"/>
            <a:ext cx="3019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00FF"/>
                </a:solidFill>
              </a:rPr>
              <a:t>X = 6 + [(10-10)(8-6) / (15-10)]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   = 6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urved Down Arrow 2"/>
          <p:cNvSpPr/>
          <p:nvPr/>
        </p:nvSpPr>
        <p:spPr>
          <a:xfrm>
            <a:off x="1828800" y="2209800"/>
            <a:ext cx="2764781" cy="457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Curved Up Arrow 4"/>
          <p:cNvSpPr/>
          <p:nvPr/>
        </p:nvSpPr>
        <p:spPr>
          <a:xfrm>
            <a:off x="1981200" y="4788932"/>
            <a:ext cx="2612381" cy="62126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9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" grpId="0" animBg="1"/>
      <p:bldP spid="5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Insertion / searching</a:t>
            </a:r>
            <a:br>
              <a:rPr lang="en-US" b="1" dirty="0" smtClean="0">
                <a:solidFill>
                  <a:srgbClr val="00823B"/>
                </a:solidFill>
              </a:rPr>
            </a:br>
            <a:r>
              <a:rPr lang="en-US" b="1" dirty="0" smtClean="0">
                <a:solidFill>
                  <a:srgbClr val="00823B"/>
                </a:solidFill>
              </a:rPr>
              <a:t>Binary Search Tree (BST)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Variable Size Decrease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Algorithms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8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Insertion / Search BST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one </a:t>
            </a:r>
            <a:r>
              <a:rPr lang="en-US" dirty="0"/>
              <a:t>element per </a:t>
            </a:r>
            <a:r>
              <a:rPr lang="en-US" dirty="0" smtClean="0"/>
              <a:t>node</a:t>
            </a:r>
          </a:p>
          <a:p>
            <a:r>
              <a:rPr lang="en-US" dirty="0" smtClean="0"/>
              <a:t>left </a:t>
            </a:r>
            <a:r>
              <a:rPr lang="en-US" dirty="0"/>
              <a:t>subtree </a:t>
            </a:r>
            <a:r>
              <a:rPr lang="en-US" dirty="0" smtClean="0"/>
              <a:t>have smaller values</a:t>
            </a:r>
          </a:p>
          <a:p>
            <a:r>
              <a:rPr lang="en-US" dirty="0" smtClean="0"/>
              <a:t>right </a:t>
            </a:r>
            <a:r>
              <a:rPr lang="en-US" dirty="0"/>
              <a:t>subtree </a:t>
            </a:r>
            <a:r>
              <a:rPr lang="en-US" dirty="0" smtClean="0"/>
              <a:t>have greater values</a:t>
            </a:r>
          </a:p>
          <a:p>
            <a:r>
              <a:rPr lang="en-US" dirty="0"/>
              <a:t>search a given value </a:t>
            </a:r>
            <a:r>
              <a:rPr lang="en-US" i="1" dirty="0"/>
              <a:t>v </a:t>
            </a:r>
            <a:r>
              <a:rPr lang="en-US" dirty="0"/>
              <a:t>in BST</a:t>
            </a:r>
          </a:p>
          <a:p>
            <a:r>
              <a:rPr lang="en-US" dirty="0"/>
              <a:t>tree’s root </a:t>
            </a:r>
            <a:r>
              <a:rPr lang="en-US" i="1" dirty="0"/>
              <a:t>K(r</a:t>
            </a:r>
            <a:r>
              <a:rPr lang="en-US" i="1" dirty="0" smtClean="0"/>
              <a:t>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Insertion / Search BST </a:t>
            </a:r>
            <a:r>
              <a:rPr lang="en-US" sz="2200" b="1" dirty="0" smtClean="0">
                <a:solidFill>
                  <a:srgbClr val="00823B"/>
                </a:solidFill>
              </a:rPr>
              <a:t>(Algorithm)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If </a:t>
            </a:r>
            <a:r>
              <a:rPr lang="en-US" dirty="0"/>
              <a:t>the tree is </a:t>
            </a:r>
            <a:r>
              <a:rPr lang="en-US" dirty="0" smtClean="0"/>
              <a:t>empty</a:t>
            </a:r>
          </a:p>
          <a:p>
            <a:pPr lvl="1"/>
            <a:r>
              <a:rPr lang="en-US" dirty="0" smtClean="0"/>
              <a:t>Unsuccessful search</a:t>
            </a:r>
          </a:p>
          <a:p>
            <a:r>
              <a:rPr lang="en-US" dirty="0"/>
              <a:t>If </a:t>
            </a:r>
            <a:r>
              <a:rPr lang="en-US" i="1" dirty="0"/>
              <a:t>v </a:t>
            </a:r>
            <a:r>
              <a:rPr lang="en-US" i="1" dirty="0" smtClean="0"/>
              <a:t>= </a:t>
            </a:r>
            <a:r>
              <a:rPr lang="en-US" i="1" dirty="0"/>
              <a:t>K(r) </a:t>
            </a:r>
            <a:endParaRPr lang="en-US" dirty="0" smtClean="0"/>
          </a:p>
          <a:p>
            <a:pPr lvl="1"/>
            <a:r>
              <a:rPr lang="en-US" dirty="0" smtClean="0"/>
              <a:t>Successful Search</a:t>
            </a:r>
          </a:p>
          <a:p>
            <a:r>
              <a:rPr lang="en-US" dirty="0"/>
              <a:t>if </a:t>
            </a:r>
            <a:r>
              <a:rPr lang="en-US" i="1" dirty="0"/>
              <a:t>v &lt; K(r</a:t>
            </a:r>
            <a:r>
              <a:rPr lang="en-US" i="1" dirty="0" smtClean="0"/>
              <a:t>)</a:t>
            </a:r>
            <a:endParaRPr lang="en-US" dirty="0" smtClean="0"/>
          </a:p>
          <a:p>
            <a:pPr lvl="1"/>
            <a:r>
              <a:rPr lang="en-US" dirty="0" smtClean="0"/>
              <a:t>Search in left subtree</a:t>
            </a:r>
          </a:p>
          <a:p>
            <a:r>
              <a:rPr lang="en-US" dirty="0" smtClean="0"/>
              <a:t>Otherwise</a:t>
            </a:r>
          </a:p>
          <a:p>
            <a:pPr lvl="1"/>
            <a:r>
              <a:rPr lang="en-US" dirty="0" smtClean="0"/>
              <a:t>Search in Right Subtree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6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00823B"/>
                </a:solidFill>
              </a:rPr>
              <a:t>Insertion / Search BST </a:t>
            </a:r>
            <a:r>
              <a:rPr lang="en-US" sz="2200" b="1" dirty="0" smtClean="0">
                <a:solidFill>
                  <a:srgbClr val="00823B"/>
                </a:solidFill>
              </a:rPr>
              <a:t>(Analysis)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>
            <a:normAutofit/>
          </a:bodyPr>
          <a:lstStyle/>
          <a:p>
            <a:r>
              <a:rPr lang="en-US" dirty="0" smtClean="0"/>
              <a:t>Worst Case</a:t>
            </a:r>
          </a:p>
          <a:p>
            <a:pPr lvl="1"/>
            <a:r>
              <a:rPr lang="en-US" dirty="0" smtClean="0"/>
              <a:t>Data is increasing/decreasing order</a:t>
            </a:r>
          </a:p>
          <a:p>
            <a:pPr lvl="1"/>
            <a:r>
              <a:rPr lang="el-GR" dirty="0" smtClean="0"/>
              <a:t>Θ</a:t>
            </a:r>
            <a:r>
              <a:rPr lang="en-US" dirty="0" smtClean="0"/>
              <a:t>(n)</a:t>
            </a:r>
          </a:p>
          <a:p>
            <a:r>
              <a:rPr lang="en-US" dirty="0" smtClean="0"/>
              <a:t>Average Case</a:t>
            </a:r>
          </a:p>
          <a:p>
            <a:pPr lvl="1"/>
            <a:r>
              <a:rPr lang="en-US" dirty="0" smtClean="0"/>
              <a:t>Height of the tree</a:t>
            </a:r>
          </a:p>
          <a:p>
            <a:pPr lvl="1"/>
            <a:r>
              <a:rPr lang="en-US" dirty="0" smtClean="0"/>
              <a:t>Θ(log</a:t>
            </a:r>
            <a:r>
              <a:rPr lang="en-US" baseline="-25000" dirty="0" smtClean="0"/>
              <a:t>2</a:t>
            </a:r>
            <a:r>
              <a:rPr lang="en-US" dirty="0" smtClean="0"/>
              <a:t> n)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2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/>
              <a:t>The </a:t>
            </a:r>
            <a:r>
              <a:rPr lang="en-US" b="1" dirty="0"/>
              <a:t>Game of </a:t>
            </a:r>
            <a:r>
              <a:rPr lang="en-US" b="1" dirty="0" err="1"/>
              <a:t>Nim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Variable Size Decrease </a:t>
            </a:r>
            <a:r>
              <a:rPr lang="en-US" b="1" dirty="0" smtClean="0">
                <a:solidFill>
                  <a:schemeClr val="bg1">
                    <a:lumMod val="65000"/>
                  </a:schemeClr>
                </a:solidFill>
              </a:rPr>
              <a:t>Algorithms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The Game of </a:t>
            </a:r>
            <a:r>
              <a:rPr lang="en-US" b="1" dirty="0" err="1"/>
              <a:t>Nim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There are two players only</a:t>
            </a:r>
          </a:p>
          <a:p>
            <a:r>
              <a:rPr lang="en-US" dirty="0"/>
              <a:t>each </a:t>
            </a:r>
            <a:r>
              <a:rPr lang="en-US" dirty="0" smtClean="0"/>
              <a:t>player has </a:t>
            </a:r>
            <a:r>
              <a:rPr lang="en-US" dirty="0"/>
              <a:t>the same </a:t>
            </a:r>
            <a:r>
              <a:rPr lang="en-US" dirty="0" smtClean="0"/>
              <a:t>finite number of moves</a:t>
            </a:r>
          </a:p>
          <a:p>
            <a:r>
              <a:rPr lang="en-US" dirty="0"/>
              <a:t>The winner is </a:t>
            </a:r>
            <a:r>
              <a:rPr lang="en-US" dirty="0" smtClean="0"/>
              <a:t>the last </a:t>
            </a:r>
            <a:r>
              <a:rPr lang="en-US" dirty="0"/>
              <a:t>player who is able to </a:t>
            </a:r>
            <a:r>
              <a:rPr lang="en-US" dirty="0" smtClean="0"/>
              <a:t>move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6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r>
              <a:rPr lang="en-US" b="1" dirty="0" smtClean="0">
                <a:solidFill>
                  <a:srgbClr val="0000FF"/>
                </a:solidFill>
              </a:rPr>
              <a:t>One pile </a:t>
            </a:r>
            <a:r>
              <a:rPr lang="en-US" dirty="0" smtClean="0"/>
              <a:t>of chips</a:t>
            </a:r>
          </a:p>
          <a:p>
            <a:r>
              <a:rPr lang="en-US" dirty="0" smtClean="0"/>
              <a:t>Number of chips are </a:t>
            </a:r>
            <a:r>
              <a:rPr lang="en-US" b="1" dirty="0" smtClean="0">
                <a:solidFill>
                  <a:srgbClr val="0000FF"/>
                </a:solidFill>
              </a:rPr>
              <a:t>n</a:t>
            </a:r>
          </a:p>
          <a:p>
            <a:r>
              <a:rPr lang="en-US" dirty="0" smtClean="0"/>
              <a:t>Number of players are </a:t>
            </a:r>
            <a:r>
              <a:rPr lang="en-US" b="1" dirty="0" smtClean="0">
                <a:solidFill>
                  <a:srgbClr val="0000FF"/>
                </a:solidFill>
              </a:rPr>
              <a:t>two</a:t>
            </a:r>
          </a:p>
          <a:p>
            <a:pPr lvl="1"/>
            <a:r>
              <a:rPr lang="en-US" dirty="0" smtClean="0"/>
              <a:t>Can take </a:t>
            </a:r>
            <a:r>
              <a:rPr lang="en-US" b="1" dirty="0" smtClean="0">
                <a:solidFill>
                  <a:srgbClr val="0000FF"/>
                </a:solidFill>
              </a:rPr>
              <a:t>at least </a:t>
            </a:r>
            <a:r>
              <a:rPr lang="en-US" b="1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 chip</a:t>
            </a:r>
          </a:p>
          <a:p>
            <a:pPr lvl="1"/>
            <a:r>
              <a:rPr lang="en-US" dirty="0" smtClean="0"/>
              <a:t>Can take </a:t>
            </a:r>
            <a:r>
              <a:rPr lang="en-US" b="1" dirty="0" smtClean="0"/>
              <a:t>at most </a:t>
            </a:r>
            <a:r>
              <a:rPr lang="en-US" b="1" dirty="0" smtClean="0">
                <a:solidFill>
                  <a:srgbClr val="FF0000"/>
                </a:solidFill>
              </a:rPr>
              <a:t>m</a:t>
            </a:r>
            <a:r>
              <a:rPr lang="en-US" dirty="0" smtClean="0"/>
              <a:t> chips</a:t>
            </a:r>
          </a:p>
          <a:p>
            <a:pPr lvl="1"/>
            <a:r>
              <a:rPr lang="en-US" dirty="0" smtClean="0"/>
              <a:t>May </a:t>
            </a:r>
            <a:r>
              <a:rPr lang="en-US" b="1" dirty="0" smtClean="0">
                <a:solidFill>
                  <a:srgbClr val="0000FF"/>
                </a:solidFill>
              </a:rPr>
              <a:t>differ </a:t>
            </a:r>
            <a:r>
              <a:rPr lang="en-US" dirty="0" smtClean="0"/>
              <a:t>for </a:t>
            </a:r>
            <a:r>
              <a:rPr lang="en-US" b="1" dirty="0" smtClean="0">
                <a:solidFill>
                  <a:srgbClr val="0000FF"/>
                </a:solidFill>
              </a:rPr>
              <a:t>every turn </a:t>
            </a:r>
            <a:r>
              <a:rPr lang="en-US" dirty="0" smtClean="0"/>
              <a:t>between 1 and m </a:t>
            </a:r>
          </a:p>
          <a:p>
            <a:r>
              <a:rPr lang="en-US" dirty="0" smtClean="0"/>
              <a:t>Player take the last chip will win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4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If </a:t>
            </a:r>
            <a:r>
              <a:rPr lang="en-US" b="1" dirty="0" smtClean="0">
                <a:solidFill>
                  <a:srgbClr val="0000FF"/>
                </a:solidFill>
              </a:rPr>
              <a:t>n</a:t>
            </a:r>
            <a:r>
              <a:rPr lang="en-US" dirty="0" smtClean="0"/>
              <a:t> = 0</a:t>
            </a:r>
          </a:p>
          <a:p>
            <a:pPr lvl="1"/>
            <a:r>
              <a:rPr lang="en-US" dirty="0"/>
              <a:t>the player to move </a:t>
            </a:r>
            <a:r>
              <a:rPr lang="en-US" dirty="0" smtClean="0"/>
              <a:t>next is a “looser”</a:t>
            </a:r>
          </a:p>
          <a:p>
            <a:r>
              <a:rPr lang="en-US" dirty="0" smtClean="0"/>
              <a:t>If </a:t>
            </a:r>
            <a:r>
              <a:rPr lang="en-US" b="1" dirty="0" smtClean="0">
                <a:solidFill>
                  <a:srgbClr val="0000FF"/>
                </a:solidFill>
              </a:rPr>
              <a:t>n</a:t>
            </a:r>
            <a:r>
              <a:rPr lang="en-US" dirty="0" smtClean="0"/>
              <a:t> = m + 1</a:t>
            </a:r>
          </a:p>
          <a:p>
            <a:pPr lvl="1"/>
            <a:r>
              <a:rPr lang="en-US" dirty="0"/>
              <a:t>the player to move next is a “looser</a:t>
            </a:r>
            <a:r>
              <a:rPr lang="en-US" dirty="0" smtClean="0"/>
              <a:t>”</a:t>
            </a:r>
          </a:p>
          <a:p>
            <a:r>
              <a:rPr lang="en-US" dirty="0"/>
              <a:t>1≤ </a:t>
            </a:r>
            <a:r>
              <a:rPr lang="en-US" b="1" dirty="0">
                <a:solidFill>
                  <a:srgbClr val="0000FF"/>
                </a:solidFill>
              </a:rPr>
              <a:t>n</a:t>
            </a:r>
            <a:r>
              <a:rPr lang="en-US" i="1" dirty="0"/>
              <a:t> </a:t>
            </a:r>
            <a:r>
              <a:rPr lang="en-US" dirty="0"/>
              <a:t>≤ </a:t>
            </a:r>
            <a:r>
              <a:rPr lang="en-US" i="1" dirty="0"/>
              <a:t>m</a:t>
            </a:r>
          </a:p>
          <a:p>
            <a:pPr lvl="1"/>
            <a:r>
              <a:rPr lang="en-US" dirty="0"/>
              <a:t>the player to move next is a “Winner”</a:t>
            </a:r>
          </a:p>
          <a:p>
            <a:r>
              <a:rPr lang="pt-BR" dirty="0" smtClean="0"/>
              <a:t>If </a:t>
            </a:r>
            <a:r>
              <a:rPr lang="pt-BR" i="1" dirty="0" smtClean="0"/>
              <a:t>m </a:t>
            </a:r>
            <a:r>
              <a:rPr lang="pt-BR" dirty="0"/>
              <a:t>+ 2 ≤ </a:t>
            </a:r>
            <a:r>
              <a:rPr lang="pt-BR" b="1" dirty="0">
                <a:solidFill>
                  <a:srgbClr val="0000FF"/>
                </a:solidFill>
              </a:rPr>
              <a:t>n</a:t>
            </a:r>
            <a:r>
              <a:rPr lang="pt-BR" i="1" dirty="0"/>
              <a:t> </a:t>
            </a:r>
            <a:r>
              <a:rPr lang="pt-BR" dirty="0"/>
              <a:t>≤ 2</a:t>
            </a:r>
            <a:r>
              <a:rPr lang="pt-BR" i="1" dirty="0"/>
              <a:t>m </a:t>
            </a:r>
            <a:r>
              <a:rPr lang="pt-BR" dirty="0" smtClean="0"/>
              <a:t>+1</a:t>
            </a:r>
          </a:p>
          <a:p>
            <a:pPr lvl="1"/>
            <a:r>
              <a:rPr lang="en-US" dirty="0"/>
              <a:t>the player to move next is a </a:t>
            </a:r>
            <a:r>
              <a:rPr lang="en-US" dirty="0" smtClean="0"/>
              <a:t>“Winner”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7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151</a:t>
            </a:fld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1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357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23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27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85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64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4" grpId="0"/>
      <p:bldP spid="85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25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4" grpId="0"/>
      <p:bldP spid="85" grpId="0"/>
      <p:bldP spid="86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cxnSp>
        <p:nvCxnSpPr>
          <p:cNvPr id="58" name="Straight Arrow Connector 57"/>
          <p:cNvCxnSpPr>
            <a:stCxn id="47" idx="1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17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4" grpId="0"/>
      <p:bldP spid="84" grpId="0"/>
      <p:bldP spid="85" grpId="0"/>
      <p:bldP spid="86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77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4" grpId="0"/>
      <p:bldP spid="84" grpId="0"/>
      <p:bldP spid="85" grpId="0"/>
      <p:bldP spid="86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159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59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4" grpId="0"/>
      <p:bldP spid="84" grpId="0"/>
      <p:bldP spid="85" grpId="0"/>
      <p:bldP spid="86" grpId="0"/>
      <p:bldP spid="87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3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4" grpId="0"/>
      <p:bldP spid="84" grpId="0"/>
      <p:bldP spid="85" grpId="0"/>
      <p:bldP spid="86" grpId="0"/>
      <p:bldP spid="87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01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4" grpId="0"/>
      <p:bldP spid="84" grpId="0"/>
      <p:bldP spid="85" grpId="0"/>
      <p:bldP spid="86" grpId="0"/>
      <p:bldP spid="87" grpId="0"/>
      <p:bldP spid="88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50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4" grpId="0"/>
      <p:bldP spid="84" grpId="0"/>
      <p:bldP spid="85" grpId="0"/>
      <p:bldP spid="86" grpId="0"/>
      <p:bldP spid="87" grpId="0"/>
      <p:bldP spid="88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163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18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3" grpId="0"/>
      <p:bldP spid="74" grpId="0"/>
      <p:bldP spid="84" grpId="0"/>
      <p:bldP spid="85" grpId="0"/>
      <p:bldP spid="86" grpId="0"/>
      <p:bldP spid="87" grpId="0"/>
      <p:bldP spid="88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164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25291" y="3759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87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73" grpId="0"/>
      <p:bldP spid="74" grpId="0"/>
      <p:bldP spid="84" grpId="0"/>
      <p:bldP spid="85" grpId="0"/>
      <p:bldP spid="86" grpId="0"/>
      <p:bldP spid="87" grpId="0"/>
      <p:bldP spid="88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165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25291" y="3759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6" name="Straight Arrow Connector 55"/>
          <p:cNvCxnSpPr>
            <a:stCxn id="46" idx="1"/>
            <a:endCxn id="51" idx="6"/>
          </p:cNvCxnSpPr>
          <p:nvPr/>
        </p:nvCxnSpPr>
        <p:spPr>
          <a:xfrm flipH="1" flipV="1">
            <a:off x="3496748" y="3424462"/>
            <a:ext cx="1428543" cy="5195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608695" y="36511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05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73" grpId="0"/>
      <p:bldP spid="74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</p:cNvCxnSpPr>
          <p:nvPr/>
        </p:nvCxnSpPr>
        <p:spPr>
          <a:xfrm flipH="1" flipV="1">
            <a:off x="5486400" y="3008442"/>
            <a:ext cx="1066800" cy="420558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25291" y="3759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6" name="Straight Arrow Connector 55"/>
          <p:cNvCxnSpPr>
            <a:stCxn id="46" idx="1"/>
            <a:endCxn id="51" idx="6"/>
          </p:cNvCxnSpPr>
          <p:nvPr/>
        </p:nvCxnSpPr>
        <p:spPr>
          <a:xfrm flipH="1" flipV="1">
            <a:off x="3496748" y="3424462"/>
            <a:ext cx="1428543" cy="5195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5852576" y="2895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608695" y="36511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34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72" grpId="0"/>
      <p:bldP spid="73" grpId="0"/>
      <p:bldP spid="74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167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</p:cNvCxnSpPr>
          <p:nvPr/>
        </p:nvCxnSpPr>
        <p:spPr>
          <a:xfrm flipH="1" flipV="1">
            <a:off x="5486400" y="3008442"/>
            <a:ext cx="1066800" cy="420558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25291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925291" y="3759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6" name="Straight Arrow Connector 55"/>
          <p:cNvCxnSpPr>
            <a:stCxn id="46" idx="1"/>
            <a:endCxn id="51" idx="6"/>
          </p:cNvCxnSpPr>
          <p:nvPr/>
        </p:nvCxnSpPr>
        <p:spPr>
          <a:xfrm flipH="1" flipV="1">
            <a:off x="3496748" y="3424462"/>
            <a:ext cx="1428543" cy="5195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5852576" y="2895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608695" y="36511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9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72" grpId="0"/>
      <p:bldP spid="73" grpId="0"/>
      <p:bldP spid="74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</p:cNvCxnSpPr>
          <p:nvPr/>
        </p:nvCxnSpPr>
        <p:spPr>
          <a:xfrm flipH="1" flipV="1">
            <a:off x="5486400" y="3008442"/>
            <a:ext cx="1066800" cy="420558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25291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925291" y="3759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4" name="Straight Arrow Connector 53"/>
          <p:cNvCxnSpPr>
            <a:stCxn id="45" idx="1"/>
            <a:endCxn id="51" idx="6"/>
          </p:cNvCxnSpPr>
          <p:nvPr/>
        </p:nvCxnSpPr>
        <p:spPr>
          <a:xfrm flipH="1">
            <a:off x="3496748" y="3004066"/>
            <a:ext cx="1428543" cy="42039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6" idx="1"/>
            <a:endCxn id="51" idx="6"/>
          </p:cNvCxnSpPr>
          <p:nvPr/>
        </p:nvCxnSpPr>
        <p:spPr>
          <a:xfrm flipH="1" flipV="1">
            <a:off x="3496748" y="3424462"/>
            <a:ext cx="1428543" cy="5195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5852576" y="2895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3608695" y="284070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608695" y="36511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61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72" grpId="0"/>
      <p:bldP spid="73" grpId="0"/>
      <p:bldP spid="74" grpId="0"/>
      <p:bldP spid="82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169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1"/>
          </p:cNvCxnSpPr>
          <p:nvPr/>
        </p:nvCxnSpPr>
        <p:spPr>
          <a:xfrm flipH="1" flipV="1">
            <a:off x="5486400" y="2362200"/>
            <a:ext cx="1189552" cy="797392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</p:cNvCxnSpPr>
          <p:nvPr/>
        </p:nvCxnSpPr>
        <p:spPr>
          <a:xfrm flipH="1" flipV="1">
            <a:off x="5486400" y="3008442"/>
            <a:ext cx="1066800" cy="420558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25291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925291" y="3759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4" name="Straight Arrow Connector 53"/>
          <p:cNvCxnSpPr>
            <a:stCxn id="45" idx="1"/>
            <a:endCxn id="51" idx="6"/>
          </p:cNvCxnSpPr>
          <p:nvPr/>
        </p:nvCxnSpPr>
        <p:spPr>
          <a:xfrm flipH="1">
            <a:off x="3496748" y="3004066"/>
            <a:ext cx="1428543" cy="42039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6" idx="1"/>
            <a:endCxn id="51" idx="6"/>
          </p:cNvCxnSpPr>
          <p:nvPr/>
        </p:nvCxnSpPr>
        <p:spPr>
          <a:xfrm flipH="1" flipV="1">
            <a:off x="3496748" y="3424462"/>
            <a:ext cx="1428543" cy="5195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5812330" y="243610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5852576" y="2895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3608695" y="284070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608695" y="36511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46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71" grpId="0"/>
      <p:bldP spid="72" grpId="0"/>
      <p:bldP spid="73" grpId="0"/>
      <p:bldP spid="74" grpId="0"/>
      <p:bldP spid="82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1"/>
          </p:cNvCxnSpPr>
          <p:nvPr/>
        </p:nvCxnSpPr>
        <p:spPr>
          <a:xfrm flipH="1" flipV="1">
            <a:off x="5486400" y="2362200"/>
            <a:ext cx="1189552" cy="797392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</p:cNvCxnSpPr>
          <p:nvPr/>
        </p:nvCxnSpPr>
        <p:spPr>
          <a:xfrm flipH="1" flipV="1">
            <a:off x="5486400" y="3008442"/>
            <a:ext cx="1066800" cy="420558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925291" y="210023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925291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925291" y="3759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4" name="Straight Arrow Connector 53"/>
          <p:cNvCxnSpPr>
            <a:stCxn id="45" idx="1"/>
            <a:endCxn id="51" idx="6"/>
          </p:cNvCxnSpPr>
          <p:nvPr/>
        </p:nvCxnSpPr>
        <p:spPr>
          <a:xfrm flipH="1">
            <a:off x="3496748" y="3004066"/>
            <a:ext cx="1428543" cy="42039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6" idx="1"/>
            <a:endCxn id="51" idx="6"/>
          </p:cNvCxnSpPr>
          <p:nvPr/>
        </p:nvCxnSpPr>
        <p:spPr>
          <a:xfrm flipH="1" flipV="1">
            <a:off x="3496748" y="3424462"/>
            <a:ext cx="1428543" cy="5195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5812330" y="243610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5852576" y="2895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3608695" y="284070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608695" y="36511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55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71" grpId="0"/>
      <p:bldP spid="72" grpId="0"/>
      <p:bldP spid="73" grpId="0"/>
      <p:bldP spid="74" grpId="0"/>
      <p:bldP spid="82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171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1"/>
          </p:cNvCxnSpPr>
          <p:nvPr/>
        </p:nvCxnSpPr>
        <p:spPr>
          <a:xfrm flipH="1" flipV="1">
            <a:off x="5486400" y="2362200"/>
            <a:ext cx="1189552" cy="797392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</p:cNvCxnSpPr>
          <p:nvPr/>
        </p:nvCxnSpPr>
        <p:spPr>
          <a:xfrm flipH="1" flipV="1">
            <a:off x="5486400" y="3008442"/>
            <a:ext cx="1066800" cy="420558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925291" y="210023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925291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925291" y="3759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cxnSp>
        <p:nvCxnSpPr>
          <p:cNvPr id="49" name="Straight Arrow Connector 48"/>
          <p:cNvCxnSpPr>
            <a:stCxn id="44" idx="1"/>
          </p:cNvCxnSpPr>
          <p:nvPr/>
        </p:nvCxnSpPr>
        <p:spPr>
          <a:xfrm flipH="1">
            <a:off x="3200400" y="2284898"/>
            <a:ext cx="1724891" cy="763102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4" name="Straight Arrow Connector 53"/>
          <p:cNvCxnSpPr>
            <a:stCxn id="45" idx="1"/>
            <a:endCxn id="51" idx="6"/>
          </p:cNvCxnSpPr>
          <p:nvPr/>
        </p:nvCxnSpPr>
        <p:spPr>
          <a:xfrm flipH="1">
            <a:off x="3496748" y="3004066"/>
            <a:ext cx="1428543" cy="42039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6" idx="1"/>
            <a:endCxn id="51" idx="6"/>
          </p:cNvCxnSpPr>
          <p:nvPr/>
        </p:nvCxnSpPr>
        <p:spPr>
          <a:xfrm flipH="1" flipV="1">
            <a:off x="3496748" y="3424462"/>
            <a:ext cx="1428543" cy="5195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5812330" y="243610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5852576" y="2895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3608695" y="23449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3608695" y="284070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608695" y="36511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65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71" grpId="0"/>
      <p:bldP spid="72" grpId="0"/>
      <p:bldP spid="73" grpId="0"/>
      <p:bldP spid="74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553200" y="3048000"/>
            <a:ext cx="838200" cy="762000"/>
            <a:chOff x="6553200" y="3048000"/>
            <a:chExt cx="838200" cy="762000"/>
          </a:xfrm>
        </p:grpSpPr>
        <p:sp>
          <p:nvSpPr>
            <p:cNvPr id="5" name="Oval 4"/>
            <p:cNvSpPr/>
            <p:nvPr/>
          </p:nvSpPr>
          <p:spPr>
            <a:xfrm>
              <a:off x="6553200" y="3048000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781800" y="32004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</p:grpSp>
      <p:cxnSp>
        <p:nvCxnSpPr>
          <p:cNvPr id="23" name="Straight Arrow Connector 22"/>
          <p:cNvCxnSpPr>
            <a:stCxn id="5" idx="3"/>
          </p:cNvCxnSpPr>
          <p:nvPr/>
        </p:nvCxnSpPr>
        <p:spPr>
          <a:xfrm flipH="1">
            <a:off x="5562600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1"/>
          </p:cNvCxnSpPr>
          <p:nvPr/>
        </p:nvCxnSpPr>
        <p:spPr>
          <a:xfrm flipH="1" flipV="1">
            <a:off x="5486400" y="2362200"/>
            <a:ext cx="1189552" cy="797392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5" idx="2"/>
          </p:cNvCxnSpPr>
          <p:nvPr/>
        </p:nvCxnSpPr>
        <p:spPr>
          <a:xfrm flipH="1">
            <a:off x="5524500" y="3429000"/>
            <a:ext cx="1028700" cy="5388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2"/>
          </p:cNvCxnSpPr>
          <p:nvPr/>
        </p:nvCxnSpPr>
        <p:spPr>
          <a:xfrm flipH="1" flipV="1">
            <a:off x="5486400" y="3008442"/>
            <a:ext cx="1066800" cy="420558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925291" y="210023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4925291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925291" y="375934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925291" y="458151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cxnSp>
        <p:nvCxnSpPr>
          <p:cNvPr id="49" name="Straight Arrow Connector 48"/>
          <p:cNvCxnSpPr>
            <a:stCxn id="44" idx="1"/>
          </p:cNvCxnSpPr>
          <p:nvPr/>
        </p:nvCxnSpPr>
        <p:spPr>
          <a:xfrm flipH="1">
            <a:off x="3200400" y="2284898"/>
            <a:ext cx="1724891" cy="763102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/>
          <p:cNvGrpSpPr/>
          <p:nvPr/>
        </p:nvGrpSpPr>
        <p:grpSpPr>
          <a:xfrm>
            <a:off x="2658548" y="3043462"/>
            <a:ext cx="838200" cy="762000"/>
            <a:chOff x="2506148" y="2891062"/>
            <a:chExt cx="838200" cy="762000"/>
          </a:xfrm>
        </p:grpSpPr>
        <p:sp>
          <p:nvSpPr>
            <p:cNvPr id="51" name="Oval 50"/>
            <p:cNvSpPr/>
            <p:nvPr/>
          </p:nvSpPr>
          <p:spPr>
            <a:xfrm>
              <a:off x="2506148" y="2891062"/>
              <a:ext cx="838200" cy="762000"/>
            </a:xfrm>
            <a:prstGeom prst="ellipse">
              <a:avLst/>
            </a:prstGeom>
            <a:noFill/>
            <a:ln>
              <a:solidFill>
                <a:srgbClr val="0082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743200" y="30480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cxnSp>
        <p:nvCxnSpPr>
          <p:cNvPr id="54" name="Straight Arrow Connector 53"/>
          <p:cNvCxnSpPr>
            <a:stCxn id="45" idx="1"/>
            <a:endCxn id="51" idx="6"/>
          </p:cNvCxnSpPr>
          <p:nvPr/>
        </p:nvCxnSpPr>
        <p:spPr>
          <a:xfrm flipH="1">
            <a:off x="3496748" y="3004066"/>
            <a:ext cx="1428543" cy="420396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46" idx="1"/>
            <a:endCxn id="51" idx="6"/>
          </p:cNvCxnSpPr>
          <p:nvPr/>
        </p:nvCxnSpPr>
        <p:spPr>
          <a:xfrm flipH="1" flipV="1">
            <a:off x="3496748" y="3424462"/>
            <a:ext cx="1428543" cy="5195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7" idx="1"/>
            <a:endCxn id="51" idx="4"/>
          </p:cNvCxnSpPr>
          <p:nvPr/>
        </p:nvCxnSpPr>
        <p:spPr>
          <a:xfrm flipH="1" flipV="1">
            <a:off x="3077648" y="3805462"/>
            <a:ext cx="1847643" cy="960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1595974" y="3698408"/>
            <a:ext cx="1113352" cy="9659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1519774" y="2362200"/>
            <a:ext cx="1189552" cy="7973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>
            <a:off x="1557874" y="3429000"/>
            <a:ext cx="1028700" cy="538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 flipV="1">
            <a:off x="1519774" y="3008442"/>
            <a:ext cx="1066800" cy="4205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/>
          <p:nvPr/>
        </p:nvGrpSpPr>
        <p:grpSpPr>
          <a:xfrm>
            <a:off x="907887" y="2100232"/>
            <a:ext cx="609600" cy="2850611"/>
            <a:chOff x="4925291" y="2100232"/>
            <a:chExt cx="609600" cy="2850611"/>
          </a:xfrm>
        </p:grpSpPr>
        <p:sp>
          <p:nvSpPr>
            <p:cNvPr id="66" name="TextBox 6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25291" y="2819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91" y="375934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25291" y="458151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5812330" y="243610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5852576" y="2895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5852576" y="3669268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5852576" y="4267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grpSp>
        <p:nvGrpSpPr>
          <p:cNvPr id="75" name="Group 74"/>
          <p:cNvGrpSpPr/>
          <p:nvPr/>
        </p:nvGrpSpPr>
        <p:grpSpPr>
          <a:xfrm>
            <a:off x="1875352" y="2425796"/>
            <a:ext cx="609600" cy="2214191"/>
            <a:chOff x="4925291" y="2100232"/>
            <a:chExt cx="609600" cy="2214191"/>
          </a:xfrm>
        </p:grpSpPr>
        <p:sp>
          <p:nvSpPr>
            <p:cNvPr id="76" name="TextBox 75"/>
            <p:cNvSpPr txBox="1"/>
            <p:nvPr/>
          </p:nvSpPr>
          <p:spPr>
            <a:xfrm>
              <a:off x="4925291" y="21002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925291" y="25734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925291" y="334715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925291" y="3945091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3608695" y="23449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3608695" y="284070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608695" y="3651122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608695" y="4277457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867400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608695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66376" y="51054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4924" y="511257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595974" y="5638800"/>
            <a:ext cx="495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92D050"/>
                </a:solidFill>
              </a:rPr>
              <a:t>Winner is P2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994378" y="1676400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10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3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71" grpId="0"/>
      <p:bldP spid="72" grpId="0"/>
      <p:bldP spid="73" grpId="0"/>
      <p:bldP spid="74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173</a:t>
            </a:fld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6400800" y="49530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57783" y="1416083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15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72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174</a:t>
            </a:fld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6400800" y="49530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57783" y="1416083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15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644107" y="2209800"/>
            <a:ext cx="1747293" cy="2435026"/>
            <a:chOff x="5644107" y="2209800"/>
            <a:chExt cx="1747293" cy="2435026"/>
          </a:xfrm>
        </p:grpSpPr>
        <p:sp>
          <p:nvSpPr>
            <p:cNvPr id="47" name="TextBox 46"/>
            <p:cNvSpPr txBox="1"/>
            <p:nvPr/>
          </p:nvSpPr>
          <p:spPr>
            <a:xfrm>
              <a:off x="5644107" y="4275494"/>
              <a:ext cx="509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644107" y="2209800"/>
              <a:ext cx="1747293" cy="2134644"/>
              <a:chOff x="5644107" y="2209800"/>
              <a:chExt cx="1747293" cy="2134644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5644107" y="2209800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11</a:t>
                </a:r>
                <a:endParaRPr lang="en-US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44107" y="2808516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12</a:t>
                </a:r>
                <a:endParaRPr lang="en-US" dirty="0"/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5694915" y="2427891"/>
                <a:ext cx="1696485" cy="1916553"/>
                <a:chOff x="5694915" y="2427891"/>
                <a:chExt cx="1696485" cy="1916553"/>
              </a:xfrm>
            </p:grpSpPr>
            <p:grpSp>
              <p:nvGrpSpPr>
                <p:cNvPr id="7" name="Group 6"/>
                <p:cNvGrpSpPr/>
                <p:nvPr/>
              </p:nvGrpSpPr>
              <p:grpSpPr>
                <a:xfrm>
                  <a:off x="6832495" y="2998828"/>
                  <a:ext cx="558905" cy="634374"/>
                  <a:chOff x="6553200" y="3048000"/>
                  <a:chExt cx="838200" cy="762000"/>
                </a:xfrm>
              </p:grpSpPr>
              <p:sp>
                <p:nvSpPr>
                  <p:cNvPr id="5" name="Oval 4"/>
                  <p:cNvSpPr/>
                  <p:nvPr/>
                </p:nvSpPr>
                <p:spPr>
                  <a:xfrm>
                    <a:off x="6553200" y="3048000"/>
                    <a:ext cx="8382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00823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6591450" y="3200400"/>
                    <a:ext cx="776824" cy="5545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 smtClean="0"/>
                      <a:t>15</a:t>
                    </a:r>
                    <a:endParaRPr lang="en-US" sz="2400" dirty="0"/>
                  </a:p>
                </p:txBody>
              </p:sp>
            </p:grpSp>
            <p:cxnSp>
              <p:nvCxnSpPr>
                <p:cNvPr id="23" name="Straight Arrow Connector 22"/>
                <p:cNvCxnSpPr>
                  <a:stCxn id="5" idx="3"/>
                </p:cNvCxnSpPr>
                <p:nvPr/>
              </p:nvCxnSpPr>
              <p:spPr>
                <a:xfrm flipH="1">
                  <a:off x="6171970" y="3540300"/>
                  <a:ext cx="742375" cy="80414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stCxn id="5" idx="1"/>
                </p:cNvCxnSpPr>
                <p:nvPr/>
              </p:nvCxnSpPr>
              <p:spPr>
                <a:xfrm flipH="1" flipV="1">
                  <a:off x="6121161" y="2427891"/>
                  <a:ext cx="793184" cy="663838"/>
                </a:xfrm>
                <a:prstGeom prst="straightConnector1">
                  <a:avLst/>
                </a:prstGeom>
                <a:ln w="38100">
                  <a:solidFill>
                    <a:schemeClr val="accent3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>
                  <a:stCxn id="5" idx="2"/>
                </p:cNvCxnSpPr>
                <p:nvPr/>
              </p:nvCxnSpPr>
              <p:spPr>
                <a:xfrm flipH="1">
                  <a:off x="6146565" y="3316015"/>
                  <a:ext cx="685929" cy="44857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>
                  <a:stCxn id="5" idx="2"/>
                </p:cNvCxnSpPr>
                <p:nvPr/>
              </p:nvCxnSpPr>
              <p:spPr>
                <a:xfrm flipH="1" flipV="1">
                  <a:off x="6121161" y="2965895"/>
                  <a:ext cx="711334" cy="350119"/>
                </a:xfrm>
                <a:prstGeom prst="straightConnector1">
                  <a:avLst/>
                </a:prstGeom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5694915" y="3591028"/>
                  <a:ext cx="4585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13</a:t>
                  </a:r>
                  <a:endParaRPr lang="en-US" dirty="0"/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6338488" y="2489417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4</a:t>
                  </a:r>
                  <a:endParaRPr lang="en-US" dirty="0"/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6365324" y="2871953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3</a:t>
                  </a:r>
                  <a:endParaRPr lang="en-US" dirty="0"/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6365324" y="3516041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2</a:t>
                  </a:r>
                  <a:endParaRPr lang="en-US" dirty="0"/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>
                  <a:off x="6365324" y="4013826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</a:t>
                  </a:r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173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175</a:t>
            </a:fld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6400800" y="49530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819650" y="499246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57783" y="1416083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15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644107" y="2209800"/>
            <a:ext cx="1747293" cy="2435026"/>
            <a:chOff x="5644107" y="2209800"/>
            <a:chExt cx="1747293" cy="2435026"/>
          </a:xfrm>
        </p:grpSpPr>
        <p:sp>
          <p:nvSpPr>
            <p:cNvPr id="47" name="TextBox 46"/>
            <p:cNvSpPr txBox="1"/>
            <p:nvPr/>
          </p:nvSpPr>
          <p:spPr>
            <a:xfrm>
              <a:off x="5644107" y="4275494"/>
              <a:ext cx="509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644107" y="2209800"/>
              <a:ext cx="1747293" cy="2134644"/>
              <a:chOff x="5644107" y="2209800"/>
              <a:chExt cx="1747293" cy="2134644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5644107" y="2209800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11</a:t>
                </a:r>
                <a:endParaRPr lang="en-US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44107" y="2808516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12</a:t>
                </a:r>
                <a:endParaRPr lang="en-US" dirty="0"/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5694915" y="2427891"/>
                <a:ext cx="1696485" cy="1916553"/>
                <a:chOff x="5694915" y="2427891"/>
                <a:chExt cx="1696485" cy="1916553"/>
              </a:xfrm>
            </p:grpSpPr>
            <p:grpSp>
              <p:nvGrpSpPr>
                <p:cNvPr id="7" name="Group 6"/>
                <p:cNvGrpSpPr/>
                <p:nvPr/>
              </p:nvGrpSpPr>
              <p:grpSpPr>
                <a:xfrm>
                  <a:off x="6832495" y="2998828"/>
                  <a:ext cx="558905" cy="634374"/>
                  <a:chOff x="6553200" y="3048000"/>
                  <a:chExt cx="838200" cy="762000"/>
                </a:xfrm>
              </p:grpSpPr>
              <p:sp>
                <p:nvSpPr>
                  <p:cNvPr id="5" name="Oval 4"/>
                  <p:cNvSpPr/>
                  <p:nvPr/>
                </p:nvSpPr>
                <p:spPr>
                  <a:xfrm>
                    <a:off x="6553200" y="3048000"/>
                    <a:ext cx="8382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00823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6591450" y="3200400"/>
                    <a:ext cx="776824" cy="5545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 smtClean="0"/>
                      <a:t>15</a:t>
                    </a:r>
                    <a:endParaRPr lang="en-US" sz="2400" dirty="0"/>
                  </a:p>
                </p:txBody>
              </p:sp>
            </p:grpSp>
            <p:cxnSp>
              <p:nvCxnSpPr>
                <p:cNvPr id="23" name="Straight Arrow Connector 22"/>
                <p:cNvCxnSpPr>
                  <a:stCxn id="5" idx="3"/>
                </p:cNvCxnSpPr>
                <p:nvPr/>
              </p:nvCxnSpPr>
              <p:spPr>
                <a:xfrm flipH="1">
                  <a:off x="6171970" y="3540300"/>
                  <a:ext cx="742375" cy="80414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stCxn id="5" idx="1"/>
                </p:cNvCxnSpPr>
                <p:nvPr/>
              </p:nvCxnSpPr>
              <p:spPr>
                <a:xfrm flipH="1" flipV="1">
                  <a:off x="6121161" y="2427891"/>
                  <a:ext cx="793184" cy="663838"/>
                </a:xfrm>
                <a:prstGeom prst="straightConnector1">
                  <a:avLst/>
                </a:prstGeom>
                <a:ln w="38100">
                  <a:solidFill>
                    <a:schemeClr val="accent3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>
                  <a:stCxn id="5" idx="2"/>
                </p:cNvCxnSpPr>
                <p:nvPr/>
              </p:nvCxnSpPr>
              <p:spPr>
                <a:xfrm flipH="1">
                  <a:off x="6146565" y="3316015"/>
                  <a:ext cx="685929" cy="44857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>
                  <a:stCxn id="5" idx="2"/>
                </p:cNvCxnSpPr>
                <p:nvPr/>
              </p:nvCxnSpPr>
              <p:spPr>
                <a:xfrm flipH="1" flipV="1">
                  <a:off x="6121161" y="2965895"/>
                  <a:ext cx="711334" cy="350119"/>
                </a:xfrm>
                <a:prstGeom prst="straightConnector1">
                  <a:avLst/>
                </a:prstGeom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5694915" y="3591028"/>
                  <a:ext cx="4585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13</a:t>
                  </a:r>
                  <a:endParaRPr lang="en-US" dirty="0"/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6338488" y="2489417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4</a:t>
                  </a:r>
                  <a:endParaRPr lang="en-US" dirty="0"/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6365324" y="2871953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3</a:t>
                  </a:r>
                  <a:endParaRPr lang="en-US" dirty="0"/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6365324" y="3516041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2</a:t>
                  </a:r>
                  <a:endParaRPr lang="en-US" dirty="0"/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>
                  <a:off x="6365324" y="4013826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</a:t>
                  </a:r>
                  <a:endParaRPr lang="en-US" dirty="0"/>
                </a:p>
              </p:txBody>
            </p:sp>
          </p:grpSp>
        </p:grpSp>
      </p:grpSp>
      <p:grpSp>
        <p:nvGrpSpPr>
          <p:cNvPr id="16" name="Group 15"/>
          <p:cNvGrpSpPr/>
          <p:nvPr/>
        </p:nvGrpSpPr>
        <p:grpSpPr>
          <a:xfrm>
            <a:off x="4227072" y="2363537"/>
            <a:ext cx="1519946" cy="2065693"/>
            <a:chOff x="4227072" y="2363537"/>
            <a:chExt cx="1519946" cy="2065693"/>
          </a:xfrm>
        </p:grpSpPr>
        <p:cxnSp>
          <p:nvCxnSpPr>
            <p:cNvPr id="49" name="Straight Arrow Connector 48"/>
            <p:cNvCxnSpPr>
              <a:stCxn id="44" idx="1"/>
            </p:cNvCxnSpPr>
            <p:nvPr/>
          </p:nvCxnSpPr>
          <p:spPr>
            <a:xfrm flipH="1">
              <a:off x="4596873" y="2363537"/>
              <a:ext cx="1150144" cy="635291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5" idx="1"/>
            </p:cNvCxnSpPr>
            <p:nvPr/>
          </p:nvCxnSpPr>
          <p:spPr>
            <a:xfrm flipH="1">
              <a:off x="4794476" y="2962252"/>
              <a:ext cx="952542" cy="349985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6" idx="1"/>
            </p:cNvCxnSpPr>
            <p:nvPr/>
          </p:nvCxnSpPr>
          <p:spPr>
            <a:xfrm flipH="1" flipV="1">
              <a:off x="4794476" y="3312237"/>
              <a:ext cx="952542" cy="43252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7" idx="1"/>
            </p:cNvCxnSpPr>
            <p:nvPr/>
          </p:nvCxnSpPr>
          <p:spPr>
            <a:xfrm flipH="1" flipV="1">
              <a:off x="4515023" y="3629424"/>
              <a:ext cx="1231994" cy="7998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4869121" y="2413543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869121" y="2826252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869121" y="3500934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69121" y="4022365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4227072" y="2995050"/>
              <a:ext cx="558906" cy="634374"/>
              <a:chOff x="6553199" y="3048000"/>
              <a:chExt cx="838201" cy="76200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6553200" y="3048000"/>
                <a:ext cx="838200" cy="762000"/>
              </a:xfrm>
              <a:prstGeom prst="ellipse">
                <a:avLst/>
              </a:prstGeom>
              <a:noFill/>
              <a:ln>
                <a:solidFill>
                  <a:srgbClr val="00823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6553199" y="3200400"/>
                <a:ext cx="685802" cy="451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369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176</a:t>
            </a:fld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6400800" y="49530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819650" y="499246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29050" y="499246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57783" y="1416083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15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644107" y="2209800"/>
            <a:ext cx="1747293" cy="2435026"/>
            <a:chOff x="5644107" y="2209800"/>
            <a:chExt cx="1747293" cy="2435026"/>
          </a:xfrm>
        </p:grpSpPr>
        <p:sp>
          <p:nvSpPr>
            <p:cNvPr id="47" name="TextBox 46"/>
            <p:cNvSpPr txBox="1"/>
            <p:nvPr/>
          </p:nvSpPr>
          <p:spPr>
            <a:xfrm>
              <a:off x="5644107" y="4275494"/>
              <a:ext cx="509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644107" y="2209800"/>
              <a:ext cx="1747293" cy="2134644"/>
              <a:chOff x="5644107" y="2209800"/>
              <a:chExt cx="1747293" cy="2134644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5644107" y="2209800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11</a:t>
                </a:r>
                <a:endParaRPr lang="en-US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44107" y="2808516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12</a:t>
                </a:r>
                <a:endParaRPr lang="en-US" dirty="0"/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5694915" y="2427891"/>
                <a:ext cx="1696485" cy="1916553"/>
                <a:chOff x="5694915" y="2427891"/>
                <a:chExt cx="1696485" cy="1916553"/>
              </a:xfrm>
            </p:grpSpPr>
            <p:grpSp>
              <p:nvGrpSpPr>
                <p:cNvPr id="7" name="Group 6"/>
                <p:cNvGrpSpPr/>
                <p:nvPr/>
              </p:nvGrpSpPr>
              <p:grpSpPr>
                <a:xfrm>
                  <a:off x="6832495" y="2998828"/>
                  <a:ext cx="558905" cy="634374"/>
                  <a:chOff x="6553200" y="3048000"/>
                  <a:chExt cx="838200" cy="762000"/>
                </a:xfrm>
              </p:grpSpPr>
              <p:sp>
                <p:nvSpPr>
                  <p:cNvPr id="5" name="Oval 4"/>
                  <p:cNvSpPr/>
                  <p:nvPr/>
                </p:nvSpPr>
                <p:spPr>
                  <a:xfrm>
                    <a:off x="6553200" y="3048000"/>
                    <a:ext cx="8382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00823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6591450" y="3200400"/>
                    <a:ext cx="776824" cy="5545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 smtClean="0"/>
                      <a:t>15</a:t>
                    </a:r>
                    <a:endParaRPr lang="en-US" sz="2400" dirty="0"/>
                  </a:p>
                </p:txBody>
              </p:sp>
            </p:grpSp>
            <p:cxnSp>
              <p:nvCxnSpPr>
                <p:cNvPr id="23" name="Straight Arrow Connector 22"/>
                <p:cNvCxnSpPr>
                  <a:stCxn id="5" idx="3"/>
                </p:cNvCxnSpPr>
                <p:nvPr/>
              </p:nvCxnSpPr>
              <p:spPr>
                <a:xfrm flipH="1">
                  <a:off x="6171970" y="3540300"/>
                  <a:ext cx="742375" cy="80414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stCxn id="5" idx="1"/>
                </p:cNvCxnSpPr>
                <p:nvPr/>
              </p:nvCxnSpPr>
              <p:spPr>
                <a:xfrm flipH="1" flipV="1">
                  <a:off x="6121161" y="2427891"/>
                  <a:ext cx="793184" cy="663838"/>
                </a:xfrm>
                <a:prstGeom prst="straightConnector1">
                  <a:avLst/>
                </a:prstGeom>
                <a:ln w="38100">
                  <a:solidFill>
                    <a:schemeClr val="accent3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>
                  <a:stCxn id="5" idx="2"/>
                </p:cNvCxnSpPr>
                <p:nvPr/>
              </p:nvCxnSpPr>
              <p:spPr>
                <a:xfrm flipH="1">
                  <a:off x="6146565" y="3316015"/>
                  <a:ext cx="685929" cy="44857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>
                  <a:stCxn id="5" idx="2"/>
                </p:cNvCxnSpPr>
                <p:nvPr/>
              </p:nvCxnSpPr>
              <p:spPr>
                <a:xfrm flipH="1" flipV="1">
                  <a:off x="6121161" y="2965895"/>
                  <a:ext cx="711334" cy="350119"/>
                </a:xfrm>
                <a:prstGeom prst="straightConnector1">
                  <a:avLst/>
                </a:prstGeom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5694915" y="3591028"/>
                  <a:ext cx="4585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13</a:t>
                  </a:r>
                  <a:endParaRPr lang="en-US" dirty="0"/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6338488" y="2489417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4</a:t>
                  </a:r>
                  <a:endParaRPr lang="en-US" dirty="0"/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6365324" y="2871953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3</a:t>
                  </a:r>
                  <a:endParaRPr lang="en-US" dirty="0"/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6365324" y="3516041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2</a:t>
                  </a:r>
                  <a:endParaRPr lang="en-US" dirty="0"/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>
                  <a:off x="6365324" y="4013826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</a:t>
                  </a:r>
                  <a:endParaRPr lang="en-US" dirty="0"/>
                </a:p>
              </p:txBody>
            </p:sp>
          </p:grpSp>
        </p:grpSp>
      </p:grpSp>
      <p:grpSp>
        <p:nvGrpSpPr>
          <p:cNvPr id="16" name="Group 15"/>
          <p:cNvGrpSpPr/>
          <p:nvPr/>
        </p:nvGrpSpPr>
        <p:grpSpPr>
          <a:xfrm>
            <a:off x="4227072" y="2363537"/>
            <a:ext cx="1519946" cy="2065693"/>
            <a:chOff x="4227072" y="2363537"/>
            <a:chExt cx="1519946" cy="2065693"/>
          </a:xfrm>
        </p:grpSpPr>
        <p:cxnSp>
          <p:nvCxnSpPr>
            <p:cNvPr id="49" name="Straight Arrow Connector 48"/>
            <p:cNvCxnSpPr>
              <a:stCxn id="44" idx="1"/>
            </p:cNvCxnSpPr>
            <p:nvPr/>
          </p:nvCxnSpPr>
          <p:spPr>
            <a:xfrm flipH="1">
              <a:off x="4596873" y="2363537"/>
              <a:ext cx="1150144" cy="635291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5" idx="1"/>
            </p:cNvCxnSpPr>
            <p:nvPr/>
          </p:nvCxnSpPr>
          <p:spPr>
            <a:xfrm flipH="1">
              <a:off x="4794476" y="2962252"/>
              <a:ext cx="952542" cy="349985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6" idx="1"/>
            </p:cNvCxnSpPr>
            <p:nvPr/>
          </p:nvCxnSpPr>
          <p:spPr>
            <a:xfrm flipH="1" flipV="1">
              <a:off x="4794476" y="3312237"/>
              <a:ext cx="952542" cy="43252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7" idx="1"/>
            </p:cNvCxnSpPr>
            <p:nvPr/>
          </p:nvCxnSpPr>
          <p:spPr>
            <a:xfrm flipH="1" flipV="1">
              <a:off x="4515023" y="3629424"/>
              <a:ext cx="1231994" cy="7998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4869121" y="2413543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869121" y="2826252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869121" y="3500934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69121" y="4022365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4227072" y="2995050"/>
              <a:ext cx="558906" cy="634374"/>
              <a:chOff x="6553199" y="3048000"/>
              <a:chExt cx="838201" cy="76200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6553200" y="3048000"/>
                <a:ext cx="838200" cy="762000"/>
              </a:xfrm>
              <a:prstGeom prst="ellipse">
                <a:avLst/>
              </a:prstGeom>
              <a:noFill/>
              <a:ln>
                <a:solidFill>
                  <a:srgbClr val="00823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6553199" y="3200400"/>
                <a:ext cx="685802" cy="451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</a:t>
                </a:r>
                <a:endParaRPr lang="en-US" dirty="0"/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3515739" y="2424113"/>
            <a:ext cx="793184" cy="1916553"/>
            <a:chOff x="3515739" y="2424113"/>
            <a:chExt cx="793184" cy="1916553"/>
          </a:xfrm>
        </p:grpSpPr>
        <p:cxnSp>
          <p:nvCxnSpPr>
            <p:cNvPr id="59" name="Straight Arrow Connector 58"/>
            <p:cNvCxnSpPr>
              <a:stCxn id="55" idx="3"/>
            </p:cNvCxnSpPr>
            <p:nvPr/>
          </p:nvCxnSpPr>
          <p:spPr>
            <a:xfrm flipH="1">
              <a:off x="3566548" y="3536522"/>
              <a:ext cx="742375" cy="80414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55" idx="1"/>
            </p:cNvCxnSpPr>
            <p:nvPr/>
          </p:nvCxnSpPr>
          <p:spPr>
            <a:xfrm flipH="1" flipV="1">
              <a:off x="3515739" y="2424113"/>
              <a:ext cx="793184" cy="663838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55" idx="2"/>
            </p:cNvCxnSpPr>
            <p:nvPr/>
          </p:nvCxnSpPr>
          <p:spPr>
            <a:xfrm flipH="1">
              <a:off x="3541144" y="3312237"/>
              <a:ext cx="685929" cy="44857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55" idx="2"/>
            </p:cNvCxnSpPr>
            <p:nvPr/>
          </p:nvCxnSpPr>
          <p:spPr>
            <a:xfrm flipH="1" flipV="1">
              <a:off x="3515739" y="2962117"/>
              <a:ext cx="711334" cy="350119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3733066" y="2485639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759902" y="2868175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759902" y="3512263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759902" y="4010048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202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177</a:t>
            </a:fld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6400800" y="49530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819650" y="499246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29050" y="499246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267157" y="495041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57783" y="1416083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15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644107" y="2209800"/>
            <a:ext cx="1747293" cy="2435026"/>
            <a:chOff x="5644107" y="2209800"/>
            <a:chExt cx="1747293" cy="2435026"/>
          </a:xfrm>
        </p:grpSpPr>
        <p:sp>
          <p:nvSpPr>
            <p:cNvPr id="47" name="TextBox 46"/>
            <p:cNvSpPr txBox="1"/>
            <p:nvPr/>
          </p:nvSpPr>
          <p:spPr>
            <a:xfrm>
              <a:off x="5644107" y="4275494"/>
              <a:ext cx="509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644107" y="2209800"/>
              <a:ext cx="1747293" cy="2134644"/>
              <a:chOff x="5644107" y="2209800"/>
              <a:chExt cx="1747293" cy="2134644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5644107" y="2209800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11</a:t>
                </a:r>
                <a:endParaRPr lang="en-US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44107" y="2808516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12</a:t>
                </a:r>
                <a:endParaRPr lang="en-US" dirty="0"/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5694915" y="2427891"/>
                <a:ext cx="1696485" cy="1916553"/>
                <a:chOff x="5694915" y="2427891"/>
                <a:chExt cx="1696485" cy="1916553"/>
              </a:xfrm>
            </p:grpSpPr>
            <p:grpSp>
              <p:nvGrpSpPr>
                <p:cNvPr id="7" name="Group 6"/>
                <p:cNvGrpSpPr/>
                <p:nvPr/>
              </p:nvGrpSpPr>
              <p:grpSpPr>
                <a:xfrm>
                  <a:off x="6832495" y="2998828"/>
                  <a:ext cx="558905" cy="634374"/>
                  <a:chOff x="6553200" y="3048000"/>
                  <a:chExt cx="838200" cy="762000"/>
                </a:xfrm>
              </p:grpSpPr>
              <p:sp>
                <p:nvSpPr>
                  <p:cNvPr id="5" name="Oval 4"/>
                  <p:cNvSpPr/>
                  <p:nvPr/>
                </p:nvSpPr>
                <p:spPr>
                  <a:xfrm>
                    <a:off x="6553200" y="3048000"/>
                    <a:ext cx="8382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00823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6591450" y="3200400"/>
                    <a:ext cx="776824" cy="5545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 smtClean="0"/>
                      <a:t>15</a:t>
                    </a:r>
                    <a:endParaRPr lang="en-US" sz="2400" dirty="0"/>
                  </a:p>
                </p:txBody>
              </p:sp>
            </p:grpSp>
            <p:cxnSp>
              <p:nvCxnSpPr>
                <p:cNvPr id="23" name="Straight Arrow Connector 22"/>
                <p:cNvCxnSpPr>
                  <a:stCxn id="5" idx="3"/>
                </p:cNvCxnSpPr>
                <p:nvPr/>
              </p:nvCxnSpPr>
              <p:spPr>
                <a:xfrm flipH="1">
                  <a:off x="6171970" y="3540300"/>
                  <a:ext cx="742375" cy="80414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stCxn id="5" idx="1"/>
                </p:cNvCxnSpPr>
                <p:nvPr/>
              </p:nvCxnSpPr>
              <p:spPr>
                <a:xfrm flipH="1" flipV="1">
                  <a:off x="6121161" y="2427891"/>
                  <a:ext cx="793184" cy="663838"/>
                </a:xfrm>
                <a:prstGeom prst="straightConnector1">
                  <a:avLst/>
                </a:prstGeom>
                <a:ln w="38100">
                  <a:solidFill>
                    <a:schemeClr val="accent3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>
                  <a:stCxn id="5" idx="2"/>
                </p:cNvCxnSpPr>
                <p:nvPr/>
              </p:nvCxnSpPr>
              <p:spPr>
                <a:xfrm flipH="1">
                  <a:off x="6146565" y="3316015"/>
                  <a:ext cx="685929" cy="44857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>
                  <a:stCxn id="5" idx="2"/>
                </p:cNvCxnSpPr>
                <p:nvPr/>
              </p:nvCxnSpPr>
              <p:spPr>
                <a:xfrm flipH="1" flipV="1">
                  <a:off x="6121161" y="2965895"/>
                  <a:ext cx="711334" cy="350119"/>
                </a:xfrm>
                <a:prstGeom prst="straightConnector1">
                  <a:avLst/>
                </a:prstGeom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5694915" y="3591028"/>
                  <a:ext cx="4585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13</a:t>
                  </a:r>
                  <a:endParaRPr lang="en-US" dirty="0"/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6338488" y="2489417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4</a:t>
                  </a:r>
                  <a:endParaRPr lang="en-US" dirty="0"/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6365324" y="2871953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3</a:t>
                  </a:r>
                  <a:endParaRPr lang="en-US" dirty="0"/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6365324" y="3516041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2</a:t>
                  </a:r>
                  <a:endParaRPr lang="en-US" dirty="0"/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>
                  <a:off x="6365324" y="4013826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</a:t>
                  </a:r>
                  <a:endParaRPr lang="en-US" dirty="0"/>
                </a:p>
              </p:txBody>
            </p:sp>
          </p:grpSp>
        </p:grpSp>
      </p:grpSp>
      <p:grpSp>
        <p:nvGrpSpPr>
          <p:cNvPr id="16" name="Group 15"/>
          <p:cNvGrpSpPr/>
          <p:nvPr/>
        </p:nvGrpSpPr>
        <p:grpSpPr>
          <a:xfrm>
            <a:off x="4227072" y="2363537"/>
            <a:ext cx="1519946" cy="2065693"/>
            <a:chOff x="4227072" y="2363537"/>
            <a:chExt cx="1519946" cy="2065693"/>
          </a:xfrm>
        </p:grpSpPr>
        <p:cxnSp>
          <p:nvCxnSpPr>
            <p:cNvPr id="49" name="Straight Arrow Connector 48"/>
            <p:cNvCxnSpPr>
              <a:stCxn id="44" idx="1"/>
            </p:cNvCxnSpPr>
            <p:nvPr/>
          </p:nvCxnSpPr>
          <p:spPr>
            <a:xfrm flipH="1">
              <a:off x="4596873" y="2363537"/>
              <a:ext cx="1150144" cy="635291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5" idx="1"/>
            </p:cNvCxnSpPr>
            <p:nvPr/>
          </p:nvCxnSpPr>
          <p:spPr>
            <a:xfrm flipH="1">
              <a:off x="4794476" y="2962252"/>
              <a:ext cx="952542" cy="349985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6" idx="1"/>
            </p:cNvCxnSpPr>
            <p:nvPr/>
          </p:nvCxnSpPr>
          <p:spPr>
            <a:xfrm flipH="1" flipV="1">
              <a:off x="4794476" y="3312237"/>
              <a:ext cx="952542" cy="43252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7" idx="1"/>
            </p:cNvCxnSpPr>
            <p:nvPr/>
          </p:nvCxnSpPr>
          <p:spPr>
            <a:xfrm flipH="1" flipV="1">
              <a:off x="4515023" y="3629424"/>
              <a:ext cx="1231994" cy="7998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4869121" y="2413543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869121" y="2826252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869121" y="3500934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69121" y="4022365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4227072" y="2995050"/>
              <a:ext cx="558906" cy="634374"/>
              <a:chOff x="6553199" y="3048000"/>
              <a:chExt cx="838201" cy="76200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6553200" y="3048000"/>
                <a:ext cx="838200" cy="762000"/>
              </a:xfrm>
              <a:prstGeom prst="ellipse">
                <a:avLst/>
              </a:prstGeom>
              <a:noFill/>
              <a:ln>
                <a:solidFill>
                  <a:srgbClr val="00823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6553199" y="3200400"/>
                <a:ext cx="685802" cy="451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</a:t>
                </a:r>
                <a:endParaRPr lang="en-US" dirty="0"/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3515739" y="2424113"/>
            <a:ext cx="793184" cy="1916553"/>
            <a:chOff x="3515739" y="2424113"/>
            <a:chExt cx="793184" cy="1916553"/>
          </a:xfrm>
        </p:grpSpPr>
        <p:cxnSp>
          <p:nvCxnSpPr>
            <p:cNvPr id="59" name="Straight Arrow Connector 58"/>
            <p:cNvCxnSpPr>
              <a:stCxn id="55" idx="3"/>
            </p:cNvCxnSpPr>
            <p:nvPr/>
          </p:nvCxnSpPr>
          <p:spPr>
            <a:xfrm flipH="1">
              <a:off x="3566548" y="3536522"/>
              <a:ext cx="742375" cy="80414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55" idx="1"/>
            </p:cNvCxnSpPr>
            <p:nvPr/>
          </p:nvCxnSpPr>
          <p:spPr>
            <a:xfrm flipH="1" flipV="1">
              <a:off x="3515739" y="2424113"/>
              <a:ext cx="793184" cy="663838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55" idx="2"/>
            </p:cNvCxnSpPr>
            <p:nvPr/>
          </p:nvCxnSpPr>
          <p:spPr>
            <a:xfrm flipH="1">
              <a:off x="3541144" y="3312237"/>
              <a:ext cx="685929" cy="44857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55" idx="2"/>
            </p:cNvCxnSpPr>
            <p:nvPr/>
          </p:nvCxnSpPr>
          <p:spPr>
            <a:xfrm flipH="1" flipV="1">
              <a:off x="3515739" y="2962117"/>
              <a:ext cx="711334" cy="350119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3733066" y="2485639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759902" y="2868175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759902" y="3512263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759902" y="4010048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993021" y="2275033"/>
            <a:ext cx="1638471" cy="2435026"/>
            <a:chOff x="3230049" y="2252632"/>
            <a:chExt cx="2457243" cy="2924915"/>
          </a:xfrm>
        </p:grpSpPr>
        <p:sp>
          <p:nvSpPr>
            <p:cNvPr id="95" name="TextBox 94"/>
            <p:cNvSpPr txBox="1"/>
            <p:nvPr/>
          </p:nvSpPr>
          <p:spPr>
            <a:xfrm>
              <a:off x="4952587" y="2252632"/>
              <a:ext cx="734705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11</a:t>
              </a:r>
              <a:endParaRPr lang="en-US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041671" y="2971800"/>
              <a:ext cx="645621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12</a:t>
              </a:r>
              <a:endParaRPr lang="en-US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028786" y="3911741"/>
              <a:ext cx="658506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13</a:t>
              </a:r>
              <a:endParaRPr lang="en-US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041671" y="4733911"/>
              <a:ext cx="645621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cxnSp>
          <p:nvCxnSpPr>
            <p:cNvPr id="99" name="Straight Arrow Connector 98"/>
            <p:cNvCxnSpPr>
              <a:stCxn id="95" idx="1"/>
            </p:cNvCxnSpPr>
            <p:nvPr/>
          </p:nvCxnSpPr>
          <p:spPr>
            <a:xfrm flipH="1">
              <a:off x="3352800" y="2474450"/>
              <a:ext cx="1599787" cy="725950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stCxn id="96" idx="1"/>
            </p:cNvCxnSpPr>
            <p:nvPr/>
          </p:nvCxnSpPr>
          <p:spPr>
            <a:xfrm flipH="1">
              <a:off x="3649148" y="3193618"/>
              <a:ext cx="1392523" cy="383244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97" idx="1"/>
            </p:cNvCxnSpPr>
            <p:nvPr/>
          </p:nvCxnSpPr>
          <p:spPr>
            <a:xfrm flipH="1" flipV="1">
              <a:off x="3649148" y="3576863"/>
              <a:ext cx="1379637" cy="5566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98" idx="1"/>
            </p:cNvCxnSpPr>
            <p:nvPr/>
          </p:nvCxnSpPr>
          <p:spPr>
            <a:xfrm flipH="1" flipV="1">
              <a:off x="3230049" y="3957862"/>
              <a:ext cx="1811622" cy="9978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/>
            <p:cNvSpPr txBox="1"/>
            <p:nvPr/>
          </p:nvSpPr>
          <p:spPr>
            <a:xfrm>
              <a:off x="3761095" y="2497365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761095" y="2993104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761095" y="380352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761095" y="4429857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9441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178</a:t>
            </a:fld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6400800" y="49530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819650" y="499246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29050" y="499246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267157" y="495041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57783" y="1416083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15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644107" y="2209800"/>
            <a:ext cx="1747293" cy="2435026"/>
            <a:chOff x="5644107" y="2209800"/>
            <a:chExt cx="1747293" cy="2435026"/>
          </a:xfrm>
        </p:grpSpPr>
        <p:sp>
          <p:nvSpPr>
            <p:cNvPr id="47" name="TextBox 46"/>
            <p:cNvSpPr txBox="1"/>
            <p:nvPr/>
          </p:nvSpPr>
          <p:spPr>
            <a:xfrm>
              <a:off x="5644107" y="4275494"/>
              <a:ext cx="509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644107" y="2209800"/>
              <a:ext cx="1747293" cy="2134644"/>
              <a:chOff x="5644107" y="2209800"/>
              <a:chExt cx="1747293" cy="2134644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5644107" y="2209800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11</a:t>
                </a:r>
                <a:endParaRPr lang="en-US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44107" y="2808516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12</a:t>
                </a:r>
                <a:endParaRPr lang="en-US" dirty="0"/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5694915" y="2427891"/>
                <a:ext cx="1696485" cy="1916553"/>
                <a:chOff x="5694915" y="2427891"/>
                <a:chExt cx="1696485" cy="1916553"/>
              </a:xfrm>
            </p:grpSpPr>
            <p:grpSp>
              <p:nvGrpSpPr>
                <p:cNvPr id="7" name="Group 6"/>
                <p:cNvGrpSpPr/>
                <p:nvPr/>
              </p:nvGrpSpPr>
              <p:grpSpPr>
                <a:xfrm>
                  <a:off x="6832495" y="2998828"/>
                  <a:ext cx="558905" cy="634374"/>
                  <a:chOff x="6553200" y="3048000"/>
                  <a:chExt cx="838200" cy="762000"/>
                </a:xfrm>
              </p:grpSpPr>
              <p:sp>
                <p:nvSpPr>
                  <p:cNvPr id="5" name="Oval 4"/>
                  <p:cNvSpPr/>
                  <p:nvPr/>
                </p:nvSpPr>
                <p:spPr>
                  <a:xfrm>
                    <a:off x="6553200" y="3048000"/>
                    <a:ext cx="8382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00823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6591450" y="3200400"/>
                    <a:ext cx="776824" cy="5545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 smtClean="0"/>
                      <a:t>15</a:t>
                    </a:r>
                    <a:endParaRPr lang="en-US" sz="2400" dirty="0"/>
                  </a:p>
                </p:txBody>
              </p:sp>
            </p:grpSp>
            <p:cxnSp>
              <p:nvCxnSpPr>
                <p:cNvPr id="23" name="Straight Arrow Connector 22"/>
                <p:cNvCxnSpPr>
                  <a:stCxn id="5" idx="3"/>
                </p:cNvCxnSpPr>
                <p:nvPr/>
              </p:nvCxnSpPr>
              <p:spPr>
                <a:xfrm flipH="1">
                  <a:off x="6171970" y="3540300"/>
                  <a:ext cx="742375" cy="80414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stCxn id="5" idx="1"/>
                </p:cNvCxnSpPr>
                <p:nvPr/>
              </p:nvCxnSpPr>
              <p:spPr>
                <a:xfrm flipH="1" flipV="1">
                  <a:off x="6121161" y="2427891"/>
                  <a:ext cx="793184" cy="663838"/>
                </a:xfrm>
                <a:prstGeom prst="straightConnector1">
                  <a:avLst/>
                </a:prstGeom>
                <a:ln w="38100">
                  <a:solidFill>
                    <a:schemeClr val="accent3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>
                  <a:stCxn id="5" idx="2"/>
                </p:cNvCxnSpPr>
                <p:nvPr/>
              </p:nvCxnSpPr>
              <p:spPr>
                <a:xfrm flipH="1">
                  <a:off x="6146565" y="3316015"/>
                  <a:ext cx="685929" cy="44857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>
                  <a:stCxn id="5" idx="2"/>
                </p:cNvCxnSpPr>
                <p:nvPr/>
              </p:nvCxnSpPr>
              <p:spPr>
                <a:xfrm flipH="1" flipV="1">
                  <a:off x="6121161" y="2965895"/>
                  <a:ext cx="711334" cy="350119"/>
                </a:xfrm>
                <a:prstGeom prst="straightConnector1">
                  <a:avLst/>
                </a:prstGeom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5694915" y="3591028"/>
                  <a:ext cx="4585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13</a:t>
                  </a:r>
                  <a:endParaRPr lang="en-US" dirty="0"/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6338488" y="2489417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4</a:t>
                  </a:r>
                  <a:endParaRPr lang="en-US" dirty="0"/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6365324" y="2871953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3</a:t>
                  </a:r>
                  <a:endParaRPr lang="en-US" dirty="0"/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6365324" y="3516041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2</a:t>
                  </a:r>
                  <a:endParaRPr lang="en-US" dirty="0"/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>
                  <a:off x="6365324" y="4013826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</a:t>
                  </a:r>
                  <a:endParaRPr lang="en-US" dirty="0"/>
                </a:p>
              </p:txBody>
            </p:sp>
          </p:grpSp>
        </p:grpSp>
      </p:grpSp>
      <p:grpSp>
        <p:nvGrpSpPr>
          <p:cNvPr id="8" name="Group 7"/>
          <p:cNvGrpSpPr/>
          <p:nvPr/>
        </p:nvGrpSpPr>
        <p:grpSpPr>
          <a:xfrm>
            <a:off x="533400" y="2275033"/>
            <a:ext cx="1726233" cy="2373167"/>
            <a:chOff x="-1447800" y="2100232"/>
            <a:chExt cx="2588861" cy="2850611"/>
          </a:xfrm>
        </p:grpSpPr>
        <p:grpSp>
          <p:nvGrpSpPr>
            <p:cNvPr id="50" name="Group 49"/>
            <p:cNvGrpSpPr/>
            <p:nvPr/>
          </p:nvGrpSpPr>
          <p:grpSpPr>
            <a:xfrm>
              <a:off x="302861" y="3043462"/>
              <a:ext cx="838200" cy="762000"/>
              <a:chOff x="2506148" y="2891062"/>
              <a:chExt cx="838200" cy="762000"/>
            </a:xfrm>
          </p:grpSpPr>
          <p:sp>
            <p:nvSpPr>
              <p:cNvPr id="51" name="Oval 50"/>
              <p:cNvSpPr/>
              <p:nvPr/>
            </p:nvSpPr>
            <p:spPr>
              <a:xfrm>
                <a:off x="2506148" y="2891062"/>
                <a:ext cx="838200" cy="762000"/>
              </a:xfrm>
              <a:prstGeom prst="ellipse">
                <a:avLst/>
              </a:prstGeom>
              <a:noFill/>
              <a:ln>
                <a:solidFill>
                  <a:srgbClr val="00823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743200" y="3048000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5</a:t>
                </a:r>
                <a:endParaRPr lang="en-US" dirty="0"/>
              </a:p>
            </p:txBody>
          </p:sp>
        </p:grpSp>
        <p:cxnSp>
          <p:nvCxnSpPr>
            <p:cNvPr id="60" name="Straight Arrow Connector 59"/>
            <p:cNvCxnSpPr/>
            <p:nvPr/>
          </p:nvCxnSpPr>
          <p:spPr>
            <a:xfrm flipH="1">
              <a:off x="-759713" y="3698408"/>
              <a:ext cx="1113352" cy="965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 flipV="1">
              <a:off x="-835913" y="2362200"/>
              <a:ext cx="1189552" cy="7973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-797813" y="3429000"/>
              <a:ext cx="1028700" cy="538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H="1" flipV="1">
              <a:off x="-835913" y="3008442"/>
              <a:ext cx="1066800" cy="4205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/>
            <p:cNvGrpSpPr/>
            <p:nvPr/>
          </p:nvGrpSpPr>
          <p:grpSpPr>
            <a:xfrm>
              <a:off x="-1447800" y="2100232"/>
              <a:ext cx="609600" cy="2850611"/>
              <a:chOff x="4925291" y="2100232"/>
              <a:chExt cx="609600" cy="2850611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4925291" y="210023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4925291" y="28194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2</a:t>
                </a:r>
                <a:endParaRPr lang="en-US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4925291" y="375934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3</a:t>
                </a:r>
                <a:endParaRPr lang="en-US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4925291" y="458151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4</a:t>
                </a:r>
                <a:endParaRPr lang="en-US" dirty="0"/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-480335" y="2425796"/>
              <a:ext cx="609600" cy="2214191"/>
              <a:chOff x="4925291" y="2100232"/>
              <a:chExt cx="609600" cy="2214191"/>
            </a:xfrm>
          </p:grpSpPr>
          <p:sp>
            <p:nvSpPr>
              <p:cNvPr id="76" name="TextBox 75"/>
              <p:cNvSpPr txBox="1"/>
              <p:nvPr/>
            </p:nvSpPr>
            <p:spPr>
              <a:xfrm>
                <a:off x="4925291" y="210023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4</a:t>
                </a:r>
                <a:endParaRPr lang="en-US" dirty="0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4925291" y="257349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3</a:t>
                </a:r>
                <a:endParaRPr lang="en-US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925291" y="3347159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2</a:t>
                </a:r>
                <a:endParaRPr lang="en-US" dirty="0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4925291" y="394509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</a:t>
                </a:r>
                <a:endParaRPr lang="en-US" dirty="0"/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4227072" y="2363537"/>
            <a:ext cx="1519946" cy="2065693"/>
            <a:chOff x="4227072" y="2363537"/>
            <a:chExt cx="1519946" cy="2065693"/>
          </a:xfrm>
        </p:grpSpPr>
        <p:cxnSp>
          <p:nvCxnSpPr>
            <p:cNvPr id="49" name="Straight Arrow Connector 48"/>
            <p:cNvCxnSpPr>
              <a:stCxn id="44" idx="1"/>
            </p:cNvCxnSpPr>
            <p:nvPr/>
          </p:nvCxnSpPr>
          <p:spPr>
            <a:xfrm flipH="1">
              <a:off x="4596873" y="2363537"/>
              <a:ext cx="1150144" cy="635291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5" idx="1"/>
              <a:endCxn id="51" idx="6"/>
            </p:cNvCxnSpPr>
            <p:nvPr/>
          </p:nvCxnSpPr>
          <p:spPr>
            <a:xfrm flipH="1">
              <a:off x="4794476" y="2962252"/>
              <a:ext cx="952542" cy="349985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6" idx="1"/>
              <a:endCxn id="51" idx="6"/>
            </p:cNvCxnSpPr>
            <p:nvPr/>
          </p:nvCxnSpPr>
          <p:spPr>
            <a:xfrm flipH="1" flipV="1">
              <a:off x="4794476" y="3312237"/>
              <a:ext cx="952542" cy="43252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7" idx="1"/>
              <a:endCxn id="51" idx="4"/>
            </p:cNvCxnSpPr>
            <p:nvPr/>
          </p:nvCxnSpPr>
          <p:spPr>
            <a:xfrm flipH="1" flipV="1">
              <a:off x="4515023" y="3629424"/>
              <a:ext cx="1231994" cy="7998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4869121" y="2413543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869121" y="2826252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869121" y="3500934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69121" y="4022365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4227072" y="2995050"/>
              <a:ext cx="558906" cy="634374"/>
              <a:chOff x="6553199" y="3048000"/>
              <a:chExt cx="838201" cy="76200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6553200" y="3048000"/>
                <a:ext cx="838200" cy="762000"/>
              </a:xfrm>
              <a:prstGeom prst="ellipse">
                <a:avLst/>
              </a:prstGeom>
              <a:noFill/>
              <a:ln>
                <a:solidFill>
                  <a:srgbClr val="00823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6553199" y="3200400"/>
                <a:ext cx="685802" cy="451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</a:t>
                </a:r>
                <a:endParaRPr lang="en-US" dirty="0"/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3515739" y="2424113"/>
            <a:ext cx="793184" cy="1916553"/>
            <a:chOff x="3515739" y="2424113"/>
            <a:chExt cx="793184" cy="1916553"/>
          </a:xfrm>
        </p:grpSpPr>
        <p:cxnSp>
          <p:nvCxnSpPr>
            <p:cNvPr id="59" name="Straight Arrow Connector 58"/>
            <p:cNvCxnSpPr>
              <a:stCxn id="55" idx="3"/>
            </p:cNvCxnSpPr>
            <p:nvPr/>
          </p:nvCxnSpPr>
          <p:spPr>
            <a:xfrm flipH="1">
              <a:off x="3566548" y="3536522"/>
              <a:ext cx="742375" cy="80414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55" idx="1"/>
            </p:cNvCxnSpPr>
            <p:nvPr/>
          </p:nvCxnSpPr>
          <p:spPr>
            <a:xfrm flipH="1" flipV="1">
              <a:off x="3515739" y="2424113"/>
              <a:ext cx="793184" cy="663838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55" idx="2"/>
            </p:cNvCxnSpPr>
            <p:nvPr/>
          </p:nvCxnSpPr>
          <p:spPr>
            <a:xfrm flipH="1">
              <a:off x="3541144" y="3312237"/>
              <a:ext cx="685929" cy="44857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55" idx="2"/>
            </p:cNvCxnSpPr>
            <p:nvPr/>
          </p:nvCxnSpPr>
          <p:spPr>
            <a:xfrm flipH="1" flipV="1">
              <a:off x="3515739" y="2962117"/>
              <a:ext cx="711334" cy="350119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3733066" y="2485639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759902" y="2868175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759902" y="3512263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759902" y="4010048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993021" y="2275033"/>
            <a:ext cx="1638471" cy="2435026"/>
            <a:chOff x="3230049" y="2252632"/>
            <a:chExt cx="2457243" cy="2924915"/>
          </a:xfrm>
        </p:grpSpPr>
        <p:sp>
          <p:nvSpPr>
            <p:cNvPr id="95" name="TextBox 94"/>
            <p:cNvSpPr txBox="1"/>
            <p:nvPr/>
          </p:nvSpPr>
          <p:spPr>
            <a:xfrm>
              <a:off x="4952587" y="2252632"/>
              <a:ext cx="734705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11</a:t>
              </a:r>
              <a:endParaRPr lang="en-US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041671" y="2971800"/>
              <a:ext cx="645621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12</a:t>
              </a:r>
              <a:endParaRPr lang="en-US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028786" y="3911741"/>
              <a:ext cx="658506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13</a:t>
              </a:r>
              <a:endParaRPr lang="en-US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041671" y="4733911"/>
              <a:ext cx="645621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cxnSp>
          <p:nvCxnSpPr>
            <p:cNvPr id="99" name="Straight Arrow Connector 98"/>
            <p:cNvCxnSpPr>
              <a:stCxn id="95" idx="1"/>
            </p:cNvCxnSpPr>
            <p:nvPr/>
          </p:nvCxnSpPr>
          <p:spPr>
            <a:xfrm flipH="1">
              <a:off x="3352800" y="2474450"/>
              <a:ext cx="1599787" cy="725950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stCxn id="96" idx="1"/>
            </p:cNvCxnSpPr>
            <p:nvPr/>
          </p:nvCxnSpPr>
          <p:spPr>
            <a:xfrm flipH="1">
              <a:off x="3649148" y="3193618"/>
              <a:ext cx="1392523" cy="383244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97" idx="1"/>
            </p:cNvCxnSpPr>
            <p:nvPr/>
          </p:nvCxnSpPr>
          <p:spPr>
            <a:xfrm flipH="1" flipV="1">
              <a:off x="3649148" y="3576863"/>
              <a:ext cx="1379637" cy="5566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98" idx="1"/>
            </p:cNvCxnSpPr>
            <p:nvPr/>
          </p:nvCxnSpPr>
          <p:spPr>
            <a:xfrm flipH="1" flipV="1">
              <a:off x="3230049" y="3957862"/>
              <a:ext cx="1811622" cy="9978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/>
            <p:cNvSpPr txBox="1"/>
            <p:nvPr/>
          </p:nvSpPr>
          <p:spPr>
            <a:xfrm>
              <a:off x="3761095" y="2497365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761095" y="2993104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761095" y="380352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761095" y="4429857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1057482" y="493229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43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107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(Example)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179</a:t>
            </a:fld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6400800" y="4953000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819650" y="499246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29050" y="499246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267157" y="4950419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P2</a:t>
            </a:r>
            <a:endParaRPr lang="en-US" sz="3600" b="1" dirty="0">
              <a:solidFill>
                <a:srgbClr val="0000FF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595974" y="5638800"/>
            <a:ext cx="4957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92D050"/>
                </a:solidFill>
              </a:rPr>
              <a:t>Winner is P2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57783" y="1416083"/>
            <a:ext cx="1549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00823B"/>
                </a:solidFill>
              </a:rPr>
              <a:t>n = 15</a:t>
            </a:r>
          </a:p>
          <a:p>
            <a:pPr algn="ctr"/>
            <a:r>
              <a:rPr lang="en-US" sz="2800" b="1" dirty="0" smtClean="0">
                <a:solidFill>
                  <a:srgbClr val="0000FF"/>
                </a:solidFill>
              </a:rPr>
              <a:t>m = 4</a:t>
            </a:r>
            <a:endParaRPr lang="en-US" sz="2800" b="1" dirty="0">
              <a:solidFill>
                <a:srgbClr val="0000FF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5644107" y="2209800"/>
            <a:ext cx="1747293" cy="2435026"/>
            <a:chOff x="5644107" y="2209800"/>
            <a:chExt cx="1747293" cy="2435026"/>
          </a:xfrm>
        </p:grpSpPr>
        <p:sp>
          <p:nvSpPr>
            <p:cNvPr id="47" name="TextBox 46"/>
            <p:cNvSpPr txBox="1"/>
            <p:nvPr/>
          </p:nvSpPr>
          <p:spPr>
            <a:xfrm>
              <a:off x="5644107" y="4275494"/>
              <a:ext cx="509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644107" y="2209800"/>
              <a:ext cx="1747293" cy="2134644"/>
              <a:chOff x="5644107" y="2209800"/>
              <a:chExt cx="1747293" cy="2134644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5644107" y="2209800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11</a:t>
                </a:r>
                <a:endParaRPr lang="en-US" dirty="0"/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644107" y="2808516"/>
                <a:ext cx="509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12</a:t>
                </a:r>
                <a:endParaRPr lang="en-US" dirty="0"/>
              </a:p>
            </p:txBody>
          </p:sp>
          <p:grpSp>
            <p:nvGrpSpPr>
              <p:cNvPr id="14" name="Group 13"/>
              <p:cNvGrpSpPr/>
              <p:nvPr/>
            </p:nvGrpSpPr>
            <p:grpSpPr>
              <a:xfrm>
                <a:off x="5694915" y="2427891"/>
                <a:ext cx="1696485" cy="1916553"/>
                <a:chOff x="5694915" y="2427891"/>
                <a:chExt cx="1696485" cy="1916553"/>
              </a:xfrm>
            </p:grpSpPr>
            <p:grpSp>
              <p:nvGrpSpPr>
                <p:cNvPr id="7" name="Group 6"/>
                <p:cNvGrpSpPr/>
                <p:nvPr/>
              </p:nvGrpSpPr>
              <p:grpSpPr>
                <a:xfrm>
                  <a:off x="6832495" y="2998828"/>
                  <a:ext cx="558905" cy="634374"/>
                  <a:chOff x="6553200" y="3048000"/>
                  <a:chExt cx="838200" cy="762000"/>
                </a:xfrm>
              </p:grpSpPr>
              <p:sp>
                <p:nvSpPr>
                  <p:cNvPr id="5" name="Oval 4"/>
                  <p:cNvSpPr/>
                  <p:nvPr/>
                </p:nvSpPr>
                <p:spPr>
                  <a:xfrm>
                    <a:off x="6553200" y="3048000"/>
                    <a:ext cx="838200" cy="762000"/>
                  </a:xfrm>
                  <a:prstGeom prst="ellipse">
                    <a:avLst/>
                  </a:prstGeom>
                  <a:noFill/>
                  <a:ln>
                    <a:solidFill>
                      <a:srgbClr val="00823B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" name="TextBox 5"/>
                  <p:cNvSpPr txBox="1"/>
                  <p:nvPr/>
                </p:nvSpPr>
                <p:spPr>
                  <a:xfrm>
                    <a:off x="6591450" y="3200400"/>
                    <a:ext cx="776824" cy="5545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 smtClean="0"/>
                      <a:t>15</a:t>
                    </a:r>
                    <a:endParaRPr lang="en-US" sz="2400" dirty="0"/>
                  </a:p>
                </p:txBody>
              </p:sp>
            </p:grpSp>
            <p:cxnSp>
              <p:nvCxnSpPr>
                <p:cNvPr id="23" name="Straight Arrow Connector 22"/>
                <p:cNvCxnSpPr>
                  <a:stCxn id="5" idx="3"/>
                </p:cNvCxnSpPr>
                <p:nvPr/>
              </p:nvCxnSpPr>
              <p:spPr>
                <a:xfrm flipH="1">
                  <a:off x="6171970" y="3540300"/>
                  <a:ext cx="742375" cy="80414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>
                  <a:stCxn id="5" idx="1"/>
                </p:cNvCxnSpPr>
                <p:nvPr/>
              </p:nvCxnSpPr>
              <p:spPr>
                <a:xfrm flipH="1" flipV="1">
                  <a:off x="6121161" y="2427891"/>
                  <a:ext cx="793184" cy="663838"/>
                </a:xfrm>
                <a:prstGeom prst="straightConnector1">
                  <a:avLst/>
                </a:prstGeom>
                <a:ln w="38100">
                  <a:solidFill>
                    <a:schemeClr val="accent3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>
                  <a:stCxn id="5" idx="2"/>
                </p:cNvCxnSpPr>
                <p:nvPr/>
              </p:nvCxnSpPr>
              <p:spPr>
                <a:xfrm flipH="1">
                  <a:off x="6146565" y="3316015"/>
                  <a:ext cx="685929" cy="448571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/>
                <p:cNvCxnSpPr>
                  <a:stCxn id="5" idx="2"/>
                </p:cNvCxnSpPr>
                <p:nvPr/>
              </p:nvCxnSpPr>
              <p:spPr>
                <a:xfrm flipH="1" flipV="1">
                  <a:off x="6121161" y="2965895"/>
                  <a:ext cx="711334" cy="350119"/>
                </a:xfrm>
                <a:prstGeom prst="straightConnector1">
                  <a:avLst/>
                </a:prstGeom>
                <a:ln w="38100">
                  <a:solidFill>
                    <a:schemeClr val="accent5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/>
                <p:cNvSpPr txBox="1"/>
                <p:nvPr/>
              </p:nvSpPr>
              <p:spPr>
                <a:xfrm>
                  <a:off x="5694915" y="3591028"/>
                  <a:ext cx="4585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13</a:t>
                  </a:r>
                  <a:endParaRPr lang="en-US" dirty="0"/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6338488" y="2489417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4</a:t>
                  </a:r>
                  <a:endParaRPr lang="en-US" dirty="0"/>
                </a:p>
              </p:txBody>
            </p:sp>
            <p:sp>
              <p:nvSpPr>
                <p:cNvPr id="72" name="TextBox 71"/>
                <p:cNvSpPr txBox="1"/>
                <p:nvPr/>
              </p:nvSpPr>
              <p:spPr>
                <a:xfrm>
                  <a:off x="6365324" y="2871953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3</a:t>
                  </a:r>
                  <a:endParaRPr lang="en-US" dirty="0"/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6365324" y="3516041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2</a:t>
                  </a:r>
                  <a:endParaRPr lang="en-US" dirty="0"/>
                </a:p>
              </p:txBody>
            </p:sp>
            <p:sp>
              <p:nvSpPr>
                <p:cNvPr id="74" name="TextBox 73"/>
                <p:cNvSpPr txBox="1"/>
                <p:nvPr/>
              </p:nvSpPr>
              <p:spPr>
                <a:xfrm>
                  <a:off x="6365324" y="4013826"/>
                  <a:ext cx="406477" cy="3074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1</a:t>
                  </a:r>
                  <a:endParaRPr lang="en-US" dirty="0"/>
                </a:p>
              </p:txBody>
            </p:sp>
          </p:grpSp>
        </p:grpSp>
      </p:grpSp>
      <p:grpSp>
        <p:nvGrpSpPr>
          <p:cNvPr id="8" name="Group 7"/>
          <p:cNvGrpSpPr/>
          <p:nvPr/>
        </p:nvGrpSpPr>
        <p:grpSpPr>
          <a:xfrm>
            <a:off x="533400" y="2275033"/>
            <a:ext cx="1726233" cy="2373167"/>
            <a:chOff x="-1447800" y="2100232"/>
            <a:chExt cx="2588861" cy="2850611"/>
          </a:xfrm>
        </p:grpSpPr>
        <p:grpSp>
          <p:nvGrpSpPr>
            <p:cNvPr id="50" name="Group 49"/>
            <p:cNvGrpSpPr/>
            <p:nvPr/>
          </p:nvGrpSpPr>
          <p:grpSpPr>
            <a:xfrm>
              <a:off x="302861" y="3043462"/>
              <a:ext cx="838200" cy="762000"/>
              <a:chOff x="2506148" y="2891062"/>
              <a:chExt cx="838200" cy="762000"/>
            </a:xfrm>
          </p:grpSpPr>
          <p:sp>
            <p:nvSpPr>
              <p:cNvPr id="51" name="Oval 50"/>
              <p:cNvSpPr/>
              <p:nvPr/>
            </p:nvSpPr>
            <p:spPr>
              <a:xfrm>
                <a:off x="2506148" y="2891062"/>
                <a:ext cx="838200" cy="762000"/>
              </a:xfrm>
              <a:prstGeom prst="ellipse">
                <a:avLst/>
              </a:prstGeom>
              <a:noFill/>
              <a:ln>
                <a:solidFill>
                  <a:srgbClr val="00823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743200" y="3048000"/>
                <a:ext cx="457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5</a:t>
                </a:r>
                <a:endParaRPr lang="en-US" dirty="0"/>
              </a:p>
            </p:txBody>
          </p:sp>
        </p:grpSp>
        <p:cxnSp>
          <p:nvCxnSpPr>
            <p:cNvPr id="60" name="Straight Arrow Connector 59"/>
            <p:cNvCxnSpPr/>
            <p:nvPr/>
          </p:nvCxnSpPr>
          <p:spPr>
            <a:xfrm flipH="1">
              <a:off x="-759713" y="3698408"/>
              <a:ext cx="1113352" cy="965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 flipV="1">
              <a:off x="-835913" y="2362200"/>
              <a:ext cx="1189552" cy="79739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-797813" y="3429000"/>
              <a:ext cx="1028700" cy="53881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H="1" flipV="1">
              <a:off x="-835913" y="3008442"/>
              <a:ext cx="1066800" cy="4205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/>
            <p:cNvGrpSpPr/>
            <p:nvPr/>
          </p:nvGrpSpPr>
          <p:grpSpPr>
            <a:xfrm>
              <a:off x="-1447800" y="2100232"/>
              <a:ext cx="609600" cy="2850611"/>
              <a:chOff x="4925291" y="2100232"/>
              <a:chExt cx="609600" cy="2850611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4925291" y="210023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</a:t>
                </a:r>
                <a:endParaRPr lang="en-US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4925291" y="28194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2</a:t>
                </a:r>
                <a:endParaRPr lang="en-US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4925291" y="375934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3</a:t>
                </a:r>
                <a:endParaRPr lang="en-US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4925291" y="458151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4</a:t>
                </a:r>
                <a:endParaRPr lang="en-US" dirty="0"/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-480335" y="2425796"/>
              <a:ext cx="609600" cy="2214191"/>
              <a:chOff x="4925291" y="2100232"/>
              <a:chExt cx="609600" cy="2214191"/>
            </a:xfrm>
          </p:grpSpPr>
          <p:sp>
            <p:nvSpPr>
              <p:cNvPr id="76" name="TextBox 75"/>
              <p:cNvSpPr txBox="1"/>
              <p:nvPr/>
            </p:nvSpPr>
            <p:spPr>
              <a:xfrm>
                <a:off x="4925291" y="2100232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4</a:t>
                </a:r>
                <a:endParaRPr lang="en-US" dirty="0"/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4925291" y="257349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3</a:t>
                </a:r>
                <a:endParaRPr lang="en-US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925291" y="3347159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2</a:t>
                </a:r>
                <a:endParaRPr lang="en-US" dirty="0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4925291" y="3945091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1</a:t>
                </a:r>
                <a:endParaRPr lang="en-US" dirty="0"/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4227072" y="2363537"/>
            <a:ext cx="1519946" cy="2065693"/>
            <a:chOff x="4227072" y="2363537"/>
            <a:chExt cx="1519946" cy="2065693"/>
          </a:xfrm>
        </p:grpSpPr>
        <p:cxnSp>
          <p:nvCxnSpPr>
            <p:cNvPr id="49" name="Straight Arrow Connector 48"/>
            <p:cNvCxnSpPr>
              <a:stCxn id="44" idx="1"/>
            </p:cNvCxnSpPr>
            <p:nvPr/>
          </p:nvCxnSpPr>
          <p:spPr>
            <a:xfrm flipH="1">
              <a:off x="4596873" y="2363537"/>
              <a:ext cx="1150144" cy="635291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5" idx="1"/>
              <a:endCxn id="51" idx="6"/>
            </p:cNvCxnSpPr>
            <p:nvPr/>
          </p:nvCxnSpPr>
          <p:spPr>
            <a:xfrm flipH="1">
              <a:off x="4794476" y="2962252"/>
              <a:ext cx="952542" cy="349985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6" idx="1"/>
              <a:endCxn id="51" idx="6"/>
            </p:cNvCxnSpPr>
            <p:nvPr/>
          </p:nvCxnSpPr>
          <p:spPr>
            <a:xfrm flipH="1" flipV="1">
              <a:off x="4794476" y="3312237"/>
              <a:ext cx="952542" cy="43252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7" idx="1"/>
              <a:endCxn id="51" idx="4"/>
            </p:cNvCxnSpPr>
            <p:nvPr/>
          </p:nvCxnSpPr>
          <p:spPr>
            <a:xfrm flipH="1" flipV="1">
              <a:off x="4515023" y="3629424"/>
              <a:ext cx="1231994" cy="79980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4869121" y="2413543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869121" y="2826252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869121" y="3500934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869121" y="4022365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4227072" y="2995050"/>
              <a:ext cx="558906" cy="634374"/>
              <a:chOff x="6553199" y="3048000"/>
              <a:chExt cx="838201" cy="76200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6553200" y="3048000"/>
                <a:ext cx="838200" cy="762000"/>
              </a:xfrm>
              <a:prstGeom prst="ellipse">
                <a:avLst/>
              </a:prstGeom>
              <a:noFill/>
              <a:ln>
                <a:solidFill>
                  <a:srgbClr val="00823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6553199" y="3200400"/>
                <a:ext cx="685802" cy="451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10</a:t>
                </a:r>
                <a:endParaRPr lang="en-US" dirty="0"/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3515739" y="2424113"/>
            <a:ext cx="793184" cy="1916553"/>
            <a:chOff x="3515739" y="2424113"/>
            <a:chExt cx="793184" cy="1916553"/>
          </a:xfrm>
        </p:grpSpPr>
        <p:cxnSp>
          <p:nvCxnSpPr>
            <p:cNvPr id="59" name="Straight Arrow Connector 58"/>
            <p:cNvCxnSpPr>
              <a:stCxn id="55" idx="3"/>
            </p:cNvCxnSpPr>
            <p:nvPr/>
          </p:nvCxnSpPr>
          <p:spPr>
            <a:xfrm flipH="1">
              <a:off x="3566548" y="3536522"/>
              <a:ext cx="742375" cy="80414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55" idx="1"/>
            </p:cNvCxnSpPr>
            <p:nvPr/>
          </p:nvCxnSpPr>
          <p:spPr>
            <a:xfrm flipH="1" flipV="1">
              <a:off x="3515739" y="2424113"/>
              <a:ext cx="793184" cy="663838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55" idx="2"/>
            </p:cNvCxnSpPr>
            <p:nvPr/>
          </p:nvCxnSpPr>
          <p:spPr>
            <a:xfrm flipH="1">
              <a:off x="3541144" y="3312237"/>
              <a:ext cx="685929" cy="44857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55" idx="2"/>
            </p:cNvCxnSpPr>
            <p:nvPr/>
          </p:nvCxnSpPr>
          <p:spPr>
            <a:xfrm flipH="1" flipV="1">
              <a:off x="3515739" y="2962117"/>
              <a:ext cx="711334" cy="350119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3733066" y="2485639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759902" y="2868175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759902" y="3512263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759902" y="4010048"/>
              <a:ext cx="406477" cy="307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993021" y="2275033"/>
            <a:ext cx="1638471" cy="2435026"/>
            <a:chOff x="3230049" y="2252632"/>
            <a:chExt cx="2457243" cy="2924915"/>
          </a:xfrm>
        </p:grpSpPr>
        <p:sp>
          <p:nvSpPr>
            <p:cNvPr id="95" name="TextBox 94"/>
            <p:cNvSpPr txBox="1"/>
            <p:nvPr/>
          </p:nvSpPr>
          <p:spPr>
            <a:xfrm>
              <a:off x="4952587" y="2252632"/>
              <a:ext cx="734705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11</a:t>
              </a:r>
              <a:endParaRPr lang="en-US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041671" y="2971800"/>
              <a:ext cx="645621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12</a:t>
              </a:r>
              <a:endParaRPr lang="en-US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028786" y="3911741"/>
              <a:ext cx="658506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13</a:t>
              </a:r>
              <a:endParaRPr lang="en-US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041671" y="4733911"/>
              <a:ext cx="645621" cy="44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14</a:t>
              </a:r>
              <a:endParaRPr lang="en-US" dirty="0"/>
            </a:p>
          </p:txBody>
        </p:sp>
        <p:cxnSp>
          <p:nvCxnSpPr>
            <p:cNvPr id="99" name="Straight Arrow Connector 98"/>
            <p:cNvCxnSpPr>
              <a:stCxn id="95" idx="1"/>
            </p:cNvCxnSpPr>
            <p:nvPr/>
          </p:nvCxnSpPr>
          <p:spPr>
            <a:xfrm flipH="1">
              <a:off x="3352800" y="2474450"/>
              <a:ext cx="1599787" cy="725950"/>
            </a:xfrm>
            <a:prstGeom prst="straightConnector1">
              <a:avLst/>
            </a:prstGeom>
            <a:ln w="38100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stCxn id="96" idx="1"/>
            </p:cNvCxnSpPr>
            <p:nvPr/>
          </p:nvCxnSpPr>
          <p:spPr>
            <a:xfrm flipH="1">
              <a:off x="3649148" y="3193618"/>
              <a:ext cx="1392523" cy="383244"/>
            </a:xfrm>
            <a:prstGeom prst="straightConnector1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97" idx="1"/>
            </p:cNvCxnSpPr>
            <p:nvPr/>
          </p:nvCxnSpPr>
          <p:spPr>
            <a:xfrm flipH="1" flipV="1">
              <a:off x="3649148" y="3576863"/>
              <a:ext cx="1379637" cy="55669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98" idx="1"/>
            </p:cNvCxnSpPr>
            <p:nvPr/>
          </p:nvCxnSpPr>
          <p:spPr>
            <a:xfrm flipH="1" flipV="1">
              <a:off x="3230049" y="3957862"/>
              <a:ext cx="1811622" cy="99786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/>
            <p:cNvSpPr txBox="1"/>
            <p:nvPr/>
          </p:nvSpPr>
          <p:spPr>
            <a:xfrm>
              <a:off x="3761095" y="2497365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761095" y="2993104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761095" y="380352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761095" y="4429857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4</a:t>
              </a:r>
              <a:endParaRPr lang="en-US" dirty="0"/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1057482" y="4932295"/>
            <a:ext cx="74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FF"/>
                </a:solidFill>
              </a:rPr>
              <a:t>P1</a:t>
            </a:r>
            <a:endParaRPr 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67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107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823B"/>
                </a:solidFill>
              </a:rPr>
              <a:t>The Game of </a:t>
            </a:r>
            <a:r>
              <a:rPr lang="en-US" b="1" dirty="0" err="1" smtClean="0">
                <a:solidFill>
                  <a:srgbClr val="00823B"/>
                </a:solidFill>
              </a:rPr>
              <a:t>Nim</a:t>
            </a:r>
            <a:r>
              <a:rPr lang="en-US" b="1" dirty="0" smtClean="0">
                <a:solidFill>
                  <a:srgbClr val="00823B"/>
                </a:solidFill>
              </a:rPr>
              <a:t> </a:t>
            </a:r>
            <a:r>
              <a:rPr lang="en-US" sz="2700" b="1" dirty="0" smtClean="0">
                <a:solidFill>
                  <a:srgbClr val="00823B"/>
                </a:solidFill>
              </a:rPr>
              <a:t>(Algorithm)</a:t>
            </a:r>
            <a:endParaRPr lang="en-US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/>
          </a:bodyPr>
          <a:lstStyle/>
          <a:p>
            <a:r>
              <a:rPr lang="en-US" dirty="0" smtClean="0"/>
              <a:t>Winning Move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Leave Multiple of (m+1) chips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8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3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1298</TotalTime>
  <Words>7654</Words>
  <Application>Microsoft Office PowerPoint</Application>
  <PresentationFormat>On-screen Show (4:3)</PresentationFormat>
  <Paragraphs>4176</Paragraphs>
  <Slides>181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181</vt:i4>
      </vt:variant>
    </vt:vector>
  </HeadingPairs>
  <TitlesOfParts>
    <vt:vector size="190" baseType="lpstr">
      <vt:lpstr>Arial</vt:lpstr>
      <vt:lpstr>Arial Narrow</vt:lpstr>
      <vt:lpstr>Calibri</vt:lpstr>
      <vt:lpstr>Engravers MT</vt:lpstr>
      <vt:lpstr>French Script MT</vt:lpstr>
      <vt:lpstr>Monotype Sorts</vt:lpstr>
      <vt:lpstr>Symbol</vt:lpstr>
      <vt:lpstr>Times New Roman</vt:lpstr>
      <vt:lpstr>Office Theme</vt:lpstr>
      <vt:lpstr>PowerPoint Presentation</vt:lpstr>
      <vt:lpstr>Decrease and Conquer</vt:lpstr>
      <vt:lpstr>Decrease by a Constant Factor</vt:lpstr>
      <vt:lpstr>Decrease by a Constant Factor</vt:lpstr>
      <vt:lpstr>Binary Search</vt:lpstr>
      <vt:lpstr>Binary Search</vt:lpstr>
      <vt:lpstr>Binary Search</vt:lpstr>
      <vt:lpstr>PowerPoint Presentation</vt:lpstr>
      <vt:lpstr>A(n) = A(floor(n/2)) + 1 </vt:lpstr>
      <vt:lpstr>Fake–Coin Problem</vt:lpstr>
      <vt:lpstr>Fake – Coin Problem</vt:lpstr>
      <vt:lpstr>Fake – Coin Problem (Algorithm)</vt:lpstr>
      <vt:lpstr>Fake – Coin Problem (Recurrence)</vt:lpstr>
      <vt:lpstr>Fake – Coin Problem (Algorithm)</vt:lpstr>
      <vt:lpstr>Russian Peasant Multiplication</vt:lpstr>
      <vt:lpstr>Russian Peasant Multiplication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Russian Peasant Multiplication (Example)</vt:lpstr>
      <vt:lpstr>Josephus problem</vt:lpstr>
      <vt:lpstr>Josephus problem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Josephus problem (Algorithm)</vt:lpstr>
      <vt:lpstr>Variable Size Decrease Algorithms</vt:lpstr>
      <vt:lpstr>Variable Size Decrease</vt:lpstr>
      <vt:lpstr>Variable Size Decrease</vt:lpstr>
      <vt:lpstr>Selection Problem</vt:lpstr>
      <vt:lpstr>Selection Problem</vt:lpstr>
      <vt:lpstr>Selection Problem</vt:lpstr>
      <vt:lpstr>Selection Problem</vt:lpstr>
      <vt:lpstr>Selection Problem (Variable Size …)</vt:lpstr>
      <vt:lpstr>Selection Problem (Variable Size …)</vt:lpstr>
      <vt:lpstr>Selection Problem (Variable Size …)</vt:lpstr>
      <vt:lpstr>Selection Problem (Variable Size …)</vt:lpstr>
      <vt:lpstr>Lomuto partitioning</vt:lpstr>
      <vt:lpstr>Lomuto partitioning</vt:lpstr>
      <vt:lpstr>Lomuto partitioning</vt:lpstr>
      <vt:lpstr>Lomuto partitioning</vt:lpstr>
      <vt:lpstr>Lomuto partitioning</vt:lpstr>
      <vt:lpstr>Lomuto partitioning</vt:lpstr>
      <vt:lpstr>Lomuto partitioning</vt:lpstr>
      <vt:lpstr>Lomuto partitioning</vt:lpstr>
      <vt:lpstr>Lomuto partitioning</vt:lpstr>
      <vt:lpstr>Quick Select</vt:lpstr>
      <vt:lpstr>Quick Select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Selection Problem (Analysis)</vt:lpstr>
      <vt:lpstr>Selection Problem (Analysis)</vt:lpstr>
      <vt:lpstr>Interpolation Search</vt:lpstr>
      <vt:lpstr>Interpolation Search</vt:lpstr>
      <vt:lpstr>Interpolation Search</vt:lpstr>
      <vt:lpstr>Interpolation Search(Algorithm)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Interpolation Search (Analysis)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Insertion / searching Binary Search Tree (BST)</vt:lpstr>
      <vt:lpstr>Insertion / Search BST</vt:lpstr>
      <vt:lpstr>Insertion / Search BST (Algorithm)</vt:lpstr>
      <vt:lpstr>Insertion / Search BST (Analysis)</vt:lpstr>
      <vt:lpstr>The Game of Nim</vt:lpstr>
      <vt:lpstr>The Game of Nim</vt:lpstr>
      <vt:lpstr>The Game of Nim (Algorithm)</vt:lpstr>
      <vt:lpstr>The Game of Nim (Algorithm)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(Example)</vt:lpstr>
      <vt:lpstr>The Game of Nim (Algorithm)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Windows User</cp:lastModifiedBy>
  <cp:revision>295</cp:revision>
  <dcterms:created xsi:type="dcterms:W3CDTF">2018-06-20T09:11:51Z</dcterms:created>
  <dcterms:modified xsi:type="dcterms:W3CDTF">2023-10-16T09:13:39Z</dcterms:modified>
</cp:coreProperties>
</file>