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6"/>
  </p:notesMasterIdLst>
  <p:handoutMasterIdLst>
    <p:handoutMasterId r:id="rId147"/>
  </p:handoutMasterIdLst>
  <p:sldIdLst>
    <p:sldId id="349" r:id="rId2"/>
    <p:sldId id="479" r:id="rId3"/>
    <p:sldId id="480" r:id="rId4"/>
    <p:sldId id="494" r:id="rId5"/>
    <p:sldId id="481" r:id="rId6"/>
    <p:sldId id="482" r:id="rId7"/>
    <p:sldId id="483" r:id="rId8"/>
    <p:sldId id="495" r:id="rId9"/>
    <p:sldId id="484" r:id="rId10"/>
    <p:sldId id="485" r:id="rId11"/>
    <p:sldId id="492" r:id="rId12"/>
    <p:sldId id="486" r:id="rId13"/>
    <p:sldId id="493" r:id="rId14"/>
    <p:sldId id="488" r:id="rId15"/>
    <p:sldId id="489" r:id="rId16"/>
    <p:sldId id="496" r:id="rId17"/>
    <p:sldId id="491" r:id="rId18"/>
    <p:sldId id="497" r:id="rId19"/>
    <p:sldId id="498" r:id="rId20"/>
    <p:sldId id="350" r:id="rId21"/>
    <p:sldId id="500" r:id="rId22"/>
    <p:sldId id="501" r:id="rId23"/>
    <p:sldId id="502" r:id="rId24"/>
    <p:sldId id="503" r:id="rId25"/>
    <p:sldId id="504" r:id="rId26"/>
    <p:sldId id="505" r:id="rId27"/>
    <p:sldId id="506" r:id="rId28"/>
    <p:sldId id="507" r:id="rId29"/>
    <p:sldId id="499" r:id="rId30"/>
    <p:sldId id="351" r:id="rId31"/>
    <p:sldId id="430" r:id="rId32"/>
    <p:sldId id="429" r:id="rId33"/>
    <p:sldId id="428" r:id="rId34"/>
    <p:sldId id="427" r:id="rId35"/>
    <p:sldId id="426" r:id="rId36"/>
    <p:sldId id="425" r:id="rId37"/>
    <p:sldId id="424" r:id="rId38"/>
    <p:sldId id="423" r:id="rId39"/>
    <p:sldId id="422" r:id="rId40"/>
    <p:sldId id="508" r:id="rId41"/>
    <p:sldId id="353" r:id="rId42"/>
    <p:sldId id="354" r:id="rId43"/>
    <p:sldId id="435" r:id="rId44"/>
    <p:sldId id="434" r:id="rId45"/>
    <p:sldId id="433" r:id="rId46"/>
    <p:sldId id="432" r:id="rId47"/>
    <p:sldId id="431" r:id="rId48"/>
    <p:sldId id="440" r:id="rId49"/>
    <p:sldId id="437" r:id="rId50"/>
    <p:sldId id="441" r:id="rId51"/>
    <p:sldId id="439" r:id="rId52"/>
    <p:sldId id="442" r:id="rId53"/>
    <p:sldId id="356" r:id="rId54"/>
    <p:sldId id="361" r:id="rId55"/>
    <p:sldId id="362" r:id="rId56"/>
    <p:sldId id="363" r:id="rId57"/>
    <p:sldId id="364" r:id="rId58"/>
    <p:sldId id="509" r:id="rId59"/>
    <p:sldId id="365" r:id="rId60"/>
    <p:sldId id="455" r:id="rId61"/>
    <p:sldId id="456" r:id="rId62"/>
    <p:sldId id="457" r:id="rId63"/>
    <p:sldId id="458" r:id="rId64"/>
    <p:sldId id="459" r:id="rId65"/>
    <p:sldId id="460" r:id="rId66"/>
    <p:sldId id="466" r:id="rId67"/>
    <p:sldId id="465" r:id="rId68"/>
    <p:sldId id="464" r:id="rId69"/>
    <p:sldId id="463" r:id="rId70"/>
    <p:sldId id="462" r:id="rId71"/>
    <p:sldId id="461" r:id="rId72"/>
    <p:sldId id="468" r:id="rId73"/>
    <p:sldId id="467" r:id="rId74"/>
    <p:sldId id="475" r:id="rId75"/>
    <p:sldId id="474" r:id="rId76"/>
    <p:sldId id="473" r:id="rId77"/>
    <p:sldId id="472" r:id="rId78"/>
    <p:sldId id="471" r:id="rId79"/>
    <p:sldId id="470" r:id="rId80"/>
    <p:sldId id="469" r:id="rId81"/>
    <p:sldId id="476" r:id="rId82"/>
    <p:sldId id="366" r:id="rId83"/>
    <p:sldId id="443" r:id="rId84"/>
    <p:sldId id="444" r:id="rId85"/>
    <p:sldId id="445" r:id="rId86"/>
    <p:sldId id="446" r:id="rId87"/>
    <p:sldId id="447" r:id="rId88"/>
    <p:sldId id="448" r:id="rId89"/>
    <p:sldId id="449" r:id="rId90"/>
    <p:sldId id="450" r:id="rId91"/>
    <p:sldId id="451" r:id="rId92"/>
    <p:sldId id="454" r:id="rId93"/>
    <p:sldId id="453" r:id="rId94"/>
    <p:sldId id="452" r:id="rId95"/>
    <p:sldId id="516" r:id="rId96"/>
    <p:sldId id="367" r:id="rId97"/>
    <p:sldId id="510" r:id="rId98"/>
    <p:sldId id="478" r:id="rId99"/>
    <p:sldId id="511" r:id="rId100"/>
    <p:sldId id="512" r:id="rId101"/>
    <p:sldId id="368" r:id="rId102"/>
    <p:sldId id="369" r:id="rId103"/>
    <p:sldId id="513" r:id="rId104"/>
    <p:sldId id="514" r:id="rId105"/>
    <p:sldId id="515" r:id="rId106"/>
    <p:sldId id="370" r:id="rId107"/>
    <p:sldId id="384" r:id="rId108"/>
    <p:sldId id="385" r:id="rId109"/>
    <p:sldId id="386" r:id="rId110"/>
    <p:sldId id="387" r:id="rId111"/>
    <p:sldId id="388" r:id="rId112"/>
    <p:sldId id="389" r:id="rId113"/>
    <p:sldId id="390" r:id="rId114"/>
    <p:sldId id="391" r:id="rId115"/>
    <p:sldId id="392" r:id="rId116"/>
    <p:sldId id="393" r:id="rId117"/>
    <p:sldId id="394" r:id="rId118"/>
    <p:sldId id="395" r:id="rId119"/>
    <p:sldId id="396" r:id="rId120"/>
    <p:sldId id="397" r:id="rId121"/>
    <p:sldId id="398" r:id="rId122"/>
    <p:sldId id="399" r:id="rId123"/>
    <p:sldId id="400" r:id="rId124"/>
    <p:sldId id="401" r:id="rId125"/>
    <p:sldId id="402" r:id="rId126"/>
    <p:sldId id="403" r:id="rId127"/>
    <p:sldId id="404" r:id="rId128"/>
    <p:sldId id="405" r:id="rId129"/>
    <p:sldId id="406" r:id="rId130"/>
    <p:sldId id="407" r:id="rId131"/>
    <p:sldId id="408" r:id="rId132"/>
    <p:sldId id="409" r:id="rId133"/>
    <p:sldId id="410" r:id="rId134"/>
    <p:sldId id="411" r:id="rId135"/>
    <p:sldId id="412" r:id="rId136"/>
    <p:sldId id="413" r:id="rId137"/>
    <p:sldId id="414" r:id="rId138"/>
    <p:sldId id="415" r:id="rId139"/>
    <p:sldId id="416" r:id="rId140"/>
    <p:sldId id="417" r:id="rId141"/>
    <p:sldId id="418" r:id="rId142"/>
    <p:sldId id="419" r:id="rId143"/>
    <p:sldId id="420" r:id="rId144"/>
    <p:sldId id="348" r:id="rId1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82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969"/>
    <p:restoredTop sz="94694"/>
  </p:normalViewPr>
  <p:slideViewPr>
    <p:cSldViewPr>
      <p:cViewPr varScale="1">
        <p:scale>
          <a:sx n="121" d="100"/>
          <a:sy n="121" d="100"/>
        </p:scale>
        <p:origin x="98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viewProps" Target="viewProps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A867-0D2F-4317-B9F6-942331555E07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D08E5B-3E4A-4BEF-9248-EB61691600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3999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49CE24-AB9C-43CD-AB59-1170152E142C}" type="datetimeFigureOut">
              <a:rPr lang="en-US" smtClean="0"/>
              <a:t>1/29/26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406CE9-AE27-4DF9-BE7A-54F150597D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1776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649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5326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47DFA-18AD-45A1-A508-3EEA62D59A6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1880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F47DFA-18AD-45A1-A508-3EEA62D59A6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404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864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4567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3670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13585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6328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4159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3272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151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5504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6270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algn="ctr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4EA503EC-C89C-4DFB-82E3-9DAE2B8EC72D}" type="slidenum">
              <a:rPr lang="en-US" sz="1200"/>
              <a:pPr algn="r"/>
              <a:t>98</a:t>
            </a:fld>
            <a:endParaRPr lang="en-US" sz="1200" dirty="0"/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708025"/>
            <a:ext cx="4800600" cy="360045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dirty="0">
                <a:cs typeface="Times New Roman" panose="02020603050405020304" pitchFamily="18" charset="0"/>
              </a:rPr>
              <a:t>Examples:</a:t>
            </a:r>
          </a:p>
          <a:p>
            <a:r>
              <a:rPr lang="en-US" dirty="0">
                <a:cs typeface="Times New Roman" panose="02020603050405020304" pitchFamily="18" charset="0"/>
              </a:rPr>
              <a:t> 10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 is O(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baseline="30000" dirty="0">
                <a:cs typeface="Times New Roman" panose="02020603050405020304" pitchFamily="18" charset="0"/>
              </a:rPr>
              <a:t>2</a:t>
            </a:r>
            <a:r>
              <a:rPr lang="en-US" dirty="0"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cs typeface="Times New Roman" panose="02020603050405020304" pitchFamily="18" charset="0"/>
              </a:rPr>
              <a:t>since 10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 ≤ 10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baseline="30000" dirty="0">
                <a:cs typeface="Times New Roman" panose="02020603050405020304" pitchFamily="18" charset="0"/>
              </a:rPr>
              <a:t>2</a:t>
            </a:r>
            <a:r>
              <a:rPr lang="en-US" dirty="0">
                <a:cs typeface="Times New Roman" panose="02020603050405020304" pitchFamily="18" charset="0"/>
              </a:rPr>
              <a:t>  for </a:t>
            </a:r>
            <a:r>
              <a:rPr lang="en-US" i="1" dirty="0">
                <a:cs typeface="Times New Roman" panose="02020603050405020304" pitchFamily="18" charset="0"/>
              </a:rPr>
              <a:t>n ≥ </a:t>
            </a:r>
            <a:r>
              <a:rPr lang="en-US" dirty="0">
                <a:cs typeface="Times New Roman" panose="02020603050405020304" pitchFamily="18" charset="0"/>
              </a:rPr>
              <a:t>1  or 10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 ≤ 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baseline="30000" dirty="0">
                <a:cs typeface="Times New Roman" panose="02020603050405020304" pitchFamily="18" charset="0"/>
              </a:rPr>
              <a:t>2  </a:t>
            </a:r>
            <a:r>
              <a:rPr lang="en-US" dirty="0">
                <a:cs typeface="Times New Roman" panose="02020603050405020304" pitchFamily="18" charset="0"/>
              </a:rPr>
              <a:t>for </a:t>
            </a:r>
            <a:r>
              <a:rPr lang="en-US" i="1" dirty="0">
                <a:cs typeface="Times New Roman" panose="02020603050405020304" pitchFamily="18" charset="0"/>
              </a:rPr>
              <a:t>n ≥ </a:t>
            </a:r>
            <a:r>
              <a:rPr lang="en-US" dirty="0">
                <a:cs typeface="Times New Roman" panose="02020603050405020304" pitchFamily="18" charset="0"/>
              </a:rPr>
              <a:t>10 </a:t>
            </a:r>
          </a:p>
          <a:p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>
                <a:cs typeface="Times New Roman" panose="02020603050405020304" pitchFamily="18" charset="0"/>
              </a:rPr>
              <a:t>                    </a:t>
            </a:r>
            <a:r>
              <a:rPr lang="en-US" i="1" dirty="0">
                <a:cs typeface="Times New Roman" panose="02020603050405020304" pitchFamily="18" charset="0"/>
              </a:rPr>
              <a:t>c            n</a:t>
            </a:r>
            <a:r>
              <a:rPr lang="en-US" baseline="-25000" dirty="0">
                <a:cs typeface="Times New Roman" panose="02020603050405020304" pitchFamily="18" charset="0"/>
              </a:rPr>
              <a:t>0</a:t>
            </a:r>
            <a:endParaRPr lang="en-US" dirty="0">
              <a:cs typeface="Times New Roman" panose="02020603050405020304" pitchFamily="18" charset="0"/>
            </a:endParaRPr>
          </a:p>
          <a:p>
            <a:r>
              <a:rPr lang="en-US" dirty="0">
                <a:cs typeface="Times New Roman" panose="02020603050405020304" pitchFamily="18" charset="0"/>
              </a:rPr>
              <a:t>5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+20 is O(10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)</a:t>
            </a:r>
          </a:p>
          <a:p>
            <a:r>
              <a:rPr lang="en-US" dirty="0">
                <a:cs typeface="Times New Roman" panose="02020603050405020304" pitchFamily="18" charset="0"/>
              </a:rPr>
              <a:t>since 5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+20 ≤ 10 </a:t>
            </a:r>
            <a:r>
              <a:rPr lang="en-US" i="1" dirty="0">
                <a:cs typeface="Times New Roman" panose="02020603050405020304" pitchFamily="18" charset="0"/>
              </a:rPr>
              <a:t>n </a:t>
            </a:r>
            <a:r>
              <a:rPr lang="en-US" dirty="0">
                <a:cs typeface="Times New Roman" panose="02020603050405020304" pitchFamily="18" charset="0"/>
              </a:rPr>
              <a:t>for </a:t>
            </a:r>
            <a:r>
              <a:rPr lang="en-US" i="1" dirty="0">
                <a:cs typeface="Times New Roman" panose="02020603050405020304" pitchFamily="18" charset="0"/>
              </a:rPr>
              <a:t>n ≥ </a:t>
            </a:r>
            <a:r>
              <a:rPr lang="en-US" dirty="0">
                <a:cs typeface="Times New Roman" panose="02020603050405020304" pitchFamily="18" charset="0"/>
              </a:rPr>
              <a:t>4</a:t>
            </a:r>
          </a:p>
          <a:p>
            <a:endParaRPr lang="en-US" i="1" dirty="0">
              <a:cs typeface="Times New Roman" panose="02020603050405020304" pitchFamily="18" charset="0"/>
            </a:endParaRPr>
          </a:p>
          <a:p>
            <a:r>
              <a:rPr lang="en-US" i="1" dirty="0">
                <a:cs typeface="Times New Roman" panose="02020603050405020304" pitchFamily="18" charset="0"/>
              </a:rPr>
              <a:t>                         c            n</a:t>
            </a:r>
            <a:r>
              <a:rPr lang="en-US" baseline="-25000" dirty="0">
                <a:cs typeface="Times New Roman" panose="02020603050405020304" pitchFamily="18" charset="0"/>
              </a:rPr>
              <a:t>0</a:t>
            </a:r>
            <a:endParaRPr lang="en-US" dirty="0">
              <a:cs typeface="Times New Roman" panose="02020603050405020304" pitchFamily="18" charset="0"/>
            </a:endParaRPr>
          </a:p>
          <a:p>
            <a:endParaRPr lang="en-US" dirty="0">
              <a:cs typeface="Times New Roman" panose="02020603050405020304" pitchFamily="18" charset="0"/>
            </a:endParaRPr>
          </a:p>
          <a:p>
            <a:endParaRPr lang="en-US" dirty="0"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31749" name="Line 4"/>
          <p:cNvSpPr>
            <a:spLocks noChangeShapeType="1"/>
          </p:cNvSpPr>
          <p:nvPr/>
        </p:nvSpPr>
        <p:spPr bwMode="auto">
          <a:xfrm flipH="1" flipV="1">
            <a:off x="1908175" y="5981700"/>
            <a:ext cx="0" cy="314325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1750" name="Line 5"/>
          <p:cNvSpPr>
            <a:spLocks noChangeShapeType="1"/>
          </p:cNvSpPr>
          <p:nvPr/>
        </p:nvSpPr>
        <p:spPr bwMode="auto">
          <a:xfrm flipV="1">
            <a:off x="2438400" y="5943600"/>
            <a:ext cx="228600" cy="38100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1751" name="Line 6"/>
          <p:cNvSpPr>
            <a:spLocks noChangeShapeType="1"/>
          </p:cNvSpPr>
          <p:nvPr/>
        </p:nvSpPr>
        <p:spPr bwMode="auto">
          <a:xfrm flipH="1" flipV="1">
            <a:off x="2066925" y="6924675"/>
            <a:ext cx="0" cy="31591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31752" name="Line 7"/>
          <p:cNvSpPr>
            <a:spLocks noChangeShapeType="1"/>
          </p:cNvSpPr>
          <p:nvPr/>
        </p:nvSpPr>
        <p:spPr bwMode="auto">
          <a:xfrm flipV="1">
            <a:off x="2703513" y="6924675"/>
            <a:ext cx="79375" cy="315913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 type="none" w="sm" len="sm"/>
            <a:tailEnd type="triangl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0866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4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9228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8768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0E40CB42-BBCF-4A14-89AF-E8CE9ACDE886}" type="slidenum">
              <a:rPr lang="en-GB" smtClean="0"/>
              <a:pPr eaLnBrk="1" hangingPunct="1"/>
              <a:t>130</a:t>
            </a:fld>
            <a:endParaRPr lang="en-GB"/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274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1080347C-1589-4A41-8C49-BBB1C2226453}" type="slidenum">
              <a:rPr lang="en-GB" smtClean="0"/>
              <a:pPr eaLnBrk="1" hangingPunct="1"/>
              <a:t>133</a:t>
            </a:fld>
            <a:endParaRPr lang="en-GB"/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327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6B6BE270-48F4-40BD-8B88-2253E17961B5}" type="slidenum">
              <a:rPr lang="en-GB" smtClean="0"/>
              <a:pPr eaLnBrk="1" hangingPunct="1"/>
              <a:t>134</a:t>
            </a:fld>
            <a:endParaRPr lang="en-GB"/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447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A25FD50-D1AA-408A-BC3E-A23798D1109D}" type="slidenum">
              <a:rPr lang="en-GB" smtClean="0"/>
              <a:pPr eaLnBrk="1" hangingPunct="1"/>
              <a:t>135</a:t>
            </a:fld>
            <a:endParaRPr lang="en-GB"/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2622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5B52AD2D-C5FD-4D27-911C-C06D5407F50B}" type="slidenum">
              <a:rPr lang="en-GB" smtClean="0"/>
              <a:pPr eaLnBrk="1" hangingPunct="1"/>
              <a:t>137</a:t>
            </a:fld>
            <a:endParaRPr lang="en-GB"/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2863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B0557FAB-7B2B-4DC8-AC8D-A1001BE6EE5D}" type="slidenum">
              <a:rPr lang="en-GB" smtClean="0"/>
              <a:pPr eaLnBrk="1" hangingPunct="1"/>
              <a:t>138</a:t>
            </a:fld>
            <a:endParaRPr lang="en-GB"/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2848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C1E1C772-863B-4944-8F67-5F9FB1B2EC28}" type="slidenum">
              <a:rPr lang="en-GB" smtClean="0"/>
              <a:pPr eaLnBrk="1" hangingPunct="1"/>
              <a:t>139</a:t>
            </a:fld>
            <a:endParaRPr lang="en-GB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30041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7500B9E-73A7-4737-BE0D-8822A8F8FF6D}" type="slidenum">
              <a:rPr lang="en-GB" smtClean="0"/>
              <a:pPr eaLnBrk="1" hangingPunct="1"/>
              <a:t>141</a:t>
            </a:fld>
            <a:endParaRPr lang="en-GB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22114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368C7DDB-1548-4166-BC04-3F818BB2411E}" type="slidenum">
              <a:rPr lang="en-GB" smtClean="0"/>
              <a:pPr eaLnBrk="1" hangingPunct="1"/>
              <a:t>142</a:t>
            </a:fld>
            <a:endParaRPr lang="en-GB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2853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271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271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FD2DE5DE-2FFB-4134-83A0-4E453F1534E7}" type="slidenum">
              <a:rPr lang="en-GB" smtClean="0"/>
              <a:pPr eaLnBrk="1" hangingPunct="1"/>
              <a:t>143</a:t>
            </a:fld>
            <a:endParaRPr lang="en-GB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51838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5406CE9-AE27-4DF9-BE7A-54F150597DF7}" type="slidenum">
              <a:rPr lang="en-US" smtClean="0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0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58000" y="6324600"/>
            <a:ext cx="4572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90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2514600"/>
            <a:ext cx="6248400" cy="3657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6096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9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10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810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3499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536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386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17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8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324600"/>
            <a:ext cx="1752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5768" y="6324600"/>
            <a:ext cx="17526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Dr. Muhammad Umair Ramzan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6400" y="6324600"/>
            <a:ext cx="1828800" cy="365125"/>
          </a:xfrm>
          <a:prstGeom prst="rect">
            <a:avLst/>
          </a:prstGeom>
        </p:spPr>
        <p:txBody>
          <a:bodyPr/>
          <a:lstStyle/>
          <a:p>
            <a:fld id="{EFBA8F76-60DD-4F65-80ED-7968AD89E0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463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1752600"/>
            <a:ext cx="62484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600" y="3276600"/>
            <a:ext cx="6248400" cy="2620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539052" y="-3484224"/>
            <a:ext cx="65619" cy="9144281"/>
          </a:xfrm>
          <a:prstGeom prst="rect">
            <a:avLst/>
          </a:prstGeom>
          <a:solidFill>
            <a:schemeClr val="accent6">
              <a:lumMod val="75000"/>
            </a:schemeClr>
          </a:solidFill>
          <a:ln w="9525">
            <a:noFill/>
            <a:miter lim="800000"/>
            <a:headEnd/>
            <a:tailEnd/>
          </a:ln>
          <a:effectLst/>
        </p:spPr>
      </p:pic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1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696200" y="991"/>
            <a:ext cx="49212" cy="685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TextBox 15"/>
          <p:cNvSpPr txBox="1"/>
          <p:nvPr userDrawn="1"/>
        </p:nvSpPr>
        <p:spPr>
          <a:xfrm>
            <a:off x="2646497" y="6437622"/>
            <a:ext cx="260889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Instructor Dr. Muhammad Umair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1055343" y="-10418"/>
            <a:ext cx="5791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i="1" dirty="0">
                <a:solidFill>
                  <a:srgbClr val="00823B"/>
                </a:solidFill>
              </a:rPr>
              <a:t>Analysis</a:t>
            </a:r>
            <a:r>
              <a:rPr lang="en-US" sz="3200" b="1" i="1" baseline="0" dirty="0">
                <a:solidFill>
                  <a:srgbClr val="00823B"/>
                </a:solidFill>
              </a:rPr>
              <a:t> and Design of Algorithms</a:t>
            </a:r>
            <a:endParaRPr lang="en-US" sz="3200" b="1" i="1" dirty="0">
              <a:solidFill>
                <a:srgbClr val="00823B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89065"/>
            <a:ext cx="762000" cy="9102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4800" y="76200"/>
            <a:ext cx="972911" cy="972911"/>
          </a:xfrm>
          <a:prstGeom prst="rect">
            <a:avLst/>
          </a:prstGeom>
        </p:spPr>
      </p:pic>
      <p:sp>
        <p:nvSpPr>
          <p:cNvPr id="5" name="TextBox 4"/>
          <p:cNvSpPr txBox="1"/>
          <p:nvPr userDrawn="1"/>
        </p:nvSpPr>
        <p:spPr>
          <a:xfrm>
            <a:off x="8077200" y="1295400"/>
            <a:ext cx="769121" cy="52578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wordArtVert" wrap="square" rtlCol="0">
            <a:spAutoFit/>
          </a:bodyPr>
          <a:lstStyle/>
          <a:p>
            <a:pPr algn="ctr"/>
            <a:r>
              <a:rPr lang="en-US" sz="3200" b="1" dirty="0"/>
              <a:t>CPCS 223</a:t>
            </a:r>
          </a:p>
        </p:txBody>
      </p:sp>
    </p:spTree>
    <p:extLst>
      <p:ext uri="{BB962C8B-B14F-4D97-AF65-F5344CB8AC3E}">
        <p14:creationId xmlns:p14="http://schemas.microsoft.com/office/powerpoint/2010/main" val="4010802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Clr>
          <a:srgbClr val="00823B"/>
        </a:buClr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w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w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w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5.png"/><Relationship Id="rId4" Type="http://schemas.openxmlformats.org/officeDocument/2006/relationships/image" Target="../media/image54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png"/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10" Type="http://schemas.openxmlformats.org/officeDocument/2006/relationships/image" Target="../media/image79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70.png"/><Relationship Id="rId3" Type="http://schemas.openxmlformats.org/officeDocument/2006/relationships/image" Target="../media/image72.png"/><Relationship Id="rId7" Type="http://schemas.openxmlformats.org/officeDocument/2006/relationships/image" Target="../media/image79.png"/><Relationship Id="rId12" Type="http://schemas.openxmlformats.org/officeDocument/2006/relationships/image" Target="../media/image69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67.png"/><Relationship Id="rId5" Type="http://schemas.openxmlformats.org/officeDocument/2006/relationships/image" Target="../media/image76.png"/><Relationship Id="rId10" Type="http://schemas.openxmlformats.org/officeDocument/2006/relationships/image" Target="../media/image65.png"/><Relationship Id="rId4" Type="http://schemas.openxmlformats.org/officeDocument/2006/relationships/image" Target="../media/image74.png"/><Relationship Id="rId9" Type="http://schemas.openxmlformats.org/officeDocument/2006/relationships/image" Target="../media/image63.png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70.png"/><Relationship Id="rId3" Type="http://schemas.openxmlformats.org/officeDocument/2006/relationships/image" Target="../media/image72.png"/><Relationship Id="rId7" Type="http://schemas.openxmlformats.org/officeDocument/2006/relationships/image" Target="../media/image79.png"/><Relationship Id="rId12" Type="http://schemas.openxmlformats.org/officeDocument/2006/relationships/image" Target="../media/image69.png"/><Relationship Id="rId2" Type="http://schemas.openxmlformats.org/officeDocument/2006/relationships/image" Target="../media/image71.png"/><Relationship Id="rId16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67.png"/><Relationship Id="rId5" Type="http://schemas.openxmlformats.org/officeDocument/2006/relationships/image" Target="../media/image76.png"/><Relationship Id="rId15" Type="http://schemas.openxmlformats.org/officeDocument/2006/relationships/image" Target="../media/image80.jpeg"/><Relationship Id="rId10" Type="http://schemas.openxmlformats.org/officeDocument/2006/relationships/image" Target="../media/image65.png"/><Relationship Id="rId4" Type="http://schemas.openxmlformats.org/officeDocument/2006/relationships/image" Target="../media/image74.png"/><Relationship Id="rId9" Type="http://schemas.openxmlformats.org/officeDocument/2006/relationships/image" Target="../media/image63.png"/><Relationship Id="rId14" Type="http://schemas.openxmlformats.org/officeDocument/2006/relationships/image" Target="../media/image61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4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9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/Relationships>
</file>

<file path=ppt/slides/_rels/slide9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89.png"/><Relationship Id="rId5" Type="http://schemas.openxmlformats.org/officeDocument/2006/relationships/image" Target="../media/image85.png"/><Relationship Id="rId10" Type="http://schemas.openxmlformats.org/officeDocument/2006/relationships/image" Target="../media/image91.png"/><Relationship Id="rId4" Type="http://schemas.openxmlformats.org/officeDocument/2006/relationships/image" Target="../media/image84.png"/><Relationship Id="rId9" Type="http://schemas.openxmlformats.org/officeDocument/2006/relationships/image" Target="../media/image90.png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89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2.png"/><Relationship Id="rId5" Type="http://schemas.openxmlformats.org/officeDocument/2006/relationships/image" Target="../media/image85.png"/><Relationship Id="rId10" Type="http://schemas.openxmlformats.org/officeDocument/2006/relationships/image" Target="../media/image91.png"/><Relationship Id="rId4" Type="http://schemas.openxmlformats.org/officeDocument/2006/relationships/image" Target="../media/image84.png"/><Relationship Id="rId9" Type="http://schemas.openxmlformats.org/officeDocument/2006/relationships/image" Target="../media/image90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89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11" Type="http://schemas.openxmlformats.org/officeDocument/2006/relationships/image" Target="../media/image92.png"/><Relationship Id="rId5" Type="http://schemas.openxmlformats.org/officeDocument/2006/relationships/image" Target="../media/image85.png"/><Relationship Id="rId10" Type="http://schemas.openxmlformats.org/officeDocument/2006/relationships/image" Target="../media/image91.png"/><Relationship Id="rId4" Type="http://schemas.openxmlformats.org/officeDocument/2006/relationships/image" Target="../media/image84.png"/><Relationship Id="rId9" Type="http://schemas.openxmlformats.org/officeDocument/2006/relationships/image" Target="../media/image90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7675563" cy="2367907"/>
          </a:xfrm>
          <a:prstGeom prst="rect">
            <a:avLst/>
          </a:prstGeom>
        </p:spPr>
      </p:pic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 algn="ctr" defTabSz="8890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2000" b="1" i="0" kern="1200" dirty="0">
                  <a:latin typeface="+mj-lt"/>
                </a:rPr>
                <a:t>O my Lord! Expand for me my chest [with assurance] and ease for me my task and untie the knot from my tongue that they may understand my speech. </a:t>
              </a:r>
              <a:r>
                <a:rPr lang="en-US" sz="2000" b="1" i="0" kern="1200" dirty="0">
                  <a:solidFill>
                    <a:srgbClr val="FFFF00"/>
                  </a:solidFill>
                </a:rPr>
                <a:t>(Quran 20 : 25-28)</a:t>
              </a:r>
              <a:endParaRPr lang="en-US" sz="2000" b="1" kern="1200" dirty="0">
                <a:solidFill>
                  <a:srgbClr val="FFFF00"/>
                </a:solidFill>
                <a:latin typeface="+mj-lt"/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</p:spTree>
    <p:extLst>
      <p:ext uri="{BB962C8B-B14F-4D97-AF65-F5344CB8AC3E}">
        <p14:creationId xmlns:p14="http://schemas.microsoft.com/office/powerpoint/2010/main" val="2207649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Algorithm Correctness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>
            <a:normAutofit/>
          </a:bodyPr>
          <a:lstStyle/>
          <a:p>
            <a:pPr algn="r"/>
            <a:r>
              <a:rPr lang="en-US" dirty="0"/>
              <a:t>Loop Invariant</a:t>
            </a:r>
          </a:p>
        </p:txBody>
      </p:sp>
    </p:spTree>
    <p:extLst>
      <p:ext uri="{BB962C8B-B14F-4D97-AF65-F5344CB8AC3E}">
        <p14:creationId xmlns:p14="http://schemas.microsoft.com/office/powerpoint/2010/main" val="20562744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9DF10-CD05-4175-B141-E408EDCE2F4C}" type="slidenum">
              <a:rPr lang="en-US"/>
              <a:pPr/>
              <a:t>3</a:t>
            </a:fld>
            <a:endParaRPr 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It is used to check the “Correctness”</a:t>
            </a:r>
          </a:p>
          <a:p>
            <a:r>
              <a:rPr lang="en-US" dirty="0"/>
              <a:t>“It is the condition(s) which must hold before, during and after the execution of any loop”</a:t>
            </a:r>
          </a:p>
          <a:p>
            <a:r>
              <a:rPr lang="en-US" dirty="0"/>
              <a:t>It can be written as</a:t>
            </a:r>
          </a:p>
          <a:p>
            <a:pPr lvl="1"/>
            <a:r>
              <a:rPr lang="en-US" dirty="0"/>
              <a:t>Descriptive Statement(s)</a:t>
            </a:r>
          </a:p>
          <a:p>
            <a:pPr lvl="1"/>
            <a:r>
              <a:rPr lang="en-US" dirty="0"/>
              <a:t>Mathematical Expression(s)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Loop Invariant</a:t>
            </a:r>
          </a:p>
        </p:txBody>
      </p:sp>
    </p:spTree>
    <p:extLst>
      <p:ext uri="{BB962C8B-B14F-4D97-AF65-F5344CB8AC3E}">
        <p14:creationId xmlns:p14="http://schemas.microsoft.com/office/powerpoint/2010/main" val="3138781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09DF10-CD05-4175-B141-E408EDCE2F4C}" type="slidenum">
              <a:rPr lang="en-US"/>
              <a:pPr/>
              <a:t>4</a:t>
            </a:fld>
            <a:endParaRPr lang="en-US"/>
          </a:p>
        </p:txBody>
      </p:sp>
      <p:sp>
        <p:nvSpPr>
          <p:cNvPr id="686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It has three stages</a:t>
            </a:r>
          </a:p>
          <a:p>
            <a:pPr lvl="1"/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Initialization</a:t>
            </a:r>
          </a:p>
          <a:p>
            <a:pPr lvl="2"/>
            <a:r>
              <a:rPr lang="en-US" sz="2000" dirty="0"/>
              <a:t>Verify conditions before start of loop</a:t>
            </a:r>
          </a:p>
          <a:p>
            <a:pPr lvl="1"/>
            <a:r>
              <a:rPr lang="en-US" b="1" dirty="0">
                <a:solidFill>
                  <a:srgbClr val="0000FF"/>
                </a:solidFill>
              </a:rPr>
              <a:t>Maintenance</a:t>
            </a:r>
          </a:p>
          <a:p>
            <a:pPr lvl="2"/>
            <a:r>
              <a:rPr lang="en-US" sz="2000" dirty="0"/>
              <a:t>Verify conditions after few iterations of loop</a:t>
            </a:r>
          </a:p>
          <a:p>
            <a:pPr lvl="1"/>
            <a:r>
              <a:rPr lang="en-US" b="1" dirty="0">
                <a:solidFill>
                  <a:srgbClr val="00B050"/>
                </a:solidFill>
              </a:rPr>
              <a:t>Termination</a:t>
            </a:r>
          </a:p>
          <a:p>
            <a:pPr lvl="2"/>
            <a:r>
              <a:rPr lang="en-US" sz="2000" dirty="0"/>
              <a:t>Verify conditions once the loop is terminated</a:t>
            </a:r>
          </a:p>
          <a:p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Loop Invariant</a:t>
            </a:r>
          </a:p>
        </p:txBody>
      </p:sp>
    </p:spTree>
    <p:extLst>
      <p:ext uri="{BB962C8B-B14F-4D97-AF65-F5344CB8AC3E}">
        <p14:creationId xmlns:p14="http://schemas.microsoft.com/office/powerpoint/2010/main" val="124134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6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86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6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86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86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8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8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rgbClr val="00B0F0"/>
                </a:solidFill>
              </a:rPr>
              <a:t>Example 01: </a:t>
            </a:r>
            <a:r>
              <a:rPr lang="en-US" sz="3200" b="1" dirty="0">
                <a:solidFill>
                  <a:srgbClr val="00823B"/>
                </a:solidFill>
              </a:rPr>
              <a:t>Insertion Sort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300" y="2590800"/>
            <a:ext cx="6210300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076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2530C9-23B9-4FF7-A425-40B976E7039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00B0F0"/>
                </a:solidFill>
              </a:rPr>
              <a:t>Insertion Sort: </a:t>
            </a:r>
            <a:r>
              <a:rPr lang="en-US" sz="3200" b="1" dirty="0">
                <a:solidFill>
                  <a:srgbClr val="00823B"/>
                </a:solidFill>
              </a:rPr>
              <a:t>Tracing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576" y="2988351"/>
            <a:ext cx="2322405" cy="170013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3" y="2362200"/>
            <a:ext cx="2533650" cy="9144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" y="3545642"/>
            <a:ext cx="2562225" cy="9334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75" y="4748134"/>
            <a:ext cx="2524125" cy="9715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8185" y="2370099"/>
            <a:ext cx="2533650" cy="95250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68185" y="3553541"/>
            <a:ext cx="2533650" cy="9429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43627" y="4748134"/>
            <a:ext cx="2514600" cy="66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1633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B66FA7-9EAE-4F80-A823-5DBA106EA3CC}" type="slidenum">
              <a:rPr lang="en-US"/>
              <a:pPr/>
              <a:t>7</a:t>
            </a:fld>
            <a:endParaRPr lang="en-US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just"/>
            <a:r>
              <a:rPr lang="en-US" sz="2400" dirty="0"/>
              <a:t>“At the start of each iteration of the for loop of lines 1-8, the subarray A[1 : </a:t>
            </a:r>
            <a:r>
              <a:rPr lang="en-US" sz="2400" i="1" dirty="0"/>
              <a:t>i</a:t>
            </a:r>
            <a:r>
              <a:rPr lang="en-US" sz="2400" dirty="0"/>
              <a:t>-1] consists of the elements originally in A[1 : </a:t>
            </a:r>
            <a:r>
              <a:rPr lang="en-US" sz="2400" i="1" dirty="0"/>
              <a:t>i</a:t>
            </a:r>
            <a:r>
              <a:rPr lang="en-US" sz="2400" dirty="0"/>
              <a:t>-1], but in sorted order. ”</a:t>
            </a:r>
          </a:p>
          <a:p>
            <a:pPr>
              <a:buFont typeface="Wingdings" pitchFamily="2" charset="2"/>
              <a:buNone/>
            </a:pPr>
            <a:endParaRPr lang="en-US" sz="1200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00B0F0"/>
                </a:solidFill>
              </a:rPr>
              <a:t>Insertion Sort: </a:t>
            </a:r>
            <a:r>
              <a:rPr lang="en-US" sz="3200" b="1" dirty="0">
                <a:solidFill>
                  <a:srgbClr val="00823B"/>
                </a:solidFill>
              </a:rPr>
              <a:t>Loop Invariant</a:t>
            </a:r>
          </a:p>
        </p:txBody>
      </p:sp>
    </p:spTree>
    <p:extLst>
      <p:ext uri="{BB962C8B-B14F-4D97-AF65-F5344CB8AC3E}">
        <p14:creationId xmlns:p14="http://schemas.microsoft.com/office/powerpoint/2010/main" val="4125068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2530C9-23B9-4FF7-A425-40B976E7039B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00B0F0"/>
                </a:solidFill>
              </a:rPr>
              <a:t>Loop Invariant: </a:t>
            </a:r>
            <a:r>
              <a:rPr lang="en-US" sz="3200" b="1" dirty="0">
                <a:solidFill>
                  <a:srgbClr val="00823B"/>
                </a:solidFill>
              </a:rPr>
              <a:t>Verification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3" y="3271916"/>
            <a:ext cx="2533650" cy="914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75" y="4455358"/>
            <a:ext cx="2562225" cy="9334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" y="5657850"/>
            <a:ext cx="2524125" cy="97155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8185" y="3279815"/>
            <a:ext cx="2533650" cy="9525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8185" y="4463257"/>
            <a:ext cx="2533650" cy="9429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3627" y="5657850"/>
            <a:ext cx="2514600" cy="6667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6011" y="4072016"/>
            <a:ext cx="2322405" cy="17001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473" y="2178804"/>
            <a:ext cx="7000875" cy="904875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528238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5424E3-29A7-459F-9802-5AD874372D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00B0F0"/>
                </a:solidFill>
              </a:rPr>
              <a:t>Example 02: </a:t>
            </a:r>
            <a:r>
              <a:rPr lang="en-US" sz="3200" b="1" dirty="0">
                <a:solidFill>
                  <a:srgbClr val="00823B"/>
                </a:solidFill>
              </a:rPr>
              <a:t>Quick Sort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" y="2514600"/>
            <a:ext cx="7896225" cy="204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395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EEFCD-14F9-4BFB-A5A4-2EE44BCEBE49}" type="slidenum">
              <a:rPr lang="en-US"/>
              <a:pPr/>
              <a:t>10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00B0F0"/>
                </a:solidFill>
              </a:rPr>
              <a:t>Example 02: </a:t>
            </a:r>
            <a:r>
              <a:rPr lang="en-US" sz="3200" b="1" dirty="0">
                <a:solidFill>
                  <a:srgbClr val="00823B"/>
                </a:solidFill>
              </a:rPr>
              <a:t>Quick Sort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" y="2514600"/>
            <a:ext cx="7841494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858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09668-F97C-456D-B61E-8EBE46620879}" type="slidenum">
              <a:rPr lang="en-US"/>
              <a:pPr/>
              <a:t>11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7050" y="2057400"/>
            <a:ext cx="1581150" cy="409575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00B0F0"/>
                </a:solidFill>
              </a:rPr>
              <a:t>Partitioning: </a:t>
            </a:r>
            <a:r>
              <a:rPr lang="en-US" sz="3200" b="1" dirty="0">
                <a:solidFill>
                  <a:srgbClr val="00823B"/>
                </a:solidFill>
              </a:rPr>
              <a:t>Tracing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3680" y="2669654"/>
            <a:ext cx="2560320" cy="1836322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" y="2394882"/>
            <a:ext cx="2560320" cy="47310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480" y="3043987"/>
            <a:ext cx="2560320" cy="47875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62" y="3668476"/>
            <a:ext cx="2560320" cy="512064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224" y="4343400"/>
            <a:ext cx="2560320" cy="483079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1625" y="2380968"/>
            <a:ext cx="2560320" cy="50093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6387" y="3047058"/>
            <a:ext cx="2560320" cy="475688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1625" y="3687904"/>
            <a:ext cx="2560320" cy="49263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71625" y="4345698"/>
            <a:ext cx="2560320" cy="512064"/>
          </a:xfrm>
          <a:prstGeom prst="rect">
            <a:avLst/>
          </a:prstGeom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67902" y="5028790"/>
            <a:ext cx="357187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431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09668-F97C-456D-B61E-8EBE46620879}" type="slidenum">
              <a:rPr lang="en-US"/>
              <a:pPr/>
              <a:t>12</a:t>
            </a:fld>
            <a:endParaRPr lang="en-US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i="1"/>
              <a:t>If p &lt;= k &lt;= i, then A [k] &lt;= x</a:t>
            </a:r>
          </a:p>
          <a:p>
            <a:endParaRPr lang="en-US" i="1"/>
          </a:p>
          <a:p>
            <a:r>
              <a:rPr lang="en-US" i="1"/>
              <a:t>If i + 1 &lt;= k &lt;= j-1, then A [k] &gt; x</a:t>
            </a:r>
          </a:p>
          <a:p>
            <a:endParaRPr lang="en-US" i="1"/>
          </a:p>
          <a:p>
            <a:r>
              <a:rPr lang="en-US" i="1"/>
              <a:t>If k = r, then A [k] = x</a:t>
            </a:r>
          </a:p>
          <a:p>
            <a:endParaRPr lang="en-US" i="1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00B0F0"/>
                </a:solidFill>
              </a:rPr>
              <a:t>Partitioning: </a:t>
            </a:r>
            <a:r>
              <a:rPr lang="en-US" sz="3200" b="1" dirty="0">
                <a:solidFill>
                  <a:srgbClr val="00823B"/>
                </a:solidFill>
              </a:rPr>
              <a:t>Loop Invariant</a:t>
            </a:r>
          </a:p>
        </p:txBody>
      </p:sp>
    </p:spTree>
    <p:extLst>
      <p:ext uri="{BB962C8B-B14F-4D97-AF65-F5344CB8AC3E}">
        <p14:creationId xmlns:p14="http://schemas.microsoft.com/office/powerpoint/2010/main" val="1358865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709668-F97C-456D-B61E-8EBE46620879}" type="slidenum">
              <a:rPr lang="en-US"/>
              <a:pPr/>
              <a:t>13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6863" y="3008300"/>
            <a:ext cx="2478809" cy="692135"/>
          </a:xfrm>
          <a:prstGeom prst="rect">
            <a:avLst/>
          </a:prstGeom>
          <a:ln w="19050">
            <a:solidFill>
              <a:srgbClr val="0000FF"/>
            </a:solidFill>
          </a:ln>
        </p:spPr>
      </p:pic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00B0F0"/>
                </a:solidFill>
              </a:rPr>
              <a:t>Loop Invariant: </a:t>
            </a:r>
            <a:r>
              <a:rPr lang="en-US" sz="3200" b="1" dirty="0">
                <a:solidFill>
                  <a:srgbClr val="00823B"/>
                </a:solidFill>
              </a:rPr>
              <a:t>Verification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" y="2394882"/>
            <a:ext cx="2560320" cy="473103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" y="3043987"/>
            <a:ext cx="2560320" cy="47875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62" y="3668476"/>
            <a:ext cx="2560320" cy="51206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224" y="4343400"/>
            <a:ext cx="2560320" cy="483079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71625" y="2380968"/>
            <a:ext cx="2560320" cy="500932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76387" y="3047058"/>
            <a:ext cx="2560320" cy="475688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1625" y="3687904"/>
            <a:ext cx="2560320" cy="492636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71625" y="4345698"/>
            <a:ext cx="2560320" cy="51206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67902" y="5028790"/>
            <a:ext cx="3571875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703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14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00B0F0"/>
                </a:solidFill>
              </a:rPr>
              <a:t>Example 03: </a:t>
            </a:r>
            <a:r>
              <a:rPr lang="en-US" sz="3200" b="1" dirty="0">
                <a:solidFill>
                  <a:srgbClr val="00823B"/>
                </a:solidFill>
              </a:rPr>
              <a:t>Merge Sort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485" y="2590800"/>
            <a:ext cx="3400425" cy="26098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6692" y="2057400"/>
            <a:ext cx="2604708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581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15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00B0F0"/>
                </a:solidFill>
              </a:rPr>
              <a:t>Merge function: </a:t>
            </a:r>
            <a:r>
              <a:rPr lang="en-US" sz="3200" b="1" dirty="0">
                <a:solidFill>
                  <a:srgbClr val="00823B"/>
                </a:solidFill>
              </a:rPr>
              <a:t>Tracing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25" y="2133600"/>
            <a:ext cx="1812472" cy="914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225" y="3200400"/>
            <a:ext cx="1845527" cy="914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4267200"/>
            <a:ext cx="1807029" cy="914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225" y="5334000"/>
            <a:ext cx="1873135" cy="914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6"/>
          <a:srcRect b="32292"/>
          <a:stretch/>
        </p:blipFill>
        <p:spPr>
          <a:xfrm>
            <a:off x="3810000" y="2537460"/>
            <a:ext cx="358140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020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16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00B0F0"/>
                </a:solidFill>
              </a:rPr>
              <a:t>Merge function: </a:t>
            </a:r>
            <a:r>
              <a:rPr lang="en-US" sz="3200" b="1" dirty="0">
                <a:solidFill>
                  <a:srgbClr val="00823B"/>
                </a:solidFill>
              </a:rPr>
              <a:t>Tracing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/>
          <a:srcRect b="32292"/>
          <a:stretch/>
        </p:blipFill>
        <p:spPr>
          <a:xfrm>
            <a:off x="3810000" y="2537460"/>
            <a:ext cx="3581400" cy="2971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9432" y="2133600"/>
            <a:ext cx="1834342" cy="9144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432" y="3108960"/>
            <a:ext cx="1834308" cy="9144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432" y="4084320"/>
            <a:ext cx="1982113" cy="9144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432" y="5059680"/>
            <a:ext cx="2096168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6518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>
            <a:normAutofit fontScale="90000"/>
          </a:bodyPr>
          <a:lstStyle/>
          <a:p>
            <a:pPr algn="just"/>
            <a:r>
              <a:rPr lang="en-US" b="1" dirty="0">
                <a:solidFill>
                  <a:srgbClr val="00B0F0"/>
                </a:solidFill>
              </a:rPr>
              <a:t>Merge function: </a:t>
            </a:r>
            <a:r>
              <a:rPr lang="en-US" sz="3200" b="1" dirty="0">
                <a:solidFill>
                  <a:srgbClr val="00823B"/>
                </a:solidFill>
              </a:rPr>
              <a:t>Loop Invariant</a:t>
            </a: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914400" y="2514600"/>
            <a:ext cx="62484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lr>
                <a:srgbClr val="00823B"/>
              </a:buClr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dirty="0"/>
              <a:t>“At the start of each iteration of the for loop of lines 12-18, the subarray A[p .. r] contains the (</a:t>
            </a:r>
            <a:r>
              <a:rPr lang="en-US" sz="2400" dirty="0" err="1"/>
              <a:t>i+j</a:t>
            </a:r>
            <a:r>
              <a:rPr lang="en-US" sz="2400" dirty="0"/>
              <a:t>) smallest elements of L [0..n</a:t>
            </a:r>
            <a:r>
              <a:rPr lang="en-US" sz="2400" baseline="-25000" dirty="0"/>
              <a:t>L</a:t>
            </a:r>
            <a:r>
              <a:rPr lang="en-US" sz="2400" dirty="0"/>
              <a:t>-1] and R[0..n</a:t>
            </a:r>
            <a:r>
              <a:rPr lang="en-US" sz="2400" baseline="-25000" dirty="0"/>
              <a:t>R</a:t>
            </a:r>
            <a:r>
              <a:rPr lang="en-US" sz="2400" dirty="0"/>
              <a:t>-1], in sorted order. Moreover, L[</a:t>
            </a:r>
            <a:r>
              <a:rPr lang="en-US" sz="2400" dirty="0" err="1"/>
              <a:t>i</a:t>
            </a:r>
            <a:r>
              <a:rPr lang="en-US" sz="2400" dirty="0"/>
              <a:t>] and R[j] are the smallest elements of their arrays that have not been copied back into A”</a:t>
            </a:r>
          </a:p>
          <a:p>
            <a:pPr>
              <a:buFont typeface="Wingdings" pitchFamily="2" charset="2"/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760629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18</a:t>
            </a:fld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00B0F0"/>
                </a:solidFill>
              </a:rPr>
              <a:t>Loop Invariant: </a:t>
            </a:r>
            <a:r>
              <a:rPr lang="en-US" sz="3200" b="1" dirty="0">
                <a:solidFill>
                  <a:srgbClr val="00823B"/>
                </a:solidFill>
              </a:rPr>
              <a:t>Verification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2133600"/>
            <a:ext cx="1812472" cy="914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200400"/>
            <a:ext cx="1845527" cy="914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8843" y="4267200"/>
            <a:ext cx="1807029" cy="9144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5334000"/>
            <a:ext cx="1873135" cy="914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9400" y="2819400"/>
            <a:ext cx="4645504" cy="1804987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2687902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19</a:t>
            </a:fld>
            <a:endParaRPr lang="en-US" dirty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00B0F0"/>
                </a:solidFill>
              </a:rPr>
              <a:t>Loop Invariant: </a:t>
            </a:r>
            <a:r>
              <a:rPr lang="en-US" sz="3200" b="1" dirty="0">
                <a:solidFill>
                  <a:srgbClr val="00823B"/>
                </a:solidFill>
              </a:rPr>
              <a:t>Verification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33600"/>
            <a:ext cx="1834342" cy="914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08960"/>
            <a:ext cx="1834308" cy="9144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4084320"/>
            <a:ext cx="1982113" cy="9144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5059680"/>
            <a:ext cx="2096168" cy="9144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19400" y="2819400"/>
            <a:ext cx="4645504" cy="1804987"/>
          </a:xfrm>
          <a:prstGeom prst="rect">
            <a:avLst/>
          </a:prstGeom>
          <a:ln w="28575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3738578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Loop Invariant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/>
              <a:t>Students’ Exercises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3064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Exercise 01: </a:t>
            </a:r>
            <a:r>
              <a:rPr lang="en-US" sz="3200" b="1" dirty="0">
                <a:solidFill>
                  <a:srgbClr val="00823B"/>
                </a:solidFill>
              </a:rPr>
              <a:t>Build Heap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21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2590800"/>
            <a:ext cx="4191000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448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2530C9-23B9-4FF7-A425-40B976E7039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Build Heap: </a:t>
            </a:r>
            <a:r>
              <a:rPr lang="en-US" sz="3200" b="1" dirty="0">
                <a:solidFill>
                  <a:srgbClr val="00823B"/>
                </a:solidFill>
              </a:rPr>
              <a:t>Tracing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815" y="3108125"/>
            <a:ext cx="3048000" cy="1087582"/>
          </a:xfrm>
          <a:prstGeom prst="rect">
            <a:avLst/>
          </a:prstGeom>
          <a:ln w="19050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1465923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2530C9-23B9-4FF7-A425-40B976E7039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Build Heap: </a:t>
            </a:r>
            <a:r>
              <a:rPr lang="en-US" sz="3200" b="1" dirty="0">
                <a:solidFill>
                  <a:srgbClr val="00823B"/>
                </a:solidFill>
              </a:rPr>
              <a:t>Loop Invariant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362200"/>
            <a:ext cx="3048000" cy="1087582"/>
          </a:xfrm>
          <a:prstGeom prst="rect">
            <a:avLst/>
          </a:prstGeom>
          <a:ln w="19050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6781168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2530C9-23B9-4FF7-A425-40B976E7039B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Loop Invariant: </a:t>
            </a:r>
            <a:r>
              <a:rPr lang="en-US" sz="3200" b="1" dirty="0">
                <a:solidFill>
                  <a:srgbClr val="00823B"/>
                </a:solidFill>
              </a:rPr>
              <a:t>Verification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2362200"/>
            <a:ext cx="3048000" cy="1087582"/>
          </a:xfrm>
          <a:prstGeom prst="rect">
            <a:avLst/>
          </a:prstGeom>
          <a:ln w="19050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11426303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Exercise 02: </a:t>
            </a:r>
            <a:r>
              <a:rPr lang="en-US" sz="3200" b="1" dirty="0">
                <a:solidFill>
                  <a:srgbClr val="00823B"/>
                </a:solidFill>
              </a:rPr>
              <a:t>Heap Sort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25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2819400"/>
            <a:ext cx="4610100" cy="209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7866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2530C9-23B9-4FF7-A425-40B976E7039B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Heap Sort: </a:t>
            </a:r>
            <a:r>
              <a:rPr lang="en-US" sz="3200" b="1" dirty="0">
                <a:solidFill>
                  <a:srgbClr val="00823B"/>
                </a:solidFill>
              </a:rPr>
              <a:t>Tracing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590800"/>
            <a:ext cx="3048000" cy="1385455"/>
          </a:xfrm>
          <a:prstGeom prst="rect">
            <a:avLst/>
          </a:prstGeom>
          <a:ln w="19050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37047339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2530C9-23B9-4FF7-A425-40B976E7039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Heap Sort: </a:t>
            </a:r>
            <a:r>
              <a:rPr lang="en-US" sz="3200" b="1" dirty="0">
                <a:solidFill>
                  <a:srgbClr val="00823B"/>
                </a:solidFill>
              </a:rPr>
              <a:t>Loop Invariant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590800"/>
            <a:ext cx="3048000" cy="1385455"/>
          </a:xfrm>
          <a:prstGeom prst="rect">
            <a:avLst/>
          </a:prstGeom>
          <a:ln w="19050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27526469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C2530C9-23B9-4FF7-A425-40B976E7039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1143000"/>
          </a:xfrm>
        </p:spPr>
        <p:txBody>
          <a:bodyPr/>
          <a:lstStyle/>
          <a:p>
            <a:pPr algn="just"/>
            <a:r>
              <a:rPr lang="en-US" b="1" dirty="0">
                <a:solidFill>
                  <a:srgbClr val="FF0000"/>
                </a:solidFill>
              </a:rPr>
              <a:t>Loop Invariant: </a:t>
            </a:r>
            <a:r>
              <a:rPr lang="en-US" sz="3200" b="1" dirty="0">
                <a:solidFill>
                  <a:srgbClr val="00823B"/>
                </a:solidFill>
              </a:rPr>
              <a:t>Verification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590800"/>
            <a:ext cx="3048000" cy="1385455"/>
          </a:xfrm>
          <a:prstGeom prst="rect">
            <a:avLst/>
          </a:prstGeom>
          <a:ln w="19050">
            <a:solidFill>
              <a:srgbClr val="0000FF"/>
            </a:solidFill>
          </a:ln>
        </p:spPr>
      </p:pic>
    </p:spTree>
    <p:extLst>
      <p:ext uri="{BB962C8B-B14F-4D97-AF65-F5344CB8AC3E}">
        <p14:creationId xmlns:p14="http://schemas.microsoft.com/office/powerpoint/2010/main" val="34929656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Growth Order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/>
              <a:t>Asymptotic Analysis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38948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Order of Growth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What is the Big-O of the following functions:</a:t>
            </a:r>
          </a:p>
          <a:p>
            <a:pPr lvl="1"/>
            <a:r>
              <a:rPr lang="en-US" sz="1800" dirty="0"/>
              <a:t>f(n) = 4n</a:t>
            </a:r>
            <a:r>
              <a:rPr lang="en-US" sz="1800" baseline="30000" dirty="0"/>
              <a:t>2</a:t>
            </a:r>
            <a:r>
              <a:rPr lang="en-US" sz="1800" dirty="0"/>
              <a:t> +3n +10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7768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Order of Growth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What is the Big-O of the following functions:</a:t>
            </a:r>
          </a:p>
          <a:p>
            <a:pPr lvl="1"/>
            <a:r>
              <a:rPr lang="en-US" sz="1800" dirty="0"/>
              <a:t>f(n) = 4n</a:t>
            </a:r>
            <a:r>
              <a:rPr lang="en-US" sz="1800" baseline="30000" dirty="0"/>
              <a:t>2</a:t>
            </a:r>
            <a:r>
              <a:rPr lang="en-US" sz="1800" dirty="0"/>
              <a:t> +3n +10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79476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Order of Growth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What is the Big-O of the following functions:</a:t>
            </a:r>
          </a:p>
          <a:p>
            <a:pPr lvl="1"/>
            <a:r>
              <a:rPr lang="en-US" sz="1800" dirty="0"/>
              <a:t>f(n) = 4n</a:t>
            </a:r>
            <a:r>
              <a:rPr lang="en-US" sz="1800" baseline="30000" dirty="0"/>
              <a:t>2</a:t>
            </a:r>
            <a:r>
              <a:rPr lang="en-US" sz="1800" dirty="0"/>
              <a:t> +3n +10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76,756,234n</a:t>
            </a:r>
            <a:r>
              <a:rPr lang="en-US" sz="1800" baseline="30000" dirty="0"/>
              <a:t>2</a:t>
            </a:r>
            <a:r>
              <a:rPr lang="en-US" sz="1800" dirty="0"/>
              <a:t> + 427,913n + 7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809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Order of Growth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What is the Big-O of the following functions:</a:t>
            </a:r>
          </a:p>
          <a:p>
            <a:pPr lvl="1"/>
            <a:r>
              <a:rPr lang="en-US" sz="1800" dirty="0"/>
              <a:t>f(n) = 4n</a:t>
            </a:r>
            <a:r>
              <a:rPr lang="en-US" sz="1800" baseline="30000" dirty="0"/>
              <a:t>2</a:t>
            </a:r>
            <a:r>
              <a:rPr lang="en-US" sz="1800" dirty="0"/>
              <a:t> +3n +10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76,756,234n</a:t>
            </a:r>
            <a:r>
              <a:rPr lang="en-US" sz="1800" baseline="30000" dirty="0"/>
              <a:t>2</a:t>
            </a:r>
            <a:r>
              <a:rPr lang="en-US" sz="1800" dirty="0"/>
              <a:t> + 427,913n + 7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70401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Order of Growth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What is the Big-O of the following functions:</a:t>
            </a:r>
          </a:p>
          <a:p>
            <a:pPr lvl="1"/>
            <a:r>
              <a:rPr lang="en-US" sz="1800" dirty="0"/>
              <a:t>f(n) = 4n</a:t>
            </a:r>
            <a:r>
              <a:rPr lang="en-US" sz="1800" baseline="30000" dirty="0"/>
              <a:t>2</a:t>
            </a:r>
            <a:r>
              <a:rPr lang="en-US" sz="1800" dirty="0"/>
              <a:t> +3n +10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76,756,234n</a:t>
            </a:r>
            <a:r>
              <a:rPr lang="en-US" sz="1800" baseline="30000" dirty="0"/>
              <a:t>2</a:t>
            </a:r>
            <a:r>
              <a:rPr lang="en-US" sz="1800" dirty="0"/>
              <a:t> + 427,913n + 7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74n</a:t>
            </a:r>
            <a:r>
              <a:rPr lang="en-US" sz="1800" baseline="30000" dirty="0"/>
              <a:t>8</a:t>
            </a:r>
            <a:r>
              <a:rPr lang="en-US" sz="1800" dirty="0"/>
              <a:t> - 62n</a:t>
            </a:r>
            <a:r>
              <a:rPr lang="en-US" sz="1800" baseline="30000" dirty="0"/>
              <a:t>5</a:t>
            </a:r>
            <a:r>
              <a:rPr lang="en-US" sz="1800" dirty="0"/>
              <a:t> - 71562n</a:t>
            </a:r>
            <a:r>
              <a:rPr lang="en-US" sz="1800" baseline="30000" dirty="0"/>
              <a:t>3</a:t>
            </a:r>
            <a:r>
              <a:rPr lang="en-US" sz="1800" dirty="0"/>
              <a:t> + 3n</a:t>
            </a:r>
            <a:r>
              <a:rPr lang="en-US" sz="1800" baseline="30000" dirty="0"/>
              <a:t>2</a:t>
            </a:r>
            <a:r>
              <a:rPr lang="en-US" sz="1800" dirty="0"/>
              <a:t> –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98281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Order of Growth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What is the Big-O of the following functions:</a:t>
            </a:r>
          </a:p>
          <a:p>
            <a:pPr lvl="1"/>
            <a:r>
              <a:rPr lang="en-US" sz="1800" dirty="0"/>
              <a:t>f(n) = 4n</a:t>
            </a:r>
            <a:r>
              <a:rPr lang="en-US" sz="1800" baseline="30000" dirty="0"/>
              <a:t>2</a:t>
            </a:r>
            <a:r>
              <a:rPr lang="en-US" sz="1800" dirty="0"/>
              <a:t> +3n +10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76,756,234n</a:t>
            </a:r>
            <a:r>
              <a:rPr lang="en-US" sz="1800" baseline="30000" dirty="0"/>
              <a:t>2</a:t>
            </a:r>
            <a:r>
              <a:rPr lang="en-US" sz="1800" dirty="0"/>
              <a:t> + 427,913n + 7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74n</a:t>
            </a:r>
            <a:r>
              <a:rPr lang="en-US" sz="1800" baseline="30000" dirty="0"/>
              <a:t>8</a:t>
            </a:r>
            <a:r>
              <a:rPr lang="en-US" sz="1800" dirty="0"/>
              <a:t> - 62n</a:t>
            </a:r>
            <a:r>
              <a:rPr lang="en-US" sz="1800" baseline="30000" dirty="0"/>
              <a:t>5</a:t>
            </a:r>
            <a:r>
              <a:rPr lang="en-US" sz="1800" dirty="0"/>
              <a:t> - 71562n</a:t>
            </a:r>
            <a:r>
              <a:rPr lang="en-US" sz="1800" baseline="30000" dirty="0"/>
              <a:t>3</a:t>
            </a:r>
            <a:r>
              <a:rPr lang="en-US" sz="1800" dirty="0"/>
              <a:t> + 3n</a:t>
            </a:r>
            <a:r>
              <a:rPr lang="en-US" sz="1800" baseline="30000" dirty="0"/>
              <a:t>2</a:t>
            </a:r>
            <a:r>
              <a:rPr lang="en-US" sz="1800" dirty="0"/>
              <a:t> – 5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8</a:t>
            </a:r>
            <a:r>
              <a:rPr lang="en-US" sz="16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7151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Order of Growth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What is the Big-O of the following functions:</a:t>
            </a:r>
          </a:p>
          <a:p>
            <a:pPr lvl="1"/>
            <a:r>
              <a:rPr lang="en-US" sz="1800" dirty="0"/>
              <a:t>f(n) = 4n</a:t>
            </a:r>
            <a:r>
              <a:rPr lang="en-US" sz="1800" baseline="30000" dirty="0"/>
              <a:t>2</a:t>
            </a:r>
            <a:r>
              <a:rPr lang="en-US" sz="1800" dirty="0"/>
              <a:t> +3n +10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76,756,234n</a:t>
            </a:r>
            <a:r>
              <a:rPr lang="en-US" sz="1800" baseline="30000" dirty="0"/>
              <a:t>2</a:t>
            </a:r>
            <a:r>
              <a:rPr lang="en-US" sz="1800" dirty="0"/>
              <a:t> + 427,913n + 7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74n</a:t>
            </a:r>
            <a:r>
              <a:rPr lang="en-US" sz="1800" baseline="30000" dirty="0"/>
              <a:t>8</a:t>
            </a:r>
            <a:r>
              <a:rPr lang="en-US" sz="1800" dirty="0"/>
              <a:t> - 62n</a:t>
            </a:r>
            <a:r>
              <a:rPr lang="en-US" sz="1800" baseline="30000" dirty="0"/>
              <a:t>5</a:t>
            </a:r>
            <a:r>
              <a:rPr lang="en-US" sz="1800" dirty="0"/>
              <a:t> - 71562n</a:t>
            </a:r>
            <a:r>
              <a:rPr lang="en-US" sz="1800" baseline="30000" dirty="0"/>
              <a:t>3</a:t>
            </a:r>
            <a:r>
              <a:rPr lang="en-US" sz="1800" dirty="0"/>
              <a:t> + 3n</a:t>
            </a:r>
            <a:r>
              <a:rPr lang="en-US" sz="1800" baseline="30000" dirty="0"/>
              <a:t>2</a:t>
            </a:r>
            <a:r>
              <a:rPr lang="en-US" sz="1800" dirty="0"/>
              <a:t> – 5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8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42n</a:t>
            </a:r>
            <a:r>
              <a:rPr lang="en-US" sz="1800" baseline="30000" dirty="0"/>
              <a:t>4</a:t>
            </a:r>
            <a:r>
              <a:rPr lang="en-US" sz="1800" dirty="0"/>
              <a:t>*(12n</a:t>
            </a:r>
            <a:r>
              <a:rPr lang="en-US" sz="1800" baseline="30000" dirty="0"/>
              <a:t>6</a:t>
            </a:r>
            <a:r>
              <a:rPr lang="en-US" sz="1800" dirty="0"/>
              <a:t> - 73n</a:t>
            </a:r>
            <a:r>
              <a:rPr lang="en-US" sz="1800" baseline="30000" dirty="0"/>
              <a:t>2</a:t>
            </a:r>
            <a:r>
              <a:rPr lang="en-US" sz="1800" dirty="0"/>
              <a:t> + 11)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4424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Order of Growth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What is the Big-O of the following functions:</a:t>
            </a:r>
          </a:p>
          <a:p>
            <a:pPr lvl="1"/>
            <a:r>
              <a:rPr lang="en-US" sz="1800" dirty="0"/>
              <a:t>f(n) = 4n</a:t>
            </a:r>
            <a:r>
              <a:rPr lang="en-US" sz="1800" baseline="30000" dirty="0"/>
              <a:t>2</a:t>
            </a:r>
            <a:r>
              <a:rPr lang="en-US" sz="1800" dirty="0"/>
              <a:t> +3n +10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76,756,234n</a:t>
            </a:r>
            <a:r>
              <a:rPr lang="en-US" sz="1800" baseline="30000" dirty="0"/>
              <a:t>2</a:t>
            </a:r>
            <a:r>
              <a:rPr lang="en-US" sz="1800" dirty="0"/>
              <a:t> + 427,913n + 7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74n</a:t>
            </a:r>
            <a:r>
              <a:rPr lang="en-US" sz="1800" baseline="30000" dirty="0"/>
              <a:t>8</a:t>
            </a:r>
            <a:r>
              <a:rPr lang="en-US" sz="1800" dirty="0"/>
              <a:t> - 62n</a:t>
            </a:r>
            <a:r>
              <a:rPr lang="en-US" sz="1800" baseline="30000" dirty="0"/>
              <a:t>5</a:t>
            </a:r>
            <a:r>
              <a:rPr lang="en-US" sz="1800" dirty="0"/>
              <a:t> - 71562n</a:t>
            </a:r>
            <a:r>
              <a:rPr lang="en-US" sz="1800" baseline="30000" dirty="0"/>
              <a:t>3</a:t>
            </a:r>
            <a:r>
              <a:rPr lang="en-US" sz="1800" dirty="0"/>
              <a:t> + 3n</a:t>
            </a:r>
            <a:r>
              <a:rPr lang="en-US" sz="1800" baseline="30000" dirty="0"/>
              <a:t>2</a:t>
            </a:r>
            <a:r>
              <a:rPr lang="en-US" sz="1800" dirty="0"/>
              <a:t> – 5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8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42n</a:t>
            </a:r>
            <a:r>
              <a:rPr lang="en-US" sz="1800" baseline="30000" dirty="0"/>
              <a:t>4</a:t>
            </a:r>
            <a:r>
              <a:rPr lang="en-US" sz="1800" dirty="0"/>
              <a:t>*(12n</a:t>
            </a:r>
            <a:r>
              <a:rPr lang="en-US" sz="1800" baseline="30000" dirty="0"/>
              <a:t>6</a:t>
            </a:r>
            <a:r>
              <a:rPr lang="en-US" sz="1800" dirty="0"/>
              <a:t> - 73n</a:t>
            </a:r>
            <a:r>
              <a:rPr lang="en-US" sz="1800" baseline="30000" dirty="0"/>
              <a:t>2</a:t>
            </a:r>
            <a:r>
              <a:rPr lang="en-US" sz="1800" dirty="0"/>
              <a:t> + 11)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10</a:t>
            </a:r>
            <a:r>
              <a:rPr lang="en-US" sz="16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07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Order of Growth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What is the Big-O of the following functions:</a:t>
            </a:r>
          </a:p>
          <a:p>
            <a:pPr lvl="1"/>
            <a:r>
              <a:rPr lang="en-US" sz="1800" dirty="0"/>
              <a:t>f(n) = 4n</a:t>
            </a:r>
            <a:r>
              <a:rPr lang="en-US" sz="1800" baseline="30000" dirty="0"/>
              <a:t>2</a:t>
            </a:r>
            <a:r>
              <a:rPr lang="en-US" sz="1800" dirty="0"/>
              <a:t> +3n +10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76,756,234n</a:t>
            </a:r>
            <a:r>
              <a:rPr lang="en-US" sz="1800" baseline="30000" dirty="0"/>
              <a:t>2</a:t>
            </a:r>
            <a:r>
              <a:rPr lang="en-US" sz="1800" dirty="0"/>
              <a:t> + 427,913n + 7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74n</a:t>
            </a:r>
            <a:r>
              <a:rPr lang="en-US" sz="1800" baseline="30000" dirty="0"/>
              <a:t>8</a:t>
            </a:r>
            <a:r>
              <a:rPr lang="en-US" sz="1800" dirty="0"/>
              <a:t> - 62n</a:t>
            </a:r>
            <a:r>
              <a:rPr lang="en-US" sz="1800" baseline="30000" dirty="0"/>
              <a:t>5</a:t>
            </a:r>
            <a:r>
              <a:rPr lang="en-US" sz="1800" dirty="0"/>
              <a:t> - 71562n</a:t>
            </a:r>
            <a:r>
              <a:rPr lang="en-US" sz="1800" baseline="30000" dirty="0"/>
              <a:t>3</a:t>
            </a:r>
            <a:r>
              <a:rPr lang="en-US" sz="1800" dirty="0"/>
              <a:t> + 3n</a:t>
            </a:r>
            <a:r>
              <a:rPr lang="en-US" sz="1800" baseline="30000" dirty="0"/>
              <a:t>2</a:t>
            </a:r>
            <a:r>
              <a:rPr lang="en-US" sz="1800" dirty="0"/>
              <a:t> – 5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8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42n</a:t>
            </a:r>
            <a:r>
              <a:rPr lang="en-US" sz="1800" baseline="30000" dirty="0"/>
              <a:t>4</a:t>
            </a:r>
            <a:r>
              <a:rPr lang="en-US" sz="1800" dirty="0"/>
              <a:t>*(12n</a:t>
            </a:r>
            <a:r>
              <a:rPr lang="en-US" sz="1800" baseline="30000" dirty="0"/>
              <a:t>6</a:t>
            </a:r>
            <a:r>
              <a:rPr lang="en-US" sz="1800" dirty="0"/>
              <a:t> - 73n</a:t>
            </a:r>
            <a:r>
              <a:rPr lang="en-US" sz="1800" baseline="30000" dirty="0"/>
              <a:t>2</a:t>
            </a:r>
            <a:r>
              <a:rPr lang="en-US" sz="1800" dirty="0"/>
              <a:t> + 11)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10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75n*</a:t>
            </a:r>
            <a:r>
              <a:rPr lang="en-US" sz="1800" dirty="0" err="1"/>
              <a:t>logn</a:t>
            </a:r>
            <a:r>
              <a:rPr lang="en-US" sz="1800" dirty="0"/>
              <a:t> – 415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01976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Order of Growth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What is the Big-O of the following functions:</a:t>
            </a:r>
          </a:p>
          <a:p>
            <a:pPr lvl="1"/>
            <a:r>
              <a:rPr lang="en-US" sz="1800" dirty="0"/>
              <a:t>f(n) = 4n</a:t>
            </a:r>
            <a:r>
              <a:rPr lang="en-US" sz="1800" baseline="30000" dirty="0"/>
              <a:t>2</a:t>
            </a:r>
            <a:r>
              <a:rPr lang="en-US" sz="1800" dirty="0"/>
              <a:t> +3n +10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76,756,234n</a:t>
            </a:r>
            <a:r>
              <a:rPr lang="en-US" sz="1800" baseline="30000" dirty="0"/>
              <a:t>2</a:t>
            </a:r>
            <a:r>
              <a:rPr lang="en-US" sz="1800" dirty="0"/>
              <a:t> + 427,913n + 7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2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74n</a:t>
            </a:r>
            <a:r>
              <a:rPr lang="en-US" sz="1800" baseline="30000" dirty="0"/>
              <a:t>8</a:t>
            </a:r>
            <a:r>
              <a:rPr lang="en-US" sz="1800" dirty="0"/>
              <a:t> - 62n</a:t>
            </a:r>
            <a:r>
              <a:rPr lang="en-US" sz="1800" baseline="30000" dirty="0"/>
              <a:t>5</a:t>
            </a:r>
            <a:r>
              <a:rPr lang="en-US" sz="1800" dirty="0"/>
              <a:t> - 71562n</a:t>
            </a:r>
            <a:r>
              <a:rPr lang="en-US" sz="1800" baseline="30000" dirty="0"/>
              <a:t>3</a:t>
            </a:r>
            <a:r>
              <a:rPr lang="en-US" sz="1800" dirty="0"/>
              <a:t> + 3n</a:t>
            </a:r>
            <a:r>
              <a:rPr lang="en-US" sz="1800" baseline="30000" dirty="0"/>
              <a:t>2</a:t>
            </a:r>
            <a:r>
              <a:rPr lang="en-US" sz="1800" dirty="0"/>
              <a:t> – 5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8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42n</a:t>
            </a:r>
            <a:r>
              <a:rPr lang="en-US" sz="1800" baseline="30000" dirty="0"/>
              <a:t>4</a:t>
            </a:r>
            <a:r>
              <a:rPr lang="en-US" sz="1800" dirty="0"/>
              <a:t>*(12n</a:t>
            </a:r>
            <a:r>
              <a:rPr lang="en-US" sz="1800" baseline="30000" dirty="0"/>
              <a:t>6</a:t>
            </a:r>
            <a:r>
              <a:rPr lang="en-US" sz="1800" dirty="0"/>
              <a:t> - 73n</a:t>
            </a:r>
            <a:r>
              <a:rPr lang="en-US" sz="1800" baseline="30000" dirty="0"/>
              <a:t>2</a:t>
            </a:r>
            <a:r>
              <a:rPr lang="en-US" sz="1800" dirty="0"/>
              <a:t> + 11)</a:t>
            </a:r>
          </a:p>
          <a:p>
            <a:pPr lvl="2"/>
            <a:r>
              <a:rPr lang="en-US" sz="1600" dirty="0"/>
              <a:t>Answer:  O(n</a:t>
            </a:r>
            <a:r>
              <a:rPr lang="en-US" sz="1600" baseline="30000" dirty="0"/>
              <a:t>10</a:t>
            </a:r>
            <a:r>
              <a:rPr lang="en-US" sz="1600" dirty="0"/>
              <a:t>)</a:t>
            </a:r>
          </a:p>
          <a:p>
            <a:pPr lvl="1"/>
            <a:r>
              <a:rPr lang="en-US" sz="1800" dirty="0"/>
              <a:t>f(n) = 75n*</a:t>
            </a:r>
            <a:r>
              <a:rPr lang="en-US" sz="1800" dirty="0" err="1"/>
              <a:t>logn</a:t>
            </a:r>
            <a:r>
              <a:rPr lang="en-US" sz="1800" dirty="0"/>
              <a:t> – 415</a:t>
            </a:r>
          </a:p>
          <a:p>
            <a:pPr lvl="2"/>
            <a:r>
              <a:rPr lang="en-US" sz="1600" dirty="0"/>
              <a:t>Answer:  O(n*</a:t>
            </a:r>
            <a:r>
              <a:rPr lang="en-US" sz="1600" dirty="0" err="1"/>
              <a:t>logn</a:t>
            </a:r>
            <a:r>
              <a:rPr lang="en-US" sz="1600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0912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7895661" y="1785858"/>
            <a:ext cx="214032" cy="2080087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 marR="4483" indent="1121" algn="just">
              <a:lnSpc>
                <a:spcPct val="118700"/>
              </a:lnSpc>
              <a:spcBef>
                <a:spcPts val="88"/>
              </a:spcBef>
            </a:pPr>
            <a:r>
              <a:rPr sz="2824" b="1" dirty="0">
                <a:solidFill>
                  <a:srgbClr val="FFFFFF"/>
                </a:solidFill>
                <a:latin typeface="Calibri"/>
                <a:cs typeface="Calibri"/>
              </a:rPr>
              <a:t>C </a:t>
            </a:r>
            <a:r>
              <a:rPr sz="282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24" b="1" dirty="0">
                <a:solidFill>
                  <a:srgbClr val="FFFFFF"/>
                </a:solidFill>
                <a:latin typeface="Calibri"/>
                <a:cs typeface="Calibri"/>
              </a:rPr>
              <a:t>P </a:t>
            </a:r>
            <a:r>
              <a:rPr sz="282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24" b="1" dirty="0">
                <a:solidFill>
                  <a:srgbClr val="FFFFFF"/>
                </a:solidFill>
                <a:latin typeface="Calibri"/>
                <a:cs typeface="Calibri"/>
              </a:rPr>
              <a:t>C </a:t>
            </a:r>
            <a:r>
              <a:rPr sz="2824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824" b="1" dirty="0">
                <a:solidFill>
                  <a:srgbClr val="FFFFFF"/>
                </a:solidFill>
                <a:latin typeface="Calibri"/>
                <a:cs typeface="Calibri"/>
              </a:rPr>
              <a:t>S</a:t>
            </a:r>
            <a:endParaRPr sz="2824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01041" y="4339454"/>
            <a:ext cx="204507" cy="1038942"/>
          </a:xfrm>
          <a:prstGeom prst="rect">
            <a:avLst/>
          </a:prstGeom>
        </p:spPr>
        <p:txBody>
          <a:bodyPr vert="horz" wrap="square" lIns="0" tIns="91888" rIns="0" bIns="0" rtlCol="0">
            <a:spAutoFit/>
          </a:bodyPr>
          <a:lstStyle/>
          <a:p>
            <a:pPr marL="11206">
              <a:spcBef>
                <a:spcPts val="724"/>
              </a:spcBef>
            </a:pPr>
            <a:r>
              <a:rPr sz="2824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824">
              <a:latin typeface="Calibri"/>
              <a:cs typeface="Calibri"/>
            </a:endParaRPr>
          </a:p>
          <a:p>
            <a:pPr marL="11206">
              <a:spcBef>
                <a:spcPts val="635"/>
              </a:spcBef>
            </a:pPr>
            <a:r>
              <a:rPr sz="2824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  <a:endParaRPr sz="2824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01041" y="5531333"/>
            <a:ext cx="204507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206">
              <a:lnSpc>
                <a:spcPts val="2775"/>
              </a:lnSpc>
            </a:pPr>
            <a:r>
              <a:rPr sz="2824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  <a:endParaRPr sz="2824">
              <a:latin typeface="Calibri"/>
              <a:cs typeface="Calibri"/>
            </a:endParaRPr>
          </a:p>
        </p:txBody>
      </p:sp>
      <p:sp>
        <p:nvSpPr>
          <p:cNvPr id="14" name="Title 1"/>
          <p:cNvSpPr txBox="1">
            <a:spLocks/>
          </p:cNvSpPr>
          <p:nvPr/>
        </p:nvSpPr>
        <p:spPr>
          <a:xfrm>
            <a:off x="874059" y="1539688"/>
            <a:ext cx="5513294" cy="611841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3200" b="1" i="1">
                <a:solidFill>
                  <a:srgbClr val="00823A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l"/>
            <a:r>
              <a:rPr lang="en-US" sz="2824" kern="0" dirty="0">
                <a:solidFill>
                  <a:schemeClr val="accent2"/>
                </a:solidFill>
              </a:rPr>
              <a:t>Order of Growth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896104" y="2304039"/>
            <a:ext cx="5513294" cy="380270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4400" b="1" i="0">
                <a:solidFill>
                  <a:srgbClr val="00823A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03433" indent="-403433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sz="2824" b="0" spc="-9" dirty="0">
                <a:solidFill>
                  <a:schemeClr val="tx1"/>
                </a:solidFill>
                <a:latin typeface="+mn-lt"/>
              </a:rPr>
              <a:t>Most important: Order of growth  within a constant multiple as n→∞</a:t>
            </a:r>
          </a:p>
          <a:p>
            <a:pPr marL="403433" indent="-403433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sz="2824" kern="0" spc="-13" dirty="0">
                <a:solidFill>
                  <a:schemeClr val="accent6"/>
                </a:solidFill>
              </a:rPr>
              <a:t>Empirical Analysis:</a:t>
            </a:r>
          </a:p>
          <a:p>
            <a:pPr marL="811069" lvl="1" indent="-407636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sz="2471" spc="-9" dirty="0"/>
              <a:t>How much faster will algorithm run on  computer that is twice as fast?</a:t>
            </a:r>
          </a:p>
          <a:p>
            <a:pPr marL="407636" indent="-407636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sz="2824" kern="0" spc="-13" dirty="0">
                <a:solidFill>
                  <a:schemeClr val="accent6"/>
                </a:solidFill>
              </a:rPr>
              <a:t>Theoretical Analysis</a:t>
            </a:r>
          </a:p>
          <a:p>
            <a:pPr marL="811069" lvl="1" indent="-407636">
              <a:buClr>
                <a:srgbClr val="00B050"/>
              </a:buClr>
              <a:buFont typeface="Arial" panose="020B0604020202020204" pitchFamily="34" charset="0"/>
              <a:buChar char="•"/>
            </a:pPr>
            <a:r>
              <a:rPr lang="en-US" sz="2824" kern="0" spc="-13" dirty="0">
                <a:latin typeface="Calibri"/>
                <a:cs typeface="Calibri"/>
              </a:rPr>
              <a:t>How much longer does it take to solve problem  of double input size?</a:t>
            </a:r>
          </a:p>
        </p:txBody>
      </p:sp>
    </p:spTree>
    <p:extLst>
      <p:ext uri="{BB962C8B-B14F-4D97-AF65-F5344CB8AC3E}">
        <p14:creationId xmlns:p14="http://schemas.microsoft.com/office/powerpoint/2010/main" val="2340461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Asymptotic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Represents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“</a:t>
            </a:r>
            <a:r>
              <a:rPr lang="en-US" sz="2800" b="1" i="1" dirty="0">
                <a:solidFill>
                  <a:schemeClr val="accent6">
                    <a:lumMod val="75000"/>
                  </a:schemeClr>
                </a:solidFill>
              </a:rPr>
              <a:t>asymptotic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” </a:t>
            </a:r>
            <a:r>
              <a:rPr lang="en-US" sz="2800" dirty="0"/>
              <a:t>efficiency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Running Time </a:t>
            </a:r>
            <a:r>
              <a:rPr lang="en-US" sz="2800" b="1" dirty="0">
                <a:solidFill>
                  <a:schemeClr val="accent6">
                    <a:lumMod val="75000"/>
                  </a:schemeClr>
                </a:solidFill>
              </a:rPr>
              <a:t>Variations</a:t>
            </a:r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r>
              <a:rPr lang="en-US" sz="2800" dirty="0"/>
              <a:t>Asymptotic Notation</a:t>
            </a:r>
          </a:p>
          <a:p>
            <a:pPr lvl="1">
              <a:lnSpc>
                <a:spcPct val="90000"/>
              </a:lnSpc>
            </a:pPr>
            <a:r>
              <a:rPr lang="en-US" sz="2400" dirty="0"/>
              <a:t>Used to describe the asymptotic running time of an algorithm in terms of function whose domains are set of natural numbers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4968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Asymptotic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endParaRPr lang="en-GB" sz="2400" b="1" i="1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GB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endParaRPr lang="en-GB" sz="2400" b="1" i="1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GB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6050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Asymptotic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dirty="0"/>
              <a:t> - Notation (Theta)</a:t>
            </a:r>
          </a:p>
          <a:p>
            <a:pPr>
              <a:lnSpc>
                <a:spcPct val="90000"/>
              </a:lnSpc>
            </a:pPr>
            <a:endParaRPr lang="en-GB" sz="2400" b="1" i="1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GB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endParaRPr lang="en-GB" sz="2400" b="1" i="1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GB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9622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Asymptotic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dirty="0"/>
              <a:t> - Notation (Theta)</a:t>
            </a:r>
          </a:p>
          <a:p>
            <a:pPr>
              <a:lnSpc>
                <a:spcPct val="90000"/>
              </a:lnSpc>
            </a:pPr>
            <a:endParaRPr lang="en-GB" sz="2400" b="1" i="1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GB" sz="2400" b="1" i="1" dirty="0">
                <a:cs typeface="Times New Roman" pitchFamily="18" charset="0"/>
              </a:rPr>
              <a:t>O</a:t>
            </a:r>
            <a:r>
              <a:rPr lang="en-US" sz="2400" dirty="0"/>
              <a:t> – Notation (Big- Oh)</a:t>
            </a:r>
          </a:p>
          <a:p>
            <a:pPr>
              <a:lnSpc>
                <a:spcPct val="90000"/>
              </a:lnSpc>
            </a:pPr>
            <a:endParaRPr lang="en-GB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endParaRPr lang="en-GB" sz="2400" b="1" i="1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GB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417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Asymptotic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dirty="0"/>
              <a:t> - Notation (Theta)</a:t>
            </a:r>
          </a:p>
          <a:p>
            <a:pPr>
              <a:lnSpc>
                <a:spcPct val="90000"/>
              </a:lnSpc>
            </a:pPr>
            <a:endParaRPr lang="en-GB" sz="2400" b="1" i="1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GB" sz="2400" b="1" i="1" dirty="0">
                <a:cs typeface="Times New Roman" pitchFamily="18" charset="0"/>
              </a:rPr>
              <a:t>O</a:t>
            </a:r>
            <a:r>
              <a:rPr lang="en-US" sz="2400" dirty="0"/>
              <a:t> – Notation (Big- Oh)</a:t>
            </a:r>
          </a:p>
          <a:p>
            <a:pPr>
              <a:lnSpc>
                <a:spcPct val="90000"/>
              </a:lnSpc>
            </a:pPr>
            <a:endParaRPr lang="en-GB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2400" dirty="0"/>
              <a:t> - Notation  (Omega)</a:t>
            </a:r>
          </a:p>
          <a:p>
            <a:pPr>
              <a:lnSpc>
                <a:spcPct val="90000"/>
              </a:lnSpc>
            </a:pPr>
            <a:endParaRPr lang="en-GB" sz="2400" b="1" i="1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endParaRPr lang="en-GB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227706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Asymptotic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dirty="0"/>
              <a:t> - Notation (Theta)</a:t>
            </a:r>
          </a:p>
          <a:p>
            <a:pPr>
              <a:lnSpc>
                <a:spcPct val="90000"/>
              </a:lnSpc>
            </a:pPr>
            <a:endParaRPr lang="en-GB" sz="2400" b="1" i="1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GB" sz="2400" b="1" i="1" dirty="0">
                <a:cs typeface="Times New Roman" pitchFamily="18" charset="0"/>
              </a:rPr>
              <a:t>O</a:t>
            </a:r>
            <a:r>
              <a:rPr lang="en-US" sz="2400" dirty="0"/>
              <a:t> – Notation (Big- Oh)</a:t>
            </a:r>
          </a:p>
          <a:p>
            <a:pPr>
              <a:lnSpc>
                <a:spcPct val="90000"/>
              </a:lnSpc>
            </a:pPr>
            <a:endParaRPr lang="en-GB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2400" dirty="0"/>
              <a:t> - Notation  (Omega)</a:t>
            </a:r>
          </a:p>
          <a:p>
            <a:pPr>
              <a:lnSpc>
                <a:spcPct val="90000"/>
              </a:lnSpc>
            </a:pPr>
            <a:endParaRPr lang="en-GB" sz="2400" b="1" i="1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GB" sz="2400" b="1" i="1" dirty="0">
                <a:cs typeface="Times New Roman" pitchFamily="18" charset="0"/>
              </a:rPr>
              <a:t>o</a:t>
            </a:r>
            <a:r>
              <a:rPr lang="en-US" sz="2400" dirty="0"/>
              <a:t> – Notation  (little Oh)</a:t>
            </a:r>
          </a:p>
          <a:p>
            <a:pPr>
              <a:lnSpc>
                <a:spcPct val="90000"/>
              </a:lnSpc>
            </a:pPr>
            <a:endParaRPr lang="en-GB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0909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solidFill>
                  <a:srgbClr val="7030A0"/>
                </a:solidFill>
              </a:rPr>
              <a:t>Asymptotic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dirty="0"/>
              <a:t> - Notation (Theta)</a:t>
            </a:r>
          </a:p>
          <a:p>
            <a:pPr>
              <a:lnSpc>
                <a:spcPct val="90000"/>
              </a:lnSpc>
            </a:pPr>
            <a:endParaRPr lang="en-GB" sz="2400" b="1" i="1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GB" sz="2400" b="1" i="1" dirty="0">
                <a:cs typeface="Times New Roman" pitchFamily="18" charset="0"/>
              </a:rPr>
              <a:t>O</a:t>
            </a:r>
            <a:r>
              <a:rPr lang="en-US" sz="2400" dirty="0"/>
              <a:t> – Notation (Big- Oh)</a:t>
            </a:r>
          </a:p>
          <a:p>
            <a:pPr>
              <a:lnSpc>
                <a:spcPct val="90000"/>
              </a:lnSpc>
            </a:pPr>
            <a:endParaRPr lang="en-GB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2400" dirty="0"/>
              <a:t> - Notation  (Omega)</a:t>
            </a:r>
          </a:p>
          <a:p>
            <a:pPr>
              <a:lnSpc>
                <a:spcPct val="90000"/>
              </a:lnSpc>
            </a:pPr>
            <a:endParaRPr lang="en-GB" sz="2400" b="1" i="1" dirty="0">
              <a:cs typeface="Times New Roman" pitchFamily="18" charset="0"/>
            </a:endParaRPr>
          </a:p>
          <a:p>
            <a:pPr>
              <a:lnSpc>
                <a:spcPct val="90000"/>
              </a:lnSpc>
            </a:pPr>
            <a:r>
              <a:rPr lang="en-GB" sz="2400" b="1" i="1" dirty="0">
                <a:cs typeface="Times New Roman" pitchFamily="18" charset="0"/>
              </a:rPr>
              <a:t>o</a:t>
            </a:r>
            <a:r>
              <a:rPr lang="en-US" sz="2400" dirty="0"/>
              <a:t> – Notation  (little Oh)</a:t>
            </a:r>
          </a:p>
          <a:p>
            <a:pPr>
              <a:lnSpc>
                <a:spcPct val="90000"/>
              </a:lnSpc>
            </a:pPr>
            <a:endParaRPr lang="en-GB" sz="24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>
              <a:lnSpc>
                <a:spcPct val="90000"/>
              </a:lnSpc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</a:t>
            </a:r>
            <a:r>
              <a:rPr lang="en-US" sz="2400" dirty="0"/>
              <a:t> - Notation   (little Omega)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5190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941390"/>
          </a:xfrm>
        </p:spPr>
        <p:txBody>
          <a:bodyPr>
            <a:normAutofit/>
          </a:bodyPr>
          <a:lstStyle/>
          <a:p>
            <a:pPr algn="l"/>
            <a:r>
              <a:rPr lang="en-GB" b="1" dirty="0">
                <a:solidFill>
                  <a:srgbClr val="7030A0"/>
                </a:solidFill>
                <a:sym typeface="Symbol" pitchFamily="18" charset="2"/>
              </a:rPr>
              <a:t>O-Big Oh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48</a:t>
            </a:fld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19125" y="2278063"/>
          <a:ext cx="7088188" cy="182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94160" imgH="1130040" progId="Equation.3">
                  <p:embed/>
                </p:oleObj>
              </mc:Choice>
              <mc:Fallback>
                <p:oleObj name="Equation" r:id="rId3" imgW="4394160" imgH="1130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9125" y="2278063"/>
                        <a:ext cx="7088188" cy="182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5600" y="4217986"/>
            <a:ext cx="2286000" cy="231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511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941390"/>
          </a:xfrm>
        </p:spPr>
        <p:txBody>
          <a:bodyPr>
            <a:normAutofit/>
          </a:bodyPr>
          <a:lstStyle/>
          <a:p>
            <a:pPr algn="l"/>
            <a:r>
              <a:rPr lang="en-GB" b="1" dirty="0">
                <a:solidFill>
                  <a:srgbClr val="7030A0"/>
                </a:solidFill>
                <a:sym typeface="Symbol" pitchFamily="18" charset="2"/>
              </a:rPr>
              <a:t>O-Big Oh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596419" cy="388077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endParaRPr lang="en-US" dirty="0"/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r>
              <a:rPr lang="en-GB" sz="2000" b="1" i="1" dirty="0">
                <a:cs typeface="Times New Roman" pitchFamily="18" charset="0"/>
              </a:rPr>
              <a:t>O </a:t>
            </a:r>
            <a:r>
              <a:rPr lang="en-US" sz="2000" b="1" i="1" dirty="0"/>
              <a:t>(g(n)) = { f(n) : such that 0 &lt;= f(n) &lt;= c g(n) }</a:t>
            </a:r>
            <a:endParaRPr lang="en-US" sz="3600" dirty="0"/>
          </a:p>
          <a:p>
            <a:pPr marL="457200" lvl="1" indent="0">
              <a:buNone/>
            </a:pPr>
            <a:r>
              <a:rPr lang="en-US" sz="1900" dirty="0"/>
              <a:t>Where c and n are positive constant and n</a:t>
            </a:r>
            <a:r>
              <a:rPr lang="en-US" sz="1900" baseline="-25000" dirty="0"/>
              <a:t>0</a:t>
            </a:r>
            <a:r>
              <a:rPr lang="en-US" sz="1900" dirty="0"/>
              <a:t> &lt;= n</a:t>
            </a:r>
            <a:r>
              <a:rPr lang="en-US" sz="2800" dirty="0"/>
              <a:t> </a:t>
            </a:r>
            <a:endParaRPr lang="en-US" sz="2800" b="1" i="1" dirty="0"/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49</a:t>
            </a:fld>
            <a:endParaRPr lang="en-US" dirty="0"/>
          </a:p>
        </p:txBody>
      </p:sp>
      <p:pic>
        <p:nvPicPr>
          <p:cNvPr id="9" name="Picture 4" descr="figs2_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6037" y="2360153"/>
            <a:ext cx="3122601" cy="260604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2360153"/>
            <a:ext cx="2476500" cy="2506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245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941390"/>
          </a:xfrm>
        </p:spPr>
        <p:txBody>
          <a:bodyPr>
            <a:normAutofit/>
          </a:bodyPr>
          <a:lstStyle/>
          <a:p>
            <a:pPr algn="l"/>
            <a:r>
              <a:rPr lang="en-GB" b="1" dirty="0">
                <a:solidFill>
                  <a:srgbClr val="7030A0"/>
                </a:solidFill>
                <a:sym typeface="Symbol" pitchFamily="18" charset="2"/>
              </a:rPr>
              <a:t> -Omega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50</a:t>
            </a:fld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09598" y="2277603"/>
          <a:ext cx="7109106" cy="1823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06760" imgH="1130040" progId="Equation.3">
                  <p:embed/>
                </p:oleObj>
              </mc:Choice>
              <mc:Fallback>
                <p:oleObj name="Equation" r:id="rId3" imgW="4406760" imgH="1130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598" y="2277603"/>
                        <a:ext cx="7109106" cy="18233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87706" y="4148010"/>
            <a:ext cx="2301787" cy="235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850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941390"/>
          </a:xfrm>
        </p:spPr>
        <p:txBody>
          <a:bodyPr>
            <a:normAutofit/>
          </a:bodyPr>
          <a:lstStyle/>
          <a:p>
            <a:pPr algn="l"/>
            <a:r>
              <a:rPr lang="en-GB" b="1" dirty="0">
                <a:solidFill>
                  <a:srgbClr val="7030A0"/>
                </a:solidFill>
                <a:sym typeface="Symbol" pitchFamily="18" charset="2"/>
              </a:rPr>
              <a:t> -Omega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596419" cy="388077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endParaRPr lang="en-US" dirty="0"/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r>
              <a:rPr lang="en-GB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 </a:t>
            </a:r>
            <a:r>
              <a:rPr lang="en-US" sz="2000" b="1" i="1" dirty="0"/>
              <a:t>(g(n)) = { f(n) : such that 0 &lt;= c g(n) &lt;= f(n) }</a:t>
            </a:r>
            <a:endParaRPr lang="en-GB" sz="36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457200" lvl="1" indent="0">
              <a:buNone/>
            </a:pPr>
            <a:r>
              <a:rPr lang="en-US" sz="1900" dirty="0"/>
              <a:t>Where c and n are positive constant and n</a:t>
            </a:r>
            <a:r>
              <a:rPr lang="en-US" sz="1900" baseline="-25000" dirty="0"/>
              <a:t>0</a:t>
            </a:r>
            <a:r>
              <a:rPr lang="en-US" sz="1900" dirty="0"/>
              <a:t> &lt;= n</a:t>
            </a:r>
            <a:r>
              <a:rPr lang="en-US" sz="2800" dirty="0"/>
              <a:t> </a:t>
            </a:r>
            <a:endParaRPr lang="en-US" sz="2800" b="1" i="1" dirty="0"/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51</a:t>
            </a:fld>
            <a:endParaRPr lang="en-US" dirty="0"/>
          </a:p>
        </p:txBody>
      </p:sp>
      <p:pic>
        <p:nvPicPr>
          <p:cNvPr id="10" name="Picture 4" descr="figs2_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55043" y="2359424"/>
            <a:ext cx="2673538" cy="238658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60590"/>
            <a:ext cx="2444533" cy="250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461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941390"/>
          </a:xfrm>
        </p:spPr>
        <p:txBody>
          <a:bodyPr>
            <a:normAutofit/>
          </a:bodyPr>
          <a:lstStyle/>
          <a:p>
            <a:pPr algn="l"/>
            <a:r>
              <a:rPr lang="en-GB" b="1" dirty="0">
                <a:solidFill>
                  <a:srgbClr val="7030A0"/>
                </a:solidFill>
                <a:sym typeface="Symbol" pitchFamily="18" charset="2"/>
              </a:rPr>
              <a:t>-Theta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52</a:t>
            </a:fld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09598" y="2277603"/>
          <a:ext cx="7109106" cy="18233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406760" imgH="1130040" progId="Equation.3">
                  <p:embed/>
                </p:oleObj>
              </mc:Choice>
              <mc:Fallback>
                <p:oleObj name="Equation" r:id="rId3" imgW="4406760" imgH="1130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09598" y="2277603"/>
                        <a:ext cx="7109106" cy="18233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3423" y="4148010"/>
            <a:ext cx="2281455" cy="2359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95255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941390"/>
          </a:xfrm>
        </p:spPr>
        <p:txBody>
          <a:bodyPr>
            <a:normAutofit/>
          </a:bodyPr>
          <a:lstStyle/>
          <a:p>
            <a:pPr algn="l"/>
            <a:r>
              <a:rPr lang="en-GB" b="1" dirty="0">
                <a:solidFill>
                  <a:srgbClr val="7030A0"/>
                </a:solidFill>
                <a:sym typeface="Symbol" pitchFamily="18" charset="2"/>
              </a:rPr>
              <a:t>-Theta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596419" cy="3880773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endParaRPr lang="en-US" dirty="0"/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r>
              <a:rPr lang="en-GB" sz="2000" b="1" i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 </a:t>
            </a:r>
            <a:r>
              <a:rPr lang="en-US" sz="2000" b="1" i="1" dirty="0"/>
              <a:t>(g(n)) = { f(n) : such that</a:t>
            </a:r>
          </a:p>
          <a:p>
            <a:pPr marL="457200" lvl="1" indent="0">
              <a:buNone/>
            </a:pPr>
            <a:r>
              <a:rPr lang="en-US" sz="2000" b="1" i="1" dirty="0"/>
              <a:t>			 0 &lt;= c1 g(n) &lt;= f(n) &lt;= c2 g(n) }</a:t>
            </a:r>
          </a:p>
          <a:p>
            <a:pPr marL="457200" lvl="1" indent="0">
              <a:buNone/>
            </a:pPr>
            <a:r>
              <a:rPr lang="en-US" sz="2100" dirty="0"/>
              <a:t>Where c1, c2 and n are positive constant and n</a:t>
            </a:r>
            <a:r>
              <a:rPr lang="en-US" sz="2100" baseline="-25000" dirty="0"/>
              <a:t>0</a:t>
            </a:r>
            <a:r>
              <a:rPr lang="en-US" sz="2100" dirty="0"/>
              <a:t> &lt;= n 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53</a:t>
            </a:fld>
            <a:endParaRPr lang="en-US" dirty="0"/>
          </a:p>
        </p:txBody>
      </p:sp>
      <p:pic>
        <p:nvPicPr>
          <p:cNvPr id="9" name="Picture 4" descr="figs2_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87499" y="2160590"/>
            <a:ext cx="3213750" cy="27249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184" y="2249193"/>
            <a:ext cx="2422941" cy="2505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002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941390"/>
          </a:xfrm>
        </p:spPr>
        <p:txBody>
          <a:bodyPr>
            <a:normAutofit/>
          </a:bodyPr>
          <a:lstStyle/>
          <a:p>
            <a:pPr algn="l"/>
            <a:r>
              <a:rPr lang="en-GB" b="1" dirty="0">
                <a:solidFill>
                  <a:srgbClr val="7030A0"/>
                </a:solidFill>
                <a:sym typeface="Symbol" pitchFamily="18" charset="2"/>
              </a:rPr>
              <a:t>o-little Oh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54</a:t>
            </a:fld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39763" y="2278063"/>
          <a:ext cx="7046912" cy="182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68600" imgH="1130040" progId="Equation.3">
                  <p:embed/>
                </p:oleObj>
              </mc:Choice>
              <mc:Fallback>
                <p:oleObj name="Equation" r:id="rId3" imgW="4368600" imgH="1130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9763" y="2278063"/>
                        <a:ext cx="7046912" cy="182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11" descr="graph_O"/>
          <p:cNvPicPr>
            <a:picLocks noChangeAspect="1" noChangeArrowheads="1"/>
          </p:cNvPicPr>
          <p:nvPr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42436" y="4100513"/>
            <a:ext cx="1930741" cy="194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874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GB" b="1" dirty="0">
                <a:solidFill>
                  <a:srgbClr val="7030A0"/>
                </a:solidFill>
                <a:sym typeface="Symbol" pitchFamily="18" charset="2"/>
              </a:rPr>
              <a:t>o-little Oh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596419" cy="388077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endParaRPr lang="en-US" dirty="0"/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r>
              <a:rPr lang="en-GB" sz="2000" b="1" i="1" dirty="0">
                <a:cs typeface="Times New Roman" pitchFamily="18" charset="0"/>
              </a:rPr>
              <a:t>O </a:t>
            </a:r>
            <a:r>
              <a:rPr lang="en-US" sz="2000" b="1" i="1" dirty="0"/>
              <a:t>(g(n)) = { f(n) : such that 0 &lt;= f(n) &lt; c g(n) }</a:t>
            </a:r>
            <a:endParaRPr lang="en-US" sz="3600" dirty="0"/>
          </a:p>
          <a:p>
            <a:pPr marL="457200" lvl="1" indent="0">
              <a:buNone/>
            </a:pPr>
            <a:r>
              <a:rPr lang="en-US" sz="1900" dirty="0"/>
              <a:t>Where c and n are positive constant and n</a:t>
            </a:r>
            <a:r>
              <a:rPr lang="en-US" sz="1900" baseline="-25000" dirty="0"/>
              <a:t>0</a:t>
            </a:r>
            <a:r>
              <a:rPr lang="en-US" sz="1900" dirty="0"/>
              <a:t> &lt;= n</a:t>
            </a:r>
            <a:r>
              <a:rPr lang="en-US" sz="2800" dirty="0"/>
              <a:t> </a:t>
            </a:r>
            <a:endParaRPr lang="en-US" sz="2800" b="1" i="1" dirty="0"/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55</a:t>
            </a:fld>
            <a:endParaRPr lang="en-US" dirty="0"/>
          </a:p>
        </p:txBody>
      </p:sp>
      <p:pic>
        <p:nvPicPr>
          <p:cNvPr id="8" name="Picture 11" descr="graph_O"/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83633" y="2362200"/>
            <a:ext cx="2588394" cy="2601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9" name="Picture 4" descr="figs2_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66037" y="2360153"/>
            <a:ext cx="3122601" cy="260604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4212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941390"/>
          </a:xfrm>
        </p:spPr>
        <p:txBody>
          <a:bodyPr>
            <a:normAutofit/>
          </a:bodyPr>
          <a:lstStyle/>
          <a:p>
            <a:pPr algn="l"/>
            <a:r>
              <a:rPr lang="en-GB" b="1" dirty="0">
                <a:solidFill>
                  <a:srgbClr val="7030A0"/>
                </a:solidFill>
                <a:sym typeface="Symbol" pitchFamily="18" charset="2"/>
              </a:rPr>
              <a:t> -little Omega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56</a:t>
            </a:fld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19125" y="2278063"/>
          <a:ext cx="7088188" cy="182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394160" imgH="1130040" progId="Equation.3">
                  <p:embed/>
                </p:oleObj>
              </mc:Choice>
              <mc:Fallback>
                <p:oleObj name="Equation" r:id="rId3" imgW="4394160" imgH="11300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19125" y="2278063"/>
                        <a:ext cx="7088188" cy="1822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11" descr="graph_Omega"/>
          <p:cNvPicPr>
            <a:picLocks noChangeAspect="1" noChangeArrowheads="1"/>
          </p:cNvPicPr>
          <p:nvPr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37477" y="4101497"/>
            <a:ext cx="1940659" cy="1939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01130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941390"/>
          </a:xfrm>
        </p:spPr>
        <p:txBody>
          <a:bodyPr>
            <a:normAutofit/>
          </a:bodyPr>
          <a:lstStyle/>
          <a:p>
            <a:pPr algn="l"/>
            <a:r>
              <a:rPr lang="en-GB" b="1" dirty="0">
                <a:solidFill>
                  <a:srgbClr val="7030A0"/>
                </a:solidFill>
                <a:sym typeface="Symbol" pitchFamily="18" charset="2"/>
              </a:rPr>
              <a:t> -little Omega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596419" cy="3880773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pPr>
              <a:lnSpc>
                <a:spcPct val="90000"/>
              </a:lnSpc>
            </a:pPr>
            <a:endParaRPr lang="en-US" sz="2800" dirty="0"/>
          </a:p>
          <a:p>
            <a:endParaRPr lang="en-US" dirty="0"/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r>
              <a:rPr lang="en-GB" sz="20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 </a:t>
            </a:r>
            <a:r>
              <a:rPr lang="en-US" sz="2000" b="1" i="1" dirty="0"/>
              <a:t>(g(n)) = { f(n) : such that 0 &lt;= c g(n) &lt; f(n) }</a:t>
            </a:r>
            <a:endParaRPr lang="en-GB" sz="3600" b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457200" lvl="1" indent="0">
              <a:buNone/>
            </a:pPr>
            <a:r>
              <a:rPr lang="en-US" sz="1900" dirty="0"/>
              <a:t>Where c and n are positive constant and n</a:t>
            </a:r>
            <a:r>
              <a:rPr lang="en-US" sz="1900" baseline="-25000" dirty="0"/>
              <a:t>0</a:t>
            </a:r>
            <a:r>
              <a:rPr lang="en-US" sz="1900" dirty="0"/>
              <a:t> &lt;= n</a:t>
            </a:r>
            <a:r>
              <a:rPr lang="en-US" sz="2800" dirty="0"/>
              <a:t> </a:t>
            </a:r>
            <a:endParaRPr lang="en-US" sz="2800" b="1" i="1" dirty="0"/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57</a:t>
            </a:fld>
            <a:endParaRPr lang="en-US" dirty="0"/>
          </a:p>
        </p:txBody>
      </p:sp>
      <p:pic>
        <p:nvPicPr>
          <p:cNvPr id="9" name="Picture 11" descr="graph_Omega"/>
          <p:cNvPicPr>
            <a:picLocks noChangeAspect="1" noChangeArrowheads="1"/>
          </p:cNvPicPr>
          <p:nvPr/>
        </p:nvPicPr>
        <p:blipFill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89929" y="2362199"/>
            <a:ext cx="2384783" cy="2383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" name="Picture 4" descr="figs2_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55043" y="2359424"/>
            <a:ext cx="2673538" cy="2386584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8543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Order of Growth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l-GR" dirty="0"/>
              <a:t>Θ</a:t>
            </a:r>
            <a:r>
              <a:rPr lang="en-US" dirty="0"/>
              <a:t> - Theta</a:t>
            </a:r>
          </a:p>
        </p:txBody>
      </p:sp>
    </p:spTree>
    <p:extLst>
      <p:ext uri="{BB962C8B-B14F-4D97-AF65-F5344CB8AC3E}">
        <p14:creationId xmlns:p14="http://schemas.microsoft.com/office/powerpoint/2010/main" val="41268003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-Theta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596419" cy="3880773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457200" lvl="1" indent="0" algn="ctr">
              <a:buNone/>
            </a:pPr>
            <a:r>
              <a:rPr lang="en-US" sz="7200" dirty="0"/>
              <a:t>f(n) =½ n</a:t>
            </a:r>
            <a:r>
              <a:rPr lang="en-US" sz="7200" baseline="30000" dirty="0"/>
              <a:t>2</a:t>
            </a:r>
            <a:r>
              <a:rPr lang="en-US" sz="7200" dirty="0"/>
              <a:t> – 3n</a:t>
            </a: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1226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60</a:t>
            </a:fld>
            <a:endParaRPr 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438400"/>
            <a:ext cx="14382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80091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61</a:t>
            </a:fld>
            <a:endParaRPr 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438400"/>
            <a:ext cx="14382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043918"/>
            <a:ext cx="8858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2576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62</a:t>
            </a:fld>
            <a:endParaRPr 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438400"/>
            <a:ext cx="14382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043918"/>
            <a:ext cx="8858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4038600"/>
            <a:ext cx="43719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325343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63</a:t>
            </a:fld>
            <a:endParaRPr 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438400"/>
            <a:ext cx="14382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043918"/>
            <a:ext cx="8858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4038600"/>
            <a:ext cx="43719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724400"/>
            <a:ext cx="22479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479170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64</a:t>
            </a:fld>
            <a:endParaRPr lang="en-US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438400"/>
            <a:ext cx="14382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043918"/>
            <a:ext cx="885825" cy="70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5" y="4038600"/>
            <a:ext cx="437197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724400"/>
            <a:ext cx="22479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114" y="5334000"/>
            <a:ext cx="2419350" cy="695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583141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65</a:t>
            </a:fld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62200"/>
            <a:ext cx="889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5757349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66</a:t>
            </a:fld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62200"/>
            <a:ext cx="889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895600"/>
            <a:ext cx="17049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82177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67</a:t>
            </a:fld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62200"/>
            <a:ext cx="889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895600"/>
            <a:ext cx="17049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058" y="3352800"/>
            <a:ext cx="22098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082304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68</a:t>
            </a:fld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62200"/>
            <a:ext cx="889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895600"/>
            <a:ext cx="17049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058" y="3352800"/>
            <a:ext cx="22098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043" y="39624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088992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69</a:t>
            </a:fld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62200"/>
            <a:ext cx="889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895600"/>
            <a:ext cx="17049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058" y="3352800"/>
            <a:ext cx="22098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043" y="39624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058" y="4495800"/>
            <a:ext cx="1123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551686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70</a:t>
            </a:fld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62200"/>
            <a:ext cx="889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895600"/>
            <a:ext cx="17049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058" y="3352800"/>
            <a:ext cx="22098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043" y="39624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058" y="4495800"/>
            <a:ext cx="1123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257" y="5105400"/>
            <a:ext cx="9144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794710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71</a:t>
            </a:fld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62200"/>
            <a:ext cx="889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895600"/>
            <a:ext cx="17049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058" y="3352800"/>
            <a:ext cx="22098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043" y="39624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058" y="4495800"/>
            <a:ext cx="1123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257" y="5105400"/>
            <a:ext cx="9144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0" y="5382305"/>
            <a:ext cx="4191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7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5791200"/>
            <a:ext cx="6858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8099908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72</a:t>
            </a:fld>
            <a:endParaRPr lang="en-US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362200"/>
            <a:ext cx="8890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895600"/>
            <a:ext cx="17049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058" y="3352800"/>
            <a:ext cx="220980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043" y="39624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9058" y="4495800"/>
            <a:ext cx="11239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9257" y="5105400"/>
            <a:ext cx="9144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1750" y="5382305"/>
            <a:ext cx="4191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57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5791200"/>
            <a:ext cx="6858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5770789"/>
            <a:ext cx="11620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974620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73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2362200"/>
            <a:ext cx="77893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795588"/>
            <a:ext cx="1704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371117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74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2362200"/>
            <a:ext cx="77893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795588"/>
            <a:ext cx="1704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628" y="3300413"/>
            <a:ext cx="21145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10160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75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2362200"/>
            <a:ext cx="77893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795588"/>
            <a:ext cx="1704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628" y="3300413"/>
            <a:ext cx="21145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3657600"/>
            <a:ext cx="1266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826915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76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2362200"/>
            <a:ext cx="77893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795588"/>
            <a:ext cx="1704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628" y="3300413"/>
            <a:ext cx="21145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3657600"/>
            <a:ext cx="1266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4191000"/>
            <a:ext cx="10953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2416849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77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2362200"/>
            <a:ext cx="77893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795588"/>
            <a:ext cx="1704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628" y="3300413"/>
            <a:ext cx="21145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3657600"/>
            <a:ext cx="1266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4191000"/>
            <a:ext cx="10953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4505325"/>
            <a:ext cx="914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679698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78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2362200"/>
            <a:ext cx="77893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795588"/>
            <a:ext cx="1704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628" y="3300413"/>
            <a:ext cx="21145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3657600"/>
            <a:ext cx="1266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4191000"/>
            <a:ext cx="10953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4505325"/>
            <a:ext cx="914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5029200"/>
            <a:ext cx="4191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7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5286375"/>
            <a:ext cx="5524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8766592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79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2362200"/>
            <a:ext cx="77893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795588"/>
            <a:ext cx="1704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628" y="3300413"/>
            <a:ext cx="21145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3657600"/>
            <a:ext cx="1266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4191000"/>
            <a:ext cx="1095375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4505325"/>
            <a:ext cx="914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399" y="5029200"/>
            <a:ext cx="4191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7" name="Picture 9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5286375"/>
            <a:ext cx="5524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8" name="Picture 10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5791200"/>
            <a:ext cx="1162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480954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80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6092" y="2279073"/>
            <a:ext cx="77893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012" y="2930237"/>
            <a:ext cx="1704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587" y="3429000"/>
            <a:ext cx="1266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587" y="3829050"/>
            <a:ext cx="914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7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587" y="4286250"/>
            <a:ext cx="5524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8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295775"/>
            <a:ext cx="1162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0" y="2279073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48" y="2968336"/>
            <a:ext cx="17049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46" y="34290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10000"/>
            <a:ext cx="9144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291012"/>
            <a:ext cx="6858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276725"/>
            <a:ext cx="11620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6096802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 =½ n</a:t>
            </a:r>
            <a:r>
              <a:rPr lang="en-US" baseline="30000" dirty="0"/>
              <a:t>2</a:t>
            </a:r>
            <a:r>
              <a:rPr lang="en-US" dirty="0"/>
              <a:t> – 3n; </a:t>
            </a:r>
            <a:r>
              <a:rPr lang="en-US" b="1" i="1" dirty="0">
                <a:solidFill>
                  <a:srgbClr val="FF0000"/>
                </a:solidFill>
              </a:rPr>
              <a:t>f(n) = </a:t>
            </a:r>
            <a:r>
              <a:rPr lang="el-GR" b="1" i="1" dirty="0">
                <a:solidFill>
                  <a:srgbClr val="FF0000"/>
                </a:solidFill>
              </a:rPr>
              <a:t>ϴ</a:t>
            </a:r>
            <a:r>
              <a:rPr lang="en-US" b="1" i="1" dirty="0">
                <a:solidFill>
                  <a:srgbClr val="FF0000"/>
                </a:solidFill>
              </a:rPr>
              <a:t> g(n)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81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6092" y="2279073"/>
            <a:ext cx="77893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012" y="2930237"/>
            <a:ext cx="170497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587" y="3429000"/>
            <a:ext cx="12668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587" y="3829050"/>
            <a:ext cx="914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7" name="Picture 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0587" y="4286250"/>
            <a:ext cx="55245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8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4295775"/>
            <a:ext cx="1162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100" y="2279073"/>
            <a:ext cx="762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48" y="2968336"/>
            <a:ext cx="1704975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546" y="3429000"/>
            <a:ext cx="12954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10000"/>
            <a:ext cx="9144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291012"/>
            <a:ext cx="6858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" name="Picture 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276725"/>
            <a:ext cx="1162050" cy="295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1600200" y="4765963"/>
            <a:ext cx="4242149" cy="609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443" y="5437909"/>
            <a:ext cx="3154363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5587" y="5450032"/>
            <a:ext cx="9144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" name="Picture 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2587" y="5450032"/>
            <a:ext cx="914400" cy="31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5847484"/>
            <a:ext cx="561975" cy="247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706053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-Theta</a:t>
            </a: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596419" cy="3880773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457200" lvl="1" indent="0" algn="ctr">
              <a:buNone/>
            </a:pPr>
            <a:r>
              <a:rPr lang="en-US" sz="8000" dirty="0"/>
              <a:t>f(n)=an</a:t>
            </a:r>
            <a:r>
              <a:rPr lang="en-US" sz="8000" baseline="30000" dirty="0"/>
              <a:t>2</a:t>
            </a:r>
            <a:r>
              <a:rPr lang="en-US" sz="8000" dirty="0"/>
              <a:t>+bn+c</a:t>
            </a: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138684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f(n)=an</a:t>
            </a:r>
            <a:r>
              <a:rPr lang="en-US" baseline="30000" dirty="0"/>
              <a:t>2</a:t>
            </a:r>
            <a:r>
              <a:rPr lang="en-US" dirty="0"/>
              <a:t>+bn+c; </a:t>
            </a:r>
            <a:r>
              <a:rPr lang="en-US" b="1" dirty="0">
                <a:solidFill>
                  <a:srgbClr val="FF0000"/>
                </a:solidFill>
              </a:rPr>
              <a:t>f(n) = </a:t>
            </a:r>
            <a:r>
              <a:rPr lang="en-US" b="1" i="1" dirty="0">
                <a:solidFill>
                  <a:srgbClr val="FF0000"/>
                </a:solidFill>
              </a:rPr>
              <a:t>Ω g(n)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83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62200"/>
            <a:ext cx="18764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163208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f(n)=an</a:t>
            </a:r>
            <a:r>
              <a:rPr lang="en-US" baseline="30000" dirty="0"/>
              <a:t>2</a:t>
            </a:r>
            <a:r>
              <a:rPr lang="en-US" dirty="0"/>
              <a:t>+bn+c; </a:t>
            </a:r>
            <a:r>
              <a:rPr lang="en-US" b="1" dirty="0">
                <a:solidFill>
                  <a:srgbClr val="FF0000"/>
                </a:solidFill>
              </a:rPr>
              <a:t>f(n) = </a:t>
            </a:r>
            <a:r>
              <a:rPr lang="en-US" b="1" i="1" dirty="0">
                <a:solidFill>
                  <a:srgbClr val="FF0000"/>
                </a:solidFill>
              </a:rPr>
              <a:t>Ω g(n)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84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62200"/>
            <a:ext cx="18764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838450"/>
            <a:ext cx="1790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9552386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f(n)=an</a:t>
            </a:r>
            <a:r>
              <a:rPr lang="en-US" baseline="30000" dirty="0"/>
              <a:t>2</a:t>
            </a:r>
            <a:r>
              <a:rPr lang="en-US" dirty="0"/>
              <a:t>+bn+c; </a:t>
            </a:r>
            <a:r>
              <a:rPr lang="en-US" b="1" dirty="0">
                <a:solidFill>
                  <a:srgbClr val="FF0000"/>
                </a:solidFill>
              </a:rPr>
              <a:t>f(n) = </a:t>
            </a:r>
            <a:r>
              <a:rPr lang="en-US" b="1" i="1" dirty="0">
                <a:solidFill>
                  <a:srgbClr val="FF0000"/>
                </a:solidFill>
              </a:rPr>
              <a:t>Ω g(n)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85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62200"/>
            <a:ext cx="18764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838450"/>
            <a:ext cx="1790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657600"/>
            <a:ext cx="22955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2092343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f(n)=an</a:t>
            </a:r>
            <a:r>
              <a:rPr lang="en-US" baseline="30000" dirty="0"/>
              <a:t>2</a:t>
            </a:r>
            <a:r>
              <a:rPr lang="en-US" dirty="0"/>
              <a:t>+bn+c; </a:t>
            </a:r>
            <a:r>
              <a:rPr lang="en-US" b="1" dirty="0">
                <a:solidFill>
                  <a:srgbClr val="FF0000"/>
                </a:solidFill>
              </a:rPr>
              <a:t>f(n) = </a:t>
            </a:r>
            <a:r>
              <a:rPr lang="en-US" b="1" i="1" dirty="0">
                <a:solidFill>
                  <a:srgbClr val="FF0000"/>
                </a:solidFill>
              </a:rPr>
              <a:t>Ω g(n)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86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62200"/>
            <a:ext cx="18764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838450"/>
            <a:ext cx="1790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657600"/>
            <a:ext cx="22955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724400"/>
            <a:ext cx="20669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36195192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f(n)=an</a:t>
            </a:r>
            <a:r>
              <a:rPr lang="en-US" baseline="30000" dirty="0"/>
              <a:t>2</a:t>
            </a:r>
            <a:r>
              <a:rPr lang="en-US" dirty="0"/>
              <a:t>+bn+c; </a:t>
            </a:r>
            <a:r>
              <a:rPr lang="en-US" b="1" dirty="0">
                <a:solidFill>
                  <a:srgbClr val="FF0000"/>
                </a:solidFill>
              </a:rPr>
              <a:t>f(n) = </a:t>
            </a:r>
            <a:r>
              <a:rPr lang="en-US" b="1" i="1" dirty="0">
                <a:solidFill>
                  <a:srgbClr val="FF0000"/>
                </a:solidFill>
              </a:rPr>
              <a:t>Ω g(n)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87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62200"/>
            <a:ext cx="18764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838450"/>
            <a:ext cx="1790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657600"/>
            <a:ext cx="22955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724400"/>
            <a:ext cx="20669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421276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f(n)=an</a:t>
            </a:r>
            <a:r>
              <a:rPr lang="en-US" baseline="30000" dirty="0"/>
              <a:t>2</a:t>
            </a:r>
            <a:r>
              <a:rPr lang="en-US" dirty="0"/>
              <a:t>+bn+c; </a:t>
            </a:r>
            <a:r>
              <a:rPr lang="en-US" b="1" dirty="0">
                <a:solidFill>
                  <a:srgbClr val="FF0000"/>
                </a:solidFill>
              </a:rPr>
              <a:t>f(n) = </a:t>
            </a:r>
            <a:r>
              <a:rPr lang="en-US" b="1" i="1" dirty="0">
                <a:solidFill>
                  <a:srgbClr val="FF0000"/>
                </a:solidFill>
              </a:rPr>
              <a:t>Ω g(n)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88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62200"/>
            <a:ext cx="18764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838450"/>
            <a:ext cx="1790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657600"/>
            <a:ext cx="22955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724400"/>
            <a:ext cx="20669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257800"/>
            <a:ext cx="14097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1053022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f(n)=an</a:t>
            </a:r>
            <a:r>
              <a:rPr lang="en-US" baseline="30000" dirty="0"/>
              <a:t>2</a:t>
            </a:r>
            <a:r>
              <a:rPr lang="en-US" dirty="0"/>
              <a:t>+bn+c; </a:t>
            </a:r>
            <a:r>
              <a:rPr lang="en-US" b="1" dirty="0">
                <a:solidFill>
                  <a:srgbClr val="FF0000"/>
                </a:solidFill>
              </a:rPr>
              <a:t>f(n) = </a:t>
            </a:r>
            <a:r>
              <a:rPr lang="en-US" b="1" i="1" dirty="0">
                <a:solidFill>
                  <a:srgbClr val="FF0000"/>
                </a:solidFill>
              </a:rPr>
              <a:t>Ω g(n)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89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62200"/>
            <a:ext cx="18764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838450"/>
            <a:ext cx="1790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657600"/>
            <a:ext cx="22955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724400"/>
            <a:ext cx="20669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257800"/>
            <a:ext cx="14097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867400"/>
            <a:ext cx="22860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8517369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f(n)=an</a:t>
            </a:r>
            <a:r>
              <a:rPr lang="en-US" baseline="30000" dirty="0"/>
              <a:t>2</a:t>
            </a:r>
            <a:r>
              <a:rPr lang="en-US" dirty="0"/>
              <a:t>+bn+c; </a:t>
            </a:r>
            <a:r>
              <a:rPr lang="en-US" b="1" dirty="0">
                <a:solidFill>
                  <a:srgbClr val="FF0000"/>
                </a:solidFill>
              </a:rPr>
              <a:t>f(n) = </a:t>
            </a:r>
            <a:r>
              <a:rPr lang="en-US" b="1" i="1" dirty="0">
                <a:solidFill>
                  <a:srgbClr val="FF0000"/>
                </a:solidFill>
              </a:rPr>
              <a:t>Ω g(n)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90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62200"/>
            <a:ext cx="18764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838450"/>
            <a:ext cx="1790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657600"/>
            <a:ext cx="22955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724400"/>
            <a:ext cx="20669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257800"/>
            <a:ext cx="14097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867400"/>
            <a:ext cx="22860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988129"/>
            <a:ext cx="15049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239434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f(n)=an</a:t>
            </a:r>
            <a:r>
              <a:rPr lang="en-US" baseline="30000" dirty="0"/>
              <a:t>2</a:t>
            </a:r>
            <a:r>
              <a:rPr lang="en-US" dirty="0"/>
              <a:t>+bn+c; </a:t>
            </a:r>
            <a:r>
              <a:rPr lang="en-US" b="1" dirty="0">
                <a:solidFill>
                  <a:srgbClr val="FF0000"/>
                </a:solidFill>
              </a:rPr>
              <a:t>f(n) = </a:t>
            </a:r>
            <a:r>
              <a:rPr lang="en-US" b="1" i="1" dirty="0">
                <a:solidFill>
                  <a:srgbClr val="FF0000"/>
                </a:solidFill>
              </a:rPr>
              <a:t>Ω g(n)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91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62200"/>
            <a:ext cx="18764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838450"/>
            <a:ext cx="1790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657600"/>
            <a:ext cx="22955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724400"/>
            <a:ext cx="20669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257800"/>
            <a:ext cx="14097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867400"/>
            <a:ext cx="22860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988129"/>
            <a:ext cx="15049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012" y="3505200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5551273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f(n)=an</a:t>
            </a:r>
            <a:r>
              <a:rPr lang="en-US" baseline="30000" dirty="0"/>
              <a:t>2</a:t>
            </a:r>
            <a:r>
              <a:rPr lang="en-US" dirty="0"/>
              <a:t>+bn+c; </a:t>
            </a:r>
            <a:r>
              <a:rPr lang="en-US" b="1" dirty="0">
                <a:solidFill>
                  <a:srgbClr val="FF0000"/>
                </a:solidFill>
              </a:rPr>
              <a:t>f(n) = </a:t>
            </a:r>
            <a:r>
              <a:rPr lang="en-US" b="1" i="1" dirty="0">
                <a:solidFill>
                  <a:srgbClr val="FF0000"/>
                </a:solidFill>
              </a:rPr>
              <a:t>Ω g(n)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92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62200"/>
            <a:ext cx="18764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838450"/>
            <a:ext cx="1790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657600"/>
            <a:ext cx="22955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724400"/>
            <a:ext cx="20669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257800"/>
            <a:ext cx="14097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867400"/>
            <a:ext cx="22860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988129"/>
            <a:ext cx="15049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962399"/>
            <a:ext cx="4000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962" y="4219575"/>
            <a:ext cx="647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012" y="3505200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9596419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f(n)=an</a:t>
            </a:r>
            <a:r>
              <a:rPr lang="en-US" baseline="30000" dirty="0"/>
              <a:t>2</a:t>
            </a:r>
            <a:r>
              <a:rPr lang="en-US" dirty="0"/>
              <a:t>+bn+c; </a:t>
            </a:r>
            <a:r>
              <a:rPr lang="en-US" b="1" dirty="0">
                <a:solidFill>
                  <a:srgbClr val="FF0000"/>
                </a:solidFill>
              </a:rPr>
              <a:t>f(n) = </a:t>
            </a:r>
            <a:r>
              <a:rPr lang="en-US" b="1" i="1" dirty="0">
                <a:solidFill>
                  <a:srgbClr val="FF0000"/>
                </a:solidFill>
              </a:rPr>
              <a:t>Ω g(n)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93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62200"/>
            <a:ext cx="18764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838450"/>
            <a:ext cx="1790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657600"/>
            <a:ext cx="22955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724400"/>
            <a:ext cx="20669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257800"/>
            <a:ext cx="14097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867400"/>
            <a:ext cx="22860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988129"/>
            <a:ext cx="15049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962399"/>
            <a:ext cx="4000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962" y="4219575"/>
            <a:ext cx="647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4757057"/>
            <a:ext cx="19335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012" y="3505200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1658299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f(n)=an</a:t>
            </a:r>
            <a:r>
              <a:rPr lang="en-US" baseline="30000" dirty="0"/>
              <a:t>2</a:t>
            </a:r>
            <a:r>
              <a:rPr lang="en-US" dirty="0"/>
              <a:t>+bn+c; </a:t>
            </a:r>
            <a:r>
              <a:rPr lang="en-US" b="1" dirty="0">
                <a:solidFill>
                  <a:srgbClr val="FF0000"/>
                </a:solidFill>
              </a:rPr>
              <a:t>f(n) = </a:t>
            </a:r>
            <a:r>
              <a:rPr lang="en-US" b="1" i="1" dirty="0">
                <a:solidFill>
                  <a:srgbClr val="FF0000"/>
                </a:solidFill>
              </a:rPr>
              <a:t>Ω g(n)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94</a:t>
            </a:fld>
            <a:endParaRPr lang="en-US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362200"/>
            <a:ext cx="1876425" cy="37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838450"/>
            <a:ext cx="1790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3657600"/>
            <a:ext cx="2295525" cy="828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4724400"/>
            <a:ext cx="206692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5257800"/>
            <a:ext cx="1409700" cy="285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5867400"/>
            <a:ext cx="228600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2988129"/>
            <a:ext cx="1504950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3962399"/>
            <a:ext cx="400050" cy="21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962" y="4219575"/>
            <a:ext cx="647700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5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4757057"/>
            <a:ext cx="1933575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6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4541" y="5400675"/>
            <a:ext cx="13239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" name="Picture 7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012" y="3505200"/>
            <a:ext cx="6762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594310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f(n)=an</a:t>
            </a:r>
            <a:r>
              <a:rPr lang="en-US" baseline="30000" dirty="0"/>
              <a:t>2</a:t>
            </a:r>
            <a:r>
              <a:rPr lang="en-US" dirty="0"/>
              <a:t>+bn+c; </a:t>
            </a:r>
            <a:r>
              <a:rPr lang="en-US" b="1" dirty="0">
                <a:solidFill>
                  <a:srgbClr val="FF0000"/>
                </a:solidFill>
              </a:rPr>
              <a:t>f(n) = </a:t>
            </a:r>
            <a:r>
              <a:rPr lang="en-US" b="1" i="1" dirty="0">
                <a:solidFill>
                  <a:srgbClr val="FF0000"/>
                </a:solidFill>
              </a:rPr>
              <a:t>O g(n)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809427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-Theta (Exercise)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596419" cy="3880773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(3/2) n</a:t>
            </a:r>
            <a:r>
              <a:rPr lang="en-US" sz="2400" baseline="30000" dirty="0"/>
              <a:t>2</a:t>
            </a:r>
            <a:r>
              <a:rPr lang="en-US" sz="2400" dirty="0"/>
              <a:t> - 4n = ϴ (n</a:t>
            </a:r>
            <a:r>
              <a:rPr lang="en-US" sz="2400" baseline="30000" dirty="0"/>
              <a:t>2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dirty="0"/>
              <a:t>6n</a:t>
            </a:r>
            <a:r>
              <a:rPr lang="en-US" sz="2400" baseline="30000" dirty="0"/>
              <a:t>3</a:t>
            </a:r>
            <a:r>
              <a:rPr lang="en-US" sz="2400" dirty="0"/>
              <a:t> = ϴ(n</a:t>
            </a:r>
            <a:r>
              <a:rPr lang="en-US" sz="2400" baseline="30000" dirty="0"/>
              <a:t>2</a:t>
            </a:r>
            <a:r>
              <a:rPr lang="en-US" sz="2400" dirty="0"/>
              <a:t>)</a:t>
            </a:r>
          </a:p>
          <a:p>
            <a:endParaRPr lang="en-GB" sz="22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96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7516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Order of Growth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dirty="0"/>
              <a:t>O – Big Oh</a:t>
            </a:r>
          </a:p>
        </p:txBody>
      </p:sp>
    </p:spTree>
    <p:extLst>
      <p:ext uri="{BB962C8B-B14F-4D97-AF65-F5344CB8AC3E}">
        <p14:creationId xmlns:p14="http://schemas.microsoft.com/office/powerpoint/2010/main" val="276168404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ctr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fld id="{3CD637DC-1C70-44E8-800A-2ABA2BD286E2}" type="slidenum">
              <a:rPr lang="en-US" sz="1400">
                <a:latin typeface="Arial Narrow" panose="020B0606020202030204" pitchFamily="34" charset="0"/>
              </a:rPr>
              <a:pPr algn="r"/>
              <a:t>98</a:t>
            </a:fld>
            <a:endParaRPr lang="en-US" sz="1400" dirty="0">
              <a:latin typeface="Arial Narrow" panose="020B0606020202030204" pitchFamily="34" charset="0"/>
            </a:endParaRPr>
          </a:p>
        </p:txBody>
      </p:sp>
      <p:sp>
        <p:nvSpPr>
          <p:cNvPr id="26829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143000"/>
            <a:ext cx="7162800" cy="12192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dirty="0"/>
              <a:t>Establishing order of growth using the definition</a:t>
            </a:r>
          </a:p>
        </p:txBody>
      </p:sp>
      <p:sp>
        <p:nvSpPr>
          <p:cNvPr id="268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Monotype Sorts" pitchFamily="2" charset="2"/>
              <a:buNone/>
              <a:defRPr/>
            </a:pPr>
            <a:r>
              <a:rPr lang="en-US" dirty="0"/>
              <a:t>Definition:</a:t>
            </a:r>
            <a:r>
              <a:rPr lang="en-US" i="1" dirty="0"/>
              <a:t> f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is in O(</a:t>
            </a:r>
            <a:r>
              <a:rPr lang="en-US" i="1" dirty="0"/>
              <a:t>g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)) if order of growth of  </a:t>
            </a:r>
            <a:r>
              <a:rPr lang="en-US" i="1" dirty="0"/>
              <a:t>f</a:t>
            </a:r>
            <a:r>
              <a:rPr lang="en-US" dirty="0"/>
              <a:t>(</a:t>
            </a:r>
            <a:r>
              <a:rPr lang="en-US" i="1" dirty="0"/>
              <a:t>n</a:t>
            </a:r>
            <a:r>
              <a:rPr lang="en-US" dirty="0"/>
              <a:t>) </a:t>
            </a:r>
            <a:r>
              <a:rPr lang="en-US" dirty="0">
                <a:cs typeface="Times New Roman" panose="02020603050405020304" pitchFamily="18" charset="0"/>
              </a:rPr>
              <a:t>≤ order  of growth of </a:t>
            </a:r>
            <a:r>
              <a:rPr lang="en-US" i="1" dirty="0">
                <a:cs typeface="Times New Roman" panose="02020603050405020304" pitchFamily="18" charset="0"/>
              </a:rPr>
              <a:t>g</a:t>
            </a:r>
            <a:r>
              <a:rPr lang="en-US" dirty="0">
                <a:cs typeface="Times New Roman" panose="02020603050405020304" pitchFamily="18" charset="0"/>
              </a:rPr>
              <a:t>(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) (within constant multiple),</a:t>
            </a:r>
            <a:br>
              <a:rPr lang="en-US" dirty="0">
                <a:cs typeface="Times New Roman" panose="02020603050405020304" pitchFamily="18" charset="0"/>
              </a:rPr>
            </a:br>
            <a:r>
              <a:rPr lang="en-US" dirty="0">
                <a:cs typeface="Times New Roman" panose="02020603050405020304" pitchFamily="18" charset="0"/>
              </a:rPr>
              <a:t>i.e., there exist positive constant </a:t>
            </a:r>
            <a:r>
              <a:rPr lang="en-US" i="1" dirty="0">
                <a:cs typeface="Times New Roman" panose="02020603050405020304" pitchFamily="18" charset="0"/>
              </a:rPr>
              <a:t>c</a:t>
            </a:r>
            <a:r>
              <a:rPr lang="en-US" dirty="0">
                <a:cs typeface="Times New Roman" panose="02020603050405020304" pitchFamily="18" charset="0"/>
              </a:rPr>
              <a:t> and non-negative integer 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baseline="-25000" dirty="0">
                <a:cs typeface="Times New Roman" panose="02020603050405020304" pitchFamily="18" charset="0"/>
              </a:rPr>
              <a:t>0</a:t>
            </a:r>
            <a:r>
              <a:rPr lang="en-US" dirty="0">
                <a:cs typeface="Times New Roman" panose="02020603050405020304" pitchFamily="18" charset="0"/>
              </a:rPr>
              <a:t> such that</a:t>
            </a:r>
          </a:p>
          <a:p>
            <a:pPr>
              <a:buFont typeface="Monotype Sorts" pitchFamily="2" charset="2"/>
              <a:buNone/>
              <a:defRPr/>
            </a:pPr>
            <a:r>
              <a:rPr lang="en-US" dirty="0">
                <a:cs typeface="Times New Roman" panose="02020603050405020304" pitchFamily="18" charset="0"/>
              </a:rPr>
              <a:t>                	</a:t>
            </a:r>
            <a:r>
              <a:rPr lang="en-US" i="1" dirty="0">
                <a:cs typeface="Times New Roman" panose="02020603050405020304" pitchFamily="18" charset="0"/>
              </a:rPr>
              <a:t>f</a:t>
            </a:r>
            <a:r>
              <a:rPr lang="en-US" dirty="0">
                <a:cs typeface="Times New Roman" panose="02020603050405020304" pitchFamily="18" charset="0"/>
              </a:rPr>
              <a:t>(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) ≤ </a:t>
            </a:r>
            <a:r>
              <a:rPr lang="en-US" i="1" dirty="0">
                <a:cs typeface="Times New Roman" panose="02020603050405020304" pitchFamily="18" charset="0"/>
              </a:rPr>
              <a:t>c g</a:t>
            </a:r>
            <a:r>
              <a:rPr lang="en-US" dirty="0">
                <a:cs typeface="Times New Roman" panose="02020603050405020304" pitchFamily="18" charset="0"/>
              </a:rPr>
              <a:t>(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) for every 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 ≥ 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baseline="-25000" dirty="0">
                <a:cs typeface="Times New Roman" panose="02020603050405020304" pitchFamily="18" charset="0"/>
              </a:rPr>
              <a:t>0 </a:t>
            </a:r>
          </a:p>
          <a:p>
            <a:pPr>
              <a:buFont typeface="Monotype Sorts" pitchFamily="2" charset="2"/>
              <a:buNone/>
              <a:defRPr/>
            </a:pPr>
            <a:endParaRPr lang="en-US" dirty="0">
              <a:cs typeface="Times New Roman" panose="02020603050405020304" pitchFamily="18" charset="0"/>
            </a:endParaRPr>
          </a:p>
          <a:p>
            <a:pPr>
              <a:buFont typeface="Monotype Sorts" pitchFamily="2" charset="2"/>
              <a:buNone/>
              <a:defRPr/>
            </a:pPr>
            <a:r>
              <a:rPr lang="en-US" dirty="0">
                <a:cs typeface="Times New Roman" panose="02020603050405020304" pitchFamily="18" charset="0"/>
              </a:rPr>
              <a:t>Examples:</a:t>
            </a:r>
          </a:p>
          <a:p>
            <a:pPr>
              <a:defRPr/>
            </a:pPr>
            <a:r>
              <a:rPr lang="en-US" dirty="0">
                <a:cs typeface="Times New Roman" panose="02020603050405020304" pitchFamily="18" charset="0"/>
              </a:rPr>
              <a:t> 10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i="1" baseline="30000" dirty="0">
                <a:cs typeface="Times New Roman" panose="02020603050405020304" pitchFamily="18" charset="0"/>
              </a:rPr>
              <a:t>2</a:t>
            </a:r>
            <a:r>
              <a:rPr lang="en-US" dirty="0">
                <a:cs typeface="Times New Roman" panose="02020603050405020304" pitchFamily="18" charset="0"/>
              </a:rPr>
              <a:t> is O(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baseline="30000" dirty="0">
                <a:cs typeface="Times New Roman" panose="02020603050405020304" pitchFamily="18" charset="0"/>
              </a:rPr>
              <a:t>2</a:t>
            </a:r>
            <a:r>
              <a:rPr lang="en-US" dirty="0">
                <a:cs typeface="Times New Roman" panose="02020603050405020304" pitchFamily="18" charset="0"/>
              </a:rPr>
              <a:t>)</a:t>
            </a:r>
          </a:p>
          <a:p>
            <a:pPr>
              <a:buFont typeface="Monotype Sorts" pitchFamily="2" charset="2"/>
              <a:buNone/>
              <a:defRPr/>
            </a:pPr>
            <a:br>
              <a:rPr lang="en-US" dirty="0">
                <a:cs typeface="Times New Roman" panose="02020603050405020304" pitchFamily="18" charset="0"/>
              </a:rPr>
            </a:br>
            <a:endParaRPr lang="en-US" dirty="0"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dirty="0">
                <a:cs typeface="Times New Roman" panose="02020603050405020304" pitchFamily="18" charset="0"/>
              </a:rPr>
              <a:t>5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+20 is O(</a:t>
            </a:r>
            <a:r>
              <a:rPr lang="en-US" i="1" dirty="0">
                <a:cs typeface="Times New Roman" panose="02020603050405020304" pitchFamily="18" charset="0"/>
              </a:rPr>
              <a:t>n</a:t>
            </a:r>
            <a:r>
              <a:rPr lang="en-US" dirty="0"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462186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chemeClr val="accent2"/>
                </a:solidFill>
              </a:rPr>
              <a:t>Example 01 -  </a:t>
            </a:r>
            <a:r>
              <a:rPr lang="en-US" sz="3600" dirty="0"/>
              <a:t>O – Big Oh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/>
          <a:lstStyle/>
          <a:p>
            <a:r>
              <a:rPr lang="en-US" dirty="0"/>
              <a:t>7n</a:t>
            </a:r>
            <a:r>
              <a:rPr lang="en-US" baseline="30000" dirty="0"/>
              <a:t>3</a:t>
            </a:r>
            <a:r>
              <a:rPr lang="en-US" dirty="0"/>
              <a:t> +100n</a:t>
            </a:r>
            <a:r>
              <a:rPr lang="en-US" baseline="30000" dirty="0"/>
              <a:t>2</a:t>
            </a:r>
            <a:r>
              <a:rPr lang="en-US" dirty="0"/>
              <a:t> – 20n +6</a:t>
            </a:r>
          </a:p>
          <a:p>
            <a:r>
              <a:rPr lang="en-US" dirty="0"/>
              <a:t>f(n) = 7n</a:t>
            </a:r>
            <a:r>
              <a:rPr lang="en-US" baseline="30000" dirty="0"/>
              <a:t>3</a:t>
            </a:r>
            <a:r>
              <a:rPr lang="en-US" dirty="0"/>
              <a:t> +100n</a:t>
            </a:r>
            <a:r>
              <a:rPr lang="en-US" baseline="30000" dirty="0"/>
              <a:t>2</a:t>
            </a:r>
            <a:r>
              <a:rPr lang="en-US" dirty="0"/>
              <a:t> – 20n +6</a:t>
            </a:r>
          </a:p>
          <a:p>
            <a:r>
              <a:rPr lang="en-US" dirty="0"/>
              <a:t>g(n) = n</a:t>
            </a:r>
            <a:r>
              <a:rPr lang="en-US" baseline="30000" dirty="0"/>
              <a:t>3</a:t>
            </a:r>
          </a:p>
          <a:p>
            <a:r>
              <a:rPr lang="en-US" dirty="0"/>
              <a:t>We need to prove f(n) &lt;= c g(n)</a:t>
            </a:r>
          </a:p>
          <a:p>
            <a:r>
              <a:rPr lang="en-US" dirty="0"/>
              <a:t>7n</a:t>
            </a:r>
            <a:r>
              <a:rPr lang="en-US" baseline="30000" dirty="0"/>
              <a:t>3</a:t>
            </a:r>
            <a:r>
              <a:rPr lang="en-US" dirty="0"/>
              <a:t> +100n</a:t>
            </a:r>
            <a:r>
              <a:rPr lang="en-US" baseline="30000" dirty="0"/>
              <a:t>2</a:t>
            </a:r>
            <a:r>
              <a:rPr lang="en-US" dirty="0"/>
              <a:t> – 20n +6 &lt;= c n</a:t>
            </a:r>
            <a:r>
              <a:rPr lang="en-US" baseline="30000" dirty="0"/>
              <a:t>3</a:t>
            </a:r>
          </a:p>
          <a:p>
            <a:r>
              <a:rPr lang="en-US" dirty="0"/>
              <a:t>7 + 100/n – 20/n</a:t>
            </a:r>
            <a:r>
              <a:rPr lang="en-US" baseline="30000" dirty="0"/>
              <a:t>2</a:t>
            </a:r>
            <a:r>
              <a:rPr lang="en-US" dirty="0"/>
              <a:t> +6/n</a:t>
            </a:r>
            <a:r>
              <a:rPr lang="en-US" baseline="30000" dirty="0"/>
              <a:t>3</a:t>
            </a:r>
            <a:r>
              <a:rPr lang="en-US" dirty="0"/>
              <a:t> &lt;=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06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chemeClr val="accent2"/>
                </a:solidFill>
              </a:rPr>
              <a:t>Example 01 -  </a:t>
            </a:r>
            <a:r>
              <a:rPr lang="en-US" sz="3600" dirty="0"/>
              <a:t>O – Big Oh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7 + 100/n – 20/n</a:t>
            </a:r>
            <a:r>
              <a:rPr lang="en-US" baseline="30000" dirty="0"/>
              <a:t>2</a:t>
            </a:r>
            <a:r>
              <a:rPr lang="en-US" dirty="0"/>
              <a:t> +6/n</a:t>
            </a:r>
            <a:r>
              <a:rPr lang="en-US" baseline="30000" dirty="0"/>
              <a:t>3</a:t>
            </a:r>
            <a:r>
              <a:rPr lang="en-US" dirty="0"/>
              <a:t> &lt;= c</a:t>
            </a:r>
          </a:p>
          <a:p>
            <a:r>
              <a:rPr lang="en-US" dirty="0"/>
              <a:t>Max: for n = 1</a:t>
            </a:r>
          </a:p>
          <a:p>
            <a:pPr lvl="1"/>
            <a:r>
              <a:rPr lang="en-US" dirty="0"/>
              <a:t>f(n) = 7+100-20+6 = 93</a:t>
            </a:r>
          </a:p>
          <a:p>
            <a:r>
              <a:rPr lang="en-US" dirty="0"/>
              <a:t>Min: for n = ∞</a:t>
            </a:r>
          </a:p>
          <a:p>
            <a:pPr lvl="1"/>
            <a:r>
              <a:rPr lang="en-US" dirty="0"/>
              <a:t>f(n) = 7</a:t>
            </a:r>
          </a:p>
          <a:p>
            <a:r>
              <a:rPr lang="en-US" dirty="0"/>
              <a:t>So for c &gt;= 93 and n</a:t>
            </a:r>
            <a:r>
              <a:rPr lang="en-US" baseline="-25000" dirty="0"/>
              <a:t>0</a:t>
            </a:r>
            <a:r>
              <a:rPr lang="en-US" dirty="0"/>
              <a:t> = 1</a:t>
            </a:r>
          </a:p>
          <a:p>
            <a:pPr lvl="1"/>
            <a:r>
              <a:rPr lang="en-US" dirty="0"/>
              <a:t>f(n) &lt;= c g(n)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f(n) = O (n</a:t>
            </a:r>
            <a:r>
              <a:rPr lang="en-US" b="1" baseline="30000" dirty="0">
                <a:solidFill>
                  <a:srgbClr val="FF0000"/>
                </a:solidFill>
              </a:rPr>
              <a:t>3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413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O- Big Oh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596419" cy="3880773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n</a:t>
            </a:r>
            <a:r>
              <a:rPr lang="en-US" sz="2400" baseline="30000" dirty="0"/>
              <a:t>2</a:t>
            </a:r>
            <a:r>
              <a:rPr lang="en-US" sz="2400" dirty="0"/>
              <a:t> = O (n</a:t>
            </a:r>
            <a:r>
              <a:rPr lang="en-US" sz="2400" baseline="30000" dirty="0"/>
              <a:t>2</a:t>
            </a:r>
            <a:r>
              <a:rPr lang="en-US" sz="2400" dirty="0"/>
              <a:t>)</a:t>
            </a:r>
          </a:p>
          <a:p>
            <a:endParaRPr lang="en-US" sz="2400" dirty="0"/>
          </a:p>
          <a:p>
            <a:r>
              <a:rPr lang="en-US" sz="2400" dirty="0"/>
              <a:t>2 n</a:t>
            </a:r>
            <a:r>
              <a:rPr lang="en-US" sz="2400" baseline="30000" dirty="0"/>
              <a:t>2</a:t>
            </a:r>
            <a:r>
              <a:rPr lang="en-US" sz="2400" dirty="0"/>
              <a:t> = O (n</a:t>
            </a:r>
            <a:r>
              <a:rPr lang="en-US" sz="2400" baseline="30000" dirty="0"/>
              <a:t>3</a:t>
            </a:r>
            <a:r>
              <a:rPr lang="en-US" sz="2400" dirty="0"/>
              <a:t>)</a:t>
            </a:r>
          </a:p>
          <a:p>
            <a:endParaRPr lang="en-GB" sz="22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101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6507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O- Big Oh(Exercise)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596419" cy="3880773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r>
              <a:rPr lang="en-US" sz="2400" dirty="0"/>
              <a:t>2</a:t>
            </a:r>
            <a:r>
              <a:rPr lang="en-US" sz="2400" baseline="30000" dirty="0"/>
              <a:t>n+1</a:t>
            </a:r>
            <a:r>
              <a:rPr lang="en-US" sz="2400" dirty="0"/>
              <a:t> = O(2</a:t>
            </a:r>
            <a:r>
              <a:rPr lang="en-US" sz="2400" baseline="30000" dirty="0"/>
              <a:t>n</a:t>
            </a:r>
            <a:r>
              <a:rPr lang="en-US" sz="2400" dirty="0"/>
              <a:t>)</a:t>
            </a:r>
          </a:p>
          <a:p>
            <a:r>
              <a:rPr lang="en-US" sz="2400" dirty="0"/>
              <a:t>2</a:t>
            </a:r>
            <a:r>
              <a:rPr lang="en-US" sz="2400" baseline="30000" dirty="0"/>
              <a:t>2n</a:t>
            </a:r>
            <a:r>
              <a:rPr lang="en-US" sz="2400" dirty="0"/>
              <a:t> = O(2</a:t>
            </a:r>
            <a:r>
              <a:rPr lang="en-US" sz="2400" baseline="30000" dirty="0"/>
              <a:t>n</a:t>
            </a:r>
            <a:r>
              <a:rPr lang="en-US" sz="2400" dirty="0"/>
              <a:t>)</a:t>
            </a:r>
          </a:p>
          <a:p>
            <a:r>
              <a:rPr lang="en-US" sz="2400" dirty="0"/>
              <a:t>d </a:t>
            </a:r>
            <a:r>
              <a:rPr lang="en-US" sz="2400" dirty="0" err="1"/>
              <a:t>nlgn</a:t>
            </a:r>
            <a:r>
              <a:rPr lang="en-US" sz="2400" dirty="0"/>
              <a:t> – </a:t>
            </a:r>
            <a:r>
              <a:rPr lang="en-US" sz="2400" dirty="0" err="1"/>
              <a:t>dn</a:t>
            </a:r>
            <a:r>
              <a:rPr lang="en-US" sz="2400" dirty="0"/>
              <a:t>(</a:t>
            </a:r>
            <a:r>
              <a:rPr lang="en-US" sz="2400" dirty="0" err="1"/>
              <a:t>lg</a:t>
            </a:r>
            <a:r>
              <a:rPr lang="en-US" sz="2400" dirty="0"/>
              <a:t> 3 – 2/3) + </a:t>
            </a:r>
            <a:r>
              <a:rPr lang="en-US" sz="2400" dirty="0" err="1"/>
              <a:t>cn</a:t>
            </a:r>
            <a:r>
              <a:rPr lang="en-US" sz="2400" dirty="0"/>
              <a:t> &lt;= d(</a:t>
            </a:r>
            <a:r>
              <a:rPr lang="en-US" sz="2400" dirty="0" err="1"/>
              <a:t>nlgn</a:t>
            </a:r>
            <a:r>
              <a:rPr lang="en-US" sz="2400" dirty="0"/>
              <a:t>)</a:t>
            </a:r>
          </a:p>
          <a:p>
            <a:r>
              <a:rPr lang="en-US" sz="2400" dirty="0"/>
              <a:t>(3/16) d n</a:t>
            </a:r>
            <a:r>
              <a:rPr lang="en-US" sz="2400" baseline="30000" dirty="0"/>
              <a:t>2</a:t>
            </a:r>
            <a:r>
              <a:rPr lang="en-US" sz="2400" dirty="0"/>
              <a:t> + cn</a:t>
            </a:r>
            <a:r>
              <a:rPr lang="en-US" sz="2400" baseline="30000" dirty="0"/>
              <a:t>2</a:t>
            </a:r>
            <a:r>
              <a:rPr lang="en-US" sz="2400" dirty="0"/>
              <a:t> &lt;= d(n</a:t>
            </a:r>
            <a:r>
              <a:rPr lang="en-US" sz="2400" baseline="30000" dirty="0"/>
              <a:t>2</a:t>
            </a:r>
            <a:r>
              <a:rPr lang="en-US" sz="2400" dirty="0"/>
              <a:t>)</a:t>
            </a:r>
          </a:p>
          <a:p>
            <a:endParaRPr lang="en-GB" sz="22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61705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Order of Growth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l-GR" dirty="0"/>
              <a:t>Ω</a:t>
            </a:r>
            <a:r>
              <a:rPr lang="en-US" dirty="0"/>
              <a:t> - Omega</a:t>
            </a:r>
          </a:p>
        </p:txBody>
      </p:sp>
    </p:spTree>
    <p:extLst>
      <p:ext uri="{BB962C8B-B14F-4D97-AF65-F5344CB8AC3E}">
        <p14:creationId xmlns:p14="http://schemas.microsoft.com/office/powerpoint/2010/main" val="350649960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chemeClr val="accent2"/>
                </a:solidFill>
              </a:rPr>
              <a:t>Example 01 -  </a:t>
            </a:r>
            <a:r>
              <a:rPr lang="el-GR" sz="3600" dirty="0"/>
              <a:t>Ω</a:t>
            </a:r>
            <a:r>
              <a:rPr lang="en-US" sz="3600" dirty="0"/>
              <a:t> – Omega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/>
          <a:lstStyle/>
          <a:p>
            <a:r>
              <a:rPr lang="en-US" dirty="0"/>
              <a:t>7n</a:t>
            </a:r>
            <a:r>
              <a:rPr lang="en-US" baseline="30000" dirty="0"/>
              <a:t>3</a:t>
            </a:r>
            <a:r>
              <a:rPr lang="en-US" dirty="0"/>
              <a:t> +100n</a:t>
            </a:r>
            <a:r>
              <a:rPr lang="en-US" baseline="30000" dirty="0"/>
              <a:t>2</a:t>
            </a:r>
            <a:r>
              <a:rPr lang="en-US" dirty="0"/>
              <a:t> – 20n +6</a:t>
            </a:r>
          </a:p>
          <a:p>
            <a:r>
              <a:rPr lang="en-US" dirty="0"/>
              <a:t>f(n) = 7n</a:t>
            </a:r>
            <a:r>
              <a:rPr lang="en-US" baseline="30000" dirty="0"/>
              <a:t>3</a:t>
            </a:r>
            <a:r>
              <a:rPr lang="en-US" dirty="0"/>
              <a:t> +100n</a:t>
            </a:r>
            <a:r>
              <a:rPr lang="en-US" baseline="30000" dirty="0"/>
              <a:t>2</a:t>
            </a:r>
            <a:r>
              <a:rPr lang="en-US" dirty="0"/>
              <a:t> – 20n +6</a:t>
            </a:r>
          </a:p>
          <a:p>
            <a:r>
              <a:rPr lang="en-US" dirty="0"/>
              <a:t>g(n) = n</a:t>
            </a:r>
            <a:r>
              <a:rPr lang="en-US" baseline="30000" dirty="0"/>
              <a:t>3</a:t>
            </a:r>
          </a:p>
          <a:p>
            <a:r>
              <a:rPr lang="en-US" dirty="0"/>
              <a:t>We need to prove f(n) &gt;= c g(n)</a:t>
            </a:r>
          </a:p>
          <a:p>
            <a:r>
              <a:rPr lang="en-US" dirty="0"/>
              <a:t>7n</a:t>
            </a:r>
            <a:r>
              <a:rPr lang="en-US" baseline="30000" dirty="0"/>
              <a:t>3</a:t>
            </a:r>
            <a:r>
              <a:rPr lang="en-US" dirty="0"/>
              <a:t> +100n</a:t>
            </a:r>
            <a:r>
              <a:rPr lang="en-US" baseline="30000" dirty="0"/>
              <a:t>2</a:t>
            </a:r>
            <a:r>
              <a:rPr lang="en-US" dirty="0"/>
              <a:t> – 20n +6 &gt;= c n</a:t>
            </a:r>
            <a:r>
              <a:rPr lang="en-US" baseline="30000" dirty="0"/>
              <a:t>3</a:t>
            </a:r>
          </a:p>
          <a:p>
            <a:r>
              <a:rPr lang="en-US" dirty="0"/>
              <a:t>7 + 100/n – 20/n</a:t>
            </a:r>
            <a:r>
              <a:rPr lang="en-US" baseline="30000" dirty="0"/>
              <a:t>2</a:t>
            </a:r>
            <a:r>
              <a:rPr lang="en-US" dirty="0"/>
              <a:t> +6/n</a:t>
            </a:r>
            <a:r>
              <a:rPr lang="en-US" baseline="30000" dirty="0"/>
              <a:t>3</a:t>
            </a:r>
            <a:r>
              <a:rPr lang="en-US" dirty="0"/>
              <a:t> &lt;= 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7371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219200"/>
            <a:ext cx="6248400" cy="6096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chemeClr val="accent2"/>
                </a:solidFill>
              </a:rPr>
              <a:t>Example 01 - </a:t>
            </a:r>
            <a:r>
              <a:rPr lang="el-GR" sz="3600" dirty="0"/>
              <a:t>Ω</a:t>
            </a:r>
            <a:r>
              <a:rPr lang="en-US" sz="3600" dirty="0"/>
              <a:t> – Omega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905000"/>
            <a:ext cx="6248400" cy="4267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7 + 100/n – 20/n</a:t>
            </a:r>
            <a:r>
              <a:rPr lang="en-US" baseline="30000" dirty="0"/>
              <a:t>2</a:t>
            </a:r>
            <a:r>
              <a:rPr lang="en-US" dirty="0"/>
              <a:t> +6/n</a:t>
            </a:r>
            <a:r>
              <a:rPr lang="en-US" baseline="30000" dirty="0"/>
              <a:t>3</a:t>
            </a:r>
            <a:r>
              <a:rPr lang="en-US" dirty="0"/>
              <a:t> &gt;= c</a:t>
            </a:r>
          </a:p>
          <a:p>
            <a:r>
              <a:rPr lang="en-US" dirty="0"/>
              <a:t>Max: for n = 1</a:t>
            </a:r>
          </a:p>
          <a:p>
            <a:pPr lvl="1"/>
            <a:r>
              <a:rPr lang="en-US" dirty="0"/>
              <a:t>f(n) = 7+100-20+6 = 93</a:t>
            </a:r>
          </a:p>
          <a:p>
            <a:r>
              <a:rPr lang="en-US" dirty="0"/>
              <a:t>Min: for n = ∞</a:t>
            </a:r>
          </a:p>
          <a:p>
            <a:pPr lvl="1"/>
            <a:r>
              <a:rPr lang="en-US" dirty="0"/>
              <a:t>f(n) = 7</a:t>
            </a:r>
          </a:p>
          <a:p>
            <a:r>
              <a:rPr lang="en-US" dirty="0"/>
              <a:t>So for c &lt;= 7 and n</a:t>
            </a:r>
            <a:r>
              <a:rPr lang="en-US" baseline="-25000" dirty="0"/>
              <a:t>0</a:t>
            </a:r>
            <a:r>
              <a:rPr lang="en-US" dirty="0"/>
              <a:t> = 1</a:t>
            </a:r>
          </a:p>
          <a:p>
            <a:pPr lvl="1"/>
            <a:r>
              <a:rPr lang="en-US" dirty="0"/>
              <a:t>f(n) &gt;= c g(n)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f(n) = </a:t>
            </a:r>
            <a:r>
              <a:rPr lang="el-GR" b="1" dirty="0">
                <a:solidFill>
                  <a:srgbClr val="FF0000"/>
                </a:solidFill>
              </a:rPr>
              <a:t>Ω</a:t>
            </a:r>
            <a:r>
              <a:rPr lang="en-US" b="1" dirty="0">
                <a:solidFill>
                  <a:srgbClr val="FF0000"/>
                </a:solidFill>
              </a:rPr>
              <a:t> (n</a:t>
            </a:r>
            <a:r>
              <a:rPr lang="en-US" b="1" baseline="30000" dirty="0">
                <a:solidFill>
                  <a:srgbClr val="FF0000"/>
                </a:solidFill>
              </a:rPr>
              <a:t>3</a:t>
            </a:r>
            <a:r>
              <a:rPr lang="en-US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294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 -Omega (Exercise)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2160590"/>
            <a:ext cx="6596419" cy="3880773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5n</a:t>
            </a:r>
            <a:r>
              <a:rPr lang="en-US" sz="2400" baseline="30000" dirty="0"/>
              <a:t>2</a:t>
            </a:r>
            <a:r>
              <a:rPr lang="en-US" sz="2400" dirty="0"/>
              <a:t> = </a:t>
            </a: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2400" dirty="0"/>
              <a:t> (n)</a:t>
            </a:r>
          </a:p>
          <a:p>
            <a:endParaRPr lang="en-US" sz="2400" dirty="0"/>
          </a:p>
          <a:p>
            <a:r>
              <a:rPr lang="en-US" sz="2400" dirty="0"/>
              <a:t>5 n + 10 = </a:t>
            </a: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2400" dirty="0"/>
              <a:t> (n)</a:t>
            </a:r>
          </a:p>
          <a:p>
            <a:endParaRPr lang="en-GB" sz="22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lvl="1"/>
            <a:endParaRPr lang="en-GB" sz="2000" b="1" i="1" dirty="0">
              <a:latin typeface="Times New Roman" pitchFamily="18" charset="0"/>
              <a:cs typeface="Times New Roman" pitchFamily="18" charset="0"/>
              <a:sym typeface="Symbol" pitchFamily="18" charset="2"/>
            </a:endParaRPr>
          </a:p>
          <a:p>
            <a:pPr marL="457200" lvl="1" indent="0">
              <a:buNone/>
            </a:pP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EE5B06-AAC1-4FD1-966C-2ACFF9529C26}" type="slidenum">
              <a:rPr lang="en-US" smtClean="0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966439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Review Questions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/>
          <a:lstStyle/>
          <a:p>
            <a:pPr algn="r"/>
            <a:r>
              <a:rPr lang="en-US" b="1" dirty="0">
                <a:solidFill>
                  <a:srgbClr val="0000FF"/>
                </a:solidFill>
              </a:rPr>
              <a:t>Growth Order</a:t>
            </a:r>
            <a:endParaRPr lang="en-US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289767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For Big-O approximation of </a:t>
            </a:r>
          </a:p>
          <a:p>
            <a:pPr marL="0" indent="0" algn="just">
              <a:buNone/>
            </a:pPr>
            <a:r>
              <a:rPr lang="en-US" dirty="0"/>
              <a:t>    </a:t>
            </a:r>
            <a:r>
              <a:rPr lang="en-US" dirty="0">
                <a:solidFill>
                  <a:srgbClr val="0000FF"/>
                </a:solidFill>
              </a:rPr>
              <a:t>f(n) = 4n</a:t>
            </a:r>
            <a:r>
              <a:rPr lang="en-US" baseline="30000" dirty="0">
                <a:solidFill>
                  <a:srgbClr val="0000FF"/>
                </a:solidFill>
              </a:rPr>
              <a:t>8</a:t>
            </a:r>
            <a:r>
              <a:rPr lang="en-US" dirty="0">
                <a:solidFill>
                  <a:srgbClr val="0000FF"/>
                </a:solidFill>
              </a:rPr>
              <a:t>-6n</a:t>
            </a:r>
            <a:r>
              <a:rPr lang="en-US" baseline="30000" dirty="0">
                <a:solidFill>
                  <a:srgbClr val="0000FF"/>
                </a:solidFill>
              </a:rPr>
              <a:t>5</a:t>
            </a:r>
            <a:r>
              <a:rPr lang="en-US" dirty="0">
                <a:solidFill>
                  <a:srgbClr val="0000FF"/>
                </a:solidFill>
              </a:rPr>
              <a:t>-7n</a:t>
            </a:r>
            <a:r>
              <a:rPr lang="en-US" baseline="30000" dirty="0">
                <a:solidFill>
                  <a:srgbClr val="0000FF"/>
                </a:solidFill>
              </a:rPr>
              <a:t>3</a:t>
            </a:r>
            <a:r>
              <a:rPr lang="en-US" dirty="0">
                <a:solidFill>
                  <a:srgbClr val="0000FF"/>
                </a:solidFill>
              </a:rPr>
              <a:t> </a:t>
            </a:r>
            <a:r>
              <a:rPr lang="en-US" dirty="0"/>
              <a:t>which terms will</a:t>
            </a:r>
          </a:p>
          <a:p>
            <a:pPr marL="0" indent="0" algn="just">
              <a:buNone/>
            </a:pPr>
            <a:r>
              <a:rPr lang="en-US" dirty="0"/>
              <a:t>    be ignored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4n</a:t>
            </a:r>
            <a:r>
              <a:rPr lang="en-US" baseline="30000" dirty="0"/>
              <a:t>8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6n</a:t>
            </a:r>
            <a:r>
              <a:rPr lang="en-US" baseline="30000" dirty="0"/>
              <a:t>5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7n</a:t>
            </a:r>
            <a:r>
              <a:rPr lang="en-US" baseline="30000" dirty="0"/>
              <a:t>3</a:t>
            </a: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Both b &amp; c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All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50292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60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/>
              <a:t>Which of the terms are not ignored which writing the big-O approximation?</a:t>
            </a:r>
            <a:endParaRPr lang="en-US" altLang="en-US" sz="2400" dirty="0">
              <a:cs typeface="Times New Roman" panose="02020603050405020304" pitchFamily="18" charset="0"/>
            </a:endParaRPr>
          </a:p>
          <a:p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Highest Order Term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Lower Order Terms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Coefficient Constants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All of above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109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3733800"/>
            <a:ext cx="3810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2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dirty="0"/>
              <a:t>Order of growth describes “</a:t>
            </a:r>
            <a:r>
              <a:rPr lang="en-US" altLang="en-US" sz="2400" dirty="0">
                <a:cs typeface="Times New Roman" panose="02020603050405020304" pitchFamily="18" charset="0"/>
              </a:rPr>
              <a:t>How much faster will algorithm run on computer that is twice as fast?</a:t>
            </a:r>
          </a:p>
          <a:p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True</a:t>
            </a:r>
          </a:p>
          <a:p>
            <a:pPr marL="971550" lvl="1" indent="-514350">
              <a:buFont typeface="+mj-lt"/>
              <a:buAutoNum type="alphaLcParenR"/>
            </a:pPr>
            <a:endParaRPr lang="en-US" dirty="0"/>
          </a:p>
          <a:p>
            <a:pPr marL="971550" lvl="1" indent="-514350">
              <a:buFont typeface="+mj-lt"/>
              <a:buAutoNum type="alphaLcParenR"/>
            </a:pPr>
            <a:r>
              <a:rPr lang="en-US" dirty="0"/>
              <a:t>False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343400"/>
            <a:ext cx="3810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777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of the followings describes the “upper” bound for given function?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dirty="0"/>
              <a:t> - Notation (Theta)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cs typeface="Times New Roman" pitchFamily="18" charset="0"/>
              </a:rPr>
              <a:t>O</a:t>
            </a:r>
            <a:r>
              <a:rPr lang="en-US" sz="2400" dirty="0"/>
              <a:t> – Notation (Big- Oh)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2400" dirty="0"/>
              <a:t> - Notation  (Omega)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cs typeface="Times New Roman" pitchFamily="18" charset="0"/>
              </a:rPr>
              <a:t>o</a:t>
            </a:r>
            <a:r>
              <a:rPr lang="en-US" sz="2400" dirty="0"/>
              <a:t> – Notation  (little Oh)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</a:t>
            </a:r>
            <a:r>
              <a:rPr lang="en-US" sz="2400" dirty="0"/>
              <a:t> - Notation   (little Omega)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4196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295400" y="5181600"/>
            <a:ext cx="457200" cy="462232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515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of the followings describes the “lower” bound for given function?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dirty="0"/>
              <a:t> - Notation (Theta)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cs typeface="Times New Roman" pitchFamily="18" charset="0"/>
              </a:rPr>
              <a:t>O</a:t>
            </a:r>
            <a:r>
              <a:rPr lang="en-US" sz="2400" dirty="0"/>
              <a:t> – Notation (Big- Oh)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2400" dirty="0"/>
              <a:t> - Notation  (Omega)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cs typeface="Times New Roman" pitchFamily="18" charset="0"/>
              </a:rPr>
              <a:t>o</a:t>
            </a:r>
            <a:r>
              <a:rPr lang="en-US" sz="2400" dirty="0"/>
              <a:t> – Notation  (little Oh)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</a:t>
            </a:r>
            <a:r>
              <a:rPr lang="en-US" sz="2400" dirty="0"/>
              <a:t> - Notation   (little Omega)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871768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295400" y="5633768"/>
            <a:ext cx="457200" cy="462232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969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of the followings describes both “lower &amp; upper” bound for given function?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dirty="0"/>
              <a:t> - Notation (Theta)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cs typeface="Times New Roman" pitchFamily="18" charset="0"/>
              </a:rPr>
              <a:t>O</a:t>
            </a:r>
            <a:r>
              <a:rPr lang="en-US" sz="2400" dirty="0"/>
              <a:t> – Notation (Big- Oh)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2400" dirty="0"/>
              <a:t> - Notation  (Omega)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cs typeface="Times New Roman" pitchFamily="18" charset="0"/>
              </a:rPr>
              <a:t>o</a:t>
            </a:r>
            <a:r>
              <a:rPr lang="en-US" sz="2400" dirty="0"/>
              <a:t> – Notation  (little Oh)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</a:t>
            </a:r>
            <a:r>
              <a:rPr lang="en-US" sz="2400" dirty="0"/>
              <a:t> - Notation   (little Omega)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73834" y="40386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07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of the followings is a tight bound?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dirty="0"/>
              <a:t> - Notation (Theta)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cs typeface="Times New Roman" pitchFamily="18" charset="0"/>
              </a:rPr>
              <a:t>O</a:t>
            </a:r>
            <a:r>
              <a:rPr lang="en-US" sz="2400" dirty="0"/>
              <a:t> – Notation (Big- Oh)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2400" dirty="0"/>
              <a:t> - Notation  (Omega)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cs typeface="Times New Roman" pitchFamily="18" charset="0"/>
              </a:rPr>
              <a:t>o</a:t>
            </a:r>
            <a:r>
              <a:rPr lang="en-US" sz="2400" dirty="0"/>
              <a:t> – Notation  (little Oh)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</a:t>
            </a:r>
            <a:r>
              <a:rPr lang="en-US" sz="2400" dirty="0"/>
              <a:t> - Notation   (little Omega)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73834" y="39624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295400" y="4360653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273834" y="35052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1347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of the followings is not a tight bound?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400" dirty="0"/>
              <a:t> - Notation (Theta)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cs typeface="Times New Roman" pitchFamily="18" charset="0"/>
              </a:rPr>
              <a:t>O</a:t>
            </a:r>
            <a:r>
              <a:rPr lang="en-US" sz="2400" dirty="0"/>
              <a:t> – Notation (Big- Oh)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2400" dirty="0"/>
              <a:t> - Notation  (Omega)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cs typeface="Times New Roman" pitchFamily="18" charset="0"/>
              </a:rPr>
              <a:t>o</a:t>
            </a:r>
            <a:r>
              <a:rPr lang="en-US" sz="2400" dirty="0"/>
              <a:t> – Notation  (little Oh)</a:t>
            </a:r>
          </a:p>
          <a:p>
            <a:pPr marL="914400" lvl="1" indent="-514350">
              <a:lnSpc>
                <a:spcPct val="90000"/>
              </a:lnSpc>
              <a:buFont typeface="+mj-lt"/>
              <a:buAutoNum type="alphaLcParenR"/>
            </a:pPr>
            <a:r>
              <a:rPr lang="en-GB" sz="2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</a:t>
            </a:r>
            <a:r>
              <a:rPr lang="en-US" sz="2400" dirty="0"/>
              <a:t> - Notation   (little Omega)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73834" y="4783347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1295400" y="51816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554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09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For (</a:t>
            </a:r>
            <a:r>
              <a:rPr lang="en-GB" dirty="0">
                <a:sym typeface="Symbol" pitchFamily="18" charset="2"/>
              </a:rPr>
              <a:t>-Theta), which of the following is true?</a:t>
            </a:r>
            <a:endParaRPr lang="en-US" dirty="0"/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f(n) &lt; c</a:t>
            </a:r>
            <a:r>
              <a:rPr lang="en-US" baseline="-25000" dirty="0"/>
              <a:t>1</a:t>
            </a:r>
            <a:r>
              <a:rPr lang="en-US" dirty="0"/>
              <a:t> g(n) 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f(n) &lt; c</a:t>
            </a:r>
            <a:r>
              <a:rPr lang="en-US" baseline="-25000" dirty="0"/>
              <a:t>2</a:t>
            </a:r>
            <a:r>
              <a:rPr lang="en-US" dirty="0"/>
              <a:t> g(n) 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f(n) &lt;= c</a:t>
            </a:r>
            <a:r>
              <a:rPr lang="en-US" baseline="-25000" dirty="0"/>
              <a:t>2</a:t>
            </a:r>
            <a:r>
              <a:rPr lang="en-US" dirty="0"/>
              <a:t> g(n) 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f(n) &gt; c</a:t>
            </a:r>
            <a:r>
              <a:rPr lang="en-US" baseline="-25000" dirty="0"/>
              <a:t>1</a:t>
            </a:r>
            <a:r>
              <a:rPr lang="en-US" dirty="0"/>
              <a:t> g(n) 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f(n) &gt; c</a:t>
            </a:r>
            <a:r>
              <a:rPr lang="en-US" baseline="-25000" dirty="0"/>
              <a:t>2</a:t>
            </a:r>
            <a:r>
              <a:rPr lang="en-US" dirty="0"/>
              <a:t> g(n)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6482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49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For (</a:t>
            </a:r>
            <a:r>
              <a:rPr lang="en-GB" dirty="0">
                <a:sym typeface="Symbol" pitchFamily="18" charset="2"/>
              </a:rPr>
              <a:t>-Theta), which of the following is true?</a:t>
            </a:r>
            <a:endParaRPr lang="en-US" dirty="0"/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f(n) &lt; c</a:t>
            </a:r>
            <a:r>
              <a:rPr lang="en-US" baseline="-25000" dirty="0"/>
              <a:t>1</a:t>
            </a:r>
            <a:r>
              <a:rPr lang="en-US" dirty="0"/>
              <a:t> g(n) 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f(n) &lt; c</a:t>
            </a:r>
            <a:r>
              <a:rPr lang="en-US" baseline="-25000" dirty="0"/>
              <a:t>2</a:t>
            </a:r>
            <a:r>
              <a:rPr lang="en-US" dirty="0"/>
              <a:t> g(n) 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f(n) &gt;= c</a:t>
            </a:r>
            <a:r>
              <a:rPr lang="en-US" baseline="-25000" dirty="0"/>
              <a:t>1</a:t>
            </a:r>
            <a:r>
              <a:rPr lang="en-US" dirty="0"/>
              <a:t> g(n) 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f(n) &gt; c</a:t>
            </a:r>
            <a:r>
              <a:rPr lang="en-US" baseline="-25000" dirty="0"/>
              <a:t>1</a:t>
            </a:r>
            <a:r>
              <a:rPr lang="en-US" dirty="0"/>
              <a:t> g(n) 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f(n) &gt; c</a:t>
            </a:r>
            <a:r>
              <a:rPr lang="en-US" baseline="-25000" dirty="0"/>
              <a:t>2</a:t>
            </a:r>
            <a:r>
              <a:rPr lang="en-US" dirty="0"/>
              <a:t> g(n)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46482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52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For (</a:t>
            </a:r>
            <a:r>
              <a:rPr lang="en-GB" dirty="0">
                <a:sym typeface="Symbol" pitchFamily="18" charset="2"/>
              </a:rPr>
              <a:t>-Theta), which of the following is true?</a:t>
            </a:r>
            <a:endParaRPr lang="en-US" dirty="0"/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f(n) &lt;  g(n) 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f(n) =  g(n) 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f(n) &gt;  g(n) 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All of above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118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6388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37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For (</a:t>
            </a:r>
            <a:r>
              <a:rPr lang="en-GB" dirty="0">
                <a:sym typeface="Symbol" pitchFamily="18" charset="2"/>
              </a:rPr>
              <a:t>-Theta), which of the following is true?</a:t>
            </a:r>
            <a:endParaRPr lang="en-US" dirty="0"/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and c</a:t>
            </a:r>
            <a:r>
              <a:rPr lang="en-US" baseline="-25000" dirty="0"/>
              <a:t>2</a:t>
            </a:r>
            <a:r>
              <a:rPr lang="en-US" dirty="0"/>
              <a:t> are constants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and c</a:t>
            </a:r>
            <a:r>
              <a:rPr lang="en-US" baseline="-25000" dirty="0"/>
              <a:t>2</a:t>
            </a:r>
            <a:r>
              <a:rPr lang="en-US" dirty="0"/>
              <a:t> are integer constants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and c</a:t>
            </a:r>
            <a:r>
              <a:rPr lang="en-US" baseline="-25000" dirty="0"/>
              <a:t>2</a:t>
            </a:r>
            <a:r>
              <a:rPr lang="en-US" dirty="0"/>
              <a:t> are real constants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and c</a:t>
            </a:r>
            <a:r>
              <a:rPr lang="en-US" baseline="-25000" dirty="0"/>
              <a:t>2</a:t>
            </a:r>
            <a:r>
              <a:rPr lang="en-US" dirty="0"/>
              <a:t> are positive constants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and c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/>
              <a:t>are negative </a:t>
            </a:r>
            <a:r>
              <a:rPr lang="en-US" dirty="0"/>
              <a:t>constant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119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51816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694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dirty="0">
                <a:solidFill>
                  <a:srgbClr val="00823B"/>
                </a:solidFill>
              </a:rPr>
              <a:t>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Which term of a polynomial function is not ignored while representing the running using Big – oh (O)?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000" dirty="0"/>
              <a:t>All constants</a:t>
            </a:r>
          </a:p>
          <a:p>
            <a:pPr marL="971550" lvl="1" indent="-514350" algn="just">
              <a:buFont typeface="+mj-lt"/>
              <a:buAutoNum type="alphaLcParenR"/>
            </a:pPr>
            <a:r>
              <a:rPr lang="en-US" sz="3000" dirty="0"/>
              <a:t>All coefficients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000" dirty="0"/>
              <a:t>Lower order terms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000" dirty="0"/>
              <a:t>The highest order term</a:t>
            </a:r>
          </a:p>
          <a:p>
            <a:pPr marL="971550" lvl="1" indent="-514350">
              <a:buFont typeface="+mj-lt"/>
              <a:buAutoNum type="alphaLcParenR"/>
            </a:pPr>
            <a:r>
              <a:rPr lang="en-US" sz="3000" dirty="0"/>
              <a:t>None of above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A8F76-60DD-4F65-80ED-7968AD89E013}" type="slidenum">
              <a:rPr lang="en-US" smtClean="0"/>
              <a:t>120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371600" y="4953000"/>
            <a:ext cx="457200" cy="457200"/>
          </a:xfrm>
          <a:prstGeom prst="ellipse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53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26" y="1946943"/>
            <a:ext cx="6705600" cy="2003425"/>
          </a:xfrm>
        </p:spPr>
        <p:txBody>
          <a:bodyPr>
            <a:noAutofit/>
          </a:bodyPr>
          <a:lstStyle/>
          <a:p>
            <a:r>
              <a:rPr lang="en-US" sz="6000" b="1" dirty="0">
                <a:solidFill>
                  <a:srgbClr val="00823B"/>
                </a:solidFill>
              </a:rPr>
              <a:t>Asymptotic Notations</a:t>
            </a:r>
            <a:endParaRPr lang="en-US" sz="4800" b="1" dirty="0">
              <a:solidFill>
                <a:srgbClr val="00823B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962400"/>
            <a:ext cx="6400800" cy="1752600"/>
          </a:xfrm>
        </p:spPr>
        <p:txBody>
          <a:bodyPr>
            <a:normAutofit/>
          </a:bodyPr>
          <a:lstStyle/>
          <a:p>
            <a:pPr algn="r"/>
            <a:endParaRPr lang="en-US" sz="4000" b="1" dirty="0">
              <a:solidFill>
                <a:srgbClr val="0000FF"/>
              </a:solidFill>
            </a:endParaRPr>
          </a:p>
          <a:p>
            <a:pPr algn="r"/>
            <a:r>
              <a:rPr lang="en-US" sz="4000" b="1" dirty="0">
                <a:solidFill>
                  <a:srgbClr val="0000FF"/>
                </a:solidFill>
              </a:rPr>
              <a:t>Some Examples</a:t>
            </a:r>
          </a:p>
        </p:txBody>
      </p:sp>
    </p:spTree>
    <p:extLst>
      <p:ext uri="{BB962C8B-B14F-4D97-AF65-F5344CB8AC3E}">
        <p14:creationId xmlns:p14="http://schemas.microsoft.com/office/powerpoint/2010/main" val="701883401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Solutions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dirty="0"/>
              <a:t> - Notation (</a:t>
            </a:r>
            <a:r>
              <a:rPr lang="en-US" dirty="0">
                <a:solidFill>
                  <a:schemeClr val="accent2"/>
                </a:solidFill>
              </a:rPr>
              <a:t>Theta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77728037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 exercises </a:t>
            </a:r>
            <a:r>
              <a:rPr lang="en-GB" sz="2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2800" dirty="0"/>
              <a:t> - Notation (</a:t>
            </a:r>
            <a:r>
              <a:rPr lang="en-US" sz="2800" dirty="0">
                <a:solidFill>
                  <a:schemeClr val="accent2"/>
                </a:solidFill>
              </a:rPr>
              <a:t>Theta</a:t>
            </a:r>
            <a:r>
              <a:rPr lang="en-US" sz="2800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Prove that ½.n</a:t>
            </a:r>
            <a:r>
              <a:rPr lang="en-US" sz="2400" baseline="30000" dirty="0">
                <a:solidFill>
                  <a:schemeClr val="accent2"/>
                </a:solidFill>
                <a:latin typeface="Times New Roman" pitchFamily="18" charset="0"/>
              </a:rPr>
              <a:t>2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 – ½.n = 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(n</a:t>
            </a:r>
            <a:r>
              <a:rPr lang="en-US" sz="2400" baseline="30000" dirty="0">
                <a:solidFill>
                  <a:schemeClr val="accent2"/>
                </a:solidFill>
                <a:latin typeface="Times New Roman" pitchFamily="18" charset="0"/>
              </a:rPr>
              <a:t>2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)</a:t>
            </a:r>
          </a:p>
          <a:p>
            <a:endParaRPr lang="en-US" sz="2400" dirty="0">
              <a:solidFill>
                <a:schemeClr val="accent2"/>
              </a:solidFill>
              <a:latin typeface="Times New Roman" pitchFamily="18" charset="0"/>
            </a:endParaRPr>
          </a:p>
          <a:p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Prove that a.n</a:t>
            </a:r>
            <a:r>
              <a:rPr lang="en-US" sz="2400" baseline="30000" dirty="0">
                <a:solidFill>
                  <a:schemeClr val="accent2"/>
                </a:solidFill>
                <a:latin typeface="Times New Roman" pitchFamily="18" charset="0"/>
              </a:rPr>
              <a:t>2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 + </a:t>
            </a:r>
            <a:r>
              <a:rPr lang="en-US" sz="2400" dirty="0" err="1">
                <a:solidFill>
                  <a:schemeClr val="accent2"/>
                </a:solidFill>
                <a:latin typeface="Times New Roman" pitchFamily="18" charset="0"/>
              </a:rPr>
              <a:t>b.n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 + c = 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(n</a:t>
            </a:r>
            <a:r>
              <a:rPr lang="en-US" sz="2400" baseline="30000" dirty="0">
                <a:solidFill>
                  <a:schemeClr val="accent2"/>
                </a:solidFill>
                <a:latin typeface="Times New Roman" pitchFamily="18" charset="0"/>
              </a:rPr>
              <a:t>2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)</a:t>
            </a:r>
          </a:p>
          <a:p>
            <a:endParaRPr lang="en-US" sz="2400" dirty="0">
              <a:solidFill>
                <a:schemeClr val="accent2"/>
              </a:solidFill>
              <a:latin typeface="Times New Roman" pitchFamily="18" charset="0"/>
            </a:endParaRPr>
          </a:p>
          <a:p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Prove that 2.n</a:t>
            </a:r>
            <a:r>
              <a:rPr lang="en-US" sz="2400" baseline="30000" dirty="0">
                <a:solidFill>
                  <a:schemeClr val="accent2"/>
                </a:solidFill>
                <a:latin typeface="Times New Roman" pitchFamily="18" charset="0"/>
              </a:rPr>
              <a:t>2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 + 3.n + 6 = 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(n</a:t>
            </a:r>
            <a:r>
              <a:rPr lang="en-US" sz="2400" baseline="30000" dirty="0">
                <a:solidFill>
                  <a:schemeClr val="accent2"/>
                </a:solidFill>
                <a:latin typeface="Times New Roman" pitchFamily="18" charset="0"/>
              </a:rPr>
              <a:t>3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)</a:t>
            </a:r>
          </a:p>
          <a:p>
            <a:endParaRPr lang="en-US" sz="2400" dirty="0">
              <a:solidFill>
                <a:schemeClr val="accent2"/>
              </a:solidFill>
              <a:latin typeface="Times New Roman" pitchFamily="18" charset="0"/>
            </a:endParaRPr>
          </a:p>
          <a:p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Prove that (3/2) n</a:t>
            </a:r>
            <a:r>
              <a:rPr lang="en-US" sz="2400" baseline="30000" dirty="0">
                <a:solidFill>
                  <a:schemeClr val="accent2"/>
                </a:solidFill>
                <a:latin typeface="Times New Roman" pitchFamily="18" charset="0"/>
              </a:rPr>
              <a:t>2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 - 4n = ϴ (n</a:t>
            </a:r>
            <a:r>
              <a:rPr lang="en-US" sz="2400" baseline="30000" dirty="0">
                <a:solidFill>
                  <a:schemeClr val="accent2"/>
                </a:solidFill>
                <a:latin typeface="Times New Roman" pitchFamily="18" charset="0"/>
              </a:rPr>
              <a:t>2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)</a:t>
            </a:r>
          </a:p>
          <a:p>
            <a:endParaRPr lang="en-US" sz="2400" dirty="0">
              <a:solidFill>
                <a:schemeClr val="accent2"/>
              </a:solidFill>
              <a:latin typeface="Times New Roman" pitchFamily="18" charset="0"/>
            </a:endParaRPr>
          </a:p>
          <a:p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Prove that 6n</a:t>
            </a:r>
            <a:r>
              <a:rPr lang="en-US" sz="2400" baseline="30000" dirty="0">
                <a:solidFill>
                  <a:schemeClr val="accent2"/>
                </a:solidFill>
                <a:latin typeface="Times New Roman" pitchFamily="18" charset="0"/>
              </a:rPr>
              <a:t>3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 = ϴ(n</a:t>
            </a:r>
            <a:r>
              <a:rPr lang="en-US" sz="2400" baseline="30000" dirty="0">
                <a:solidFill>
                  <a:schemeClr val="accent2"/>
                </a:solidFill>
                <a:latin typeface="Times New Roman" pitchFamily="18" charset="0"/>
              </a:rPr>
              <a:t>2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395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5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5400" dirty="0"/>
              <a:t> - Notation (</a:t>
            </a:r>
            <a:r>
              <a:rPr lang="en-US" sz="5400" dirty="0">
                <a:solidFill>
                  <a:schemeClr val="accent2"/>
                </a:solidFill>
              </a:rPr>
              <a:t>Theta</a:t>
            </a:r>
            <a:r>
              <a:rPr lang="en-US" sz="5400" dirty="0"/>
              <a:t>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124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729459" y="2286000"/>
            <a:ext cx="6814341" cy="3727146"/>
          </a:xfrm>
        </p:spPr>
        <p:txBody>
          <a:bodyPr>
            <a:normAutofit fontScale="70000" lnSpcReduction="20000"/>
          </a:bodyPr>
          <a:lstStyle/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800" dirty="0">
                <a:latin typeface="Times New Roman" pitchFamily="18" charset="0"/>
              </a:rPr>
              <a:t>Example 1: Prove that ½.n</a:t>
            </a:r>
            <a:r>
              <a:rPr lang="en-US" sz="2800" baseline="30000" dirty="0">
                <a:latin typeface="Times New Roman" pitchFamily="18" charset="0"/>
              </a:rPr>
              <a:t>2</a:t>
            </a:r>
            <a:r>
              <a:rPr lang="en-US" sz="2800" dirty="0">
                <a:latin typeface="Times New Roman" pitchFamily="18" charset="0"/>
              </a:rPr>
              <a:t> – ½.n =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800" dirty="0">
                <a:latin typeface="Times New Roman" pitchFamily="18" charset="0"/>
              </a:rPr>
              <a:t>(n</a:t>
            </a:r>
            <a:r>
              <a:rPr lang="en-US" sz="2800" baseline="30000" dirty="0">
                <a:latin typeface="Times New Roman" pitchFamily="18" charset="0"/>
              </a:rPr>
              <a:t>2</a:t>
            </a:r>
            <a:r>
              <a:rPr lang="en-US" sz="2800" dirty="0">
                <a:latin typeface="Times New Roman" pitchFamily="18" charset="0"/>
              </a:rPr>
              <a:t>)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800" dirty="0">
                <a:latin typeface="Microsoft Sans Serif" pitchFamily="34" charset="0"/>
              </a:rPr>
              <a:t>Proof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800" dirty="0">
                <a:latin typeface="Microsoft Sans Serif" pitchFamily="34" charset="0"/>
              </a:rPr>
              <a:t>	Assume that f(n) = ½.n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– ½.n, and g(n) = 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800" dirty="0">
                <a:latin typeface="Microsoft Sans Serif" pitchFamily="34" charset="0"/>
              </a:rPr>
              <a:t>		f(n)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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800" dirty="0">
                <a:latin typeface="Microsoft Sans Serif" pitchFamily="34" charset="0"/>
              </a:rPr>
              <a:t>(g(n))? 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800" dirty="0">
                <a:latin typeface="Microsoft Sans Serif" pitchFamily="34" charset="0"/>
              </a:rPr>
              <a:t>	We have to find the existence of c</a:t>
            </a:r>
            <a:r>
              <a:rPr lang="en-US" sz="2800" baseline="-25000" dirty="0">
                <a:latin typeface="Microsoft Sans Serif" pitchFamily="34" charset="0"/>
              </a:rPr>
              <a:t>1</a:t>
            </a:r>
            <a:r>
              <a:rPr lang="en-US" sz="2800" dirty="0">
                <a:latin typeface="Microsoft Sans Serif" pitchFamily="34" charset="0"/>
              </a:rPr>
              <a:t>, c</a:t>
            </a:r>
            <a:r>
              <a:rPr lang="en-US" sz="2800" baseline="-25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and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sz="2800" dirty="0">
                <a:latin typeface="Microsoft Sans Serif" pitchFamily="34" charset="0"/>
              </a:rPr>
              <a:t>n</a:t>
            </a:r>
            <a:r>
              <a:rPr lang="en-US" sz="2800" baseline="-25000" dirty="0">
                <a:latin typeface="Microsoft Sans Serif" pitchFamily="34" charset="0"/>
              </a:rPr>
              <a:t>0 </a:t>
            </a:r>
            <a:r>
              <a:rPr lang="en-US" sz="2800" dirty="0" err="1">
                <a:latin typeface="Microsoft Sans Serif" pitchFamily="34" charset="0"/>
              </a:rPr>
              <a:t>s.t.</a:t>
            </a:r>
            <a:endParaRPr lang="en-US" sz="2800" dirty="0">
              <a:latin typeface="Microsoft Sans Serif" pitchFamily="34" charset="0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	</a:t>
            </a:r>
            <a:r>
              <a:rPr lang="en-US" sz="2800" dirty="0">
                <a:latin typeface="Microsoft Sans Serif" pitchFamily="34" charset="0"/>
              </a:rPr>
              <a:t>c</a:t>
            </a:r>
            <a:r>
              <a:rPr lang="en-US" sz="2800" baseline="-25000" dirty="0">
                <a:latin typeface="Microsoft Sans Serif" pitchFamily="34" charset="0"/>
              </a:rPr>
              <a:t>1</a:t>
            </a:r>
            <a:r>
              <a:rPr lang="en-US" sz="2800" dirty="0">
                <a:latin typeface="Microsoft Sans Serif" pitchFamily="34" charset="0"/>
              </a:rPr>
              <a:t>.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g(n) ≤ f(n) ≤ </a:t>
            </a:r>
            <a:r>
              <a:rPr lang="en-US" sz="2800" dirty="0">
                <a:latin typeface="Microsoft Sans Serif" pitchFamily="34" charset="0"/>
              </a:rPr>
              <a:t>c</a:t>
            </a:r>
            <a:r>
              <a:rPr lang="en-US" sz="2800" baseline="-25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.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g(n) 	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 n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 </a:t>
            </a:r>
            <a:r>
              <a:rPr lang="en-US" sz="2800" dirty="0">
                <a:latin typeface="Microsoft Sans Serif" pitchFamily="34" charset="0"/>
              </a:rPr>
              <a:t>n</a:t>
            </a:r>
            <a:r>
              <a:rPr lang="en-US" sz="2800" baseline="-25000" dirty="0">
                <a:latin typeface="Microsoft Sans Serif" pitchFamily="34" charset="0"/>
              </a:rPr>
              <a:t>0</a:t>
            </a:r>
            <a:endParaRPr lang="en-US" sz="2800" dirty="0">
              <a:latin typeface="Microsoft Sans Serif" pitchFamily="34" charset="0"/>
              <a:sym typeface="Symbol" pitchFamily="18" charset="2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 	Since, </a:t>
            </a:r>
            <a:r>
              <a:rPr lang="en-US" sz="2800" dirty="0">
                <a:latin typeface="Times New Roman" pitchFamily="18" charset="0"/>
              </a:rPr>
              <a:t>½ n</a:t>
            </a:r>
            <a:r>
              <a:rPr lang="en-US" sz="2800" baseline="30000" dirty="0">
                <a:latin typeface="Times New Roman" pitchFamily="18" charset="0"/>
              </a:rPr>
              <a:t>2</a:t>
            </a:r>
            <a:r>
              <a:rPr lang="en-US" sz="2800" dirty="0">
                <a:latin typeface="Times New Roman" pitchFamily="18" charset="0"/>
              </a:rPr>
              <a:t> - ½ n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≤ </a:t>
            </a:r>
            <a:r>
              <a:rPr lang="en-US" sz="2800" dirty="0">
                <a:latin typeface="Times New Roman" pitchFamily="18" charset="0"/>
              </a:rPr>
              <a:t>½ n</a:t>
            </a:r>
            <a:r>
              <a:rPr lang="en-US" sz="2800" baseline="30000" dirty="0">
                <a:latin typeface="Times New Roman" pitchFamily="18" charset="0"/>
              </a:rPr>
              <a:t>2</a:t>
            </a:r>
            <a:r>
              <a:rPr lang="en-US" sz="2800" dirty="0">
                <a:latin typeface="Times New Roman" pitchFamily="18" charset="0"/>
              </a:rPr>
              <a:t> 	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n ≥ 0   if  </a:t>
            </a:r>
            <a:r>
              <a:rPr lang="en-US" sz="2800" dirty="0">
                <a:latin typeface="Times New Roman" pitchFamily="18" charset="0"/>
              </a:rPr>
              <a:t>c</a:t>
            </a:r>
            <a:r>
              <a:rPr lang="en-US" sz="2800" baseline="-25000" dirty="0">
                <a:latin typeface="Times New Roman" pitchFamily="18" charset="0"/>
              </a:rPr>
              <a:t>2</a:t>
            </a:r>
            <a:r>
              <a:rPr lang="en-US" sz="2800" dirty="0">
                <a:latin typeface="Times New Roman" pitchFamily="18" charset="0"/>
              </a:rPr>
              <a:t>= ½ and </a:t>
            </a:r>
          </a:p>
          <a:p>
            <a:pPr lvl="1"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dirty="0">
                <a:latin typeface="Times New Roman" pitchFamily="18" charset="0"/>
              </a:rPr>
              <a:t>½ n</a:t>
            </a:r>
            <a:r>
              <a:rPr lang="en-US" baseline="30000" dirty="0">
                <a:latin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</a:rPr>
              <a:t> - ½ n 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≥ </a:t>
            </a:r>
            <a:r>
              <a:rPr lang="en-US" dirty="0">
                <a:latin typeface="Times New Roman" pitchFamily="18" charset="0"/>
              </a:rPr>
              <a:t>½ n</a:t>
            </a:r>
            <a:r>
              <a:rPr lang="en-US" baseline="30000" dirty="0">
                <a:latin typeface="Times New Roman" pitchFamily="18" charset="0"/>
              </a:rPr>
              <a:t>2</a:t>
            </a:r>
            <a:r>
              <a:rPr lang="en-US" dirty="0">
                <a:latin typeface="Times New Roman" pitchFamily="18" charset="0"/>
              </a:rPr>
              <a:t> - ½ n . ½ n ( 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n ≥ 2 </a:t>
            </a:r>
            <a:r>
              <a:rPr lang="en-US" dirty="0">
                <a:latin typeface="Times New Roman" pitchFamily="18" charset="0"/>
              </a:rPr>
              <a:t>) = ¼ n</a:t>
            </a:r>
            <a:r>
              <a:rPr lang="en-US" baseline="30000" dirty="0">
                <a:latin typeface="Times New Roman" pitchFamily="18" charset="0"/>
              </a:rPr>
              <a:t>2,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 </a:t>
            </a:r>
            <a:r>
              <a:rPr lang="en-US" dirty="0">
                <a:latin typeface="Times New Roman" pitchFamily="18" charset="0"/>
              </a:rPr>
              <a:t>c</a:t>
            </a:r>
            <a:r>
              <a:rPr lang="en-US" baseline="-25000" dirty="0">
                <a:latin typeface="Times New Roman" pitchFamily="18" charset="0"/>
              </a:rPr>
              <a:t>1</a:t>
            </a:r>
            <a:r>
              <a:rPr lang="en-US" dirty="0">
                <a:latin typeface="Times New Roman" pitchFamily="18" charset="0"/>
              </a:rPr>
              <a:t>= ¼ 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	Hence </a:t>
            </a:r>
            <a:r>
              <a:rPr lang="en-US" sz="2800" dirty="0">
                <a:latin typeface="Times New Roman" pitchFamily="18" charset="0"/>
              </a:rPr>
              <a:t>½ n</a:t>
            </a:r>
            <a:r>
              <a:rPr lang="en-US" sz="2800" baseline="30000" dirty="0">
                <a:latin typeface="Times New Roman" pitchFamily="18" charset="0"/>
              </a:rPr>
              <a:t>2</a:t>
            </a:r>
            <a:r>
              <a:rPr lang="en-US" sz="2800" dirty="0">
                <a:latin typeface="Times New Roman" pitchFamily="18" charset="0"/>
              </a:rPr>
              <a:t> - ½ n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≤ </a:t>
            </a:r>
            <a:r>
              <a:rPr lang="en-US" sz="2800" dirty="0">
                <a:latin typeface="Times New Roman" pitchFamily="18" charset="0"/>
              </a:rPr>
              <a:t>½ n</a:t>
            </a:r>
            <a:r>
              <a:rPr lang="en-US" sz="2800" baseline="30000" dirty="0">
                <a:latin typeface="Times New Roman" pitchFamily="18" charset="0"/>
              </a:rPr>
              <a:t>2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≤</a:t>
            </a:r>
            <a:r>
              <a:rPr lang="en-US" sz="2800" dirty="0">
                <a:latin typeface="Times New Roman" pitchFamily="18" charset="0"/>
              </a:rPr>
              <a:t> ½ n</a:t>
            </a:r>
            <a:r>
              <a:rPr lang="en-US" sz="2800" baseline="30000" dirty="0">
                <a:latin typeface="Times New Roman" pitchFamily="18" charset="0"/>
              </a:rPr>
              <a:t>2</a:t>
            </a:r>
            <a:r>
              <a:rPr lang="en-US" sz="2800" dirty="0">
                <a:latin typeface="Times New Roman" pitchFamily="18" charset="0"/>
              </a:rPr>
              <a:t> - ½ n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800" dirty="0">
                <a:latin typeface="Microsoft Sans Serif" pitchFamily="34" charset="0"/>
              </a:rPr>
              <a:t>	c</a:t>
            </a:r>
            <a:r>
              <a:rPr lang="en-US" sz="2800" baseline="-25000" dirty="0">
                <a:latin typeface="Microsoft Sans Serif" pitchFamily="34" charset="0"/>
              </a:rPr>
              <a:t>1</a:t>
            </a:r>
            <a:r>
              <a:rPr lang="en-US" sz="2800" dirty="0">
                <a:latin typeface="Microsoft Sans Serif" pitchFamily="34" charset="0"/>
              </a:rPr>
              <a:t>.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g(n) ≤ f(n) ≤ </a:t>
            </a:r>
            <a:r>
              <a:rPr lang="en-US" sz="2800" dirty="0">
                <a:latin typeface="Microsoft Sans Serif" pitchFamily="34" charset="0"/>
              </a:rPr>
              <a:t>c</a:t>
            </a:r>
            <a:r>
              <a:rPr lang="en-US" sz="2800" baseline="-25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.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g(n)	</a:t>
            </a:r>
            <a:r>
              <a:rPr lang="en-US" dirty="0">
                <a:latin typeface="Times New Roman" pitchFamily="18" charset="0"/>
                <a:sym typeface="Symbol" pitchFamily="18" charset="2"/>
              </a:rPr>
              <a:t>n ≥ 2, </a:t>
            </a:r>
            <a:r>
              <a:rPr lang="en-US" sz="2800" dirty="0">
                <a:latin typeface="Microsoft Sans Serif" pitchFamily="34" charset="0"/>
              </a:rPr>
              <a:t>c</a:t>
            </a:r>
            <a:r>
              <a:rPr lang="en-US" sz="2800" baseline="-25000" dirty="0">
                <a:latin typeface="Microsoft Sans Serif" pitchFamily="34" charset="0"/>
              </a:rPr>
              <a:t>1</a:t>
            </a:r>
            <a:r>
              <a:rPr lang="en-US" sz="2800" dirty="0">
                <a:latin typeface="Microsoft Sans Serif" pitchFamily="34" charset="0"/>
              </a:rPr>
              <a:t>= ¼, c</a:t>
            </a:r>
            <a:r>
              <a:rPr lang="en-US" sz="2800" baseline="-25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= ½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800" dirty="0">
                <a:latin typeface="Microsoft Sans Serif" pitchFamily="34" charset="0"/>
              </a:rPr>
              <a:t>	Hence f(n)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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800" dirty="0">
                <a:latin typeface="Microsoft Sans Serif" pitchFamily="34" charset="0"/>
              </a:rPr>
              <a:t>(g(n))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 </a:t>
            </a:r>
            <a:r>
              <a:rPr lang="en-US" sz="2800" dirty="0">
                <a:latin typeface="Times New Roman" pitchFamily="18" charset="0"/>
              </a:rPr>
              <a:t>½.n</a:t>
            </a:r>
            <a:r>
              <a:rPr lang="en-US" sz="2800" baseline="30000" dirty="0">
                <a:latin typeface="Times New Roman" pitchFamily="18" charset="0"/>
              </a:rPr>
              <a:t>2</a:t>
            </a:r>
            <a:r>
              <a:rPr lang="en-US" sz="2800" dirty="0">
                <a:latin typeface="Times New Roman" pitchFamily="18" charset="0"/>
              </a:rPr>
              <a:t> – ½.n = </a:t>
            </a:r>
            <a:r>
              <a:rPr lang="en-US" sz="2800" dirty="0"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800" dirty="0">
                <a:latin typeface="Times New Roman" pitchFamily="18" charset="0"/>
              </a:rPr>
              <a:t>(n</a:t>
            </a:r>
            <a:r>
              <a:rPr lang="en-US" sz="2800" baseline="30000" dirty="0">
                <a:latin typeface="Times New Roman" pitchFamily="18" charset="0"/>
              </a:rPr>
              <a:t>2</a:t>
            </a:r>
            <a:r>
              <a:rPr lang="en-US" sz="2800" dirty="0">
                <a:latin typeface="Times New Roman" pitchFamily="18" charset="0"/>
              </a:rPr>
              <a:t>)</a:t>
            </a:r>
            <a:endParaRPr lang="en-US" sz="2800" dirty="0">
              <a:latin typeface="Microsoft Sans Serif" pitchFamily="34" charset="0"/>
              <a:sym typeface="Symbol" pitchFamily="18" charset="2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75946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5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</a:t>
            </a:r>
            <a:r>
              <a:rPr lang="en-US" sz="5400" dirty="0"/>
              <a:t> - Notation (</a:t>
            </a:r>
            <a:r>
              <a:rPr lang="en-US" sz="5400" dirty="0">
                <a:solidFill>
                  <a:schemeClr val="accent2"/>
                </a:solidFill>
              </a:rPr>
              <a:t>Theta</a:t>
            </a:r>
            <a:r>
              <a:rPr lang="en-US" sz="5400" dirty="0"/>
              <a:t>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125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>
          <a:xfrm>
            <a:off x="748779" y="2362199"/>
            <a:ext cx="6871222" cy="3638067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Times New Roman" pitchFamily="18" charset="0"/>
              </a:rPr>
              <a:t>Example 3: Prove that 2.n</a:t>
            </a:r>
            <a:r>
              <a:rPr lang="en-US" sz="2400" baseline="30000" dirty="0">
                <a:latin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</a:rPr>
              <a:t> + 3.n + 6 =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400" dirty="0">
                <a:latin typeface="Times New Roman" pitchFamily="18" charset="0"/>
              </a:rPr>
              <a:t>(n</a:t>
            </a:r>
            <a:r>
              <a:rPr lang="en-US" sz="2400" baseline="30000" dirty="0">
                <a:latin typeface="Times New Roman" pitchFamily="18" charset="0"/>
              </a:rPr>
              <a:t>3</a:t>
            </a:r>
            <a:r>
              <a:rPr lang="en-US" sz="2400" dirty="0">
                <a:latin typeface="Times New Roman" pitchFamily="18" charset="0"/>
              </a:rPr>
              <a:t>)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Proof:   </a:t>
            </a:r>
            <a:r>
              <a:rPr lang="en-US" sz="2400" dirty="0">
                <a:latin typeface="Times New Roman" pitchFamily="18" charset="0"/>
              </a:rPr>
              <a:t>Let f(n) = 2.n</a:t>
            </a:r>
            <a:r>
              <a:rPr lang="en-US" sz="2400" baseline="30000" dirty="0">
                <a:latin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</a:rPr>
              <a:t> + 3.n + 6, and g(n) = n</a:t>
            </a:r>
            <a:r>
              <a:rPr lang="en-US" sz="2400" baseline="30000" dirty="0">
                <a:latin typeface="Times New Roman" pitchFamily="18" charset="0"/>
              </a:rPr>
              <a:t>3</a:t>
            </a:r>
            <a:endParaRPr lang="en-US" sz="2400" dirty="0">
              <a:latin typeface="Times New Roman" pitchFamily="18" charset="0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we have to show that f(n) =</a:t>
            </a:r>
            <a:r>
              <a:rPr lang="en-US" sz="2400" dirty="0">
                <a:latin typeface="Times New Roman" pitchFamily="18" charset="0"/>
                <a:sym typeface="Zed" pitchFamily="2" charset="2"/>
              </a:rPr>
              <a:t>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(g(n))</a:t>
            </a:r>
            <a:endParaRPr lang="en-US" sz="2400" dirty="0">
              <a:latin typeface="Microsoft Sans Serif" pitchFamily="34" charset="0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On contrary assume that f(n)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</a:t>
            </a:r>
            <a:r>
              <a:rPr lang="en-US" sz="2400" dirty="0">
                <a:latin typeface="Times New Roman" pitchFamily="18" charset="0"/>
                <a:sym typeface="Zed" pitchFamily="2" charset="2"/>
              </a:rPr>
              <a:t>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(g(n))</a:t>
            </a:r>
            <a:r>
              <a:rPr lang="en-US" sz="2400" dirty="0">
                <a:latin typeface="Microsoft Sans Serif" pitchFamily="34" charset="0"/>
              </a:rPr>
              <a:t> i.e.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there exist some positive constants c</a:t>
            </a:r>
            <a:r>
              <a:rPr lang="en-US" sz="2400" baseline="-25000" dirty="0">
                <a:latin typeface="Microsoft Sans Serif" pitchFamily="34" charset="0"/>
              </a:rPr>
              <a:t>1</a:t>
            </a:r>
            <a:r>
              <a:rPr lang="en-US" sz="2400" dirty="0">
                <a:latin typeface="Microsoft Sans Serif" pitchFamily="34" charset="0"/>
              </a:rPr>
              <a:t>, c</a:t>
            </a:r>
            <a:r>
              <a:rPr lang="en-US" sz="2400" baseline="-25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 and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sz="2400" dirty="0">
                <a:latin typeface="Microsoft Sans Serif" pitchFamily="34" charset="0"/>
              </a:rPr>
              <a:t>n</a:t>
            </a:r>
            <a:r>
              <a:rPr lang="en-US" sz="2400" baseline="-25000" dirty="0">
                <a:latin typeface="Microsoft Sans Serif" pitchFamily="34" charset="0"/>
              </a:rPr>
              <a:t>0</a:t>
            </a:r>
            <a:r>
              <a:rPr lang="en-US" sz="2400" dirty="0">
                <a:latin typeface="Microsoft Sans Serif" pitchFamily="34" charset="0"/>
              </a:rPr>
              <a:t> such that: 	c</a:t>
            </a:r>
            <a:r>
              <a:rPr lang="en-US" sz="2400" baseline="-25000" dirty="0">
                <a:latin typeface="Microsoft Sans Serif" pitchFamily="34" charset="0"/>
              </a:rPr>
              <a:t>1</a:t>
            </a:r>
            <a:r>
              <a:rPr lang="en-US" sz="2400" dirty="0">
                <a:latin typeface="Microsoft Sans Serif" pitchFamily="34" charset="0"/>
              </a:rPr>
              <a:t>.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g(n) ≤ f(n) ≤ </a:t>
            </a:r>
            <a:r>
              <a:rPr lang="en-US" sz="2400" dirty="0">
                <a:latin typeface="Microsoft Sans Serif" pitchFamily="34" charset="0"/>
              </a:rPr>
              <a:t>c</a:t>
            </a:r>
            <a:r>
              <a:rPr lang="en-US" sz="2400" baseline="-25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.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g(n) 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c</a:t>
            </a:r>
            <a:r>
              <a:rPr lang="en-US" sz="2400" baseline="-25000" dirty="0">
                <a:latin typeface="Microsoft Sans Serif" pitchFamily="34" charset="0"/>
              </a:rPr>
              <a:t>1</a:t>
            </a:r>
            <a:r>
              <a:rPr lang="en-US" sz="2400" dirty="0">
                <a:latin typeface="Microsoft Sans Serif" pitchFamily="34" charset="0"/>
              </a:rPr>
              <a:t>.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g(n) ≤ f(n) ≤ </a:t>
            </a:r>
            <a:r>
              <a:rPr lang="en-US" sz="2400" dirty="0">
                <a:latin typeface="Microsoft Sans Serif" pitchFamily="34" charset="0"/>
              </a:rPr>
              <a:t>c</a:t>
            </a:r>
            <a:r>
              <a:rPr lang="en-US" sz="2400" baseline="-25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.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g(n) </a:t>
            </a:r>
            <a:r>
              <a:rPr lang="en-US" sz="2400" dirty="0">
                <a:latin typeface="Microsoft Sans Serif" pitchFamily="34" charset="0"/>
                <a:sym typeface="Zed" pitchFamily="2" charset="2"/>
              </a:rPr>
              <a:t>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sz="2400" dirty="0">
                <a:latin typeface="Microsoft Sans Serif" pitchFamily="34" charset="0"/>
              </a:rPr>
              <a:t>c</a:t>
            </a:r>
            <a:r>
              <a:rPr lang="en-US" sz="2400" baseline="-25000" dirty="0">
                <a:latin typeface="Microsoft Sans Serif" pitchFamily="34" charset="0"/>
              </a:rPr>
              <a:t>1</a:t>
            </a:r>
            <a:r>
              <a:rPr lang="en-US" sz="2400" dirty="0">
                <a:latin typeface="Microsoft Sans Serif" pitchFamily="34" charset="0"/>
              </a:rPr>
              <a:t>.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n</a:t>
            </a:r>
            <a:r>
              <a:rPr lang="en-US" sz="2400" baseline="30000" dirty="0">
                <a:latin typeface="Microsoft Sans Serif" pitchFamily="34" charset="0"/>
                <a:sym typeface="Symbol" pitchFamily="18" charset="2"/>
              </a:rPr>
              <a:t>3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 ≤ </a:t>
            </a:r>
            <a:r>
              <a:rPr lang="en-US" sz="2400" dirty="0">
                <a:latin typeface="Times New Roman" pitchFamily="18" charset="0"/>
              </a:rPr>
              <a:t>2.n</a:t>
            </a:r>
            <a:r>
              <a:rPr lang="en-US" sz="2400" baseline="30000" dirty="0">
                <a:latin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</a:rPr>
              <a:t> + 3.n + 6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 ≤ </a:t>
            </a:r>
            <a:r>
              <a:rPr lang="en-US" sz="2400" dirty="0">
                <a:latin typeface="Microsoft Sans Serif" pitchFamily="34" charset="0"/>
              </a:rPr>
              <a:t>c</a:t>
            </a:r>
            <a:r>
              <a:rPr lang="en-US" sz="2400" baseline="-25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. 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n</a:t>
            </a:r>
            <a:r>
              <a:rPr lang="en-US" sz="2400" baseline="30000" dirty="0">
                <a:latin typeface="Microsoft Sans Serif" pitchFamily="34" charset="0"/>
                <a:sym typeface="Symbol" pitchFamily="18" charset="2"/>
              </a:rPr>
              <a:t>3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sz="2400" dirty="0">
                <a:latin typeface="Microsoft Sans Serif" pitchFamily="34" charset="0"/>
                <a:sym typeface="Zed" pitchFamily="2" charset="2"/>
              </a:rPr>
              <a:t></a:t>
            </a:r>
            <a:endParaRPr lang="en-US" sz="2400" dirty="0">
              <a:latin typeface="Microsoft Sans Serif" pitchFamily="34" charset="0"/>
              <a:sym typeface="Symbol" pitchFamily="18" charset="2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c</a:t>
            </a:r>
            <a:r>
              <a:rPr lang="en-US" sz="2400" baseline="-25000" dirty="0">
                <a:latin typeface="Microsoft Sans Serif" pitchFamily="34" charset="0"/>
              </a:rPr>
              <a:t>1</a:t>
            </a:r>
            <a:r>
              <a:rPr lang="en-US" sz="2400" dirty="0">
                <a:latin typeface="Microsoft Sans Serif" pitchFamily="34" charset="0"/>
              </a:rPr>
              <a:t>.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n ≤ </a:t>
            </a:r>
            <a:r>
              <a:rPr lang="en-US" sz="2400" dirty="0">
                <a:latin typeface="Times New Roman" pitchFamily="18" charset="0"/>
              </a:rPr>
              <a:t>2 + 3/n + 6/n</a:t>
            </a:r>
            <a:r>
              <a:rPr lang="en-US" sz="2400" baseline="30000" dirty="0">
                <a:latin typeface="Times New Roman" pitchFamily="18" charset="0"/>
              </a:rPr>
              <a:t>2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 ≤ </a:t>
            </a:r>
            <a:r>
              <a:rPr lang="en-US" sz="2400" dirty="0">
                <a:latin typeface="Microsoft Sans Serif" pitchFamily="34" charset="0"/>
              </a:rPr>
              <a:t>c</a:t>
            </a:r>
            <a:r>
              <a:rPr lang="en-US" sz="2400" baseline="-25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. 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n  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c</a:t>
            </a:r>
            <a:r>
              <a:rPr lang="en-US" sz="2400" baseline="-25000" dirty="0">
                <a:latin typeface="Microsoft Sans Serif" pitchFamily="34" charset="0"/>
              </a:rPr>
              <a:t>1</a:t>
            </a:r>
            <a:r>
              <a:rPr lang="en-US" sz="2400" dirty="0">
                <a:latin typeface="Microsoft Sans Serif" pitchFamily="34" charset="0"/>
              </a:rPr>
              <a:t>.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n ≤ </a:t>
            </a:r>
            <a:r>
              <a:rPr lang="en-US" sz="2400" dirty="0">
                <a:latin typeface="Times New Roman" pitchFamily="18" charset="0"/>
              </a:rPr>
              <a:t>2 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≤ </a:t>
            </a:r>
            <a:r>
              <a:rPr lang="en-US" sz="2400" dirty="0">
                <a:latin typeface="Microsoft Sans Serif" pitchFamily="34" charset="0"/>
              </a:rPr>
              <a:t>c</a:t>
            </a:r>
            <a:r>
              <a:rPr lang="en-US" sz="2400" baseline="-25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. 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n, for large n  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  <a:sym typeface="Symbol" pitchFamily="18" charset="2"/>
              </a:rPr>
              <a:t>	n ≤ </a:t>
            </a:r>
            <a:r>
              <a:rPr lang="en-US" sz="2400" dirty="0">
                <a:latin typeface="Times New Roman" pitchFamily="18" charset="0"/>
              </a:rPr>
              <a:t>2/</a:t>
            </a:r>
            <a:r>
              <a:rPr lang="en-US" sz="2400" dirty="0">
                <a:latin typeface="Microsoft Sans Serif" pitchFamily="34" charset="0"/>
              </a:rPr>
              <a:t>c</a:t>
            </a:r>
            <a:r>
              <a:rPr lang="en-US" sz="2400" baseline="-25000" dirty="0">
                <a:latin typeface="Microsoft Sans Serif" pitchFamily="34" charset="0"/>
              </a:rPr>
              <a:t>1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≤ </a:t>
            </a:r>
            <a:r>
              <a:rPr lang="en-US" sz="2400" dirty="0">
                <a:latin typeface="Microsoft Sans Serif" pitchFamily="34" charset="0"/>
              </a:rPr>
              <a:t>c</a:t>
            </a:r>
            <a:r>
              <a:rPr lang="en-US" sz="2400" baseline="-25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/c</a:t>
            </a:r>
            <a:r>
              <a:rPr lang="en-US" sz="2400" baseline="-25000" dirty="0">
                <a:latin typeface="Microsoft Sans Serif" pitchFamily="34" charset="0"/>
              </a:rPr>
              <a:t>1</a:t>
            </a:r>
            <a:r>
              <a:rPr lang="en-US" sz="2400" dirty="0">
                <a:latin typeface="Microsoft Sans Serif" pitchFamily="34" charset="0"/>
              </a:rPr>
              <a:t>.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n  which is not possible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Hence f(n) =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400" dirty="0">
                <a:latin typeface="Microsoft Sans Serif" pitchFamily="34" charset="0"/>
              </a:rPr>
              <a:t>(g(n)) 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 </a:t>
            </a:r>
            <a:r>
              <a:rPr lang="en-US" sz="2400" dirty="0">
                <a:latin typeface="Times New Roman" pitchFamily="18" charset="0"/>
              </a:rPr>
              <a:t>2.n</a:t>
            </a:r>
            <a:r>
              <a:rPr lang="en-US" sz="2400" baseline="30000" dirty="0">
                <a:latin typeface="Times New Roman" pitchFamily="18" charset="0"/>
              </a:rPr>
              <a:t>2</a:t>
            </a:r>
            <a:r>
              <a:rPr lang="en-US" sz="2400" dirty="0">
                <a:latin typeface="Times New Roman" pitchFamily="18" charset="0"/>
              </a:rPr>
              <a:t> + 3.n + 6 = </a:t>
            </a:r>
            <a:r>
              <a:rPr lang="en-US" sz="2400" dirty="0">
                <a:latin typeface="Times New Roman" pitchFamily="18" charset="0"/>
                <a:sym typeface="Symbol" pitchFamily="18" charset="2"/>
              </a:rPr>
              <a:t></a:t>
            </a:r>
            <a:r>
              <a:rPr lang="en-US" sz="2400" dirty="0">
                <a:latin typeface="Times New Roman" pitchFamily="18" charset="0"/>
              </a:rPr>
              <a:t>(n</a:t>
            </a:r>
            <a:r>
              <a:rPr lang="en-US" sz="2400" baseline="30000" dirty="0">
                <a:latin typeface="Times New Roman" pitchFamily="18" charset="0"/>
              </a:rPr>
              <a:t>3</a:t>
            </a:r>
            <a:r>
              <a:rPr lang="en-US" sz="2400" dirty="0">
                <a:latin typeface="Times New Roman" pitchFamily="18" charset="0"/>
              </a:rPr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10928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Solutions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i="1" dirty="0">
                <a:cs typeface="Times New Roman" pitchFamily="18" charset="0"/>
              </a:rPr>
              <a:t>O</a:t>
            </a:r>
            <a:r>
              <a:rPr lang="en-US" dirty="0"/>
              <a:t> – Notation (</a:t>
            </a:r>
            <a:r>
              <a:rPr lang="en-US" dirty="0">
                <a:solidFill>
                  <a:schemeClr val="accent2"/>
                </a:solidFill>
              </a:rPr>
              <a:t>Big- Oh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65560154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 exercises </a:t>
            </a:r>
            <a:r>
              <a:rPr lang="en-GB" sz="2800" b="1" i="1" dirty="0">
                <a:cs typeface="Times New Roman" pitchFamily="18" charset="0"/>
              </a:rPr>
              <a:t>O</a:t>
            </a:r>
            <a:r>
              <a:rPr lang="en-US" sz="2800" dirty="0"/>
              <a:t> – Notation (</a:t>
            </a:r>
            <a:r>
              <a:rPr lang="en-US" sz="2800" dirty="0">
                <a:solidFill>
                  <a:schemeClr val="accent2"/>
                </a:solidFill>
              </a:rPr>
              <a:t>Big- Oh</a:t>
            </a:r>
            <a:r>
              <a:rPr lang="en-US" sz="2800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Prove that 2n</a:t>
            </a:r>
            <a:r>
              <a:rPr lang="en-US" sz="2400" baseline="30000" dirty="0">
                <a:solidFill>
                  <a:schemeClr val="accent2"/>
                </a:solidFill>
                <a:latin typeface="Microsoft Sans Serif" pitchFamily="34" charset="0"/>
              </a:rPr>
              <a:t>2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 = O(n</a:t>
            </a:r>
            <a:r>
              <a:rPr lang="en-US" sz="2400" baseline="30000" dirty="0">
                <a:solidFill>
                  <a:schemeClr val="accent2"/>
                </a:solidFill>
                <a:latin typeface="Microsoft Sans Serif" pitchFamily="34" charset="0"/>
              </a:rPr>
              <a:t>3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)</a:t>
            </a:r>
          </a:p>
          <a:p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Prove that n</a:t>
            </a:r>
            <a:r>
              <a:rPr lang="en-US" sz="2400" baseline="30000" dirty="0">
                <a:solidFill>
                  <a:schemeClr val="accent2"/>
                </a:solidFill>
                <a:latin typeface="Microsoft Sans Serif" pitchFamily="34" charset="0"/>
              </a:rPr>
              <a:t>2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 = O(n</a:t>
            </a:r>
            <a:r>
              <a:rPr lang="en-US" sz="2400" baseline="30000" dirty="0">
                <a:solidFill>
                  <a:schemeClr val="accent2"/>
                </a:solidFill>
                <a:latin typeface="Microsoft Sans Serif" pitchFamily="34" charset="0"/>
              </a:rPr>
              <a:t>2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)</a:t>
            </a:r>
          </a:p>
          <a:p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Prove that 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1000.n</a:t>
            </a:r>
            <a:r>
              <a:rPr lang="en-US" sz="2400" baseline="30000" dirty="0">
                <a:solidFill>
                  <a:schemeClr val="accent2"/>
                </a:solidFill>
                <a:latin typeface="Times New Roman" pitchFamily="18" charset="0"/>
              </a:rPr>
              <a:t>2 </a:t>
            </a:r>
            <a:r>
              <a:rPr lang="en-US" sz="2400" dirty="0">
                <a:solidFill>
                  <a:schemeClr val="accent2"/>
                </a:solidFill>
                <a:latin typeface="Times New Roman" pitchFamily="18" charset="0"/>
              </a:rPr>
              <a:t>+ 1000.n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 = O(n</a:t>
            </a:r>
            <a:r>
              <a:rPr lang="en-US" sz="2400" baseline="30000" dirty="0">
                <a:solidFill>
                  <a:schemeClr val="accent2"/>
                </a:solidFill>
                <a:latin typeface="Microsoft Sans Serif" pitchFamily="34" charset="0"/>
              </a:rPr>
              <a:t>2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)</a:t>
            </a:r>
          </a:p>
          <a:p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Prove that 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2</a:t>
            </a:r>
            <a:r>
              <a:rPr lang="en-US" sz="2400" baseline="300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n+1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 = O(2</a:t>
            </a:r>
            <a:r>
              <a:rPr lang="en-US" sz="2400" baseline="300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n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)</a:t>
            </a:r>
          </a:p>
          <a:p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Prove that 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2</a:t>
            </a:r>
            <a:r>
              <a:rPr lang="en-US" sz="2400" baseline="300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2n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 = O(2</a:t>
            </a:r>
            <a:r>
              <a:rPr lang="en-US" sz="2400" baseline="300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n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)</a:t>
            </a:r>
          </a:p>
          <a:p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Prove that 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d </a:t>
            </a:r>
            <a:r>
              <a:rPr lang="en-US" sz="2400" dirty="0" err="1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nlgn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 – </a:t>
            </a:r>
            <a:r>
              <a:rPr lang="en-US" sz="2400" dirty="0" err="1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dn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(</a:t>
            </a:r>
            <a:r>
              <a:rPr lang="en-US" sz="2400" dirty="0" err="1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lg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 3 – 2/3) + </a:t>
            </a:r>
            <a:r>
              <a:rPr lang="en-US" sz="2400" dirty="0" err="1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cn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 &lt;= d(</a:t>
            </a:r>
            <a:r>
              <a:rPr lang="en-US" sz="2400" dirty="0" err="1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nlgn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)</a:t>
            </a:r>
          </a:p>
          <a:p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Prove that 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(3/16) d n</a:t>
            </a:r>
            <a:r>
              <a:rPr lang="en-US" sz="2400" baseline="300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2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 + cn</a:t>
            </a:r>
            <a:r>
              <a:rPr lang="en-US" sz="2400" baseline="300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2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 &lt;= d(n</a:t>
            </a:r>
            <a:r>
              <a:rPr lang="en-US" sz="2400" baseline="300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2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)</a:t>
            </a:r>
          </a:p>
          <a:p>
            <a:endParaRPr lang="en-US" sz="2400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393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5400" b="1" i="1" dirty="0">
                <a:cs typeface="Times New Roman" pitchFamily="18" charset="0"/>
              </a:rPr>
              <a:t>O</a:t>
            </a:r>
            <a:r>
              <a:rPr lang="en-US" sz="5400" dirty="0"/>
              <a:t> – Notation (</a:t>
            </a:r>
            <a:r>
              <a:rPr lang="en-US" sz="5400" dirty="0">
                <a:solidFill>
                  <a:schemeClr val="accent2"/>
                </a:solidFill>
              </a:rPr>
              <a:t>Big- Oh</a:t>
            </a:r>
            <a:r>
              <a:rPr lang="en-US" sz="5400" dirty="0"/>
              <a:t>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128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Example 1: Prove that 2n</a:t>
            </a:r>
            <a:r>
              <a:rPr lang="en-US" sz="2400" baseline="30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 = O(n</a:t>
            </a:r>
            <a:r>
              <a:rPr lang="en-US" sz="2400" baseline="30000" dirty="0">
                <a:latin typeface="Microsoft Sans Serif" pitchFamily="34" charset="0"/>
              </a:rPr>
              <a:t>3</a:t>
            </a:r>
            <a:r>
              <a:rPr lang="en-US" sz="2400" dirty="0">
                <a:latin typeface="Microsoft Sans Serif" pitchFamily="34" charset="0"/>
              </a:rPr>
              <a:t>)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Proof: 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Assume that f(n) = 2n</a:t>
            </a:r>
            <a:r>
              <a:rPr lang="en-US" sz="2400" baseline="30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 , and g(n) = n</a:t>
            </a:r>
            <a:r>
              <a:rPr lang="en-US" sz="2400" baseline="30000" dirty="0">
                <a:latin typeface="Microsoft Sans Serif" pitchFamily="34" charset="0"/>
              </a:rPr>
              <a:t>3</a:t>
            </a:r>
            <a:r>
              <a:rPr lang="en-US" sz="2400" dirty="0">
                <a:latin typeface="Microsoft Sans Serif" pitchFamily="34" charset="0"/>
              </a:rPr>
              <a:t> 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	f(n) = O(g(n)) ?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Now we have to find the existence of c and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sz="2400" dirty="0">
                <a:latin typeface="Microsoft Sans Serif" pitchFamily="34" charset="0"/>
              </a:rPr>
              <a:t>n</a:t>
            </a:r>
            <a:r>
              <a:rPr lang="en-US" sz="2400" baseline="-25000" dirty="0">
                <a:latin typeface="Microsoft Sans Serif" pitchFamily="34" charset="0"/>
              </a:rPr>
              <a:t>0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endParaRPr lang="en-US" sz="2400" baseline="-25000" dirty="0">
              <a:latin typeface="Microsoft Sans Serif" pitchFamily="34" charset="0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  <a:sym typeface="Symbol" pitchFamily="18" charset="2"/>
              </a:rPr>
              <a:t>	f(n) ≤ </a:t>
            </a:r>
            <a:r>
              <a:rPr lang="en-US" sz="2400" dirty="0" err="1">
                <a:latin typeface="Microsoft Sans Serif" pitchFamily="34" charset="0"/>
                <a:sym typeface="Symbol" pitchFamily="18" charset="2"/>
              </a:rPr>
              <a:t>c.g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(n) </a:t>
            </a:r>
            <a:r>
              <a:rPr lang="en-US" sz="2400" dirty="0">
                <a:latin typeface="Microsoft Sans Serif" pitchFamily="34" charset="0"/>
                <a:sym typeface="Zed" pitchFamily="2" charset="2"/>
              </a:rPr>
              <a:t>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sz="2400" dirty="0">
                <a:latin typeface="Microsoft Sans Serif" pitchFamily="34" charset="0"/>
              </a:rPr>
              <a:t>2n</a:t>
            </a:r>
            <a:r>
              <a:rPr lang="en-US" sz="2400" baseline="30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 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≤</a:t>
            </a:r>
            <a:r>
              <a:rPr lang="en-US" sz="2400" dirty="0">
                <a:latin typeface="Microsoft Sans Serif" pitchFamily="34" charset="0"/>
              </a:rPr>
              <a:t> c.n</a:t>
            </a:r>
            <a:r>
              <a:rPr lang="en-US" sz="2400" baseline="30000" dirty="0">
                <a:latin typeface="Microsoft Sans Serif" pitchFamily="34" charset="0"/>
              </a:rPr>
              <a:t>3</a:t>
            </a:r>
            <a:r>
              <a:rPr lang="en-US" sz="2400" dirty="0">
                <a:latin typeface="Microsoft Sans Serif" pitchFamily="34" charset="0"/>
              </a:rPr>
              <a:t> </a:t>
            </a:r>
            <a:r>
              <a:rPr lang="en-US" sz="2400" dirty="0">
                <a:latin typeface="Microsoft Sans Serif" pitchFamily="34" charset="0"/>
                <a:sym typeface="Zed" pitchFamily="2" charset="2"/>
              </a:rPr>
              <a:t>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 2 ≤ </a:t>
            </a:r>
            <a:r>
              <a:rPr lang="en-US" sz="2400" dirty="0" err="1">
                <a:latin typeface="Microsoft Sans Serif" pitchFamily="34" charset="0"/>
                <a:sym typeface="Symbol" pitchFamily="18" charset="2"/>
              </a:rPr>
              <a:t>c.n</a:t>
            </a:r>
            <a:endParaRPr lang="en-US" sz="2400" dirty="0">
              <a:latin typeface="Microsoft Sans Serif" pitchFamily="34" charset="0"/>
              <a:sym typeface="Symbol" pitchFamily="18" charset="2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  <a:sym typeface="Symbol" pitchFamily="18" charset="2"/>
              </a:rPr>
              <a:t>	if we </a:t>
            </a:r>
            <a:r>
              <a:rPr lang="en-US" sz="2400" dirty="0">
                <a:latin typeface="Microsoft Sans Serif" pitchFamily="34" charset="0"/>
                <a:sym typeface="Zed" pitchFamily="2" charset="2"/>
              </a:rPr>
              <a:t>take,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sz="2400" dirty="0">
                <a:latin typeface="Microsoft Sans Serif" pitchFamily="34" charset="0"/>
              </a:rPr>
              <a:t>c = 1 and n</a:t>
            </a:r>
            <a:r>
              <a:rPr lang="en-US" sz="2400" baseline="-25000" dirty="0">
                <a:latin typeface="Microsoft Sans Serif" pitchFamily="34" charset="0"/>
              </a:rPr>
              <a:t>0</a:t>
            </a:r>
            <a:r>
              <a:rPr lang="en-US" sz="2400" dirty="0">
                <a:latin typeface="Microsoft Sans Serif" pitchFamily="34" charset="0"/>
              </a:rPr>
              <a:t>= 2 		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OR 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c = 2 and n</a:t>
            </a:r>
            <a:r>
              <a:rPr lang="en-US" sz="2400" baseline="-25000" dirty="0">
                <a:latin typeface="Microsoft Sans Serif" pitchFamily="34" charset="0"/>
              </a:rPr>
              <a:t>0</a:t>
            </a:r>
            <a:r>
              <a:rPr lang="en-US" sz="2400" dirty="0">
                <a:latin typeface="Microsoft Sans Serif" pitchFamily="34" charset="0"/>
              </a:rPr>
              <a:t>= 1 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then 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	2n</a:t>
            </a:r>
            <a:r>
              <a:rPr lang="en-US" sz="2400" baseline="30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 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≤</a:t>
            </a:r>
            <a:r>
              <a:rPr lang="en-US" sz="2400" dirty="0">
                <a:latin typeface="Microsoft Sans Serif" pitchFamily="34" charset="0"/>
              </a:rPr>
              <a:t> c.n</a:t>
            </a:r>
            <a:r>
              <a:rPr lang="en-US" sz="2400" baseline="30000" dirty="0">
                <a:latin typeface="Microsoft Sans Serif" pitchFamily="34" charset="0"/>
              </a:rPr>
              <a:t>3</a:t>
            </a:r>
            <a:r>
              <a:rPr lang="en-US" sz="2400" dirty="0">
                <a:latin typeface="Microsoft Sans Serif" pitchFamily="34" charset="0"/>
              </a:rPr>
              <a:t> 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Hence f(n) = O(g(n)), c = 1 and n</a:t>
            </a:r>
            <a:r>
              <a:rPr lang="en-US" sz="2400" baseline="-25000" dirty="0">
                <a:latin typeface="Microsoft Sans Serif" pitchFamily="34" charset="0"/>
              </a:rPr>
              <a:t>0</a:t>
            </a:r>
            <a:r>
              <a:rPr lang="en-US" sz="2400" dirty="0">
                <a:latin typeface="Microsoft Sans Serif" pitchFamily="34" charset="0"/>
              </a:rPr>
              <a:t>= 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183549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5400" b="1" i="1" dirty="0">
                <a:cs typeface="Times New Roman" pitchFamily="18" charset="0"/>
              </a:rPr>
              <a:t>O</a:t>
            </a:r>
            <a:r>
              <a:rPr lang="en-US" sz="5400" dirty="0"/>
              <a:t> – Notation (</a:t>
            </a:r>
            <a:r>
              <a:rPr lang="en-US" sz="5400" dirty="0">
                <a:solidFill>
                  <a:schemeClr val="accent2"/>
                </a:solidFill>
              </a:rPr>
              <a:t>Big- Oh</a:t>
            </a:r>
            <a:r>
              <a:rPr lang="en-US" sz="5400" dirty="0"/>
              <a:t>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129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Example 2: Prove that n</a:t>
            </a:r>
            <a:r>
              <a:rPr lang="en-US" sz="2400" baseline="30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 = O(n</a:t>
            </a:r>
            <a:r>
              <a:rPr lang="en-US" sz="2400" baseline="30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)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endParaRPr lang="en-US" sz="900" dirty="0">
              <a:latin typeface="Microsoft Sans Serif" pitchFamily="34" charset="0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Proof: 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Assume that f(n) = n</a:t>
            </a:r>
            <a:r>
              <a:rPr lang="en-US" sz="2400" baseline="30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 , and g(n) = n</a:t>
            </a:r>
            <a:r>
              <a:rPr lang="en-US" sz="2400" baseline="30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 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Now we have to show that f(n) = </a:t>
            </a:r>
            <a:r>
              <a:rPr lang="en-US" dirty="0">
                <a:latin typeface="Microsoft Sans Serif" pitchFamily="34" charset="0"/>
              </a:rPr>
              <a:t>O(</a:t>
            </a:r>
            <a:r>
              <a:rPr lang="en-US" sz="2400" dirty="0">
                <a:latin typeface="Microsoft Sans Serif" pitchFamily="34" charset="0"/>
              </a:rPr>
              <a:t>g(n))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endParaRPr lang="en-US" sz="1600" dirty="0">
              <a:latin typeface="Microsoft Sans Serif" pitchFamily="34" charset="0"/>
              <a:sym typeface="Symbol" pitchFamily="18" charset="2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  <a:sym typeface="Symbol" pitchFamily="18" charset="2"/>
              </a:rPr>
              <a:t>	Since 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  <a:sym typeface="Symbol" pitchFamily="18" charset="2"/>
              </a:rPr>
              <a:t>	f(n) ≤ </a:t>
            </a:r>
            <a:r>
              <a:rPr lang="en-US" sz="2400" dirty="0" err="1">
                <a:latin typeface="Microsoft Sans Serif" pitchFamily="34" charset="0"/>
                <a:sym typeface="Symbol" pitchFamily="18" charset="2"/>
              </a:rPr>
              <a:t>c.g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(n) </a:t>
            </a:r>
            <a:r>
              <a:rPr lang="en-US" sz="2400" dirty="0">
                <a:latin typeface="Microsoft Sans Serif" pitchFamily="34" charset="0"/>
                <a:sym typeface="Zed" pitchFamily="2" charset="2"/>
              </a:rPr>
              <a:t>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sz="2400" dirty="0">
                <a:latin typeface="Microsoft Sans Serif" pitchFamily="34" charset="0"/>
              </a:rPr>
              <a:t>n</a:t>
            </a:r>
            <a:r>
              <a:rPr lang="en-US" sz="2400" baseline="30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 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≤</a:t>
            </a:r>
            <a:r>
              <a:rPr lang="en-US" sz="2400" dirty="0">
                <a:latin typeface="Microsoft Sans Serif" pitchFamily="34" charset="0"/>
              </a:rPr>
              <a:t> c.n</a:t>
            </a:r>
            <a:r>
              <a:rPr lang="en-US" sz="2400" baseline="30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 </a:t>
            </a:r>
            <a:r>
              <a:rPr lang="en-US" sz="2400" dirty="0">
                <a:latin typeface="Microsoft Sans Serif" pitchFamily="34" charset="0"/>
                <a:sym typeface="Zed" pitchFamily="2" charset="2"/>
              </a:rPr>
              <a:t>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 1 ≤ c, </a:t>
            </a:r>
            <a:r>
              <a:rPr lang="en-US" sz="2400" dirty="0">
                <a:latin typeface="Microsoft Sans Serif" pitchFamily="34" charset="0"/>
                <a:sym typeface="Zed" pitchFamily="2" charset="2"/>
              </a:rPr>
              <a:t>take,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sz="2400" dirty="0">
                <a:latin typeface="Microsoft Sans Serif" pitchFamily="34" charset="0"/>
              </a:rPr>
              <a:t>c = 1, n</a:t>
            </a:r>
            <a:r>
              <a:rPr lang="en-US" sz="2400" baseline="-25000" dirty="0">
                <a:latin typeface="Microsoft Sans Serif" pitchFamily="34" charset="0"/>
              </a:rPr>
              <a:t>0</a:t>
            </a:r>
            <a:r>
              <a:rPr lang="en-US" sz="2400" dirty="0">
                <a:latin typeface="Microsoft Sans Serif" pitchFamily="34" charset="0"/>
              </a:rPr>
              <a:t>= 1 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endParaRPr lang="en-US" sz="1400" dirty="0">
              <a:latin typeface="Microsoft Sans Serif" pitchFamily="34" charset="0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Then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 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	n</a:t>
            </a:r>
            <a:r>
              <a:rPr lang="en-US" sz="2400" baseline="30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 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≤</a:t>
            </a:r>
            <a:r>
              <a:rPr lang="en-US" sz="2400" dirty="0">
                <a:latin typeface="Microsoft Sans Serif" pitchFamily="34" charset="0"/>
              </a:rPr>
              <a:t> c.n</a:t>
            </a:r>
            <a:r>
              <a:rPr lang="en-US" sz="2400" baseline="30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 	for c = 1 and n 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 </a:t>
            </a:r>
            <a:r>
              <a:rPr lang="en-US" sz="2400" dirty="0">
                <a:latin typeface="Microsoft Sans Serif" pitchFamily="34" charset="0"/>
              </a:rPr>
              <a:t>1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400" dirty="0">
                <a:latin typeface="Microsoft Sans Serif" pitchFamily="34" charset="0"/>
              </a:rPr>
              <a:t>	Hence, 2n</a:t>
            </a:r>
            <a:r>
              <a:rPr lang="en-US" sz="2400" baseline="30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 </a:t>
            </a:r>
            <a:r>
              <a:rPr lang="en-US" sz="2400" dirty="0">
                <a:latin typeface="Microsoft Sans Serif" pitchFamily="34" charset="0"/>
                <a:sym typeface="Symbol" pitchFamily="18" charset="2"/>
              </a:rPr>
              <a:t>=</a:t>
            </a:r>
            <a:r>
              <a:rPr lang="en-US" sz="2400" dirty="0">
                <a:latin typeface="Microsoft Sans Serif" pitchFamily="34" charset="0"/>
              </a:rPr>
              <a:t> </a:t>
            </a:r>
            <a:r>
              <a:rPr lang="en-US" dirty="0">
                <a:latin typeface="Microsoft Sans Serif" pitchFamily="34" charset="0"/>
              </a:rPr>
              <a:t>O(</a:t>
            </a:r>
            <a:r>
              <a:rPr lang="en-US" sz="2400" dirty="0">
                <a:latin typeface="Microsoft Sans Serif" pitchFamily="34" charset="0"/>
              </a:rPr>
              <a:t>n</a:t>
            </a:r>
            <a:r>
              <a:rPr lang="en-US" sz="2400" baseline="30000" dirty="0">
                <a:latin typeface="Microsoft Sans Serif" pitchFamily="34" charset="0"/>
              </a:rPr>
              <a:t>2</a:t>
            </a:r>
            <a:r>
              <a:rPr lang="en-US" sz="2400" dirty="0">
                <a:latin typeface="Microsoft Sans Serif" pitchFamily="34" charset="0"/>
              </a:rPr>
              <a:t>), where c = 1 and n</a:t>
            </a:r>
            <a:r>
              <a:rPr lang="en-US" sz="2400" baseline="-25000" dirty="0">
                <a:latin typeface="Microsoft Sans Serif" pitchFamily="34" charset="0"/>
              </a:rPr>
              <a:t>0</a:t>
            </a:r>
            <a:r>
              <a:rPr lang="en-US" sz="2400" dirty="0">
                <a:latin typeface="Microsoft Sans Serif" pitchFamily="34" charset="0"/>
              </a:rPr>
              <a:t>= 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399414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2080" y="2259932"/>
            <a:ext cx="6017966" cy="3909049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Example 3: Prove that </a:t>
            </a:r>
            <a:r>
              <a:rPr lang="en-US" sz="2800" dirty="0">
                <a:latin typeface="Times New Roman" pitchFamily="18" charset="0"/>
              </a:rPr>
              <a:t>1000.n</a:t>
            </a:r>
            <a:r>
              <a:rPr lang="en-US" sz="2800" baseline="30000" dirty="0">
                <a:latin typeface="Times New Roman" pitchFamily="18" charset="0"/>
              </a:rPr>
              <a:t>2 </a:t>
            </a:r>
            <a:r>
              <a:rPr lang="en-US" sz="2800" dirty="0">
                <a:latin typeface="Times New Roman" pitchFamily="18" charset="0"/>
              </a:rPr>
              <a:t>+ 1000.n</a:t>
            </a:r>
            <a:r>
              <a:rPr lang="en-US" sz="2800" dirty="0">
                <a:latin typeface="Microsoft Sans Serif" pitchFamily="34" charset="0"/>
              </a:rPr>
              <a:t> = O(n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Proof: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Assume that f(n) = </a:t>
            </a:r>
            <a:r>
              <a:rPr lang="en-US" sz="2800" dirty="0">
                <a:latin typeface="Times New Roman" pitchFamily="18" charset="0"/>
              </a:rPr>
              <a:t>1000.n</a:t>
            </a:r>
            <a:r>
              <a:rPr lang="en-US" sz="2800" baseline="30000" dirty="0">
                <a:latin typeface="Times New Roman" pitchFamily="18" charset="0"/>
              </a:rPr>
              <a:t>2 </a:t>
            </a:r>
            <a:r>
              <a:rPr lang="en-US" sz="2800" dirty="0">
                <a:latin typeface="Times New Roman" pitchFamily="18" charset="0"/>
              </a:rPr>
              <a:t>+ 1000.n</a:t>
            </a:r>
            <a:r>
              <a:rPr lang="en-US" sz="2800" dirty="0">
                <a:latin typeface="Microsoft Sans Serif" pitchFamily="34" charset="0"/>
              </a:rPr>
              <a:t>, and g(n) = 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We have to find existence of c and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sz="2800" dirty="0">
                <a:latin typeface="Microsoft Sans Serif" pitchFamily="34" charset="0"/>
              </a:rPr>
              <a:t>n</a:t>
            </a:r>
            <a:r>
              <a:rPr lang="en-US" sz="2800" baseline="-25000" dirty="0">
                <a:latin typeface="Microsoft Sans Serif" pitchFamily="34" charset="0"/>
              </a:rPr>
              <a:t>0</a:t>
            </a:r>
            <a:r>
              <a:rPr lang="en-US" sz="2800" dirty="0">
                <a:latin typeface="Microsoft Sans Serif" pitchFamily="34" charset="0"/>
              </a:rPr>
              <a:t> such that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0 ≤ f(n) ≤ </a:t>
            </a:r>
            <a:r>
              <a:rPr lang="en-US" sz="2800" dirty="0" err="1">
                <a:latin typeface="Microsoft Sans Serif" pitchFamily="34" charset="0"/>
                <a:sym typeface="Symbol" pitchFamily="18" charset="2"/>
              </a:rPr>
              <a:t>c.g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(n)	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 n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 </a:t>
            </a:r>
            <a:r>
              <a:rPr lang="en-US" sz="2800" dirty="0">
                <a:latin typeface="Microsoft Sans Serif" pitchFamily="34" charset="0"/>
              </a:rPr>
              <a:t>n</a:t>
            </a:r>
            <a:r>
              <a:rPr lang="en-US" sz="2800" baseline="-25000" dirty="0">
                <a:latin typeface="Microsoft Sans Serif" pitchFamily="34" charset="0"/>
              </a:rPr>
              <a:t>0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	</a:t>
            </a:r>
            <a:endParaRPr lang="en-US" sz="2800" baseline="-25000" dirty="0">
              <a:latin typeface="Microsoft Sans Serif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Times New Roman" pitchFamily="18" charset="0"/>
              </a:rPr>
              <a:t>1000.n</a:t>
            </a:r>
            <a:r>
              <a:rPr lang="en-US" sz="2800" baseline="30000" dirty="0">
                <a:latin typeface="Times New Roman" pitchFamily="18" charset="0"/>
              </a:rPr>
              <a:t>2 </a:t>
            </a:r>
            <a:r>
              <a:rPr lang="en-US" sz="2800" dirty="0">
                <a:latin typeface="Times New Roman" pitchFamily="18" charset="0"/>
              </a:rPr>
              <a:t>+ 1000.n </a:t>
            </a:r>
            <a:r>
              <a:rPr lang="en-US" sz="2800" dirty="0">
                <a:sym typeface="Symbol" pitchFamily="18" charset="2"/>
              </a:rPr>
              <a:t>≤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dirty="0"/>
              <a:t>c.n</a:t>
            </a:r>
            <a:r>
              <a:rPr lang="en-US" sz="2800" baseline="30000" dirty="0"/>
              <a:t>2 </a:t>
            </a:r>
            <a:r>
              <a:rPr lang="en-US" sz="2800" dirty="0"/>
              <a:t>= 1001.n</a:t>
            </a:r>
            <a:r>
              <a:rPr lang="en-US" sz="2800" baseline="30000" dirty="0"/>
              <a:t>2</a:t>
            </a:r>
            <a:r>
              <a:rPr lang="en-US" sz="2800" dirty="0"/>
              <a:t>, 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for </a:t>
            </a:r>
            <a:r>
              <a:rPr lang="en-US" sz="2800" dirty="0">
                <a:latin typeface="Microsoft Sans Serif" pitchFamily="34" charset="0"/>
              </a:rPr>
              <a:t>c = 1001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Times New Roman" pitchFamily="18" charset="0"/>
              </a:rPr>
              <a:t>1000.n</a:t>
            </a:r>
            <a:r>
              <a:rPr lang="en-US" sz="2800" baseline="30000" dirty="0">
                <a:latin typeface="Times New Roman" pitchFamily="18" charset="0"/>
              </a:rPr>
              <a:t>2 </a:t>
            </a:r>
            <a:r>
              <a:rPr lang="en-US" sz="2800" dirty="0">
                <a:latin typeface="Times New Roman" pitchFamily="18" charset="0"/>
              </a:rPr>
              <a:t>+ 1000.n </a:t>
            </a:r>
            <a:r>
              <a:rPr lang="en-US" sz="2800" dirty="0">
                <a:sym typeface="Symbol" pitchFamily="18" charset="2"/>
              </a:rPr>
              <a:t>≤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dirty="0"/>
              <a:t>1001.n</a:t>
            </a:r>
            <a:r>
              <a:rPr lang="en-US" sz="2800" baseline="30000" dirty="0"/>
              <a:t>2</a:t>
            </a:r>
            <a:endParaRPr lang="en-US" sz="2800" dirty="0">
              <a:latin typeface="Microsoft Sans Serif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 typeface="Zed" pitchFamily="2" charset="2"/>
              <a:buChar char="Û"/>
            </a:pPr>
            <a:r>
              <a:rPr lang="en-US" sz="2800" dirty="0">
                <a:latin typeface="Times New Roman" pitchFamily="18" charset="0"/>
              </a:rPr>
              <a:t>1000.n </a:t>
            </a:r>
            <a:r>
              <a:rPr lang="en-US" sz="2800" dirty="0">
                <a:sym typeface="Symbol" pitchFamily="18" charset="2"/>
              </a:rPr>
              <a:t>≤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dirty="0"/>
              <a:t>n</a:t>
            </a:r>
            <a:r>
              <a:rPr lang="en-US" sz="2800" baseline="30000" dirty="0"/>
              <a:t>2 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</a:t>
            </a:r>
            <a:r>
              <a:rPr lang="en-US" sz="2800" baseline="30000" dirty="0"/>
              <a:t> </a:t>
            </a:r>
            <a:r>
              <a:rPr lang="en-US" sz="2800" dirty="0"/>
              <a:t>n</a:t>
            </a:r>
            <a:r>
              <a:rPr lang="en-US" sz="2800" baseline="30000" dirty="0"/>
              <a:t>2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dirty="0">
                <a:sym typeface="Symbol" pitchFamily="18" charset="2"/>
              </a:rPr>
              <a:t></a:t>
            </a:r>
            <a:r>
              <a:rPr lang="en-US" sz="2800" dirty="0">
                <a:latin typeface="Times New Roman" pitchFamily="18" charset="0"/>
              </a:rPr>
              <a:t> 1000.</a:t>
            </a:r>
            <a:r>
              <a:rPr lang="en-US" sz="2800" dirty="0"/>
              <a:t>n</a:t>
            </a:r>
            <a:r>
              <a:rPr lang="en-US" sz="2800" baseline="30000" dirty="0"/>
              <a:t> 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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sz="2800" dirty="0"/>
              <a:t>n</a:t>
            </a:r>
            <a:r>
              <a:rPr lang="en-US" sz="2800" baseline="30000" dirty="0"/>
              <a:t>2</a:t>
            </a:r>
            <a:r>
              <a:rPr lang="en-US" sz="2800" dirty="0">
                <a:latin typeface="Times New Roman" pitchFamily="18" charset="0"/>
              </a:rPr>
              <a:t> - 1000.</a:t>
            </a:r>
            <a:r>
              <a:rPr lang="en-US" sz="2800" dirty="0"/>
              <a:t>n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sym typeface="Symbol" pitchFamily="18" charset="2"/>
              </a:rPr>
              <a:t></a:t>
            </a:r>
            <a:r>
              <a:rPr lang="en-US" sz="2800" dirty="0">
                <a:latin typeface="Times New Roman" pitchFamily="18" charset="0"/>
              </a:rPr>
              <a:t> 0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 typeface="Zed" pitchFamily="2" charset="2"/>
              <a:buChar char="Û"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sz="2800" dirty="0"/>
              <a:t>n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(</a:t>
            </a:r>
            <a:r>
              <a:rPr lang="en-US" sz="2800" dirty="0"/>
              <a:t>n</a:t>
            </a:r>
            <a:r>
              <a:rPr lang="en-US" sz="2800" dirty="0">
                <a:latin typeface="Times New Roman" pitchFamily="18" charset="0"/>
              </a:rPr>
              <a:t>-1000)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sym typeface="Symbol" pitchFamily="18" charset="2"/>
              </a:rPr>
              <a:t></a:t>
            </a:r>
            <a:r>
              <a:rPr lang="en-US" sz="2800" dirty="0">
                <a:latin typeface="Times New Roman" pitchFamily="18" charset="0"/>
              </a:rPr>
              <a:t> 0, this true for n </a:t>
            </a:r>
            <a:r>
              <a:rPr lang="en-US" sz="2800" dirty="0">
                <a:sym typeface="Symbol" pitchFamily="18" charset="2"/>
              </a:rPr>
              <a:t></a:t>
            </a:r>
            <a:r>
              <a:rPr lang="en-US" sz="2800" dirty="0">
                <a:latin typeface="Times New Roman" pitchFamily="18" charset="0"/>
              </a:rPr>
              <a:t> 1000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f(n) ≤ </a:t>
            </a:r>
            <a:r>
              <a:rPr lang="en-US" sz="2800" dirty="0" err="1">
                <a:latin typeface="Microsoft Sans Serif" pitchFamily="34" charset="0"/>
                <a:sym typeface="Symbol" pitchFamily="18" charset="2"/>
              </a:rPr>
              <a:t>c.g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(n)	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 n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 </a:t>
            </a:r>
            <a:r>
              <a:rPr lang="en-US" sz="2800" dirty="0">
                <a:latin typeface="Microsoft Sans Serif" pitchFamily="34" charset="0"/>
              </a:rPr>
              <a:t>n</a:t>
            </a:r>
            <a:r>
              <a:rPr lang="en-US" sz="2800" baseline="-25000" dirty="0">
                <a:latin typeface="Microsoft Sans Serif" pitchFamily="34" charset="0"/>
              </a:rPr>
              <a:t>0</a:t>
            </a:r>
            <a:r>
              <a:rPr lang="en-US" sz="2800" dirty="0">
                <a:latin typeface="Microsoft Sans Serif" pitchFamily="34" charset="0"/>
              </a:rPr>
              <a:t> and c = 1001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	</a:t>
            </a:r>
            <a:endParaRPr lang="en-US" sz="2800" dirty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 typeface="Zed" pitchFamily="2" charset="2"/>
              <a:buNone/>
            </a:pPr>
            <a:endParaRPr lang="en-US" sz="1500" dirty="0">
              <a:latin typeface="Microsoft Sans Serif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 typeface="Zed" pitchFamily="2" charset="2"/>
              <a:buNone/>
            </a:pPr>
            <a:r>
              <a:rPr lang="en-US" sz="2800" dirty="0">
                <a:latin typeface="Microsoft Sans Serif" pitchFamily="34" charset="0"/>
              </a:rPr>
              <a:t>Hence f(n) = O(g(n)) for c = 1001 and n</a:t>
            </a:r>
            <a:r>
              <a:rPr lang="en-US" sz="2800" baseline="-25000" dirty="0">
                <a:latin typeface="Microsoft Sans Serif" pitchFamily="34" charset="0"/>
              </a:rPr>
              <a:t>0</a:t>
            </a:r>
            <a:r>
              <a:rPr lang="en-US" sz="2800" dirty="0">
                <a:latin typeface="Microsoft Sans Serif" pitchFamily="34" charset="0"/>
              </a:rPr>
              <a:t> = 1000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130</a:t>
            </a:fld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5400" b="1" i="1" dirty="0">
                <a:cs typeface="Times New Roman" pitchFamily="18" charset="0"/>
              </a:rPr>
              <a:t>O</a:t>
            </a:r>
            <a:r>
              <a:rPr lang="en-US" sz="5400" dirty="0"/>
              <a:t> – Notation (</a:t>
            </a:r>
            <a:r>
              <a:rPr lang="en-US" sz="5400" dirty="0">
                <a:solidFill>
                  <a:schemeClr val="accent2"/>
                </a:solidFill>
              </a:rPr>
              <a:t>Big- Oh</a:t>
            </a:r>
            <a:r>
              <a:rPr lang="en-US" sz="5400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42698"/>
      </p:ext>
    </p:extLst>
  </p:cSld>
  <p:clrMapOvr>
    <a:masterClrMapping/>
  </p:clrMapOvr>
  <p:transition/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Solutions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dirty="0"/>
              <a:t> - Notation  (</a:t>
            </a:r>
            <a:r>
              <a:rPr lang="en-US" dirty="0">
                <a:solidFill>
                  <a:schemeClr val="accent2"/>
                </a:solidFill>
              </a:rPr>
              <a:t>Omega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1656033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Class exercises </a:t>
            </a:r>
            <a:r>
              <a:rPr lang="en-GB" sz="28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2800" dirty="0"/>
              <a:t> - Notation  (</a:t>
            </a:r>
            <a:r>
              <a:rPr lang="en-US" sz="2800" dirty="0">
                <a:solidFill>
                  <a:schemeClr val="accent2"/>
                </a:solidFill>
              </a:rPr>
              <a:t>Omega</a:t>
            </a:r>
            <a:r>
              <a:rPr lang="en-US" sz="2800" dirty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solidFill>
                <a:schemeClr val="accent2"/>
              </a:solidFill>
              <a:latin typeface="Microsoft Sans Serif" pitchFamily="34" charset="0"/>
              <a:cs typeface="Microsoft Sans Serif" pitchFamily="34" charset="0"/>
            </a:endParaRPr>
          </a:p>
          <a:p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Prove that 5.n</a:t>
            </a:r>
            <a:r>
              <a:rPr lang="en-US" sz="2400" baseline="300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2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 = 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  <a:sym typeface="Symbol" pitchFamily="18" charset="2"/>
              </a:rPr>
              <a:t>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cs typeface="Microsoft Sans Serif" pitchFamily="34" charset="0"/>
              </a:rPr>
              <a:t>(n)</a:t>
            </a:r>
          </a:p>
          <a:p>
            <a:endParaRPr lang="en-US" sz="2400" dirty="0">
              <a:solidFill>
                <a:schemeClr val="accent2"/>
              </a:solidFill>
              <a:latin typeface="Microsoft Sans Serif" pitchFamily="34" charset="0"/>
            </a:endParaRPr>
          </a:p>
          <a:p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Prove that 5.n + 10 = 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sym typeface="Symbol" pitchFamily="18" charset="2"/>
              </a:rPr>
              <a:t>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(n)</a:t>
            </a:r>
          </a:p>
          <a:p>
            <a:endParaRPr lang="en-US" sz="2400" dirty="0">
              <a:solidFill>
                <a:schemeClr val="accent2"/>
              </a:solidFill>
              <a:latin typeface="Microsoft Sans Serif" pitchFamily="34" charset="0"/>
            </a:endParaRPr>
          </a:p>
          <a:p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Prove that 100.n + 5 ≠ 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  <a:sym typeface="Symbol" pitchFamily="18" charset="2"/>
              </a:rPr>
              <a:t>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(n</a:t>
            </a:r>
            <a:r>
              <a:rPr lang="en-US" sz="2400" baseline="30000" dirty="0">
                <a:solidFill>
                  <a:schemeClr val="accent2"/>
                </a:solidFill>
                <a:latin typeface="Microsoft Sans Serif" pitchFamily="34" charset="0"/>
              </a:rPr>
              <a:t>2</a:t>
            </a:r>
            <a:r>
              <a:rPr lang="en-US" sz="2400" dirty="0">
                <a:solidFill>
                  <a:schemeClr val="accent2"/>
                </a:solidFill>
                <a:latin typeface="Microsoft Sans Serif" pitchFamily="34" charset="0"/>
              </a:rPr>
              <a:t>)</a:t>
            </a:r>
            <a:endParaRPr lang="en-US" sz="2400" dirty="0">
              <a:solidFill>
                <a:schemeClr val="accent2"/>
              </a:solidFill>
              <a:latin typeface="Times New Roman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0038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34096" y="1893194"/>
            <a:ext cx="8086055" cy="4279006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200000"/>
              </a:lnSpc>
              <a:buFontTx/>
              <a:buNone/>
            </a:pPr>
            <a:r>
              <a:rPr lang="en-US" sz="2800" dirty="0"/>
              <a:t>Example 1: Prove that 5.n</a:t>
            </a:r>
            <a:r>
              <a:rPr lang="en-US" sz="2800" baseline="30000" dirty="0"/>
              <a:t>2</a:t>
            </a:r>
            <a:r>
              <a:rPr lang="en-US" sz="2800" dirty="0"/>
              <a:t> = </a:t>
            </a:r>
            <a:r>
              <a:rPr lang="en-US" sz="2800" dirty="0">
                <a:sym typeface="Symbol" pitchFamily="18" charset="2"/>
              </a:rPr>
              <a:t></a:t>
            </a:r>
            <a:r>
              <a:rPr lang="en-US" sz="2800" dirty="0"/>
              <a:t>(n)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/>
              <a:t>Proof: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/>
              <a:t>Assume that f(n) = 5.n</a:t>
            </a:r>
            <a:r>
              <a:rPr lang="en-US" sz="2800" baseline="30000" dirty="0"/>
              <a:t>2</a:t>
            </a:r>
            <a:r>
              <a:rPr lang="en-US" sz="2800" dirty="0"/>
              <a:t> , and g(n) = 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/>
              <a:t>	f(n) </a:t>
            </a:r>
            <a:r>
              <a:rPr lang="en-US" sz="2800" dirty="0">
                <a:sym typeface="Symbol" pitchFamily="18" charset="2"/>
              </a:rPr>
              <a:t></a:t>
            </a:r>
            <a:r>
              <a:rPr lang="en-US" sz="2800" dirty="0"/>
              <a:t> </a:t>
            </a:r>
            <a:r>
              <a:rPr lang="en-US" sz="2800" dirty="0">
                <a:sym typeface="Symbol" pitchFamily="18" charset="2"/>
              </a:rPr>
              <a:t></a:t>
            </a:r>
            <a:r>
              <a:rPr lang="en-US" sz="2800" dirty="0"/>
              <a:t>(g(n)) 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/>
              <a:t>We have to find the existence of c and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dirty="0"/>
              <a:t>n</a:t>
            </a:r>
            <a:r>
              <a:rPr lang="en-US" sz="2800" baseline="-25000" dirty="0"/>
              <a:t>0 </a:t>
            </a:r>
            <a:r>
              <a:rPr lang="en-US" sz="2800" dirty="0" err="1"/>
              <a:t>s.t.</a:t>
            </a:r>
            <a:endParaRPr lang="en-US" sz="2800" dirty="0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sym typeface="Symbol" pitchFamily="18" charset="2"/>
              </a:rPr>
              <a:t>	</a:t>
            </a:r>
            <a:r>
              <a:rPr lang="en-US" sz="2800" dirty="0" err="1">
                <a:sym typeface="Symbol" pitchFamily="18" charset="2"/>
              </a:rPr>
              <a:t>c.g</a:t>
            </a:r>
            <a:r>
              <a:rPr lang="en-US" sz="2800" dirty="0">
                <a:sym typeface="Symbol" pitchFamily="18" charset="2"/>
              </a:rPr>
              <a:t>(n) ≤ f(n) 	</a:t>
            </a:r>
            <a:r>
              <a:rPr lang="en-US" sz="2800" dirty="0">
                <a:sym typeface="Zed" pitchFamily="2" charset="2"/>
              </a:rPr>
              <a:t> n </a:t>
            </a:r>
            <a:r>
              <a:rPr lang="en-US" sz="2800" dirty="0">
                <a:sym typeface="Symbol" pitchFamily="18" charset="2"/>
              </a:rPr>
              <a:t> </a:t>
            </a:r>
            <a:r>
              <a:rPr lang="en-US" sz="2800" dirty="0"/>
              <a:t>n</a:t>
            </a:r>
            <a:r>
              <a:rPr lang="en-US" sz="2800" baseline="-25000" dirty="0"/>
              <a:t>0</a:t>
            </a:r>
            <a:endParaRPr lang="en-US" sz="2800" dirty="0"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sym typeface="Symbol" pitchFamily="18" charset="2"/>
              </a:rPr>
              <a:t> 	</a:t>
            </a:r>
            <a:r>
              <a:rPr lang="en-US" sz="2800" dirty="0" err="1">
                <a:sym typeface="Symbol" pitchFamily="18" charset="2"/>
              </a:rPr>
              <a:t>c.</a:t>
            </a:r>
            <a:r>
              <a:rPr lang="en-US" sz="2800" dirty="0" err="1"/>
              <a:t>n</a:t>
            </a:r>
            <a:r>
              <a:rPr lang="en-US" sz="2800" dirty="0"/>
              <a:t> </a:t>
            </a:r>
            <a:r>
              <a:rPr lang="en-US" sz="2800" dirty="0">
                <a:sym typeface="Symbol" pitchFamily="18" charset="2"/>
              </a:rPr>
              <a:t>≤</a:t>
            </a:r>
            <a:r>
              <a:rPr lang="en-US" sz="2800" dirty="0"/>
              <a:t> 5.n</a:t>
            </a:r>
            <a:r>
              <a:rPr lang="en-US" sz="2800" baseline="30000" dirty="0"/>
              <a:t>2</a:t>
            </a:r>
            <a:r>
              <a:rPr lang="en-US" sz="2800" dirty="0"/>
              <a:t> </a:t>
            </a:r>
            <a:r>
              <a:rPr lang="en-US" sz="2800" dirty="0">
                <a:sym typeface="Zed" pitchFamily="2" charset="2"/>
              </a:rPr>
              <a:t></a:t>
            </a:r>
            <a:r>
              <a:rPr lang="en-US" sz="2800" dirty="0">
                <a:sym typeface="Symbol" pitchFamily="18" charset="2"/>
              </a:rPr>
              <a:t> c ≤ 5.n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sym typeface="Symbol" pitchFamily="18" charset="2"/>
              </a:rPr>
              <a:t>if we </a:t>
            </a:r>
            <a:r>
              <a:rPr lang="en-US" sz="2800" dirty="0">
                <a:sym typeface="Zed" pitchFamily="2" charset="2"/>
              </a:rPr>
              <a:t>take,</a:t>
            </a:r>
            <a:r>
              <a:rPr lang="en-US" sz="2800" dirty="0">
                <a:sym typeface="Symbol" pitchFamily="18" charset="2"/>
              </a:rPr>
              <a:t> </a:t>
            </a:r>
            <a:r>
              <a:rPr lang="en-US" sz="2800" dirty="0"/>
              <a:t>c = 5 and n</a:t>
            </a:r>
            <a:r>
              <a:rPr lang="en-US" sz="2800" baseline="-25000" dirty="0"/>
              <a:t>0</a:t>
            </a:r>
            <a:r>
              <a:rPr lang="en-US" sz="2800" dirty="0"/>
              <a:t>= 1 </a:t>
            </a:r>
            <a:r>
              <a:rPr lang="en-US" sz="2800" dirty="0">
                <a:sym typeface="Symbol" pitchFamily="18" charset="2"/>
              </a:rPr>
              <a:t>then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/>
              <a:t>	</a:t>
            </a:r>
            <a:r>
              <a:rPr lang="en-US" sz="2800" dirty="0" err="1"/>
              <a:t>c.n</a:t>
            </a:r>
            <a:r>
              <a:rPr lang="en-US" sz="2800" dirty="0"/>
              <a:t> </a:t>
            </a:r>
            <a:r>
              <a:rPr lang="en-US" sz="2800" dirty="0">
                <a:sym typeface="Symbol" pitchFamily="18" charset="2"/>
              </a:rPr>
              <a:t>≤</a:t>
            </a:r>
            <a:r>
              <a:rPr lang="en-US" sz="2800" dirty="0"/>
              <a:t> 5.n</a:t>
            </a:r>
            <a:r>
              <a:rPr lang="en-US" sz="2800" baseline="30000" dirty="0"/>
              <a:t>2</a:t>
            </a:r>
            <a:r>
              <a:rPr lang="en-US" sz="2800" dirty="0"/>
              <a:t> 	</a:t>
            </a:r>
            <a:r>
              <a:rPr lang="en-US" sz="2800" dirty="0">
                <a:sym typeface="Zed" pitchFamily="2" charset="2"/>
              </a:rPr>
              <a:t> n </a:t>
            </a:r>
            <a:r>
              <a:rPr lang="en-US" sz="2800" dirty="0">
                <a:sym typeface="Symbol" pitchFamily="18" charset="2"/>
              </a:rPr>
              <a:t> </a:t>
            </a:r>
            <a:r>
              <a:rPr lang="en-US" sz="2800" dirty="0"/>
              <a:t>n</a:t>
            </a:r>
            <a:r>
              <a:rPr lang="en-US" sz="2800" baseline="-25000" dirty="0"/>
              <a:t>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/>
              <a:t>And hence f(n) </a:t>
            </a:r>
            <a:r>
              <a:rPr lang="en-US" sz="2800" dirty="0">
                <a:sym typeface="Symbol" pitchFamily="18" charset="2"/>
              </a:rPr>
              <a:t>=</a:t>
            </a:r>
            <a:r>
              <a:rPr lang="en-US" sz="2800" dirty="0"/>
              <a:t> </a:t>
            </a:r>
            <a:r>
              <a:rPr lang="en-US" sz="2800" dirty="0">
                <a:sym typeface="Symbol" pitchFamily="18" charset="2"/>
              </a:rPr>
              <a:t></a:t>
            </a:r>
            <a:r>
              <a:rPr lang="en-US" sz="2800" dirty="0"/>
              <a:t>(g(n)), for c = 5 and n</a:t>
            </a:r>
            <a:r>
              <a:rPr lang="en-US" sz="2800" baseline="-25000" dirty="0"/>
              <a:t>0</a:t>
            </a:r>
            <a:r>
              <a:rPr lang="en-US" sz="2800" dirty="0"/>
              <a:t>= 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5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5400" dirty="0"/>
              <a:t> - Notation  (</a:t>
            </a:r>
            <a:r>
              <a:rPr lang="en-US" sz="5400" dirty="0">
                <a:solidFill>
                  <a:schemeClr val="accent2"/>
                </a:solidFill>
              </a:rPr>
              <a:t>Omega</a:t>
            </a:r>
            <a:r>
              <a:rPr lang="en-US" sz="5400" dirty="0"/>
              <a:t>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845972"/>
      </p:ext>
    </p:extLst>
  </p:cSld>
  <p:clrMapOvr>
    <a:masterClrMapping/>
  </p:clrMapOvr>
  <p:transition/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7505" y="2009104"/>
            <a:ext cx="8182646" cy="3858296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200000"/>
              </a:lnSpc>
              <a:buFontTx/>
              <a:buNone/>
            </a:pPr>
            <a:r>
              <a:rPr lang="en-US" dirty="0">
                <a:latin typeface="Microsoft Sans Serif" pitchFamily="34" charset="0"/>
              </a:rPr>
              <a:t>Example 2: Prove that 5.n + 10 = 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</a:t>
            </a:r>
            <a:r>
              <a:rPr lang="en-US" dirty="0">
                <a:latin typeface="Microsoft Sans Serif" pitchFamily="34" charset="0"/>
              </a:rPr>
              <a:t>(n)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dirty="0">
                <a:latin typeface="Microsoft Sans Serif" pitchFamily="34" charset="0"/>
              </a:rPr>
              <a:t>Proof: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dirty="0">
                <a:latin typeface="Microsoft Sans Serif" pitchFamily="34" charset="0"/>
              </a:rPr>
              <a:t>Assume that f(n) = 5.n + 10, and g(n) = 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dirty="0">
                <a:latin typeface="Microsoft Sans Serif" pitchFamily="34" charset="0"/>
              </a:rPr>
              <a:t>	f(n) 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</a:t>
            </a:r>
            <a:r>
              <a:rPr lang="en-US" dirty="0">
                <a:latin typeface="Microsoft Sans Serif" pitchFamily="34" charset="0"/>
              </a:rPr>
              <a:t> 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</a:t>
            </a:r>
            <a:r>
              <a:rPr lang="en-US" dirty="0">
                <a:latin typeface="Microsoft Sans Serif" pitchFamily="34" charset="0"/>
              </a:rPr>
              <a:t>(g(n)) 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dirty="0">
                <a:latin typeface="Microsoft Sans Serif" pitchFamily="34" charset="0"/>
              </a:rPr>
              <a:t>We have to find the existence of c and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dirty="0">
                <a:latin typeface="Microsoft Sans Serif" pitchFamily="34" charset="0"/>
              </a:rPr>
              <a:t>n</a:t>
            </a:r>
            <a:r>
              <a:rPr lang="en-US" baseline="-25000" dirty="0">
                <a:latin typeface="Microsoft Sans Serif" pitchFamily="34" charset="0"/>
              </a:rPr>
              <a:t>0 </a:t>
            </a:r>
            <a:r>
              <a:rPr lang="en-US" dirty="0" err="1">
                <a:latin typeface="Microsoft Sans Serif" pitchFamily="34" charset="0"/>
              </a:rPr>
              <a:t>s.t.</a:t>
            </a:r>
            <a:endParaRPr lang="en-US" dirty="0">
              <a:latin typeface="Microsoft Sans Serif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dirty="0">
                <a:latin typeface="Microsoft Sans Serif" pitchFamily="34" charset="0"/>
                <a:sym typeface="Symbol" pitchFamily="18" charset="2"/>
              </a:rPr>
              <a:t>	</a:t>
            </a:r>
            <a:r>
              <a:rPr lang="en-US" dirty="0" err="1">
                <a:latin typeface="Microsoft Sans Serif" pitchFamily="34" charset="0"/>
                <a:sym typeface="Symbol" pitchFamily="18" charset="2"/>
              </a:rPr>
              <a:t>c.g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(n) ≤ f(n) 	</a:t>
            </a:r>
            <a:r>
              <a:rPr lang="en-US" dirty="0">
                <a:latin typeface="Microsoft Sans Serif" pitchFamily="34" charset="0"/>
                <a:sym typeface="Zed" pitchFamily="2" charset="2"/>
              </a:rPr>
              <a:t> n 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 </a:t>
            </a:r>
            <a:r>
              <a:rPr lang="en-US" dirty="0">
                <a:latin typeface="Microsoft Sans Serif" pitchFamily="34" charset="0"/>
              </a:rPr>
              <a:t>n</a:t>
            </a:r>
            <a:r>
              <a:rPr lang="en-US" baseline="-25000" dirty="0">
                <a:latin typeface="Microsoft Sans Serif" pitchFamily="34" charset="0"/>
              </a:rPr>
              <a:t>0</a:t>
            </a:r>
            <a:endParaRPr lang="en-US" dirty="0">
              <a:latin typeface="Microsoft Sans Serif" pitchFamily="34" charset="0"/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dirty="0">
                <a:latin typeface="Microsoft Sans Serif" pitchFamily="34" charset="0"/>
                <a:sym typeface="Symbol" pitchFamily="18" charset="2"/>
              </a:rPr>
              <a:t> 	</a:t>
            </a:r>
            <a:r>
              <a:rPr lang="en-US" dirty="0" err="1">
                <a:latin typeface="Microsoft Sans Serif" pitchFamily="34" charset="0"/>
                <a:sym typeface="Symbol" pitchFamily="18" charset="2"/>
              </a:rPr>
              <a:t>c.</a:t>
            </a:r>
            <a:r>
              <a:rPr lang="en-US" dirty="0" err="1">
                <a:latin typeface="Microsoft Sans Serif" pitchFamily="34" charset="0"/>
              </a:rPr>
              <a:t>n</a:t>
            </a:r>
            <a:r>
              <a:rPr lang="en-US" dirty="0">
                <a:latin typeface="Microsoft Sans Serif" pitchFamily="34" charset="0"/>
              </a:rPr>
              <a:t> 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≤</a:t>
            </a:r>
            <a:r>
              <a:rPr lang="en-US" dirty="0">
                <a:latin typeface="Microsoft Sans Serif" pitchFamily="34" charset="0"/>
              </a:rPr>
              <a:t> 5.n + 10 </a:t>
            </a:r>
            <a:r>
              <a:rPr lang="en-US" dirty="0">
                <a:latin typeface="Microsoft Sans Serif" pitchFamily="34" charset="0"/>
                <a:sym typeface="Zed" pitchFamily="2" charset="2"/>
              </a:rPr>
              <a:t>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dirty="0" err="1">
                <a:latin typeface="Microsoft Sans Serif" pitchFamily="34" charset="0"/>
                <a:sym typeface="Symbol" pitchFamily="18" charset="2"/>
              </a:rPr>
              <a:t>c.</a:t>
            </a:r>
            <a:r>
              <a:rPr lang="en-US" dirty="0" err="1">
                <a:latin typeface="Microsoft Sans Serif" pitchFamily="34" charset="0"/>
              </a:rPr>
              <a:t>n</a:t>
            </a:r>
            <a:r>
              <a:rPr lang="en-US" dirty="0">
                <a:latin typeface="Microsoft Sans Serif" pitchFamily="34" charset="0"/>
              </a:rPr>
              <a:t> 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≤</a:t>
            </a:r>
            <a:r>
              <a:rPr lang="en-US" dirty="0">
                <a:latin typeface="Microsoft Sans Serif" pitchFamily="34" charset="0"/>
              </a:rPr>
              <a:t> 5.n + 10.n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dirty="0">
                <a:latin typeface="Microsoft Sans Serif" pitchFamily="34" charset="0"/>
                <a:sym typeface="Zed" pitchFamily="2" charset="2"/>
              </a:rPr>
              <a:t>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 c ≤ 15.n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dirty="0">
                <a:latin typeface="Microsoft Sans Serif" pitchFamily="34" charset="0"/>
                <a:sym typeface="Symbol" pitchFamily="18" charset="2"/>
              </a:rPr>
              <a:t>if we </a:t>
            </a:r>
            <a:r>
              <a:rPr lang="en-US" dirty="0">
                <a:latin typeface="Microsoft Sans Serif" pitchFamily="34" charset="0"/>
                <a:sym typeface="Zed" pitchFamily="2" charset="2"/>
              </a:rPr>
              <a:t>take,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dirty="0">
                <a:latin typeface="Microsoft Sans Serif" pitchFamily="34" charset="0"/>
              </a:rPr>
              <a:t>c = 15 and n</a:t>
            </a:r>
            <a:r>
              <a:rPr lang="en-US" baseline="-25000" dirty="0">
                <a:latin typeface="Microsoft Sans Serif" pitchFamily="34" charset="0"/>
              </a:rPr>
              <a:t>0</a:t>
            </a:r>
            <a:r>
              <a:rPr lang="en-US" dirty="0">
                <a:latin typeface="Microsoft Sans Serif" pitchFamily="34" charset="0"/>
              </a:rPr>
              <a:t>= 1 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then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dirty="0">
                <a:latin typeface="Microsoft Sans Serif" pitchFamily="34" charset="0"/>
              </a:rPr>
              <a:t>	 </a:t>
            </a:r>
            <a:r>
              <a:rPr lang="en-US" dirty="0" err="1">
                <a:latin typeface="Microsoft Sans Serif" pitchFamily="34" charset="0"/>
                <a:sym typeface="Symbol" pitchFamily="18" charset="2"/>
              </a:rPr>
              <a:t>c.</a:t>
            </a:r>
            <a:r>
              <a:rPr lang="en-US" dirty="0" err="1">
                <a:latin typeface="Microsoft Sans Serif" pitchFamily="34" charset="0"/>
              </a:rPr>
              <a:t>n</a:t>
            </a:r>
            <a:r>
              <a:rPr lang="en-US" dirty="0">
                <a:latin typeface="Microsoft Sans Serif" pitchFamily="34" charset="0"/>
              </a:rPr>
              <a:t> 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≤</a:t>
            </a:r>
            <a:r>
              <a:rPr lang="en-US" dirty="0">
                <a:latin typeface="Microsoft Sans Serif" pitchFamily="34" charset="0"/>
              </a:rPr>
              <a:t> 5.n + 10 	</a:t>
            </a:r>
            <a:r>
              <a:rPr lang="en-US" dirty="0">
                <a:latin typeface="Microsoft Sans Serif" pitchFamily="34" charset="0"/>
                <a:sym typeface="Zed" pitchFamily="2" charset="2"/>
              </a:rPr>
              <a:t> n 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 </a:t>
            </a:r>
            <a:r>
              <a:rPr lang="en-US" dirty="0">
                <a:latin typeface="Microsoft Sans Serif" pitchFamily="34" charset="0"/>
              </a:rPr>
              <a:t>n</a:t>
            </a:r>
            <a:r>
              <a:rPr lang="en-US" baseline="-25000" dirty="0">
                <a:latin typeface="Microsoft Sans Serif" pitchFamily="34" charset="0"/>
              </a:rPr>
              <a:t>0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dirty="0">
                <a:latin typeface="Microsoft Sans Serif" pitchFamily="34" charset="0"/>
              </a:rPr>
              <a:t>And hence f(n) 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=</a:t>
            </a:r>
            <a:r>
              <a:rPr lang="en-US" dirty="0">
                <a:latin typeface="Microsoft Sans Serif" pitchFamily="34" charset="0"/>
              </a:rPr>
              <a:t> 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</a:t>
            </a:r>
            <a:r>
              <a:rPr lang="en-US" dirty="0">
                <a:latin typeface="Microsoft Sans Serif" pitchFamily="34" charset="0"/>
              </a:rPr>
              <a:t>(g(n)), for c = 15 and n</a:t>
            </a:r>
            <a:r>
              <a:rPr lang="en-US" baseline="-25000" dirty="0">
                <a:latin typeface="Microsoft Sans Serif" pitchFamily="34" charset="0"/>
              </a:rPr>
              <a:t>0</a:t>
            </a:r>
            <a:r>
              <a:rPr lang="en-US" dirty="0">
                <a:latin typeface="Microsoft Sans Serif" pitchFamily="34" charset="0"/>
              </a:rPr>
              <a:t>= 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5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5400" dirty="0"/>
              <a:t> - Notation  (</a:t>
            </a:r>
            <a:r>
              <a:rPr lang="en-US" sz="5400" dirty="0">
                <a:solidFill>
                  <a:schemeClr val="accent2"/>
                </a:solidFill>
              </a:rPr>
              <a:t>Omega</a:t>
            </a:r>
            <a:r>
              <a:rPr lang="en-US" sz="5400" dirty="0"/>
              <a:t>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77422"/>
      </p:ext>
    </p:extLst>
  </p:cSld>
  <p:clrMapOvr>
    <a:masterClrMapping/>
  </p:clrMapOvr>
  <p:transition/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369" y="2590800"/>
            <a:ext cx="6732431" cy="3657602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dirty="0">
                <a:latin typeface="Microsoft Sans Serif" pitchFamily="34" charset="0"/>
              </a:rPr>
              <a:t>Example 3: Prove that 100.n + 5 ≠ 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</a:t>
            </a:r>
            <a:r>
              <a:rPr lang="en-US" dirty="0">
                <a:latin typeface="Microsoft Sans Serif" pitchFamily="34" charset="0"/>
              </a:rPr>
              <a:t>(n</a:t>
            </a:r>
            <a:r>
              <a:rPr lang="en-US" baseline="30000" dirty="0">
                <a:latin typeface="Microsoft Sans Serif" pitchFamily="34" charset="0"/>
              </a:rPr>
              <a:t>2</a:t>
            </a:r>
            <a:r>
              <a:rPr lang="en-US" dirty="0">
                <a:latin typeface="Microsoft Sans Serif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dirty="0">
                <a:latin typeface="Microsoft Sans Serif" pitchFamily="34" charset="0"/>
              </a:rPr>
              <a:t>Proof: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dirty="0">
                <a:latin typeface="Microsoft Sans Serif" pitchFamily="34" charset="0"/>
              </a:rPr>
              <a:t>	</a:t>
            </a:r>
            <a:r>
              <a:rPr lang="en-US" sz="2800" dirty="0">
                <a:latin typeface="Microsoft Sans Serif" pitchFamily="34" charset="0"/>
              </a:rPr>
              <a:t>Let f(n) = 100.n + 5, and g(n) = 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	Assume that f(n)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=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</a:t>
            </a:r>
            <a:r>
              <a:rPr lang="en-US" sz="2800" dirty="0">
                <a:latin typeface="Microsoft Sans Serif" pitchFamily="34" charset="0"/>
              </a:rPr>
              <a:t>(g(n)) ?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	Now if f(n)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=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</a:t>
            </a:r>
            <a:r>
              <a:rPr lang="en-US" sz="2800" dirty="0">
                <a:latin typeface="Microsoft Sans Serif" pitchFamily="34" charset="0"/>
              </a:rPr>
              <a:t>(g(n)) then there exist c and  n</a:t>
            </a:r>
            <a:r>
              <a:rPr lang="en-US" sz="2800" baseline="-25000" dirty="0">
                <a:latin typeface="Microsoft Sans Serif" pitchFamily="34" charset="0"/>
              </a:rPr>
              <a:t>0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sz="2800" dirty="0" err="1">
                <a:latin typeface="Microsoft Sans Serif" pitchFamily="34" charset="0"/>
              </a:rPr>
              <a:t>s.t.</a:t>
            </a:r>
            <a:endParaRPr lang="en-US" sz="2800" dirty="0">
              <a:latin typeface="Microsoft Sans Serif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	</a:t>
            </a:r>
            <a:r>
              <a:rPr lang="en-US" sz="2800" dirty="0" err="1">
                <a:latin typeface="Microsoft Sans Serif" pitchFamily="34" charset="0"/>
                <a:sym typeface="Symbol" pitchFamily="18" charset="2"/>
              </a:rPr>
              <a:t>c.g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(n) ≤ f(n) 	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 n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 </a:t>
            </a:r>
            <a:r>
              <a:rPr lang="en-US" sz="2800" dirty="0">
                <a:latin typeface="Microsoft Sans Serif" pitchFamily="34" charset="0"/>
              </a:rPr>
              <a:t>n</a:t>
            </a:r>
            <a:r>
              <a:rPr lang="en-US" sz="2800" baseline="-25000" dirty="0">
                <a:latin typeface="Microsoft Sans Serif" pitchFamily="34" charset="0"/>
              </a:rPr>
              <a:t>0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	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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	c.</a:t>
            </a:r>
            <a:r>
              <a:rPr lang="en-US" sz="2800" dirty="0">
                <a:latin typeface="Microsoft Sans Serif" pitchFamily="34" charset="0"/>
              </a:rPr>
              <a:t>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≤</a:t>
            </a:r>
            <a:r>
              <a:rPr lang="en-US" sz="2800" dirty="0">
                <a:latin typeface="Microsoft Sans Serif" pitchFamily="34" charset="0"/>
              </a:rPr>
              <a:t> 100.n + 5 		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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	</a:t>
            </a:r>
            <a:r>
              <a:rPr lang="en-US" sz="2800" dirty="0" err="1">
                <a:latin typeface="Microsoft Sans Serif" pitchFamily="34" charset="0"/>
                <a:sym typeface="Symbol" pitchFamily="18" charset="2"/>
              </a:rPr>
              <a:t>c.</a:t>
            </a:r>
            <a:r>
              <a:rPr lang="en-US" sz="2800" dirty="0" err="1">
                <a:latin typeface="Microsoft Sans Serif" pitchFamily="34" charset="0"/>
              </a:rPr>
              <a:t>n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≤</a:t>
            </a:r>
            <a:r>
              <a:rPr lang="en-US" sz="2800" dirty="0">
                <a:latin typeface="Microsoft Sans Serif" pitchFamily="34" charset="0"/>
              </a:rPr>
              <a:t> 100 + 5/n 		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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	</a:t>
            </a:r>
            <a:r>
              <a:rPr lang="en-US" sz="2800" dirty="0">
                <a:latin typeface="Microsoft Sans Serif" pitchFamily="34" charset="0"/>
              </a:rPr>
              <a:t>n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≤</a:t>
            </a:r>
            <a:r>
              <a:rPr lang="en-US" sz="2800" dirty="0">
                <a:latin typeface="Microsoft Sans Serif" pitchFamily="34" charset="0"/>
              </a:rPr>
              <a:t> 100/c, for a very large n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, which is not possible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endParaRPr lang="en-US" sz="2800" dirty="0">
              <a:latin typeface="Microsoft Sans Serif" pitchFamily="34" charset="0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800" dirty="0">
                <a:latin typeface="Microsoft Sans Serif" pitchFamily="34" charset="0"/>
              </a:rPr>
              <a:t>	And hence f(n) </a:t>
            </a:r>
            <a:r>
              <a:rPr lang="en-US" sz="2800" dirty="0">
                <a:latin typeface="Microsoft Sans Serif" panose="020B0604020202020204" pitchFamily="34" charset="0"/>
                <a:cs typeface="Microsoft Sans Serif" panose="020B0604020202020204" pitchFamily="34" charset="0"/>
                <a:sym typeface="Symbol" pitchFamily="18" charset="2"/>
              </a:rPr>
              <a:t>≠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</a:t>
            </a:r>
            <a:r>
              <a:rPr lang="en-US" sz="2800" dirty="0">
                <a:latin typeface="Microsoft Sans Serif" pitchFamily="34" charset="0"/>
              </a:rPr>
              <a:t>(g(n))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14400"/>
            <a:ext cx="6248400" cy="1143000"/>
          </a:xfrm>
        </p:spPr>
        <p:txBody>
          <a:bodyPr>
            <a:normAutofit fontScale="90000"/>
          </a:bodyPr>
          <a:lstStyle/>
          <a:p>
            <a:r>
              <a:rPr lang="en-GB" sz="5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</a:t>
            </a:r>
            <a:r>
              <a:rPr lang="en-US" sz="5400" dirty="0"/>
              <a:t> - Notation  (</a:t>
            </a:r>
            <a:r>
              <a:rPr lang="en-US" sz="5400" dirty="0">
                <a:solidFill>
                  <a:schemeClr val="accent2"/>
                </a:solidFill>
              </a:rPr>
              <a:t>Omega</a:t>
            </a:r>
            <a:r>
              <a:rPr lang="en-US" sz="5400" dirty="0"/>
              <a:t>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962325"/>
      </p:ext>
    </p:extLst>
  </p:cSld>
  <p:clrMapOvr>
    <a:masterClrMapping/>
  </p:clrMapOvr>
  <p:transition/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more Solutions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 - Notations (</a:t>
            </a:r>
            <a:r>
              <a:rPr lang="en-US" dirty="0">
                <a:solidFill>
                  <a:schemeClr val="accent2"/>
                </a:solidFill>
              </a:rPr>
              <a:t>little Oh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25487874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9325" y="2514600"/>
            <a:ext cx="6750676" cy="3733800"/>
          </a:xfrm>
        </p:spPr>
        <p:txBody>
          <a:bodyPr>
            <a:normAutofit fontScale="85000" lnSpcReduction="20000"/>
          </a:bodyPr>
          <a:lstStyle/>
          <a:p>
            <a:pPr eaLnBrk="1" hangingPunct="1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Example 1: Prove that 2n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= o(n</a:t>
            </a:r>
            <a:r>
              <a:rPr lang="en-US" sz="2800" baseline="30000" dirty="0">
                <a:latin typeface="Microsoft Sans Serif" pitchFamily="34" charset="0"/>
              </a:rPr>
              <a:t>3</a:t>
            </a:r>
            <a:r>
              <a:rPr lang="en-US" sz="2800" dirty="0">
                <a:latin typeface="Microsoft Sans Serif" pitchFamily="34" charset="0"/>
              </a:rPr>
              <a:t>)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Proof: 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	Assume that f(n) = 2n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, and g(n) = n</a:t>
            </a:r>
            <a:r>
              <a:rPr lang="en-US" sz="2800" baseline="30000" dirty="0">
                <a:latin typeface="Microsoft Sans Serif" pitchFamily="34" charset="0"/>
              </a:rPr>
              <a:t>3</a:t>
            </a:r>
            <a:r>
              <a:rPr lang="en-US" sz="2800" dirty="0">
                <a:latin typeface="Microsoft Sans Serif" pitchFamily="34" charset="0"/>
              </a:rPr>
              <a:t> 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		f(n) = o(g(n)) ?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	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	Now we have to find the existence n</a:t>
            </a:r>
            <a:r>
              <a:rPr lang="en-US" sz="2800" baseline="-25000" dirty="0">
                <a:latin typeface="Microsoft Sans Serif" pitchFamily="34" charset="0"/>
              </a:rPr>
              <a:t>0 </a:t>
            </a:r>
            <a:r>
              <a:rPr lang="en-US" sz="2800" dirty="0">
                <a:latin typeface="Microsoft Sans Serif" pitchFamily="34" charset="0"/>
              </a:rPr>
              <a:t>for any c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	f(n) &lt; </a:t>
            </a:r>
            <a:r>
              <a:rPr lang="en-US" sz="2800" dirty="0" err="1">
                <a:latin typeface="Microsoft Sans Serif" pitchFamily="34" charset="0"/>
                <a:sym typeface="Symbol" pitchFamily="18" charset="2"/>
              </a:rPr>
              <a:t>c.g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(n) this is true 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	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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sz="2800" dirty="0">
                <a:latin typeface="Microsoft Sans Serif" pitchFamily="34" charset="0"/>
              </a:rPr>
              <a:t>2n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&lt;</a:t>
            </a:r>
            <a:r>
              <a:rPr lang="en-US" sz="2800" dirty="0">
                <a:latin typeface="Microsoft Sans Serif" pitchFamily="34" charset="0"/>
              </a:rPr>
              <a:t> c.n</a:t>
            </a:r>
            <a:r>
              <a:rPr lang="en-US" sz="2800" baseline="30000" dirty="0">
                <a:latin typeface="Microsoft Sans Serif" pitchFamily="34" charset="0"/>
              </a:rPr>
              <a:t>3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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2 &lt; </a:t>
            </a:r>
            <a:r>
              <a:rPr lang="en-US" sz="2800" dirty="0" err="1">
                <a:latin typeface="Microsoft Sans Serif" pitchFamily="34" charset="0"/>
                <a:sym typeface="Symbol" pitchFamily="18" charset="2"/>
              </a:rPr>
              <a:t>c.n</a:t>
            </a:r>
            <a:endParaRPr lang="en-US" sz="2800" dirty="0">
              <a:latin typeface="Microsoft Sans Serif" pitchFamily="34" charset="0"/>
              <a:sym typeface="Symbol" pitchFamily="18" charset="2"/>
            </a:endParaRP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	This is true for any c, because for any arbitrary c we can choose </a:t>
            </a:r>
            <a:r>
              <a:rPr lang="en-US" sz="2800" dirty="0">
                <a:latin typeface="Microsoft Sans Serif" pitchFamily="34" charset="0"/>
              </a:rPr>
              <a:t>n</a:t>
            </a:r>
            <a:r>
              <a:rPr lang="en-US" sz="2800" baseline="-25000" dirty="0">
                <a:latin typeface="Microsoft Sans Serif" pitchFamily="34" charset="0"/>
              </a:rPr>
              <a:t>0 </a:t>
            </a:r>
            <a:r>
              <a:rPr lang="en-US" sz="2800" dirty="0">
                <a:latin typeface="Microsoft Sans Serif" pitchFamily="34" charset="0"/>
              </a:rPr>
              <a:t>such that the above inequality holds.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1500" dirty="0">
                <a:latin typeface="Microsoft Sans Serif" pitchFamily="34" charset="0"/>
              </a:rPr>
              <a:t>	</a:t>
            </a:r>
          </a:p>
          <a:p>
            <a:pPr eaLnBrk="1" hangingPunct="1">
              <a:lnSpc>
                <a:spcPct val="8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	Hence f(n) = o(g(n))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5400" b="1" i="1" dirty="0">
                <a:cs typeface="Times New Roman" pitchFamily="18" charset="0"/>
              </a:rPr>
              <a:t>o</a:t>
            </a:r>
            <a:r>
              <a:rPr lang="en-US" sz="5400" dirty="0"/>
              <a:t> – Notation  (</a:t>
            </a:r>
            <a:r>
              <a:rPr lang="en-US" sz="5400" dirty="0">
                <a:solidFill>
                  <a:schemeClr val="accent2"/>
                </a:solidFill>
              </a:rPr>
              <a:t>little Oh</a:t>
            </a:r>
            <a:r>
              <a:rPr lang="en-US" sz="5400" dirty="0"/>
              <a:t>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625064"/>
      </p:ext>
    </p:extLst>
  </p:cSld>
  <p:clrMapOvr>
    <a:masterClrMapping/>
  </p:clrMapOvr>
  <p:transition/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5459" y="2514599"/>
            <a:ext cx="6924541" cy="3743325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Example 2: Prove that 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anose="020B0604020202020204" pitchFamily="34" charset="0"/>
                <a:cs typeface="Microsoft Sans Serif" panose="020B0604020202020204" pitchFamily="34" charset="0"/>
                <a:sym typeface="Symbol" pitchFamily="18" charset="2"/>
              </a:rPr>
              <a:t>≠</a:t>
            </a:r>
            <a:r>
              <a:rPr lang="en-US" sz="2800" dirty="0">
                <a:latin typeface="Microsoft Sans Serif" pitchFamily="34" charset="0"/>
              </a:rPr>
              <a:t> o(n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endParaRPr lang="en-US" sz="1000" dirty="0">
              <a:latin typeface="Microsoft Sans Serif" pitchFamily="34" charset="0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Proof: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	Assume that f(n) = 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, and g(n) = 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	Now we have to show that f(n) </a:t>
            </a:r>
            <a:r>
              <a:rPr lang="en-US" sz="2800" dirty="0">
                <a:latin typeface="Microsoft Sans Serif" panose="020B0604020202020204" pitchFamily="34" charset="0"/>
                <a:cs typeface="Microsoft Sans Serif" panose="020B0604020202020204" pitchFamily="34" charset="0"/>
                <a:sym typeface="Symbol" pitchFamily="18" charset="2"/>
              </a:rPr>
              <a:t>≠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dirty="0">
                <a:latin typeface="Microsoft Sans Serif" pitchFamily="34" charset="0"/>
              </a:rPr>
              <a:t>o(</a:t>
            </a:r>
            <a:r>
              <a:rPr lang="en-US" sz="2800" dirty="0">
                <a:latin typeface="Microsoft Sans Serif" pitchFamily="34" charset="0"/>
              </a:rPr>
              <a:t>g(n))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endParaRPr lang="en-US" sz="1800" dirty="0">
              <a:latin typeface="Microsoft Sans Serif" pitchFamily="34" charset="0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	Since 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	f(n) &lt; </a:t>
            </a:r>
            <a:r>
              <a:rPr lang="en-US" sz="2800" dirty="0" err="1">
                <a:latin typeface="Microsoft Sans Serif" pitchFamily="34" charset="0"/>
                <a:sym typeface="Symbol" pitchFamily="18" charset="2"/>
              </a:rPr>
              <a:t>c.g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(n) 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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sz="2800" dirty="0">
                <a:latin typeface="Microsoft Sans Serif" pitchFamily="34" charset="0"/>
              </a:rPr>
              <a:t>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&lt;</a:t>
            </a:r>
            <a:r>
              <a:rPr lang="en-US" sz="2800" dirty="0">
                <a:latin typeface="Microsoft Sans Serif" pitchFamily="34" charset="0"/>
              </a:rPr>
              <a:t> c.n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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1 ≤ c, </a:t>
            </a:r>
            <a:endParaRPr lang="en-US" sz="2800" dirty="0">
              <a:latin typeface="Microsoft Sans Serif" pitchFamily="34" charset="0"/>
              <a:sym typeface="Zed" pitchFamily="2" charset="2"/>
            </a:endParaRP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	</a:t>
            </a:r>
          </a:p>
          <a:p>
            <a:pPr eaLnBrk="1" hangingPunct="1">
              <a:lnSpc>
                <a:spcPct val="90000"/>
              </a:lnSpc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	In our definition of small o, it was required to prove for any c but here there is a constraint over c .	Hence, 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anose="020B0604020202020204" pitchFamily="34" charset="0"/>
                <a:cs typeface="Microsoft Sans Serif" panose="020B0604020202020204" pitchFamily="34" charset="0"/>
                <a:sym typeface="Symbol" pitchFamily="18" charset="2"/>
              </a:rPr>
              <a:t>≠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dirty="0">
                <a:latin typeface="Microsoft Sans Serif" pitchFamily="34" charset="0"/>
              </a:rPr>
              <a:t>o(</a:t>
            </a:r>
            <a:r>
              <a:rPr lang="en-US" sz="2800" dirty="0">
                <a:latin typeface="Microsoft Sans Serif" pitchFamily="34" charset="0"/>
              </a:rPr>
              <a:t>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), where c = 1 and n</a:t>
            </a:r>
            <a:r>
              <a:rPr lang="en-US" sz="2800" baseline="-25000" dirty="0">
                <a:latin typeface="Microsoft Sans Serif" pitchFamily="34" charset="0"/>
              </a:rPr>
              <a:t>0</a:t>
            </a:r>
            <a:r>
              <a:rPr lang="en-US" sz="2800" dirty="0">
                <a:latin typeface="Microsoft Sans Serif" pitchFamily="34" charset="0"/>
              </a:rPr>
              <a:t>= 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5400" b="1" i="1" dirty="0">
                <a:cs typeface="Times New Roman" pitchFamily="18" charset="0"/>
              </a:rPr>
              <a:t>o</a:t>
            </a:r>
            <a:r>
              <a:rPr lang="en-US" sz="5400" dirty="0"/>
              <a:t> – Notation  (</a:t>
            </a:r>
            <a:r>
              <a:rPr lang="en-US" sz="5400" dirty="0">
                <a:solidFill>
                  <a:schemeClr val="accent2"/>
                </a:solidFill>
              </a:rPr>
              <a:t>little Oh</a:t>
            </a:r>
            <a:r>
              <a:rPr lang="en-US" sz="5400" dirty="0"/>
              <a:t>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251677"/>
      </p:ext>
    </p:extLst>
  </p:cSld>
  <p:clrMapOvr>
    <a:masterClrMapping/>
  </p:clrMapOvr>
  <p:transition/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9665" y="2438399"/>
            <a:ext cx="6760335" cy="3962401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800" dirty="0">
                <a:latin typeface="Microsoft Sans Serif" pitchFamily="34" charset="0"/>
              </a:rPr>
              <a:t>Example 3: Prove that </a:t>
            </a:r>
            <a:r>
              <a:rPr lang="en-US" sz="2800" dirty="0">
                <a:latin typeface="Times New Roman" pitchFamily="18" charset="0"/>
              </a:rPr>
              <a:t>1000.n</a:t>
            </a:r>
            <a:r>
              <a:rPr lang="en-US" sz="2800" baseline="30000" dirty="0">
                <a:latin typeface="Times New Roman" pitchFamily="18" charset="0"/>
              </a:rPr>
              <a:t>2 </a:t>
            </a:r>
            <a:r>
              <a:rPr lang="en-US" sz="2800" dirty="0">
                <a:latin typeface="Times New Roman" pitchFamily="18" charset="0"/>
              </a:rPr>
              <a:t>+ 1000.n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anose="020B0604020202020204" pitchFamily="34" charset="0"/>
                <a:cs typeface="Microsoft Sans Serif" panose="020B0604020202020204" pitchFamily="34" charset="0"/>
                <a:sym typeface="Symbol" pitchFamily="18" charset="2"/>
              </a:rPr>
              <a:t>≠</a:t>
            </a:r>
            <a:r>
              <a:rPr lang="en-US" sz="2800" dirty="0">
                <a:latin typeface="Microsoft Sans Serif" pitchFamily="34" charset="0"/>
              </a:rPr>
              <a:t> o(n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)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Proof: 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Assume that f(n) = </a:t>
            </a:r>
            <a:r>
              <a:rPr lang="en-US" sz="2800" dirty="0">
                <a:latin typeface="Times New Roman" pitchFamily="18" charset="0"/>
              </a:rPr>
              <a:t>1000.n</a:t>
            </a:r>
            <a:r>
              <a:rPr lang="en-US" sz="2800" baseline="30000" dirty="0">
                <a:latin typeface="Times New Roman" pitchFamily="18" charset="0"/>
              </a:rPr>
              <a:t>2 </a:t>
            </a:r>
            <a:r>
              <a:rPr lang="en-US" sz="2800" dirty="0">
                <a:latin typeface="Times New Roman" pitchFamily="18" charset="0"/>
              </a:rPr>
              <a:t>+ 1000.n</a:t>
            </a:r>
            <a:r>
              <a:rPr lang="en-US" sz="2800" dirty="0">
                <a:latin typeface="Microsoft Sans Serif" pitchFamily="34" charset="0"/>
              </a:rPr>
              <a:t>, and g(n) = 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800" dirty="0">
                <a:latin typeface="Microsoft Sans Serif" pitchFamily="34" charset="0"/>
              </a:rPr>
              <a:t>we have to show that f(n) </a:t>
            </a:r>
            <a:r>
              <a:rPr lang="en-US" sz="2800" dirty="0">
                <a:latin typeface="Microsoft Sans Serif" panose="020B0604020202020204" pitchFamily="34" charset="0"/>
                <a:cs typeface="Microsoft Sans Serif" panose="020B0604020202020204" pitchFamily="34" charset="0"/>
                <a:sym typeface="Symbol" pitchFamily="18" charset="2"/>
              </a:rPr>
              <a:t>≠</a:t>
            </a:r>
            <a:r>
              <a:rPr lang="en-US" sz="2800" dirty="0">
                <a:latin typeface="Microsoft Sans Serif" pitchFamily="34" charset="0"/>
              </a:rPr>
              <a:t> o(g(n)) i.e.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We assume that for any c there exist n</a:t>
            </a:r>
            <a:r>
              <a:rPr lang="en-US" sz="2800" baseline="-25000" dirty="0">
                <a:latin typeface="Microsoft Sans Serif" pitchFamily="34" charset="0"/>
              </a:rPr>
              <a:t>0</a:t>
            </a:r>
            <a:r>
              <a:rPr lang="en-US" sz="2800" dirty="0">
                <a:latin typeface="Microsoft Sans Serif" pitchFamily="34" charset="0"/>
              </a:rPr>
              <a:t> such that 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0 ≤ f(n) &lt; </a:t>
            </a:r>
            <a:r>
              <a:rPr lang="en-US" sz="2800" dirty="0" err="1">
                <a:latin typeface="Microsoft Sans Serif" pitchFamily="34" charset="0"/>
                <a:sym typeface="Symbol" pitchFamily="18" charset="2"/>
              </a:rPr>
              <a:t>c.g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(n)	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 n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 </a:t>
            </a:r>
            <a:r>
              <a:rPr lang="en-US" sz="2800" dirty="0">
                <a:latin typeface="Microsoft Sans Serif" pitchFamily="34" charset="0"/>
              </a:rPr>
              <a:t>n</a:t>
            </a:r>
            <a:r>
              <a:rPr lang="en-US" sz="2800" baseline="-25000" dirty="0">
                <a:latin typeface="Microsoft Sans Serif" pitchFamily="34" charset="0"/>
              </a:rPr>
              <a:t>0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	</a:t>
            </a:r>
            <a:endParaRPr lang="en-US" sz="2800" baseline="-25000" dirty="0">
              <a:latin typeface="Microsoft Sans Serif" pitchFamily="34" charset="0"/>
            </a:endParaRP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Times New Roman" pitchFamily="18" charset="0"/>
              </a:rPr>
              <a:t>1000.n</a:t>
            </a:r>
            <a:r>
              <a:rPr lang="en-US" sz="2800" baseline="30000" dirty="0">
                <a:latin typeface="Times New Roman" pitchFamily="18" charset="0"/>
              </a:rPr>
              <a:t>2 </a:t>
            </a:r>
            <a:r>
              <a:rPr lang="en-US" sz="2800" dirty="0">
                <a:latin typeface="Times New Roman" pitchFamily="18" charset="0"/>
              </a:rPr>
              <a:t>+ 1000.n </a:t>
            </a:r>
            <a:r>
              <a:rPr lang="en-US" sz="2800" dirty="0">
                <a:sym typeface="Symbol" pitchFamily="18" charset="2"/>
              </a:rPr>
              <a:t>&lt;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dirty="0"/>
              <a:t>c.n</a:t>
            </a:r>
            <a:r>
              <a:rPr lang="en-US" sz="2800" baseline="30000" dirty="0"/>
              <a:t>2</a:t>
            </a:r>
            <a:endParaRPr lang="en-US" sz="2800" dirty="0">
              <a:latin typeface="Microsoft Sans Serif" pitchFamily="34" charset="0"/>
            </a:endParaRP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Font typeface="Zed" pitchFamily="2" charset="2"/>
              <a:buNone/>
            </a:pPr>
            <a:r>
              <a:rPr lang="en-US" sz="2800" dirty="0">
                <a:latin typeface="Microsoft Sans Serif" pitchFamily="34" charset="0"/>
              </a:rPr>
              <a:t>If we take c = 2001, then,1000.n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baseline="30000" dirty="0">
                <a:latin typeface="Times New Roman" pitchFamily="18" charset="0"/>
              </a:rPr>
              <a:t> </a:t>
            </a:r>
            <a:r>
              <a:rPr lang="en-US" sz="2800" dirty="0">
                <a:latin typeface="Times New Roman" pitchFamily="18" charset="0"/>
              </a:rPr>
              <a:t>+ 1000.n </a:t>
            </a:r>
            <a:r>
              <a:rPr lang="en-US" sz="2800" dirty="0">
                <a:sym typeface="Symbol" pitchFamily="18" charset="2"/>
              </a:rPr>
              <a:t>&lt;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dirty="0"/>
              <a:t>2001.n</a:t>
            </a:r>
            <a:r>
              <a:rPr lang="en-US" sz="2800" baseline="30000" dirty="0"/>
              <a:t>2</a:t>
            </a:r>
            <a:endParaRPr lang="en-US" sz="2800" dirty="0">
              <a:latin typeface="Microsoft Sans Serif" pitchFamily="34" charset="0"/>
            </a:endParaRP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Font typeface="Zed" pitchFamily="2" charset="2"/>
              <a:buNone/>
            </a:pPr>
            <a:r>
              <a:rPr lang="en-US" dirty="0">
                <a:latin typeface="Microsoft Sans Serif" pitchFamily="34" charset="0"/>
                <a:sym typeface="Zed" pitchFamily="2" charset="2"/>
              </a:rPr>
              <a:t> </a:t>
            </a:r>
            <a:r>
              <a:rPr lang="en-US" sz="2800" dirty="0">
                <a:latin typeface="Times New Roman" pitchFamily="18" charset="0"/>
                <a:sym typeface="Zed" pitchFamily="2" charset="2"/>
              </a:rPr>
              <a:t>1</a:t>
            </a:r>
            <a:r>
              <a:rPr lang="en-US" sz="2800" dirty="0">
                <a:latin typeface="Times New Roman" pitchFamily="18" charset="0"/>
              </a:rPr>
              <a:t>000.n </a:t>
            </a:r>
            <a:r>
              <a:rPr lang="en-US" sz="2800" dirty="0">
                <a:sym typeface="Symbol" pitchFamily="18" charset="2"/>
              </a:rPr>
              <a:t>&lt;</a:t>
            </a:r>
            <a:r>
              <a:rPr lang="en-US" sz="2800" dirty="0">
                <a:latin typeface="Times New Roman" pitchFamily="18" charset="0"/>
              </a:rPr>
              <a:t> </a:t>
            </a:r>
            <a:r>
              <a:rPr lang="en-US" sz="2800" dirty="0"/>
              <a:t>1001.n</a:t>
            </a:r>
            <a:r>
              <a:rPr lang="en-US" sz="2800" baseline="30000" dirty="0"/>
              <a:t>2 	</a:t>
            </a:r>
            <a:r>
              <a:rPr lang="en-US" sz="2800" dirty="0"/>
              <a:t>which is not true</a:t>
            </a:r>
            <a:endParaRPr lang="en-US" sz="2800" dirty="0">
              <a:latin typeface="Microsoft Sans Serif" pitchFamily="34" charset="0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800" dirty="0">
                <a:latin typeface="Microsoft Sans Serif" pitchFamily="34" charset="0"/>
              </a:rPr>
              <a:t>Hence f(n) </a:t>
            </a:r>
            <a:r>
              <a:rPr lang="en-US" sz="2800" dirty="0">
                <a:latin typeface="Microsoft Sans Serif" panose="020B0604020202020204" pitchFamily="34" charset="0"/>
                <a:cs typeface="Microsoft Sans Serif" panose="020B0604020202020204" pitchFamily="34" charset="0"/>
                <a:sym typeface="Symbol" pitchFamily="18" charset="2"/>
              </a:rPr>
              <a:t>≠</a:t>
            </a:r>
            <a:r>
              <a:rPr lang="en-US" sz="2800" dirty="0">
                <a:latin typeface="Microsoft Sans Serif" pitchFamily="34" charset="0"/>
              </a:rPr>
              <a:t> o(g(n)) for c = 2001</a:t>
            </a:r>
          </a:p>
        </p:txBody>
      </p:sp>
      <p:sp>
        <p:nvSpPr>
          <p:cNvPr id="43014" name="Rectangle 7"/>
          <p:cNvSpPr>
            <a:spLocks noChangeArrowheads="1"/>
          </p:cNvSpPr>
          <p:nvPr/>
        </p:nvSpPr>
        <p:spPr bwMode="auto">
          <a:xfrm>
            <a:off x="0" y="-69850"/>
            <a:ext cx="9144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Examples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143000"/>
            <a:ext cx="6248400" cy="1143000"/>
          </a:xfrm>
        </p:spPr>
        <p:txBody>
          <a:bodyPr>
            <a:normAutofit fontScale="90000"/>
          </a:bodyPr>
          <a:lstStyle/>
          <a:p>
            <a:r>
              <a:rPr lang="en-GB" sz="5400" b="1" i="1" dirty="0">
                <a:cs typeface="Times New Roman" pitchFamily="18" charset="0"/>
              </a:rPr>
              <a:t>o</a:t>
            </a:r>
            <a:r>
              <a:rPr lang="en-US" sz="5400" dirty="0"/>
              <a:t> – Notation  (</a:t>
            </a:r>
            <a:r>
              <a:rPr lang="en-US" sz="5400" dirty="0">
                <a:solidFill>
                  <a:schemeClr val="accent2"/>
                </a:solidFill>
              </a:rPr>
              <a:t>little Oh</a:t>
            </a:r>
            <a:r>
              <a:rPr lang="en-US" sz="5400" dirty="0"/>
              <a:t>)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787667"/>
      </p:ext>
    </p:extLst>
  </p:cSld>
  <p:clrMapOvr>
    <a:masterClrMapping/>
  </p:clrMapOvr>
  <p:transition/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Some more Solutions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</a:t>
            </a:r>
            <a:r>
              <a:rPr lang="en-US" dirty="0"/>
              <a:t> - Notation   (</a:t>
            </a:r>
            <a:r>
              <a:rPr lang="en-US" dirty="0">
                <a:solidFill>
                  <a:schemeClr val="accent2"/>
                </a:solidFill>
              </a:rPr>
              <a:t>little Omega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80812872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1029" y="2667000"/>
            <a:ext cx="6722772" cy="3581400"/>
          </a:xfrm>
        </p:spPr>
        <p:txBody>
          <a:bodyPr>
            <a:normAutofit fontScale="70000" lnSpcReduction="20000"/>
          </a:bodyPr>
          <a:lstStyle/>
          <a:p>
            <a:pPr eaLnBrk="1" hangingPunct="1">
              <a:lnSpc>
                <a:spcPct val="200000"/>
              </a:lnSpc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Example 1: Prove that 5.n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=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</a:t>
            </a:r>
            <a:r>
              <a:rPr lang="en-US" sz="2800" dirty="0">
                <a:latin typeface="Microsoft Sans Serif" pitchFamily="34" charset="0"/>
              </a:rPr>
              <a:t>(n)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Proof: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	Assume that f(n) = 5.n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, and g(n) = 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		f(n)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=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</a:t>
            </a:r>
            <a:r>
              <a:rPr lang="en-US" sz="2800" dirty="0">
                <a:latin typeface="Microsoft Sans Serif" pitchFamily="34" charset="0"/>
              </a:rPr>
              <a:t>(g(n)) 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z="1500" dirty="0">
              <a:latin typeface="Microsoft Sans Serif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	We have to prove that for any c there exists n</a:t>
            </a:r>
            <a:r>
              <a:rPr lang="en-US" sz="2800" baseline="-25000" dirty="0">
                <a:latin typeface="Microsoft Sans Serif" pitchFamily="34" charset="0"/>
              </a:rPr>
              <a:t>0 </a:t>
            </a:r>
            <a:r>
              <a:rPr lang="en-US" sz="2800" dirty="0" err="1">
                <a:latin typeface="Microsoft Sans Serif" pitchFamily="34" charset="0"/>
              </a:rPr>
              <a:t>s.t.</a:t>
            </a:r>
            <a:r>
              <a:rPr lang="en-US" sz="2800" dirty="0">
                <a:latin typeface="Microsoft Sans Serif" pitchFamily="34" charset="0"/>
              </a:rPr>
              <a:t>, </a:t>
            </a:r>
            <a:r>
              <a:rPr lang="en-US" sz="2800" dirty="0" err="1">
                <a:latin typeface="Microsoft Sans Serif" pitchFamily="34" charset="0"/>
              </a:rPr>
              <a:t>c</a:t>
            </a:r>
            <a:r>
              <a:rPr lang="en-US" sz="2800" dirty="0" err="1">
                <a:latin typeface="Microsoft Sans Serif" pitchFamily="34" charset="0"/>
                <a:sym typeface="Symbol" pitchFamily="18" charset="2"/>
              </a:rPr>
              <a:t>.g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(n) &lt; f(n) 	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 n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 </a:t>
            </a:r>
            <a:r>
              <a:rPr lang="en-US" sz="2800" dirty="0">
                <a:latin typeface="Microsoft Sans Serif" pitchFamily="34" charset="0"/>
              </a:rPr>
              <a:t>n</a:t>
            </a:r>
            <a:r>
              <a:rPr lang="en-US" sz="2800" baseline="-25000" dirty="0">
                <a:latin typeface="Microsoft Sans Serif" pitchFamily="34" charset="0"/>
              </a:rPr>
              <a:t>0</a:t>
            </a:r>
            <a:endParaRPr lang="en-US" sz="2800" dirty="0">
              <a:latin typeface="Microsoft Sans Serif" pitchFamily="34" charset="0"/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 	</a:t>
            </a:r>
            <a:r>
              <a:rPr lang="en-US" sz="2800" dirty="0" err="1">
                <a:latin typeface="Microsoft Sans Serif" pitchFamily="34" charset="0"/>
                <a:sym typeface="Symbol" pitchFamily="18" charset="2"/>
              </a:rPr>
              <a:t>c.</a:t>
            </a:r>
            <a:r>
              <a:rPr lang="en-US" sz="2800" dirty="0" err="1">
                <a:latin typeface="Microsoft Sans Serif" pitchFamily="34" charset="0"/>
              </a:rPr>
              <a:t>n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&lt;</a:t>
            </a:r>
            <a:r>
              <a:rPr lang="en-US" sz="2800" dirty="0">
                <a:latin typeface="Microsoft Sans Serif" pitchFamily="34" charset="0"/>
              </a:rPr>
              <a:t> 5.n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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c &lt; 5.n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	This is true for any c, because for any arbitrary c e.g. c = 1000000, we can choose </a:t>
            </a:r>
            <a:r>
              <a:rPr lang="en-US" sz="2800" dirty="0">
                <a:latin typeface="Microsoft Sans Serif" pitchFamily="34" charset="0"/>
              </a:rPr>
              <a:t>n</a:t>
            </a:r>
            <a:r>
              <a:rPr lang="en-US" sz="2800" baseline="-25000" dirty="0">
                <a:latin typeface="Microsoft Sans Serif" pitchFamily="34" charset="0"/>
              </a:rPr>
              <a:t>0</a:t>
            </a:r>
            <a:r>
              <a:rPr lang="en-US" sz="2800" dirty="0">
                <a:latin typeface="Microsoft Sans Serif" pitchFamily="34" charset="0"/>
              </a:rPr>
              <a:t> = 1000000/5 = 200000 and the above inequality does hold.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And hence f(n)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=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</a:t>
            </a:r>
            <a:r>
              <a:rPr lang="en-US" sz="2800" dirty="0">
                <a:latin typeface="Microsoft Sans Serif" pitchFamily="34" charset="0"/>
              </a:rPr>
              <a:t>(g(n)),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5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</a:t>
            </a:r>
            <a:r>
              <a:rPr lang="en-US" sz="5400" dirty="0"/>
              <a:t> - Notation   </a:t>
            </a:r>
            <a:r>
              <a:rPr lang="en-US" sz="3600" dirty="0"/>
              <a:t>(</a:t>
            </a:r>
            <a:r>
              <a:rPr lang="en-US" sz="3600" dirty="0">
                <a:solidFill>
                  <a:schemeClr val="accent2"/>
                </a:solidFill>
              </a:rPr>
              <a:t>little Omega</a:t>
            </a:r>
            <a:r>
              <a:rPr lang="en-US" sz="3600" dirty="0"/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045542"/>
      </p:ext>
    </p:extLst>
  </p:cSld>
  <p:clrMapOvr>
    <a:masterClrMapping/>
  </p:clrMapOvr>
  <p:transition/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3755" y="2438399"/>
            <a:ext cx="6876245" cy="3870325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200000"/>
              </a:lnSpc>
              <a:buNone/>
            </a:pPr>
            <a:r>
              <a:rPr lang="en-US" sz="2800" dirty="0">
                <a:latin typeface="Microsoft Sans Serif" pitchFamily="34" charset="0"/>
              </a:rPr>
              <a:t>Example 2: Prove that 5.n + 10 </a:t>
            </a:r>
            <a:r>
              <a:rPr lang="en-US" sz="2800" dirty="0">
                <a:latin typeface="Microsoft Sans Serif" panose="020B0604020202020204" pitchFamily="34" charset="0"/>
                <a:cs typeface="Microsoft Sans Serif" panose="020B0604020202020204" pitchFamily="34" charset="0"/>
                <a:sym typeface="Symbol" pitchFamily="18" charset="2"/>
              </a:rPr>
              <a:t>≠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</a:t>
            </a:r>
            <a:r>
              <a:rPr lang="en-US" sz="2800" dirty="0">
                <a:latin typeface="Microsoft Sans Serif" pitchFamily="34" charset="0"/>
              </a:rPr>
              <a:t>(n)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Proof: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Assume that f(n) = 5.n + 10, and g(n) = n </a:t>
            </a:r>
          </a:p>
          <a:p>
            <a:pPr>
              <a:spcBef>
                <a:spcPct val="0"/>
              </a:spcBef>
              <a:buNone/>
            </a:pPr>
            <a:r>
              <a:rPr lang="en-US" sz="2800" dirty="0">
                <a:latin typeface="Microsoft Sans Serif" pitchFamily="34" charset="0"/>
              </a:rPr>
              <a:t>	f(n) </a:t>
            </a:r>
            <a:r>
              <a:rPr lang="en-US" sz="2800" dirty="0">
                <a:latin typeface="Microsoft Sans Serif" panose="020B0604020202020204" pitchFamily="34" charset="0"/>
                <a:cs typeface="Microsoft Sans Serif" panose="020B0604020202020204" pitchFamily="34" charset="0"/>
                <a:sym typeface="Symbol" pitchFamily="18" charset="2"/>
              </a:rPr>
              <a:t>≠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</a:t>
            </a:r>
            <a:r>
              <a:rPr lang="en-US" sz="2800" dirty="0">
                <a:latin typeface="Microsoft Sans Serif" pitchFamily="34" charset="0"/>
              </a:rPr>
              <a:t>(g(n)) ?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sz="2800" dirty="0">
              <a:latin typeface="Microsoft Sans Serif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We have to find the existence n</a:t>
            </a:r>
            <a:r>
              <a:rPr lang="en-US" sz="2800" baseline="-25000" dirty="0">
                <a:latin typeface="Microsoft Sans Serif" pitchFamily="34" charset="0"/>
              </a:rPr>
              <a:t>0 </a:t>
            </a:r>
            <a:r>
              <a:rPr lang="en-US" sz="2800" dirty="0">
                <a:latin typeface="Microsoft Sans Serif" pitchFamily="34" charset="0"/>
              </a:rPr>
              <a:t>for any c, </a:t>
            </a:r>
            <a:r>
              <a:rPr lang="en-US" sz="2800" dirty="0" err="1">
                <a:latin typeface="Microsoft Sans Serif" pitchFamily="34" charset="0"/>
              </a:rPr>
              <a:t>s.t.</a:t>
            </a:r>
            <a:endParaRPr lang="en-US" sz="2800" dirty="0">
              <a:latin typeface="Microsoft Sans Serif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	</a:t>
            </a:r>
            <a:r>
              <a:rPr lang="en-US" sz="2800" dirty="0" err="1">
                <a:latin typeface="Microsoft Sans Serif" pitchFamily="34" charset="0"/>
                <a:sym typeface="Symbol" pitchFamily="18" charset="2"/>
              </a:rPr>
              <a:t>c.g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(n) &lt; f(n) 	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 n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 </a:t>
            </a:r>
            <a:r>
              <a:rPr lang="en-US" sz="2800" dirty="0">
                <a:latin typeface="Microsoft Sans Serif" pitchFamily="34" charset="0"/>
              </a:rPr>
              <a:t>n</a:t>
            </a:r>
            <a:r>
              <a:rPr lang="en-US" sz="2800" baseline="-25000" dirty="0">
                <a:latin typeface="Microsoft Sans Serif" pitchFamily="34" charset="0"/>
              </a:rPr>
              <a:t>0</a:t>
            </a:r>
            <a:endParaRPr lang="en-US" sz="2800" dirty="0">
              <a:latin typeface="Microsoft Sans Serif" pitchFamily="34" charset="0"/>
              <a:sym typeface="Symbol" pitchFamily="18" charset="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 	</a:t>
            </a:r>
            <a:r>
              <a:rPr lang="en-US" sz="2800" dirty="0" err="1">
                <a:latin typeface="Microsoft Sans Serif" pitchFamily="34" charset="0"/>
                <a:sym typeface="Symbol" pitchFamily="18" charset="2"/>
              </a:rPr>
              <a:t>c.</a:t>
            </a:r>
            <a:r>
              <a:rPr lang="en-US" sz="2800" dirty="0" err="1">
                <a:latin typeface="Microsoft Sans Serif" pitchFamily="34" charset="0"/>
              </a:rPr>
              <a:t>n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&lt;</a:t>
            </a:r>
            <a:r>
              <a:rPr lang="en-US" sz="2800" dirty="0">
                <a:latin typeface="Microsoft Sans Serif" pitchFamily="34" charset="0"/>
              </a:rPr>
              <a:t> 5.n + 10, if we take c = 16 then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	16.</a:t>
            </a:r>
            <a:r>
              <a:rPr lang="en-US" sz="2800" dirty="0">
                <a:latin typeface="Microsoft Sans Serif" pitchFamily="34" charset="0"/>
              </a:rPr>
              <a:t>n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&lt;</a:t>
            </a:r>
            <a:r>
              <a:rPr lang="en-US" sz="2800" dirty="0">
                <a:latin typeface="Microsoft Sans Serif" pitchFamily="34" charset="0"/>
              </a:rPr>
              <a:t> 5.n + 10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 11.</a:t>
            </a:r>
            <a:r>
              <a:rPr lang="en-US" sz="2800" dirty="0">
                <a:latin typeface="Microsoft Sans Serif" pitchFamily="34" charset="0"/>
              </a:rPr>
              <a:t>n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&lt;</a:t>
            </a:r>
            <a:r>
              <a:rPr lang="en-US" sz="2800" dirty="0">
                <a:latin typeface="Microsoft Sans Serif" pitchFamily="34" charset="0"/>
              </a:rPr>
              <a:t> 10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is not true for any positive integer.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</a:t>
            </a:r>
          </a:p>
          <a:p>
            <a:pPr>
              <a:spcBef>
                <a:spcPct val="0"/>
              </a:spcBef>
              <a:buNone/>
            </a:pPr>
            <a:r>
              <a:rPr lang="en-US" sz="2800" dirty="0">
                <a:latin typeface="Microsoft Sans Serif" pitchFamily="34" charset="0"/>
              </a:rPr>
              <a:t>	Hence f(n) </a:t>
            </a:r>
            <a:r>
              <a:rPr lang="en-US" sz="2800" dirty="0">
                <a:latin typeface="Microsoft Sans Serif" panose="020B0604020202020204" pitchFamily="34" charset="0"/>
                <a:cs typeface="Microsoft Sans Serif" panose="020B0604020202020204" pitchFamily="34" charset="0"/>
                <a:sym typeface="Symbol" pitchFamily="18" charset="2"/>
              </a:rPr>
              <a:t>≠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</a:t>
            </a:r>
            <a:r>
              <a:rPr lang="en-US" sz="2800" dirty="0">
                <a:latin typeface="Microsoft Sans Serif" pitchFamily="34" charset="0"/>
              </a:rPr>
              <a:t>(g(n))</a:t>
            </a:r>
          </a:p>
        </p:txBody>
      </p:sp>
      <p:sp>
        <p:nvSpPr>
          <p:cNvPr id="46086" name="Rectangle 7"/>
          <p:cNvSpPr>
            <a:spLocks noChangeArrowheads="1"/>
          </p:cNvSpPr>
          <p:nvPr/>
        </p:nvSpPr>
        <p:spPr bwMode="auto">
          <a:xfrm>
            <a:off x="0" y="-69850"/>
            <a:ext cx="91440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/>
            <a:r>
              <a:rPr lang="en-US" sz="3200">
                <a:solidFill>
                  <a:schemeClr val="bg1"/>
                </a:solidFill>
              </a:rPr>
              <a:t>Examples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5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</a:t>
            </a:r>
            <a:r>
              <a:rPr lang="en-US" sz="5400" dirty="0"/>
              <a:t> - Notation   </a:t>
            </a:r>
            <a:r>
              <a:rPr lang="en-US" sz="3600" dirty="0"/>
              <a:t>(</a:t>
            </a:r>
            <a:r>
              <a:rPr lang="en-US" sz="3600" dirty="0">
                <a:solidFill>
                  <a:schemeClr val="accent2"/>
                </a:solidFill>
              </a:rPr>
              <a:t>little Omega</a:t>
            </a:r>
            <a:r>
              <a:rPr lang="en-US" sz="3600" dirty="0"/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923590"/>
      </p:ext>
    </p:extLst>
  </p:cSld>
  <p:clrMapOvr>
    <a:masterClrMapping/>
  </p:clrMapOvr>
  <p:transition/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1369" y="2666999"/>
            <a:ext cx="6732431" cy="3641725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dirty="0">
                <a:latin typeface="Microsoft Sans Serif" pitchFamily="34" charset="0"/>
              </a:rPr>
              <a:t>Example 3: Prove that 100.n </a:t>
            </a:r>
            <a:r>
              <a:rPr 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  <a:sym typeface="Symbol" pitchFamily="18" charset="2"/>
              </a:rPr>
              <a:t>≠</a:t>
            </a:r>
            <a:r>
              <a:rPr lang="en-US" dirty="0">
                <a:latin typeface="Microsoft Sans Serif" pitchFamily="34" charset="0"/>
              </a:rPr>
              <a:t> 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</a:t>
            </a:r>
            <a:r>
              <a:rPr lang="en-US" dirty="0">
                <a:latin typeface="Microsoft Sans Serif" pitchFamily="34" charset="0"/>
              </a:rPr>
              <a:t>(n</a:t>
            </a:r>
            <a:r>
              <a:rPr lang="en-US" baseline="30000" dirty="0">
                <a:latin typeface="Microsoft Sans Serif" pitchFamily="34" charset="0"/>
              </a:rPr>
              <a:t>2</a:t>
            </a:r>
            <a:r>
              <a:rPr lang="en-US" dirty="0">
                <a:latin typeface="Microsoft Sans Serif" pitchFamily="34" charset="0"/>
              </a:rPr>
              <a:t>)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dirty="0">
                <a:latin typeface="Microsoft Sans Serif" pitchFamily="34" charset="0"/>
              </a:rPr>
              <a:t>Proof: 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dirty="0">
                <a:latin typeface="Microsoft Sans Serif" pitchFamily="34" charset="0"/>
              </a:rPr>
              <a:t>	</a:t>
            </a:r>
            <a:r>
              <a:rPr lang="en-US" sz="2800" dirty="0">
                <a:latin typeface="Microsoft Sans Serif" pitchFamily="34" charset="0"/>
              </a:rPr>
              <a:t>Let f(n) = 100.n, and g(n) = 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800" dirty="0">
                <a:latin typeface="Microsoft Sans Serif" pitchFamily="34" charset="0"/>
              </a:rPr>
              <a:t>	Assume that f(n) </a:t>
            </a:r>
            <a:r>
              <a:rPr lang="en-US" sz="2800" dirty="0">
                <a:latin typeface="Microsoft Sans Serif" panose="020B0604020202020204" pitchFamily="34" charset="0"/>
                <a:cs typeface="Microsoft Sans Serif" panose="020B0604020202020204" pitchFamily="34" charset="0"/>
                <a:sym typeface="Symbol" pitchFamily="18" charset="2"/>
              </a:rPr>
              <a:t>≠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</a:t>
            </a:r>
            <a:r>
              <a:rPr lang="en-US" sz="2800" dirty="0">
                <a:latin typeface="Microsoft Sans Serif" pitchFamily="34" charset="0"/>
              </a:rPr>
              <a:t>(g(n))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</a:rPr>
              <a:t>	Now if f(n)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=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</a:t>
            </a:r>
            <a:r>
              <a:rPr lang="en-US" sz="2800" dirty="0">
                <a:latin typeface="Microsoft Sans Serif" pitchFamily="34" charset="0"/>
              </a:rPr>
              <a:t>(g(n)) then there n</a:t>
            </a:r>
            <a:r>
              <a:rPr lang="en-US" sz="2800" baseline="-25000" dirty="0">
                <a:latin typeface="Microsoft Sans Serif" pitchFamily="34" charset="0"/>
              </a:rPr>
              <a:t>0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</a:t>
            </a:r>
            <a:r>
              <a:rPr lang="en-US" sz="2800" dirty="0">
                <a:latin typeface="Microsoft Sans Serif" pitchFamily="34" charset="0"/>
              </a:rPr>
              <a:t>for any c </a:t>
            </a:r>
            <a:r>
              <a:rPr lang="en-US" sz="2800" dirty="0" err="1">
                <a:latin typeface="Microsoft Sans Serif" pitchFamily="34" charset="0"/>
              </a:rPr>
              <a:t>s.t.</a:t>
            </a:r>
            <a:endParaRPr lang="en-US" sz="2800" dirty="0">
              <a:latin typeface="Microsoft Sans Serif" pitchFamily="34" charset="0"/>
            </a:endParaRP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	</a:t>
            </a:r>
            <a:r>
              <a:rPr lang="en-US" sz="2800" dirty="0" err="1">
                <a:latin typeface="Microsoft Sans Serif" pitchFamily="34" charset="0"/>
                <a:sym typeface="Symbol" pitchFamily="18" charset="2"/>
              </a:rPr>
              <a:t>c.g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(n) &lt; f(n) 	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 n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 </a:t>
            </a:r>
            <a:r>
              <a:rPr lang="en-US" sz="2800" dirty="0">
                <a:latin typeface="Microsoft Sans Serif" pitchFamily="34" charset="0"/>
              </a:rPr>
              <a:t>n</a:t>
            </a:r>
            <a:r>
              <a:rPr lang="en-US" sz="2800" baseline="-25000" dirty="0">
                <a:latin typeface="Microsoft Sans Serif" pitchFamily="34" charset="0"/>
              </a:rPr>
              <a:t>0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	this is true 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  <a:sym typeface="Zed" pitchFamily="2" charset="2"/>
              </a:rPr>
              <a:t>	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 c.</a:t>
            </a:r>
            <a:r>
              <a:rPr lang="en-US" sz="2800" dirty="0">
                <a:latin typeface="Microsoft Sans Serif" pitchFamily="34" charset="0"/>
              </a:rPr>
              <a:t>n</a:t>
            </a:r>
            <a:r>
              <a:rPr lang="en-US" sz="2800" baseline="30000" dirty="0">
                <a:latin typeface="Microsoft Sans Serif" pitchFamily="34" charset="0"/>
              </a:rPr>
              <a:t>2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&lt;</a:t>
            </a:r>
            <a:r>
              <a:rPr lang="en-US" sz="2800" dirty="0">
                <a:latin typeface="Microsoft Sans Serif" pitchFamily="34" charset="0"/>
              </a:rPr>
              <a:t> 100.n 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 </a:t>
            </a:r>
            <a:r>
              <a:rPr lang="en-US" sz="2800" dirty="0" err="1">
                <a:latin typeface="Microsoft Sans Serif" pitchFamily="34" charset="0"/>
                <a:sym typeface="Zed" pitchFamily="2" charset="2"/>
              </a:rPr>
              <a:t>c.n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&lt;</a:t>
            </a:r>
            <a:r>
              <a:rPr lang="en-US" sz="2800" dirty="0">
                <a:latin typeface="Microsoft Sans Serif" pitchFamily="34" charset="0"/>
              </a:rPr>
              <a:t> 100 	</a:t>
            </a:r>
            <a:endParaRPr lang="en-US" sz="2800" dirty="0">
              <a:latin typeface="Microsoft Sans Serif" pitchFamily="34" charset="0"/>
              <a:sym typeface="Symbol" pitchFamily="18" charset="2"/>
            </a:endParaRP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r>
              <a:rPr lang="en-US" sz="2800" dirty="0">
                <a:latin typeface="Microsoft Sans Serif" pitchFamily="34" charset="0"/>
                <a:sym typeface="Symbol" pitchFamily="18" charset="2"/>
              </a:rPr>
              <a:t>	If we take c = </a:t>
            </a:r>
            <a:r>
              <a:rPr lang="en-US" sz="2800" dirty="0">
                <a:latin typeface="Microsoft Sans Serif" pitchFamily="34" charset="0"/>
              </a:rPr>
              <a:t>100, 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n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sz="2800" dirty="0">
                <a:latin typeface="Microsoft Sans Serif" pitchFamily="34" charset="0"/>
                <a:sym typeface="Symbol" pitchFamily="18" charset="2"/>
              </a:rPr>
              <a:t>&lt;</a:t>
            </a:r>
            <a:r>
              <a:rPr lang="en-US" sz="2800" dirty="0">
                <a:latin typeface="Microsoft Sans Serif" pitchFamily="34" charset="0"/>
              </a:rPr>
              <a:t> 1, not possible</a:t>
            </a:r>
          </a:p>
          <a:p>
            <a:pPr>
              <a:spcBef>
                <a:spcPct val="10000"/>
              </a:spcBef>
              <a:spcAft>
                <a:spcPct val="10000"/>
              </a:spcAft>
              <a:buNone/>
            </a:pPr>
            <a:r>
              <a:rPr lang="en-US" sz="2800" dirty="0">
                <a:latin typeface="Microsoft Sans Serif" pitchFamily="34" charset="0"/>
              </a:rPr>
              <a:t>Hence f(n) </a:t>
            </a:r>
            <a:r>
              <a:rPr lang="en-US" sz="2800" dirty="0">
                <a:latin typeface="Microsoft Sans Serif" pitchFamily="34" charset="0"/>
                <a:sym typeface="Zed" pitchFamily="2" charset="2"/>
              </a:rPr>
              <a:t>=</a:t>
            </a:r>
            <a:r>
              <a:rPr lang="en-US" sz="2800" dirty="0">
                <a:latin typeface="Microsoft Sans Serif" pitchFamily="34" charset="0"/>
              </a:rPr>
              <a:t> 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</a:t>
            </a:r>
            <a:r>
              <a:rPr lang="en-US" sz="2800" dirty="0">
                <a:latin typeface="Microsoft Sans Serif" pitchFamily="34" charset="0"/>
              </a:rPr>
              <a:t>(g(n)) i.e. </a:t>
            </a:r>
            <a:r>
              <a:rPr lang="en-US" dirty="0">
                <a:latin typeface="Microsoft Sans Serif" pitchFamily="34" charset="0"/>
              </a:rPr>
              <a:t>100.n </a:t>
            </a:r>
            <a:r>
              <a:rPr lang="en-US" sz="2400" dirty="0">
                <a:latin typeface="Microsoft Sans Serif" panose="020B0604020202020204" pitchFamily="34" charset="0"/>
                <a:cs typeface="Microsoft Sans Serif" panose="020B0604020202020204" pitchFamily="34" charset="0"/>
                <a:sym typeface="Symbol" pitchFamily="18" charset="2"/>
              </a:rPr>
              <a:t>≠</a:t>
            </a:r>
            <a:r>
              <a:rPr lang="en-US" dirty="0">
                <a:latin typeface="Microsoft Sans Serif" pitchFamily="34" charset="0"/>
              </a:rPr>
              <a:t> </a:t>
            </a:r>
            <a:r>
              <a:rPr lang="en-US" dirty="0">
                <a:latin typeface="Microsoft Sans Serif" pitchFamily="34" charset="0"/>
                <a:sym typeface="Symbol" pitchFamily="18" charset="2"/>
              </a:rPr>
              <a:t></a:t>
            </a:r>
            <a:r>
              <a:rPr lang="en-US" dirty="0">
                <a:latin typeface="Microsoft Sans Serif" pitchFamily="34" charset="0"/>
              </a:rPr>
              <a:t>(n</a:t>
            </a:r>
            <a:r>
              <a:rPr lang="en-US" baseline="30000" dirty="0">
                <a:latin typeface="Microsoft Sans Serif" pitchFamily="34" charset="0"/>
              </a:rPr>
              <a:t>2</a:t>
            </a:r>
            <a:r>
              <a:rPr lang="en-US" dirty="0">
                <a:latin typeface="Microsoft Sans Serif" pitchFamily="34" charset="0"/>
              </a:rPr>
              <a:t>)</a:t>
            </a:r>
          </a:p>
          <a:p>
            <a:pPr eaLnBrk="1" hangingPunct="1">
              <a:spcBef>
                <a:spcPct val="10000"/>
              </a:spcBef>
              <a:spcAft>
                <a:spcPct val="10000"/>
              </a:spcAft>
              <a:buFontTx/>
              <a:buNone/>
            </a:pPr>
            <a:endParaRPr lang="en-US" sz="2800" dirty="0">
              <a:latin typeface="Microsoft Sans Serif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sz="5400" b="1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</a:t>
            </a:r>
            <a:r>
              <a:rPr lang="en-US" sz="5400" dirty="0"/>
              <a:t> - Notation   </a:t>
            </a:r>
            <a:r>
              <a:rPr lang="en-US" sz="3600" dirty="0"/>
              <a:t>(</a:t>
            </a:r>
            <a:r>
              <a:rPr lang="en-US" sz="3600" dirty="0">
                <a:solidFill>
                  <a:schemeClr val="accent2"/>
                </a:solidFill>
              </a:rPr>
              <a:t>little Omega</a:t>
            </a:r>
            <a:r>
              <a:rPr lang="en-US" sz="3600" dirty="0"/>
              <a:t>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87246"/>
      </p:ext>
    </p:extLst>
  </p:cSld>
  <p:clrMapOvr>
    <a:masterClrMapping/>
  </p:clrMapOvr>
  <p:transition/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918075" y="4539129"/>
            <a:ext cx="6420832" cy="1785471"/>
            <a:chOff x="613275" y="0"/>
            <a:chExt cx="6420832" cy="1785471"/>
          </a:xfrm>
        </p:grpSpPr>
        <p:sp>
          <p:nvSpPr>
            <p:cNvPr id="13" name="Pentagon 12"/>
            <p:cNvSpPr/>
            <p:nvPr/>
          </p:nvSpPr>
          <p:spPr>
            <a:xfrm rot="10800000">
              <a:off x="613275" y="0"/>
              <a:ext cx="6420832" cy="1785471"/>
            </a:xfrm>
            <a:prstGeom prst="homePlate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Pentagon 4"/>
            <p:cNvSpPr/>
            <p:nvPr/>
          </p:nvSpPr>
          <p:spPr>
            <a:xfrm rot="21600000">
              <a:off x="1059643" y="0"/>
              <a:ext cx="5974464" cy="178547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87343" tIns="76200" rIns="142240" bIns="76200" numCol="1" spcCol="1270" anchor="ctr" anchorCtr="0">
              <a:noAutofit/>
            </a:bodyPr>
            <a:lstStyle/>
            <a:p>
              <a:pPr lvl="0"/>
              <a:r>
                <a:rPr lang="en-US" sz="2000" dirty="0"/>
                <a:t>Allah (Alone) is Sufficient for us, and He is the Best Disposer of affairs (for us).</a:t>
              </a:r>
              <a:r>
                <a:rPr lang="en-US" sz="1400" b="1" dirty="0">
                  <a:solidFill>
                    <a:srgbClr val="FFFF00"/>
                  </a:solidFill>
                </a:rPr>
                <a:t>(Quran 3 : 173)</a:t>
              </a:r>
              <a:endParaRPr lang="en-US" sz="2000" b="1" dirty="0">
                <a:solidFill>
                  <a:srgbClr val="FFFF00"/>
                </a:solidFill>
              </a:endParaRPr>
            </a:p>
          </p:txBody>
        </p:sp>
      </p:grpSp>
      <p:sp>
        <p:nvSpPr>
          <p:cNvPr id="12" name="Oval 11"/>
          <p:cNvSpPr/>
          <p:nvPr/>
        </p:nvSpPr>
        <p:spPr>
          <a:xfrm>
            <a:off x="304800" y="4539129"/>
            <a:ext cx="1785471" cy="1785471"/>
          </a:xfrm>
          <a:prstGeom prst="ellipse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00" r="-39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pic>
        <p:nvPicPr>
          <p:cNvPr id="7" name="Content Placeholder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143000"/>
            <a:ext cx="6420213" cy="321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900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967</TotalTime>
  <Words>5929</Words>
  <Application>Microsoft Macintosh PowerPoint</Application>
  <PresentationFormat>On-screen Show (4:3)</PresentationFormat>
  <Paragraphs>837</Paragraphs>
  <Slides>144</Slides>
  <Notes>29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144</vt:i4>
      </vt:variant>
    </vt:vector>
  </HeadingPairs>
  <TitlesOfParts>
    <vt:vector size="155" baseType="lpstr">
      <vt:lpstr>Arial</vt:lpstr>
      <vt:lpstr>Arial Narrow</vt:lpstr>
      <vt:lpstr>Calibri</vt:lpstr>
      <vt:lpstr>Microsoft Sans Serif</vt:lpstr>
      <vt:lpstr>Monotype Sorts</vt:lpstr>
      <vt:lpstr>Symbol</vt:lpstr>
      <vt:lpstr>Times New Roman</vt:lpstr>
      <vt:lpstr>Wingdings</vt:lpstr>
      <vt:lpstr>Zed</vt:lpstr>
      <vt:lpstr>Office Theme</vt:lpstr>
      <vt:lpstr>Equation</vt:lpstr>
      <vt:lpstr>PowerPoint Presentation</vt:lpstr>
      <vt:lpstr>Algorithm Correctness</vt:lpstr>
      <vt:lpstr>Loop Invariant</vt:lpstr>
      <vt:lpstr>Loop Invariant</vt:lpstr>
      <vt:lpstr>Example 01: Insertion Sort</vt:lpstr>
      <vt:lpstr>Insertion Sort: Tracing</vt:lpstr>
      <vt:lpstr>Insertion Sort: Loop Invariant</vt:lpstr>
      <vt:lpstr>Loop Invariant: Verification</vt:lpstr>
      <vt:lpstr>Example 02: Quick Sort</vt:lpstr>
      <vt:lpstr>Example 02: Quick Sort</vt:lpstr>
      <vt:lpstr>Partitioning: Tracing</vt:lpstr>
      <vt:lpstr>Partitioning: Loop Invariant</vt:lpstr>
      <vt:lpstr>Loop Invariant: Verification</vt:lpstr>
      <vt:lpstr>Example 03: Merge Sort</vt:lpstr>
      <vt:lpstr>Merge function: Tracing</vt:lpstr>
      <vt:lpstr>Merge function: Tracing</vt:lpstr>
      <vt:lpstr>Merge function: Loop Invariant</vt:lpstr>
      <vt:lpstr>Loop Invariant: Verification</vt:lpstr>
      <vt:lpstr>Loop Invariant: Verification</vt:lpstr>
      <vt:lpstr>Loop Invariant</vt:lpstr>
      <vt:lpstr>Exercise 01: Build Heap</vt:lpstr>
      <vt:lpstr>Build Heap: Tracing</vt:lpstr>
      <vt:lpstr>Build Heap: Loop Invariant</vt:lpstr>
      <vt:lpstr>Loop Invariant: Verification</vt:lpstr>
      <vt:lpstr>Exercise 02: Heap Sort</vt:lpstr>
      <vt:lpstr>Heap Sort: Tracing</vt:lpstr>
      <vt:lpstr>Heap Sort: Loop Invariant</vt:lpstr>
      <vt:lpstr>Loop Invariant: Verification</vt:lpstr>
      <vt:lpstr>Growth Order</vt:lpstr>
      <vt:lpstr>Order of Growth </vt:lpstr>
      <vt:lpstr>Order of Growth </vt:lpstr>
      <vt:lpstr>Order of Growth </vt:lpstr>
      <vt:lpstr>Order of Growth </vt:lpstr>
      <vt:lpstr>Order of Growth </vt:lpstr>
      <vt:lpstr>Order of Growth </vt:lpstr>
      <vt:lpstr>Order of Growth </vt:lpstr>
      <vt:lpstr>Order of Growth </vt:lpstr>
      <vt:lpstr>Order of Growth </vt:lpstr>
      <vt:lpstr>Order of Growth </vt:lpstr>
      <vt:lpstr>PowerPoint Presentation</vt:lpstr>
      <vt:lpstr>Asymptotic Notation</vt:lpstr>
      <vt:lpstr>Asymptotic Notation</vt:lpstr>
      <vt:lpstr>Asymptotic Notation</vt:lpstr>
      <vt:lpstr>Asymptotic Notation</vt:lpstr>
      <vt:lpstr>Asymptotic Notation</vt:lpstr>
      <vt:lpstr>Asymptotic Notation</vt:lpstr>
      <vt:lpstr>Asymptotic Notation</vt:lpstr>
      <vt:lpstr>O-Big Oh</vt:lpstr>
      <vt:lpstr>O-Big Oh</vt:lpstr>
      <vt:lpstr> -Omega</vt:lpstr>
      <vt:lpstr> -Omega</vt:lpstr>
      <vt:lpstr>-Theta</vt:lpstr>
      <vt:lpstr>-Theta</vt:lpstr>
      <vt:lpstr>o-little Oh</vt:lpstr>
      <vt:lpstr>o-little Oh</vt:lpstr>
      <vt:lpstr> -little Omega</vt:lpstr>
      <vt:lpstr> -little Omega</vt:lpstr>
      <vt:lpstr>Order of Growth</vt:lpstr>
      <vt:lpstr>-Theta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f(n) =½ n2 – 3n; f(n) = ϴ g(n)</vt:lpstr>
      <vt:lpstr>-Theta</vt:lpstr>
      <vt:lpstr>f(n)=an2+bn+c; f(n) = Ω g(n)</vt:lpstr>
      <vt:lpstr>f(n)=an2+bn+c; f(n) = Ω g(n)</vt:lpstr>
      <vt:lpstr>f(n)=an2+bn+c; f(n) = Ω g(n)</vt:lpstr>
      <vt:lpstr>f(n)=an2+bn+c; f(n) = Ω g(n)</vt:lpstr>
      <vt:lpstr>f(n)=an2+bn+c; f(n) = Ω g(n)</vt:lpstr>
      <vt:lpstr>f(n)=an2+bn+c; f(n) = Ω g(n)</vt:lpstr>
      <vt:lpstr>f(n)=an2+bn+c; f(n) = Ω g(n)</vt:lpstr>
      <vt:lpstr>f(n)=an2+bn+c; f(n) = Ω g(n)</vt:lpstr>
      <vt:lpstr>f(n)=an2+bn+c; f(n) = Ω g(n)</vt:lpstr>
      <vt:lpstr>f(n)=an2+bn+c; f(n) = Ω g(n)</vt:lpstr>
      <vt:lpstr>f(n)=an2+bn+c; f(n) = Ω g(n)</vt:lpstr>
      <vt:lpstr>f(n)=an2+bn+c; f(n) = Ω g(n)</vt:lpstr>
      <vt:lpstr>f(n)=an2+bn+c; f(n) = O g(n)</vt:lpstr>
      <vt:lpstr>-Theta (Exercise)</vt:lpstr>
      <vt:lpstr>Order of Growth</vt:lpstr>
      <vt:lpstr>Establishing order of growth using the definition</vt:lpstr>
      <vt:lpstr>Example 01 -  O – Big Oh</vt:lpstr>
      <vt:lpstr>Example 01 -  O – Big Oh</vt:lpstr>
      <vt:lpstr>O- Big Oh</vt:lpstr>
      <vt:lpstr>O- Big Oh(Exercise)</vt:lpstr>
      <vt:lpstr>Order of Growth</vt:lpstr>
      <vt:lpstr>Example 01 -  Ω – Omega</vt:lpstr>
      <vt:lpstr>Example 01 - Ω – Omega</vt:lpstr>
      <vt:lpstr> -Omega (Exercise)</vt:lpstr>
      <vt:lpstr>Review Questions</vt:lpstr>
      <vt:lpstr>01</vt:lpstr>
      <vt:lpstr>02</vt:lpstr>
      <vt:lpstr>03</vt:lpstr>
      <vt:lpstr>04</vt:lpstr>
      <vt:lpstr>05</vt:lpstr>
      <vt:lpstr>06</vt:lpstr>
      <vt:lpstr>07</vt:lpstr>
      <vt:lpstr>08</vt:lpstr>
      <vt:lpstr>09</vt:lpstr>
      <vt:lpstr>10</vt:lpstr>
      <vt:lpstr>11</vt:lpstr>
      <vt:lpstr>12</vt:lpstr>
      <vt:lpstr>10</vt:lpstr>
      <vt:lpstr>Asymptotic Notations</vt:lpstr>
      <vt:lpstr>Some Solutions</vt:lpstr>
      <vt:lpstr>Class exercises  - Notation (Theta)</vt:lpstr>
      <vt:lpstr> - Notation (Theta)</vt:lpstr>
      <vt:lpstr> - Notation (Theta)</vt:lpstr>
      <vt:lpstr>Some Solutions</vt:lpstr>
      <vt:lpstr>Class exercises O – Notation (Big- Oh)</vt:lpstr>
      <vt:lpstr>O – Notation (Big- Oh)</vt:lpstr>
      <vt:lpstr>O – Notation (Big- Oh)</vt:lpstr>
      <vt:lpstr>O – Notation (Big- Oh)</vt:lpstr>
      <vt:lpstr>Some Solutions</vt:lpstr>
      <vt:lpstr>Class exercises  - Notation  (Omega)</vt:lpstr>
      <vt:lpstr> - Notation  (Omega)</vt:lpstr>
      <vt:lpstr> - Notation  (Omega)</vt:lpstr>
      <vt:lpstr> - Notation  (Omega)</vt:lpstr>
      <vt:lpstr>Some more Solutions</vt:lpstr>
      <vt:lpstr>o – Notation  (little Oh)</vt:lpstr>
      <vt:lpstr>o – Notation  (little Oh)</vt:lpstr>
      <vt:lpstr>o – Notation  (little Oh)</vt:lpstr>
      <vt:lpstr>Some more Solutions</vt:lpstr>
      <vt:lpstr> - Notation   (little Omega)</vt:lpstr>
      <vt:lpstr> - Notation   (little Omega)</vt:lpstr>
      <vt:lpstr> - Notation   (little Omega)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Muhammad Umair</cp:lastModifiedBy>
  <cp:revision>223</cp:revision>
  <cp:lastPrinted>2021-02-02T05:55:03Z</cp:lastPrinted>
  <dcterms:created xsi:type="dcterms:W3CDTF">2018-06-20T09:11:51Z</dcterms:created>
  <dcterms:modified xsi:type="dcterms:W3CDTF">2026-01-29T08:45:20Z</dcterms:modified>
</cp:coreProperties>
</file>