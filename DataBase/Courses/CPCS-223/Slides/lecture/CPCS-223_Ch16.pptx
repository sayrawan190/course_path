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413" r:id="rId2"/>
    <p:sldId id="363" r:id="rId3"/>
    <p:sldId id="364" r:id="rId4"/>
    <p:sldId id="417" r:id="rId5"/>
    <p:sldId id="416" r:id="rId6"/>
    <p:sldId id="415" r:id="rId7"/>
    <p:sldId id="414" r:id="rId8"/>
    <p:sldId id="379" r:id="rId9"/>
    <p:sldId id="420" r:id="rId10"/>
    <p:sldId id="419" r:id="rId11"/>
    <p:sldId id="418" r:id="rId12"/>
    <p:sldId id="382" r:id="rId13"/>
    <p:sldId id="437" r:id="rId14"/>
    <p:sldId id="436" r:id="rId15"/>
    <p:sldId id="435" r:id="rId16"/>
    <p:sldId id="434" r:id="rId17"/>
    <p:sldId id="433" r:id="rId18"/>
    <p:sldId id="432" r:id="rId19"/>
    <p:sldId id="431" r:id="rId20"/>
    <p:sldId id="430" r:id="rId21"/>
    <p:sldId id="429" r:id="rId22"/>
    <p:sldId id="428" r:id="rId23"/>
    <p:sldId id="427" r:id="rId24"/>
    <p:sldId id="426" r:id="rId25"/>
    <p:sldId id="425" r:id="rId26"/>
    <p:sldId id="424" r:id="rId27"/>
    <p:sldId id="423" r:id="rId28"/>
    <p:sldId id="422" r:id="rId29"/>
    <p:sldId id="421" r:id="rId30"/>
    <p:sldId id="367" r:id="rId31"/>
    <p:sldId id="438" r:id="rId32"/>
    <p:sldId id="368" r:id="rId33"/>
    <p:sldId id="440" r:id="rId34"/>
    <p:sldId id="439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7" r:id="rId44"/>
    <p:sldId id="378" r:id="rId45"/>
    <p:sldId id="346" r:id="rId46"/>
    <p:sldId id="347" r:id="rId47"/>
    <p:sldId id="348" r:id="rId48"/>
    <p:sldId id="400" r:id="rId49"/>
    <p:sldId id="404" r:id="rId50"/>
    <p:sldId id="351" r:id="rId51"/>
    <p:sldId id="406" r:id="rId52"/>
    <p:sldId id="446" r:id="rId53"/>
    <p:sldId id="445" r:id="rId54"/>
    <p:sldId id="444" r:id="rId55"/>
    <p:sldId id="443" r:id="rId56"/>
    <p:sldId id="442" r:id="rId57"/>
    <p:sldId id="441" r:id="rId58"/>
    <p:sldId id="353" r:id="rId59"/>
    <p:sldId id="412" r:id="rId60"/>
    <p:sldId id="451" r:id="rId61"/>
    <p:sldId id="450" r:id="rId62"/>
    <p:sldId id="449" r:id="rId63"/>
    <p:sldId id="448" r:id="rId64"/>
    <p:sldId id="447" r:id="rId65"/>
    <p:sldId id="360" r:id="rId66"/>
    <p:sldId id="361" r:id="rId67"/>
    <p:sldId id="362" r:id="rId68"/>
    <p:sldId id="301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3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05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42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FE4BC-C852-4AB1-B7CD-E5830693D6BC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016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41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84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09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42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10/2/2012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17" Type="http://schemas.openxmlformats.org/officeDocument/2006/relationships/image" Target="../media/image25.png"/><Relationship Id="rId2" Type="http://schemas.openxmlformats.org/officeDocument/2006/relationships/image" Target="../media/image1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18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17" Type="http://schemas.openxmlformats.org/officeDocument/2006/relationships/image" Target="../media/image25.png"/><Relationship Id="rId2" Type="http://schemas.openxmlformats.org/officeDocument/2006/relationships/image" Target="../media/image1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4.png"/><Relationship Id="rId1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17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8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0.png"/><Relationship Id="rId7" Type="http://schemas.openxmlformats.org/officeDocument/2006/relationships/image" Target="../media/image69.png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39516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Horner’s Rule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4114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3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F194-7DA3-5B9C-1400-712ADD88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B083-3428-D482-8A1F-185EBD5B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C7ABC-F205-71B7-A843-F46FC3C16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4114800"/>
          </a:xfrm>
        </p:spPr>
        <p:txBody>
          <a:bodyPr/>
          <a:lstStyle/>
          <a:p>
            <a:r>
              <a:rPr lang="en-US" dirty="0"/>
              <a:t>Computing the value of a </a:t>
            </a:r>
            <a:r>
              <a:rPr lang="en-US" b="1" dirty="0">
                <a:solidFill>
                  <a:srgbClr val="0000FF"/>
                </a:solidFill>
              </a:rPr>
              <a:t>polynomial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CCD10-2857-D05C-41E1-AB31CB9F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2237-8FB6-D5DF-BF95-78D15AE5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90D0-4308-A3E6-45B8-7D3DB9B3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8455-FFA1-EF24-7557-AE4C0555E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4114800"/>
          </a:xfrm>
        </p:spPr>
        <p:txBody>
          <a:bodyPr/>
          <a:lstStyle/>
          <a:p>
            <a:r>
              <a:rPr lang="en-US" dirty="0"/>
              <a:t>Computing the value of a </a:t>
            </a:r>
            <a:r>
              <a:rPr lang="en-US" b="1" dirty="0">
                <a:solidFill>
                  <a:srgbClr val="0000FF"/>
                </a:solidFill>
              </a:rPr>
              <a:t>polynomial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20407-4787-21BE-F327-91AFE2A9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2B94-4D29-FDF7-BA6C-AA44663C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76600"/>
            <a:ext cx="474133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1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BFCF-DE60-7B24-20C7-723B7A62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29F8-11B4-F874-6F27-A98A8D68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9140-A67B-F8C1-68B5-BA0DD921E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4114800"/>
          </a:xfrm>
        </p:spPr>
        <p:txBody>
          <a:bodyPr/>
          <a:lstStyle/>
          <a:p>
            <a:r>
              <a:rPr lang="en-US" dirty="0"/>
              <a:t>Computing the value of a </a:t>
            </a:r>
            <a:r>
              <a:rPr lang="en-US" b="1" dirty="0">
                <a:solidFill>
                  <a:srgbClr val="0000FF"/>
                </a:solidFill>
              </a:rPr>
              <a:t>polynomial</a:t>
            </a:r>
          </a:p>
          <a:p>
            <a:endParaRPr lang="en-US" dirty="0"/>
          </a:p>
          <a:p>
            <a:r>
              <a:rPr lang="en-US" dirty="0"/>
              <a:t>Introduced by </a:t>
            </a:r>
            <a:r>
              <a:rPr lang="en-US" b="1" dirty="0">
                <a:solidFill>
                  <a:srgbClr val="0000FF"/>
                </a:solidFill>
              </a:rPr>
              <a:t>W. G. Horner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DE4C-A4F6-97AC-54C2-86CF758C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03A62-5F78-949E-BA36-F2CDB893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76600"/>
            <a:ext cx="474133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1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D4DB-086E-13F3-B3DF-9EFA2B67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0B2A-D9FC-A838-474F-8C062C61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FA69-9372-7FE8-38CA-5A2804ADD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4114800"/>
          </a:xfrm>
        </p:spPr>
        <p:txBody>
          <a:bodyPr/>
          <a:lstStyle/>
          <a:p>
            <a:r>
              <a:rPr lang="en-US" dirty="0"/>
              <a:t>Computing the value of a </a:t>
            </a:r>
            <a:r>
              <a:rPr lang="en-US" b="1" dirty="0">
                <a:solidFill>
                  <a:srgbClr val="0000FF"/>
                </a:solidFill>
              </a:rPr>
              <a:t>polynomial</a:t>
            </a:r>
          </a:p>
          <a:p>
            <a:endParaRPr lang="en-US" dirty="0"/>
          </a:p>
          <a:p>
            <a:r>
              <a:rPr lang="en-US" dirty="0"/>
              <a:t>Introduced by </a:t>
            </a:r>
            <a:r>
              <a:rPr lang="en-US" b="1" dirty="0">
                <a:solidFill>
                  <a:srgbClr val="0000FF"/>
                </a:solidFill>
              </a:rPr>
              <a:t>W. G. Horner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63C7C-9328-59C2-12A0-9F436DB3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448B1-D456-EA95-FAC9-CE24EB58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76600"/>
            <a:ext cx="4741333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22BA16-6B4C-EC0E-35FF-0543AC80D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572000"/>
            <a:ext cx="485677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8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(Application)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25782"/>
            <a:ext cx="37909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8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B21F-096D-7D0A-68E8-7B90E596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F26E-6940-D119-609F-400E3659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(Application)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81AD-4DE9-834F-126C-64E5282A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45BF21-335F-BFB7-7FE6-7D8174B2A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25782"/>
            <a:ext cx="379095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2F31A6-4571-F697-3C7B-46D08B1DD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514600"/>
            <a:ext cx="339090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5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6837-C305-6768-D235-C059CF23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A424-3EBF-3D8E-6D36-D5CCBA62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(Application)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EF398-CE19-653D-548D-CF8C11BA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B6F74E-216E-73B1-4C3D-BBA43F897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25782"/>
            <a:ext cx="379095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25261-D3EC-7E5A-1391-13057BB8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514600"/>
            <a:ext cx="3390900" cy="333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EDB430-027D-BAEB-6635-3F9CA3254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2992582"/>
            <a:ext cx="35242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8131-9CD7-DDF4-FF8F-BB04B80A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494E-156C-4B5B-1135-2ABEDA05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(Application)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6697C-F1D4-E74B-69FA-2DD47447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30D53-A65E-B437-F038-50B4A09A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25782"/>
            <a:ext cx="379095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28C2B-D1A2-BB2E-09AD-077DAA6C1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514600"/>
            <a:ext cx="3390900" cy="333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46E962-0930-F8BE-486A-A651E9E01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2992582"/>
            <a:ext cx="3524250" cy="36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C9B3E0-FA26-FE09-6A65-78C379718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499139"/>
            <a:ext cx="370522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4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0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4D3EB-9DF0-C58A-948F-DA447C4C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6124-7B72-6415-0AF0-A4A56576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12DC6-92A8-DDDA-9B8F-350BC760A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1BB28-43AC-EFDA-0AD4-61AA37D07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059C6E-1B1D-786F-BF95-856108B1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DFEE17-B6EF-0346-4627-1107E1946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6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FC8C-6180-AAEA-4ABF-798AACED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4A8-40DC-631C-E1AC-1BD51CF1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083D9-D85E-19CC-E7F6-675152C4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AAC8E-4455-CD1A-6BA0-B850724B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A7A420-8DC6-AC53-4F5B-6F80A1A9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B10121-CD65-DFC4-B335-EEBFC763C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D4F395-A248-7595-79AE-6B833FACD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3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B9EF-FCF8-3F9F-C26B-F6991A29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7AE0-AA0A-F1E7-715A-D40E8A4B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C192F-B9F0-DCAE-FB51-63234D08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C72F6-3057-7D5E-D701-4FAF4A740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7552F0-32BB-8807-1B0E-8B6CDE95D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B6F27-768C-BA02-B30F-07A1E735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76A87E-6E87-4F8D-EE50-D5E5A5399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17098D-0870-17A5-1CFE-791735D65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2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B027-C076-906D-6F30-43A7A7AA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4ED9-D3C6-2989-6428-1DCCC14B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B630-F5EB-804D-3544-481353C3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C7E2B4-C69A-8EE8-2958-44BE03D8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FA1E71-F61F-DA89-81C6-6BEFE654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A21CAD-2F7A-673D-DD97-E6B1B2EF9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50FF2C-1383-06A7-34CC-69C093367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A5F7A9-A50A-D82B-8D76-4E63C2508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B15282-7A0A-ED41-3DFC-54A3C7FFB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4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C10F-F2C7-1316-9550-C547667A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AA14-2C9D-A63C-76D1-DE7E97D89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A56DB-3C57-0359-1123-95B2D9C7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E4B1A-309E-1C22-8274-435A782CB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5FC746-2DCB-697D-3849-C4E5B841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8796D-5CE8-EB48-6E54-8A49121BC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A7184-5D55-6039-8A12-7D6500E33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4580F-74C2-6312-7662-A30C93207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9574BF-A59E-B4A5-E5F4-DFD146A58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DA35A2-362D-F43C-5473-E2F0008643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5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83A2-5661-05B3-A7C4-61953C63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1B1F-5758-6914-784E-7B138855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D1CCF-97C7-2452-5491-7C89B910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1929F6-E6DF-6B51-4FF3-BBA3C1FEA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7BA40D-E1C1-3EDF-FBC7-844F536B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AFB16-8493-D8D5-A870-19368E8CB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9EE4C-D25D-7D33-D141-7109C3FF4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F72ED6-6586-630F-A874-A42F65882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1BE6F6-C654-6975-2940-B7A2BEE423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2E9604-ECBE-176E-80DD-9F2982E9D1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98BFB6-5847-0449-3FF5-0B7151ED8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6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6879-CAE2-206D-2F05-CBFF4B25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36D3-A0FA-BF48-D16C-33B1982E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ED3BC-883C-330B-0369-B6A55618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255E0-A5EA-6BD6-77B1-091FD35B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3B4D80-6FB2-D30B-D3A4-F59CC2BF3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EF23D-5C0B-43C0-323B-6FEF7BC8F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8928EF-9822-EE64-2031-7E619BF8E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4B4E6A-EB5B-2017-FAE4-DB6247924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5D3679-3F30-7618-8201-561B48249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D1BBCF-96CE-1785-1F6A-2CA9AA1EC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63D240-C837-E69A-E1B7-ABC9704198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0C016CB-1B2F-84D5-C175-DCE4A1635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5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E9D9-A09E-DBA5-77FA-C9CD074D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5E9D-2CD9-68C0-7D7C-C5A15338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5CB10-E088-DE8D-D806-80E8631F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37CAC-E5B2-4BF9-6A83-FF16CDA0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B44ACA-F409-403B-7FDB-5E4CC3C0E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A9A31-C323-76A9-F758-5D12D6AC7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BF631A-848B-CFD4-0D85-F333C5D0E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D1BA31-AE9E-0FCE-26D7-322361A32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1F037D-F042-AEDD-7115-B845A0BBD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84B31E-BA59-5DFF-AA45-A41C04787B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AED348-B218-8F03-4ED2-23CBCC462A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2EC42E-FC54-5CF1-D157-E0F50EEF71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04EF48-C1CE-71A8-EDFB-9FA076E61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6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545C-FD8C-F068-E143-D551F63E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E743-DF46-0E30-0E83-67013921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ADC68-392C-1F1D-A6A3-42F7A6C3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F39EA8-D0CF-DC62-7DF7-CE74D1DBA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212EEE-ADB8-8278-216E-88CAA246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D5151-9A91-EB71-8FAD-916958F89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2B3C4-D315-FCCC-5649-7337ED0DA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0F6041-C509-B73C-C955-95CB2B99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518569-81E9-C8E3-54EA-FE6F639DC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573032-473E-99D7-EFFA-831FA08AF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4D8301-973D-2058-A3DF-A6CA324E93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707E90-7393-3989-8D37-474C22A97F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4FE389-D08F-D497-4583-7340EC6D93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045D14-2183-EFA9-5459-605125706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0A44683-5195-9BBF-E874-719E4FE51B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2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BB3C-3578-473D-FA98-38F9BC8B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30F2-6A5C-AB49-34FC-EC4115F1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93C4A-6AA0-2995-7A1E-0379BD7B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5A2CFD-349E-F347-AFC3-69670BBF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C13283-37F6-AE3B-6140-DF7A9CD88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14A455-AC15-5363-8440-56129983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99D10E-1797-B9F6-6AF7-5745FBCEE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AA8572-5E99-DD13-7C5D-F3D2305FF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3D9A9D-7EF5-414C-7E90-7A95240C6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436447-537F-E32C-E8DA-B71C820329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C9E52D-0B64-C247-C2D4-1E7D5C6CC7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850271-BA89-AAA3-F0EF-91D148F623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0D6329-007B-CD7D-DD4F-0DBA04AF55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960A18-E219-6F9D-8663-B2ED48822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2FE56D-303D-CB3E-F101-0EC85D3AC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8D6DF24-05C5-9B6D-346C-E42E83F562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E439-3A5D-6ACB-584B-AD78460D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C47E-5BE4-6BDE-20F7-DF866D841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D67D-5476-5DDF-8FE9-6FE66590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7C00F7-65DC-310C-B87F-D45448F7B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0F4E71-7E3A-2741-D96F-8E7A557BB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AE7819-D898-9A7B-5447-8B0E15020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B3A833-6AD7-8DAA-A2C6-DC6FDDFDA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982ADF-7D2C-A1D6-16BA-5FCCF2AF2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E9AC09-1A2E-136F-FB30-A88FBF95D0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232D81-F430-960C-177C-CBD296C08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D1AC36-8164-AA92-F1B0-59BAD97FB5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EAE19A-26E1-EEBE-0B94-DA80E8FA44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DAB07B-C357-2474-0761-276E6FA21A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FB2B6EA-C0F5-0DD2-23DF-129CDBF347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B87484-81FD-40BB-D754-2A52395D7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E121868-9CD5-ED78-E397-427D37F94F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B94892B-2042-D5FF-135E-B52A9BFEDC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5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0EF7-B2A8-2B64-D1D5-E21E05C9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0B25-A754-28B8-06BE-3D3AEB9E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94110-B9D6-BAC9-DF1C-2948AACF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0FAED4-57EF-E3BE-A954-89D114227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DDB329-4C5B-3E56-CDAE-233C37805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442DCC-D407-929D-AF92-40C70F37D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E922B3-DD69-0F98-46D1-E71D120E2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2468A1-6E03-4C7E-ED8A-A89264D03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CBAC94-04A4-617D-A0A1-CFB84DDF7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B27D99-EEA6-2B9C-BBCC-27B3D23B10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483E60-86C3-9421-1E93-D84727FA41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3535EA-46A9-35B3-8094-1F77D20946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F3AA2E-ADF5-1D9E-2FCA-2BCB37E0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FB0086-C92D-5801-4A53-571C109CDE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E63F8A-0882-FAD4-E2A9-B21E05DFF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896594A-30C6-B721-B417-E057624DC3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EBF6BA-D896-AC2B-3504-9B51C076E3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FADA4DA-91B2-5F82-9A7B-877898CDFF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2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0B93-DB3C-E669-52A8-8E7C4400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BC45-09A0-2A96-6260-9D070029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145A3-F900-BDE3-EB15-05F3D6A5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E8EF2-B4FF-9EE8-FC30-16FACE553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2AC8FD-E071-E958-0B28-893701510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86351-132D-E68D-7C36-06AB359E4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F55729-D1E0-A467-4B9B-41885C48D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101EEC-5674-9816-00EE-FBCAE4986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3CCFF3-34D6-F288-803A-F77C749DE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FB2004-A8EB-5A26-DC78-6548FC247A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CCCF37-3159-5EB8-47C2-7C2620F59A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FBA24A-427D-05AF-0322-657EA7AA2D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9EDBCF-07BD-40B1-13B0-5B13EF24A7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8145DF-5D59-6E7B-9B87-FD96BFAAE5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8A4443-1F35-2113-2FA7-0FC05AEABB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514" y="3538105"/>
            <a:ext cx="1485900" cy="257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FB4646-7C64-4676-6A9E-ED6EF433A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0093C89-420C-8031-2E7E-CDF8609BD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956402-1928-D16A-5917-3C1DAB5A54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EB2BED-A222-2180-2471-151C26B1B00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9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FE98-FC29-192D-DF6A-105DFA60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537-1510-8B7C-0307-D06D8A26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990E3-393F-A630-11C6-D7D99294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7F9B5-3E7B-FC36-A9BB-5EB67E7E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68B9DD-0F30-CC66-586E-A6C2F67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51A787-132E-53AA-7318-8210FA0CA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EBF9AD-4C12-0C5B-9060-B9DEDD137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1C7ED3-4645-9D0F-8A5B-8C4CB57DD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B482ED-5FC5-46F9-8EDB-3FBE0A98F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E043DC-E10F-4795-B920-0BFCCDBDD0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38C871-F857-104C-C1A4-B1D6EC4BEC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C4B635-D565-A834-E77E-EFABB8A333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007B03-D993-6C45-4CC7-6912C96C61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7C5C17-644C-9C77-60C5-A91D0A61F3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5FCEE1B-331B-78F0-DFA6-F1A3D29234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514" y="3538105"/>
            <a:ext cx="1485900" cy="257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A46627-57A4-57A6-D62F-592A4F1AC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1A0E19-7763-AE01-8AB4-C53463C662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08537BC-18DB-0BDA-F78E-624CACF26B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40140A-EA1F-1812-9A7C-E61213753F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CD1235D-C3AB-FCD7-C4C1-DAA07DFFA9D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2225" y="3917373"/>
            <a:ext cx="25146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0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5B23-B3AB-7B63-40CD-4C227774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BE80-8CC9-8229-4A25-E6FB7088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20DCA-B171-E30F-0E97-C76EB1A7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B6DEF-50CA-D706-8CB3-2D99867A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C38B66-FB00-816B-93FD-B29769D6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6011A-FBF6-FB0D-5BB6-635B78F36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88CE9F-22BA-EF02-115E-C86A8DC8B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76C7B5-8EBE-4FF7-EF7B-25D2CA46CC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0DE08F-5F7D-791C-A849-D9A004CAB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B483E7-7BC2-178D-DA5A-883669C97E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1150E5-6159-DACB-0A71-F060CF4CE1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49BBA2-DCD0-D9F4-6238-EACA52136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83EFEF-0E85-BDB6-69D7-7DD76D25BC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19E062-E0FC-2A1D-4A24-EABDD465EA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06C80A-06BD-8A57-05ED-02BE1095A4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514" y="3538105"/>
            <a:ext cx="1485900" cy="2571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32080ED-66DA-B073-8AEE-0652E8B47E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2781" y="3538105"/>
            <a:ext cx="1609725" cy="228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E4D6EE6-D089-2FD9-7B2A-31171929E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6BBD1B7-4E7A-B6FF-35AE-A21438703E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8BA8DF-3F56-89E4-BEC1-3D4C926A88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44C5639-F09C-F0FB-D429-12232A5CF9F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284831-3F45-24BA-DF5A-1C360C0420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72225" y="3917373"/>
            <a:ext cx="25146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6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3A40-185D-FDB8-2FD0-B1CBF13C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394C-6858-5A29-45CA-B7269B5F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CB38B-F84F-1EFC-2F45-6D7501BD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D0F96D-B5A8-7B33-849A-8DC4FBF03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7AC82A-1747-1B8F-12EB-DAF01D69C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1350EE-5F47-5F17-15F8-2DB9DDB54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E64B62-F6C8-CAD0-ADC6-1022BBC1C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337BE-A3C3-CDE3-4D81-64A28761A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14D72-9210-A563-F666-8D76131F9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0DD8EC-D7CE-7E03-5898-1EF067E51F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06FFAC-1AE9-008F-EDA5-9E20B1D962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23DA96-B8E3-6D61-A6A2-CAFC117157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194720-1177-A97E-EA2C-405A630AEB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99D956-0372-B2C5-0C0D-339B6E8CCC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6330C8-8F5D-5C46-25C0-A4366AF930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514" y="3538105"/>
            <a:ext cx="1485900" cy="2571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8A6BA6-D40E-00A1-5A3B-B35C381911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2781" y="3538105"/>
            <a:ext cx="1609725" cy="228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687BF9-5B9F-10F6-19FE-60ACDB00D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B13E788-E278-CBB1-6EA6-1C091F231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EE340C-6EF2-7F25-A2B6-F2A8F687A2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D74CC55-538A-6C50-D21F-AF501F41104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D43226-E2B4-B6F2-7B90-7702CFB1C1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72225" y="3917373"/>
            <a:ext cx="2514600" cy="2571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977024-FA09-8851-65C0-750A10D3AD2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5286" y="5595505"/>
            <a:ext cx="34194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1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583D-F4D7-B3BA-C5FC-1B1CBEDB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8142-7F6B-8397-F5FE-24381672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(Example)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5391E-6C47-20B1-B5AC-2474DEDC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3CD67-3B03-C97D-16A5-55CB4526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31473"/>
            <a:ext cx="561975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E52F68-D46B-C0E7-67E1-5A25CC6B8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450523"/>
            <a:ext cx="3705225" cy="26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15E122-1F5E-F84B-4D0A-48DFFF1D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898073"/>
            <a:ext cx="6076950" cy="38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063E78-1396-8F54-F4CE-CAC716EC4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957946"/>
            <a:ext cx="1352550" cy="31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3AC168-66B6-CFE3-8DA0-E0B626CCA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9173" y="2991283"/>
            <a:ext cx="171450" cy="247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B466C5-1F7F-42DE-3EBF-9AE6AE6611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3" y="3505200"/>
            <a:ext cx="647700" cy="247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5D239A-A67F-4801-8497-987341228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1046" y="3010333"/>
            <a:ext cx="3048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21F75C-72CD-740B-F8D2-F84A54F12A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1789" y="3013364"/>
            <a:ext cx="13335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AB3D3C-66EE-932F-235B-9C7FD19D1F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732" y="3029383"/>
            <a:ext cx="123825" cy="209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97145C-1E30-96C3-6065-30544F4F84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2973" y="4657725"/>
            <a:ext cx="323850" cy="238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0F7AF4-FCFF-5500-CE5E-BCFAE5B448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275" y="3505200"/>
            <a:ext cx="1762125" cy="2952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C58182-C6C9-9198-C624-1C05F25FE7D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514" y="3538105"/>
            <a:ext cx="1485900" cy="2571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F34940-B3E5-70C3-6B27-4D37C034A5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2781" y="3538105"/>
            <a:ext cx="1609725" cy="228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16B43A-C9E4-DB90-8CF3-82B89EE8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6" y="4643871"/>
            <a:ext cx="1352550" cy="3143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D306A77-8B44-5FC1-1CCD-FAC587952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9" y="5191125"/>
            <a:ext cx="647700" cy="247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C699DE-6D7D-25FA-72E9-8D38C20B01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5286" y="5238750"/>
            <a:ext cx="2152650" cy="2476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F2D3A8F-9E76-C07E-D639-C379F882EE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524" y="3898323"/>
            <a:ext cx="809625" cy="257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DEA8B63-510F-8587-30C2-FA0B7E2C257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800" y="3898323"/>
            <a:ext cx="1685925" cy="2762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21279A0-049E-FAB4-5423-1A7F34734F7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2225" y="3917373"/>
            <a:ext cx="2514600" cy="2571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E785380-8DF4-E47E-9C41-AAABE6FC767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25286" y="5595505"/>
            <a:ext cx="341947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3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(Algorithm)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4381500" cy="323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86050"/>
            <a:ext cx="1257300" cy="371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86125"/>
            <a:ext cx="3324225" cy="304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19525"/>
            <a:ext cx="2152650" cy="323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52925"/>
            <a:ext cx="10953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0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2593-14EF-868B-E6EB-8C7F92CE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E82C-4A6F-55FF-76DA-7A3254E5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(Algorithm)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1167-468A-BBB3-9B84-008C0AD4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A73BE-421C-3CBB-A295-7D60C36F7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4381500" cy="323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6E65B1-D033-21D9-FCAC-F3472009B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86050"/>
            <a:ext cx="125730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0696B1-F2CB-B422-359A-43820AF32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86125"/>
            <a:ext cx="3324225" cy="30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80CA3-47F7-BCBA-5BD5-D35F49D65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19525"/>
            <a:ext cx="2152650" cy="323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DA7579-D153-BA80-1FDE-6F02CB566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52925"/>
            <a:ext cx="1095375" cy="295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DA845B-018E-A67E-3BFA-3C1C2D73CC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2457450"/>
            <a:ext cx="3705225" cy="26384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FBE138-6274-7D36-2BEC-D6E105D82918}"/>
              </a:ext>
            </a:extLst>
          </p:cNvPr>
          <p:cNvSpPr txBox="1"/>
          <p:nvPr/>
        </p:nvSpPr>
        <p:spPr>
          <a:xfrm>
            <a:off x="5295900" y="5257800"/>
            <a:ext cx="316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Brute Force </a:t>
            </a:r>
            <a:r>
              <a:rPr lang="en-US" sz="2400" b="1" dirty="0" err="1">
                <a:solidFill>
                  <a:srgbClr val="FF0000"/>
                </a:solidFill>
              </a:rPr>
              <a:t>Algo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44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(Analysis)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61550"/>
            <a:ext cx="3746004" cy="2153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517" y="2362200"/>
            <a:ext cx="666750" cy="342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100" y="2438400"/>
            <a:ext cx="266700" cy="19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488" y="2376055"/>
            <a:ext cx="5905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7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34DB-44CB-BEFB-ECCE-E5B98D07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6571-B33D-D09A-DF91-139CA0F8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(Analysis)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2F0AA-A959-2545-90AD-936D53FC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E7AC6-1A7D-C103-E169-A95B936F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61550"/>
            <a:ext cx="3746004" cy="2153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2021F2-8CA9-6D4F-780B-AEF79DAD9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517" y="2362200"/>
            <a:ext cx="66675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74096-E245-4950-1855-8DD42FF36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100" y="2438400"/>
            <a:ext cx="266700" cy="19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AF8441-3EF6-0D2B-9031-804D2B5A4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488" y="2376055"/>
            <a:ext cx="590550" cy="314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05641D-94FB-0767-D4CE-0F935A7A1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100" y="2747530"/>
            <a:ext cx="9620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AC758-709A-BEDC-871F-74576256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D311-5333-A9F9-4BB7-C984F0B1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</a:t>
            </a:r>
            <a:r>
              <a:rPr lang="en-US" sz="3100" b="1" dirty="0">
                <a:solidFill>
                  <a:srgbClr val="0000FF"/>
                </a:solidFill>
              </a:rPr>
              <a:t>(Analysis)</a:t>
            </a:r>
            <a:endParaRPr lang="en-US" sz="31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B6558-BBB1-9A1A-DB0C-98A78896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2F36F-5740-36A5-F5C7-FF231116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961550"/>
            <a:ext cx="3746004" cy="2153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4E6FB-A0CC-A749-77C3-9B4DA511F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517" y="2362200"/>
            <a:ext cx="66675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384BDD-F7A9-8B44-BF2F-7EEC9D6AF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100" y="2438400"/>
            <a:ext cx="266700" cy="19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BB6F9A-1E7E-B23D-74B2-9B01FC5AB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488" y="2376055"/>
            <a:ext cx="590550" cy="314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62A9D2-7F30-010C-E6EC-FC1649574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100" y="2747530"/>
            <a:ext cx="962025" cy="952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5E1737-9B51-07E7-C6E9-73BC7CA2A8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100" y="3777962"/>
            <a:ext cx="5143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4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Binary Exponentiation</a:t>
            </a:r>
            <a:br>
              <a:rPr lang="en-US" b="1" dirty="0">
                <a:solidFill>
                  <a:srgbClr val="00823B"/>
                </a:solidFill>
              </a:rPr>
            </a:br>
            <a:r>
              <a:rPr lang="en-US" sz="3200" b="1" dirty="0">
                <a:solidFill>
                  <a:srgbClr val="FFC000"/>
                </a:solidFill>
              </a:rPr>
              <a:t>Student Exercise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9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Binary Exponentiation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Computing </a:t>
            </a:r>
            <a:r>
              <a:rPr lang="en-US" i="1" dirty="0"/>
              <a:t>a</a:t>
            </a:r>
            <a:r>
              <a:rPr lang="en-US" i="1" baseline="30000" dirty="0"/>
              <a:t>n</a:t>
            </a:r>
          </a:p>
          <a:p>
            <a:r>
              <a:rPr lang="en-US" dirty="0"/>
              <a:t>Brute force  needs n-1 multiplications</a:t>
            </a:r>
          </a:p>
          <a:p>
            <a:r>
              <a:rPr lang="en-US" dirty="0"/>
              <a:t>Better solution using Representation-Change</a:t>
            </a:r>
          </a:p>
          <a:p>
            <a:r>
              <a:rPr lang="en-US" dirty="0"/>
              <a:t>“n” is represented as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5665211"/>
            <a:ext cx="2795682" cy="50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64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Binary Exponentiation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Value of </a:t>
            </a:r>
            <a:r>
              <a:rPr lang="en-US" i="1" dirty="0"/>
              <a:t>n </a:t>
            </a:r>
            <a:r>
              <a:rPr lang="en-US" dirty="0"/>
              <a:t>can be computed as the value of the polynomial</a:t>
            </a:r>
          </a:p>
          <a:p>
            <a:endParaRPr lang="en-US" dirty="0"/>
          </a:p>
          <a:p>
            <a:r>
              <a:rPr lang="en-US" dirty="0"/>
              <a:t>Example; n = 13 at x = 2</a:t>
            </a:r>
          </a:p>
          <a:p>
            <a:endParaRPr lang="en-US" dirty="0"/>
          </a:p>
          <a:p>
            <a:r>
              <a:rPr lang="en-US" dirty="0"/>
              <a:t>So a</a:t>
            </a:r>
            <a:r>
              <a:rPr lang="en-US" baseline="30000" dirty="0"/>
              <a:t>n</a:t>
            </a:r>
            <a:r>
              <a:rPr lang="en-US" dirty="0"/>
              <a:t> will be represented as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31" y="2895600"/>
            <a:ext cx="5884069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115" y="4129088"/>
            <a:ext cx="4539700" cy="4290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646" y="5279015"/>
            <a:ext cx="4256637" cy="4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76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Horner’s Rule for </a:t>
            </a:r>
            <a:r>
              <a:rPr lang="en-US" sz="3600" b="1" i="1" dirty="0">
                <a:solidFill>
                  <a:srgbClr val="0000FF"/>
                </a:solidFill>
              </a:rPr>
              <a:t>p(2)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n = 13</a:t>
            </a:r>
          </a:p>
          <a:p>
            <a:pPr lvl="1"/>
            <a:r>
              <a:rPr lang="en-US" dirty="0"/>
              <a:t>n = 1101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6" y="1828800"/>
            <a:ext cx="43815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97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Calculation of a</a:t>
            </a:r>
            <a:r>
              <a:rPr lang="en-US" b="1" baseline="30000" dirty="0">
                <a:solidFill>
                  <a:srgbClr val="00823B"/>
                </a:solidFill>
              </a:rPr>
              <a:t>n</a:t>
            </a:r>
            <a:endParaRPr lang="en-US" sz="3600" b="1" i="1" baseline="30000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a</a:t>
            </a:r>
            <a:r>
              <a:rPr lang="en-US" baseline="30000" dirty="0"/>
              <a:t>n</a:t>
            </a:r>
            <a:r>
              <a:rPr lang="en-US" dirty="0"/>
              <a:t> = 3</a:t>
            </a:r>
            <a:r>
              <a:rPr lang="en-US" baseline="30000" dirty="0"/>
              <a:t>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9337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Binary Exponentiation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baseline="30000" dirty="0"/>
              <a:t>2p+bi</a:t>
            </a:r>
          </a:p>
          <a:p>
            <a:endParaRPr lang="en-US" dirty="0"/>
          </a:p>
          <a:p>
            <a:r>
              <a:rPr lang="en-US" sz="2800" b="1" i="1" dirty="0"/>
              <a:t>left-to-right binary exponentiation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466109"/>
            <a:ext cx="65722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504209"/>
            <a:ext cx="10001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2475633"/>
            <a:ext cx="1190625" cy="3714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146" y="2357868"/>
            <a:ext cx="2247900" cy="628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3568408"/>
            <a:ext cx="5362575" cy="3333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4000500"/>
            <a:ext cx="1276350" cy="2190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4219575"/>
            <a:ext cx="2552700" cy="2952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400" y="4586716"/>
            <a:ext cx="2914650" cy="228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400" y="4904508"/>
            <a:ext cx="3105150" cy="31432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4937" y="5250875"/>
            <a:ext cx="145732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9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Binary Exponentiation </a:t>
            </a:r>
            <a:r>
              <a:rPr lang="en-US" sz="3100" b="1" dirty="0">
                <a:solidFill>
                  <a:srgbClr val="0000FF"/>
                </a:solidFill>
              </a:rPr>
              <a:t>(a</a:t>
            </a:r>
            <a:r>
              <a:rPr lang="en-US" sz="3100" b="1" baseline="30000" dirty="0">
                <a:solidFill>
                  <a:srgbClr val="0000FF"/>
                </a:solidFill>
              </a:rPr>
              <a:t>13</a:t>
            </a:r>
            <a:r>
              <a:rPr lang="en-US" sz="3100" b="1" dirty="0">
                <a:solidFill>
                  <a:srgbClr val="0000FF"/>
                </a:solidFill>
              </a:rPr>
              <a:t>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4584783" cy="166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295525"/>
            <a:ext cx="1476375" cy="295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925" y="2307648"/>
            <a:ext cx="1809750" cy="2762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49" y="2743864"/>
            <a:ext cx="142875" cy="2857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267" y="3156369"/>
            <a:ext cx="142875" cy="2857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48" y="4035600"/>
            <a:ext cx="142875" cy="285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454" y="3605871"/>
            <a:ext cx="190500" cy="2286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2743200"/>
            <a:ext cx="142875" cy="1809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787" y="3151519"/>
            <a:ext cx="952500" cy="2762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8887" y="3539196"/>
            <a:ext cx="876300" cy="2952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1237" y="4033179"/>
            <a:ext cx="122872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1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Binary Exponentiation </a:t>
            </a:r>
            <a:r>
              <a:rPr lang="en-US" sz="2700" b="1" dirty="0">
                <a:solidFill>
                  <a:srgbClr val="0000FF"/>
                </a:solidFill>
              </a:rPr>
              <a:t>(Analysis)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4584783" cy="16638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962400"/>
            <a:ext cx="2247900" cy="628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603587"/>
            <a:ext cx="495300" cy="266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83" y="2660737"/>
            <a:ext cx="209550" cy="152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216" y="2613112"/>
            <a:ext cx="762000" cy="2571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3200400"/>
            <a:ext cx="495300" cy="2667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366" y="3257550"/>
            <a:ext cx="209550" cy="152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91" y="3164898"/>
            <a:ext cx="657225" cy="276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9666" y="3874339"/>
            <a:ext cx="24765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5635" y="4418452"/>
            <a:ext cx="15430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1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19200"/>
            <a:ext cx="68580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b="1" dirty="0">
                <a:solidFill>
                  <a:srgbClr val="00823B"/>
                </a:solidFill>
              </a:rPr>
              <a:t>Binary Exponentiation </a:t>
            </a:r>
            <a:r>
              <a:rPr lang="en-US" sz="2700" b="1" dirty="0">
                <a:solidFill>
                  <a:srgbClr val="0000FF"/>
                </a:solidFill>
              </a:rPr>
              <a:t>(</a:t>
            </a:r>
            <a:r>
              <a:rPr lang="en-US" sz="2200" b="1" i="1" dirty="0">
                <a:solidFill>
                  <a:srgbClr val="0000FF"/>
                </a:solidFill>
              </a:rPr>
              <a:t>right-to-left binary exponentiation</a:t>
            </a:r>
            <a:r>
              <a:rPr lang="en-US" sz="2700" b="1" dirty="0">
                <a:solidFill>
                  <a:srgbClr val="0000FF"/>
                </a:solidFill>
              </a:rPr>
              <a:t>)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28800"/>
            <a:ext cx="4895850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24545"/>
            <a:ext cx="2190750" cy="723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7" y="2233180"/>
            <a:ext cx="5362575" cy="285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80" y="2619375"/>
            <a:ext cx="38862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19200"/>
            <a:ext cx="6858000" cy="609600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00823B"/>
                </a:solidFill>
              </a:rPr>
              <a:t>Binary Exponentiation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37680" y="1905000"/>
            <a:ext cx="5369502" cy="2338820"/>
            <a:chOff x="137680" y="2233180"/>
            <a:chExt cx="5369502" cy="2338820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607" y="2233180"/>
              <a:ext cx="5362575" cy="2857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680" y="2619375"/>
              <a:ext cx="3886200" cy="1952625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60023"/>
            <a:ext cx="591502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5855A-FEDB-4E6C-818E-A91371D708A5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76644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Transform and Conquer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2347912"/>
            <a:ext cx="6248400" cy="3533775"/>
          </a:xfrm>
        </p:spPr>
        <p:txBody>
          <a:bodyPr>
            <a:normAutofit fontScale="85000" lnSpcReduction="20000"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dirty="0"/>
              <a:t>This technique has first stage i.e. </a:t>
            </a:r>
            <a:r>
              <a:rPr lang="en-US" altLang="en-US" sz="2800" b="1" i="1" dirty="0">
                <a:solidFill>
                  <a:srgbClr val="0000FF"/>
                </a:solidFill>
              </a:rPr>
              <a:t>transformation</a:t>
            </a:r>
            <a:r>
              <a:rPr lang="en-US" altLang="en-US" sz="2800" dirty="0"/>
              <a:t> to</a:t>
            </a:r>
            <a:br>
              <a:rPr lang="en-US" altLang="en-US" sz="2800" i="1" dirty="0"/>
            </a:br>
            <a:endParaRPr lang="en-US" altLang="en-US" sz="2800" dirty="0"/>
          </a:p>
          <a:p>
            <a:pPr lvl="1"/>
            <a:r>
              <a:rPr lang="en-US" altLang="en-US" sz="2400" b="1" dirty="0">
                <a:solidFill>
                  <a:srgbClr val="00823B"/>
                </a:solidFill>
              </a:rPr>
              <a:t>a simpler/more convenient instance of the same  problem</a:t>
            </a:r>
            <a:r>
              <a:rPr lang="en-US" altLang="en-US" sz="2400" b="1" dirty="0"/>
              <a:t> </a:t>
            </a:r>
            <a:r>
              <a:rPr lang="en-US" altLang="en-US" sz="2400" b="1" i="1" dirty="0">
                <a:solidFill>
                  <a:srgbClr val="0000FF"/>
                </a:solidFill>
              </a:rPr>
              <a:t>instance simplification</a:t>
            </a:r>
            <a:r>
              <a:rPr lang="en-US" altLang="en-US" sz="2400" b="1" dirty="0">
                <a:solidFill>
                  <a:srgbClr val="0000FF"/>
                </a:solidFill>
              </a:rPr>
              <a:t> </a:t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representation of the same instance </a:t>
            </a:r>
            <a:r>
              <a:rPr lang="en-US" altLang="en-US" sz="2400" b="1" i="1" dirty="0">
                <a:solidFill>
                  <a:srgbClr val="0000FF"/>
                </a:solidFill>
              </a:rPr>
              <a:t>representation change</a:t>
            </a:r>
            <a:br>
              <a:rPr lang="en-US" altLang="en-US" sz="2400" b="1" dirty="0"/>
            </a:br>
            <a:endParaRPr lang="en-US" altLang="en-US" sz="2400" b="1" dirty="0"/>
          </a:p>
          <a:p>
            <a:pPr lvl="1"/>
            <a:r>
              <a:rPr lang="en-US" altLang="en-US" sz="2400" b="1" dirty="0"/>
              <a:t>a different problem for which an algorithm is already available </a:t>
            </a:r>
            <a:r>
              <a:rPr lang="en-US" altLang="en-US" sz="2400" b="1" i="1" dirty="0">
                <a:solidFill>
                  <a:srgbClr val="0000FF"/>
                </a:solidFill>
              </a:rPr>
              <a:t>problem reduction</a:t>
            </a:r>
            <a:r>
              <a:rPr lang="en-US" altLang="en-US" sz="2400" b="1" dirty="0">
                <a:solidFill>
                  <a:srgbClr val="0000FF"/>
                </a:solidFill>
              </a:rPr>
              <a:t> </a:t>
            </a:r>
            <a:br>
              <a:rPr lang="en-US" altLang="en-US" sz="2400" b="1" dirty="0"/>
            </a:b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02151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Problem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81200"/>
            <a:ext cx="6248400" cy="4191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If you need to solve a problem, reduce it to another problem that you know how to solve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r>
              <a:rPr lang="en-US" dirty="0"/>
              <a:t>The practical difficulty: </a:t>
            </a:r>
            <a:r>
              <a:rPr lang="en-US" b="1" dirty="0">
                <a:solidFill>
                  <a:srgbClr val="0000FF"/>
                </a:solidFill>
              </a:rPr>
              <a:t>finding a problem</a:t>
            </a:r>
            <a:r>
              <a:rPr lang="en-US" dirty="0"/>
              <a:t> to which the problem at hand should be </a:t>
            </a:r>
            <a:r>
              <a:rPr lang="en-US" b="1" dirty="0">
                <a:solidFill>
                  <a:srgbClr val="0000FF"/>
                </a:solidFill>
              </a:rPr>
              <a:t>reduced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14725"/>
            <a:ext cx="1285875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564" y="3667125"/>
            <a:ext cx="895350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603" y="3752850"/>
            <a:ext cx="1647825" cy="514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086" y="3667124"/>
            <a:ext cx="733425" cy="600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3819524"/>
            <a:ext cx="11430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5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Least Common Multiple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16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>
                <a:solidFill>
                  <a:srgbClr val="00823B"/>
                </a:solidFill>
              </a:rPr>
              <a:t>Least Common Multiple </a:t>
            </a:r>
            <a:r>
              <a:rPr lang="en-US" sz="2700" b="1" i="1" dirty="0" err="1">
                <a:solidFill>
                  <a:srgbClr val="0000FF"/>
                </a:solidFill>
              </a:rPr>
              <a:t>lmc</a:t>
            </a:r>
            <a:r>
              <a:rPr lang="en-US" sz="2700" b="1" i="1" dirty="0">
                <a:solidFill>
                  <a:srgbClr val="0000FF"/>
                </a:solidFill>
              </a:rPr>
              <a:t> </a:t>
            </a:r>
            <a:r>
              <a:rPr lang="en-US" sz="2700" b="1" dirty="0">
                <a:solidFill>
                  <a:srgbClr val="0000FF"/>
                </a:solidFill>
              </a:rPr>
              <a:t>(</a:t>
            </a:r>
            <a:r>
              <a:rPr lang="en-US" sz="2700" b="1" dirty="0" err="1">
                <a:solidFill>
                  <a:srgbClr val="0000FF"/>
                </a:solidFill>
              </a:rPr>
              <a:t>m,n</a:t>
            </a:r>
            <a:r>
              <a:rPr lang="en-US" sz="2700" b="1" dirty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00FF"/>
                </a:solidFill>
              </a:rPr>
              <a:t>smallest</a:t>
            </a:r>
            <a:r>
              <a:rPr lang="en-US" dirty="0"/>
              <a:t> integer that is </a:t>
            </a:r>
            <a:r>
              <a:rPr lang="en-US" b="1" dirty="0">
                <a:solidFill>
                  <a:srgbClr val="0000FF"/>
                </a:solidFill>
              </a:rPr>
              <a:t>divisible</a:t>
            </a:r>
            <a:r>
              <a:rPr lang="en-US" dirty="0"/>
              <a:t> by both </a:t>
            </a:r>
            <a:r>
              <a:rPr lang="en-US" b="1" i="1" dirty="0">
                <a:solidFill>
                  <a:srgbClr val="0000FF"/>
                </a:solidFill>
              </a:rPr>
              <a:t>m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>
                <a:solidFill>
                  <a:srgbClr val="0000FF"/>
                </a:solidFill>
              </a:rPr>
              <a:t>n</a:t>
            </a:r>
          </a:p>
          <a:p>
            <a:r>
              <a:rPr lang="en-US" dirty="0"/>
              <a:t>Example: (</a:t>
            </a:r>
            <a:r>
              <a:rPr lang="en-US" i="1" dirty="0">
                <a:solidFill>
                  <a:srgbClr val="0000FF"/>
                </a:solidFill>
              </a:rPr>
              <a:t>prime factors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lcm</a:t>
            </a:r>
            <a:r>
              <a:rPr lang="en-US" dirty="0"/>
              <a:t> (24, 60) = 120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91000"/>
            <a:ext cx="1879600" cy="304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495800"/>
            <a:ext cx="2010103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975" y="4876800"/>
            <a:ext cx="5822425" cy="5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2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>
                <a:solidFill>
                  <a:srgbClr val="00823B"/>
                </a:solidFill>
              </a:rPr>
              <a:t>Least Common Multiple </a:t>
            </a:r>
            <a:r>
              <a:rPr lang="en-US" sz="2700" b="1" i="1" dirty="0" err="1">
                <a:solidFill>
                  <a:srgbClr val="0000FF"/>
                </a:solidFill>
              </a:rPr>
              <a:t>lmc</a:t>
            </a:r>
            <a:r>
              <a:rPr lang="en-US" sz="2700" b="1" i="1" dirty="0">
                <a:solidFill>
                  <a:srgbClr val="0000FF"/>
                </a:solidFill>
              </a:rPr>
              <a:t> </a:t>
            </a:r>
            <a:r>
              <a:rPr lang="en-US" sz="2700" b="1" dirty="0">
                <a:solidFill>
                  <a:srgbClr val="0000FF"/>
                </a:solidFill>
              </a:rPr>
              <a:t>(</a:t>
            </a:r>
            <a:r>
              <a:rPr lang="en-US" sz="2700" b="1" dirty="0" err="1">
                <a:solidFill>
                  <a:srgbClr val="0000FF"/>
                </a:solidFill>
              </a:rPr>
              <a:t>m,n</a:t>
            </a:r>
            <a:r>
              <a:rPr lang="en-US" sz="2700" b="1" dirty="0">
                <a:solidFill>
                  <a:srgbClr val="0000FF"/>
                </a:solidFill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286000"/>
            <a:ext cx="1276350" cy="3714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2438400"/>
            <a:ext cx="95250" cy="142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752" y="2314574"/>
            <a:ext cx="1247775" cy="390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129" y="2386012"/>
            <a:ext cx="266700" cy="1714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2290762"/>
            <a:ext cx="685800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1948" y="3029814"/>
            <a:ext cx="29813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1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Counting Path in 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394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9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963B-39E1-6EA0-BE44-52CA3242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EBA7-BCD1-C4F8-01CC-BC4C195F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180E5-A217-B2F3-835B-FC268F301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3B6AE-5DA8-F014-7C02-2B5D1B54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6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86DD-0A0E-1BBA-19A0-7A5948E4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3390-A2A1-65DF-F457-84F2B8F45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EC94-1A5F-CD5C-89FE-8E0A9C07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pPr lvl="1"/>
            <a:r>
              <a:rPr lang="en-US" dirty="0"/>
              <a:t>From vertex “</a:t>
            </a:r>
            <a:r>
              <a:rPr lang="en-US" dirty="0" err="1"/>
              <a:t>i</a:t>
            </a:r>
            <a:r>
              <a:rPr lang="en-US" dirty="0"/>
              <a:t>” to “j”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D8687-8BD4-EC1B-AF97-47524F20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9296-6426-4AC7-7A3A-3354F617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A82A-8707-C620-222B-E459A7F8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A2E5E-BF93-F4FD-71E7-5C002AA9D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pPr lvl="1"/>
            <a:r>
              <a:rPr lang="en-US" dirty="0"/>
              <a:t>From vertex “</a:t>
            </a:r>
            <a:r>
              <a:rPr lang="en-US" dirty="0" err="1"/>
              <a:t>i</a:t>
            </a:r>
            <a:r>
              <a:rPr lang="en-US" dirty="0"/>
              <a:t>” to “j”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r>
              <a:rPr lang="en-US" baseline="30000" dirty="0"/>
              <a:t>th</a:t>
            </a:r>
            <a:r>
              <a:rPr lang="en-US" dirty="0"/>
              <a:t> element of A</a:t>
            </a:r>
            <a:r>
              <a:rPr lang="en-US" baseline="30000" dirty="0"/>
              <a:t>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B06D-4A39-4BB1-8036-A3786D96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7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29D8-22BF-1ABA-114D-9C79F3E4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CEA2-781B-6AA1-7921-EDCD4EA3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79B6-AE03-D90E-E2EA-DC616B28E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pPr lvl="1"/>
            <a:r>
              <a:rPr lang="en-US" dirty="0"/>
              <a:t>From vertex “</a:t>
            </a:r>
            <a:r>
              <a:rPr lang="en-US" dirty="0" err="1"/>
              <a:t>i</a:t>
            </a:r>
            <a:r>
              <a:rPr lang="en-US" dirty="0"/>
              <a:t>” to “j”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r>
              <a:rPr lang="en-US" baseline="30000" dirty="0"/>
              <a:t>th</a:t>
            </a:r>
            <a:r>
              <a:rPr lang="en-US" dirty="0"/>
              <a:t> element of A</a:t>
            </a:r>
            <a:r>
              <a:rPr lang="en-US" baseline="30000" dirty="0"/>
              <a:t>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5F6DD-8202-44F4-FC82-73B8FA07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6E1B1-B906-D7E7-D9BF-18E07B8C6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13716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5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73FF-4837-D994-5F6C-9911B05C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CCDA-1BBC-DCC8-5E73-E5E3ED6D0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CCE8-FEC1-E12C-93D7-BE4C8C04D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pPr lvl="1"/>
            <a:r>
              <a:rPr lang="en-US" dirty="0"/>
              <a:t>From vertex “</a:t>
            </a:r>
            <a:r>
              <a:rPr lang="en-US" dirty="0" err="1"/>
              <a:t>i</a:t>
            </a:r>
            <a:r>
              <a:rPr lang="en-US" dirty="0"/>
              <a:t>” to “j”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r>
              <a:rPr lang="en-US" baseline="30000" dirty="0"/>
              <a:t>th</a:t>
            </a:r>
            <a:r>
              <a:rPr lang="en-US" dirty="0"/>
              <a:t> element of A</a:t>
            </a:r>
            <a:r>
              <a:rPr lang="en-US" baseline="30000" dirty="0"/>
              <a:t>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0E38-3F39-1148-EABA-AF058BB8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EF35E-080A-3183-0B3F-96CA85C1C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1371600" cy="1276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EFD7D-3243-7E49-B35C-662536AE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048125"/>
            <a:ext cx="21812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95D0-8EBA-4AD3-32EB-9581003A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3BA9-398A-EB03-231B-5A11916C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Counting Path in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C578-75E7-BA2E-32B5-16D51C04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/>
              <a:t>Number of different paths</a:t>
            </a:r>
          </a:p>
          <a:p>
            <a:pPr lvl="1"/>
            <a:r>
              <a:rPr lang="en-US" dirty="0"/>
              <a:t>Length k &gt; 0</a:t>
            </a:r>
          </a:p>
          <a:p>
            <a:pPr lvl="1"/>
            <a:r>
              <a:rPr lang="en-US" dirty="0"/>
              <a:t>From vertex “</a:t>
            </a:r>
            <a:r>
              <a:rPr lang="en-US" dirty="0" err="1"/>
              <a:t>i</a:t>
            </a:r>
            <a:r>
              <a:rPr lang="en-US" dirty="0"/>
              <a:t>” to “j”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r>
              <a:rPr lang="en-US" baseline="30000" dirty="0"/>
              <a:t>th</a:t>
            </a:r>
            <a:r>
              <a:rPr lang="en-US" dirty="0"/>
              <a:t> element of A</a:t>
            </a:r>
            <a:r>
              <a:rPr lang="en-US" baseline="30000" dirty="0"/>
              <a:t>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234F0-C44B-3951-3BCA-827686E9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BC98F-EB59-77C5-2B89-E3952078B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1371600" cy="1276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56C11-04B4-6462-AC8E-AA2761ADB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048125"/>
            <a:ext cx="2181225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EA089-01F2-D7A9-76EE-AC29EDAE0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4000500"/>
            <a:ext cx="22669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4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Reduction of Optimization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152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3B98-C511-9CF5-E1A3-9332CD21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0829-235E-CDC2-7CD0-B256B5F1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3E87-B01E-DD9E-A346-8EB4ED5FF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r>
              <a:rPr lang="en-US" dirty="0"/>
              <a:t>minimization problem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D317A-69E2-F050-AE04-A46DC7C5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2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D2B76-BBCF-1473-1132-1EB64316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2522-2E8F-3B14-86FB-71C90097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506C-5DDE-1B85-6316-4F38F174B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r>
              <a:rPr lang="en-US" dirty="0"/>
              <a:t>minimization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maximization problem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1E6F-F0E9-92D4-5ED4-43E1F74B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2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6F45-4067-71FD-68DC-E67B2CB4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3BC3-978D-27BC-E85A-91FE3660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3344-3B18-0B4C-E290-4D110DB7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r>
              <a:rPr lang="en-US" dirty="0"/>
              <a:t>minimization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maximization problem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6061-C929-5B2F-0F23-9CA045D7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39A37-833C-3C87-98F9-EE9EC48C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48000"/>
            <a:ext cx="33813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DCD6-62A3-E50A-D07E-9B37934F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08CB-16BD-7D83-C844-7FAACD5E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E09F-48FA-BE89-CD5A-F89F42FFD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r>
              <a:rPr lang="en-US" dirty="0"/>
              <a:t>minimization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maximization problem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7A190-F50E-3DD0-2F4D-D88693F4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3293A-CA96-FB13-A4F9-F425CE35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48000"/>
            <a:ext cx="3381375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96EF2D-74C3-02F1-DE40-B2CDA1CAE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977" y="4070206"/>
            <a:ext cx="33623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7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F637-F964-42CD-8A04-704F4191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B76D-3748-79AB-7C84-1DC64F163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Reduction of Optimization Problem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5119-43D0-4479-9BBE-82E20DB70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Function </a:t>
            </a:r>
            <a:r>
              <a:rPr lang="en-US" i="1" dirty="0"/>
              <a:t>f (x) </a:t>
            </a:r>
          </a:p>
          <a:p>
            <a:pPr lvl="1"/>
            <a:r>
              <a:rPr lang="en-US" dirty="0"/>
              <a:t>minimization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maximization problem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7A503-2333-4A12-FC5F-23200595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BB756-BC2E-0512-8B95-BE2F54FF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48000"/>
            <a:ext cx="3381375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016FDF-4CCB-BD78-4D82-11EF6D57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977" y="4070206"/>
            <a:ext cx="3362325" cy="371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FBEAA-22EB-D37A-B9F7-766A9B32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293" y="1917123"/>
            <a:ext cx="3529013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Reduction to 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 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58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Reduction to Graph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764" y="1905000"/>
            <a:ext cx="5619750" cy="2952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64" y="2304184"/>
            <a:ext cx="4848225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64" y="2674793"/>
            <a:ext cx="76295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7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Reduction to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2" y="1740045"/>
            <a:ext cx="33051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7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1484</TotalTime>
  <Words>829</Words>
  <Application>Microsoft Macintosh PowerPoint</Application>
  <PresentationFormat>On-screen Show (4:3)</PresentationFormat>
  <Paragraphs>233</Paragraphs>
  <Slides>68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Arial</vt:lpstr>
      <vt:lpstr>Calibri</vt:lpstr>
      <vt:lpstr>Monotype Sorts</vt:lpstr>
      <vt:lpstr>Office Theme</vt:lpstr>
      <vt:lpstr>PowerPoint Presentation</vt:lpstr>
      <vt:lpstr>Horner’s Rule</vt:lpstr>
      <vt:lpstr>Horner’s Rule</vt:lpstr>
      <vt:lpstr>Horner’s Rule</vt:lpstr>
      <vt:lpstr>Horner’s Rule</vt:lpstr>
      <vt:lpstr>Horner’s Rule</vt:lpstr>
      <vt:lpstr>Horner’s Rule</vt:lpstr>
      <vt:lpstr>Horner’s Rule (Application)</vt:lpstr>
      <vt:lpstr>Horner’s Rule (Application)</vt:lpstr>
      <vt:lpstr>Horner’s Rule (Application)</vt:lpstr>
      <vt:lpstr>Horner’s Rule (Application)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(Example)</vt:lpstr>
      <vt:lpstr>Horner’s Rule (Algorithm)</vt:lpstr>
      <vt:lpstr>Horner’s Rule (Algorithm)</vt:lpstr>
      <vt:lpstr>Horner’s Rule (Analysis)</vt:lpstr>
      <vt:lpstr>Horner’s Rule (Analysis)</vt:lpstr>
      <vt:lpstr>Horner’s Rule (Analysis)</vt:lpstr>
      <vt:lpstr>Binary Exponentiation Student Exercise</vt:lpstr>
      <vt:lpstr>Binary Exponentiation</vt:lpstr>
      <vt:lpstr>Binary Exponentiation</vt:lpstr>
      <vt:lpstr>Horner’s Rule for p(2)</vt:lpstr>
      <vt:lpstr>Calculation of an</vt:lpstr>
      <vt:lpstr>Binary Exponentiation</vt:lpstr>
      <vt:lpstr>Binary Exponentiation (a13)</vt:lpstr>
      <vt:lpstr>Binary Exponentiation (Analysis)</vt:lpstr>
      <vt:lpstr>Binary Exponentiation (right-to-left binary exponentiation)</vt:lpstr>
      <vt:lpstr>Binary Exponentiation</vt:lpstr>
      <vt:lpstr>Transform and Conquer</vt:lpstr>
      <vt:lpstr>Problem Reduction</vt:lpstr>
      <vt:lpstr>Least Common Multiple</vt:lpstr>
      <vt:lpstr>Least Common Multiple lmc (m,n)</vt:lpstr>
      <vt:lpstr>Least Common Multiple lmc (m,n)</vt:lpstr>
      <vt:lpstr>Counting Path in Graph</vt:lpstr>
      <vt:lpstr>Counting Path in Graph</vt:lpstr>
      <vt:lpstr>Counting Path in Graph</vt:lpstr>
      <vt:lpstr>Counting Path in Graph</vt:lpstr>
      <vt:lpstr>Counting Path in Graph</vt:lpstr>
      <vt:lpstr>Counting Path in Graph</vt:lpstr>
      <vt:lpstr>Counting Path in Graph</vt:lpstr>
      <vt:lpstr>Counting Path in Graph</vt:lpstr>
      <vt:lpstr>Reduction of Optimization Problem</vt:lpstr>
      <vt:lpstr>Reduction of Optimization Problem</vt:lpstr>
      <vt:lpstr>Reduction of Optimization Problem</vt:lpstr>
      <vt:lpstr>Reduction of Optimization Problem</vt:lpstr>
      <vt:lpstr>Reduction of Optimization Problem</vt:lpstr>
      <vt:lpstr>Reduction of Optimization Problem</vt:lpstr>
      <vt:lpstr>Reduction of Optimization Problem</vt:lpstr>
      <vt:lpstr>Reduction to Graph</vt:lpstr>
      <vt:lpstr>Reduction to Graph</vt:lpstr>
      <vt:lpstr>Reduction to Graph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303</cp:revision>
  <dcterms:created xsi:type="dcterms:W3CDTF">2018-06-20T09:11:51Z</dcterms:created>
  <dcterms:modified xsi:type="dcterms:W3CDTF">2026-04-28T05:13:17Z</dcterms:modified>
</cp:coreProperties>
</file>