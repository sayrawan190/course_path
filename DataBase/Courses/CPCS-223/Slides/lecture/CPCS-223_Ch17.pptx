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349" r:id="rId2"/>
    <p:sldId id="413" r:id="rId3"/>
    <p:sldId id="414" r:id="rId4"/>
    <p:sldId id="415" r:id="rId5"/>
    <p:sldId id="416" r:id="rId6"/>
    <p:sldId id="417" r:id="rId7"/>
    <p:sldId id="435" r:id="rId8"/>
    <p:sldId id="419" r:id="rId9"/>
    <p:sldId id="420" r:id="rId10"/>
    <p:sldId id="421" r:id="rId11"/>
    <p:sldId id="422" r:id="rId12"/>
    <p:sldId id="445" r:id="rId13"/>
    <p:sldId id="424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57" r:id="rId22"/>
    <p:sldId id="485" r:id="rId23"/>
    <p:sldId id="484" r:id="rId24"/>
    <p:sldId id="483" r:id="rId25"/>
    <p:sldId id="482" r:id="rId26"/>
    <p:sldId id="481" r:id="rId27"/>
    <p:sldId id="480" r:id="rId28"/>
    <p:sldId id="479" r:id="rId29"/>
    <p:sldId id="478" r:id="rId30"/>
    <p:sldId id="477" r:id="rId31"/>
    <p:sldId id="476" r:id="rId32"/>
    <p:sldId id="475" r:id="rId33"/>
    <p:sldId id="474" r:id="rId34"/>
    <p:sldId id="473" r:id="rId35"/>
    <p:sldId id="472" r:id="rId36"/>
    <p:sldId id="471" r:id="rId37"/>
    <p:sldId id="470" r:id="rId38"/>
    <p:sldId id="469" r:id="rId39"/>
    <p:sldId id="468" r:id="rId40"/>
    <p:sldId id="467" r:id="rId41"/>
    <p:sldId id="466" r:id="rId42"/>
    <p:sldId id="465" r:id="rId43"/>
    <p:sldId id="464" r:id="rId44"/>
    <p:sldId id="463" r:id="rId45"/>
    <p:sldId id="462" r:id="rId46"/>
    <p:sldId id="461" r:id="rId47"/>
    <p:sldId id="460" r:id="rId48"/>
    <p:sldId id="459" r:id="rId49"/>
    <p:sldId id="458" r:id="rId50"/>
    <p:sldId id="486" r:id="rId51"/>
    <p:sldId id="433" r:id="rId52"/>
    <p:sldId id="434" r:id="rId53"/>
    <p:sldId id="348" r:id="rId5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F00A867-0D2F-4317-B9F6-942331555E07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08:04:17.72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5821 7849 24575,'43'0'0,"2"10"0,2 4 0,-7-4 0,1 1 0,0 3 0,4 2 0,-4-2 0,-2-5 0,-3 1 0,-1 7 0,-2-3 0,10-10 0,-23 12 0,-4-16 0,-1 0 0,-11 0 0,12 0 0</inkml:trace>
  <inkml:trace contextRef="#ctx0" brushRef="#br0" timeOffset="4648">6562 6315 24575,'0'35'0,"0"8"0,0-17 0,0 1 0,0 20 0,0-18 0,0 1 0,0-4 0,0 1 0,0 0 0,0 1 0,0 7 0,0-2 0,0-1 0,0 7 0,0-22 0,0-5 0,0 20 0,0-29 0,0 13 0,0-16 0</inkml:trace>
  <inkml:trace contextRef="#ctx0" brushRef="#br0" timeOffset="11148">7320 6279 24575,'0'36'0,"0"-17"0,0 28 0,0-31 0,0 33 0,0-6 0,0-11 0,0 1 0,0-10 0,0-3 0,0 15 0,0-7 0,0 5 0,0-21 0,0 19 0,0-27 0,0 12 0,0-1 0,0-3 0,0 6 0,0 5 0,0-19 0,0 12 0,0 0 0,0-13 0,0 13 0,0-16 0</inkml:trace>
  <inkml:trace contextRef="#ctx0" brushRef="#br0" timeOffset="62898">441 8149 24575,'29'0'0,"-1"0"0,1 0 0,1 0 0,14 0 0,0 0 0,-8 0 0,-1 0 0,0 0 0,-2 0 0,6 0 0,-6 0 0,-1 0 0,7 0 0,-12 0 0,-1 0 0,17 0 0,-17-1 0,-1 2 0,22 15 0,-20-14 0,-1 0 0,17 13 0,-15-15 0,-11 0 0,-9 0 0,-8 0 0,0 0 0,-8 0 0,7 0 0,-23 0 0,4-15 0,1 3 0,3-21 0,16 21 0,0-19 0,0 27 0,0-12 0,0 16 0,0-16 0,0 5 0,-16-7 0,13-6 0,-13 20 0,16-11 0,0 15 0,0 15 0,16-3 0,3 6 0,16 5 0,-15-3 0,4 0 0,-23 11 0,7-27 0,-8 12 0,0-16 0,0 0 0,0 7 0,0-5 0,0 6 0,-8 8 0,7-12 0,-23 11 0,4 1 0,1-12 0,3 12 0,16-16 0,0 0 0,0 15 0,-16-11 0,13 12 0,-21-8 0,22-6 0,-21 6 0,19 7 0,-12-11 0,16 12 0,0 0 0,0-12 0,-16 27 0,12-27 0,-11 11 0,15-15 0,0 0 0,0 8 0,0-6 0,-16 6 0,12-8 0,-12 16 0,16-12 0,0 11 0,0-15 0,0 0 0</inkml:trace>
  <inkml:trace contextRef="#ctx0" brushRef="#br0" timeOffset="98748">335 8996 24575,'36'0'0,"-1"0"0,8 0 0,-17 0 0,1 0 0,0-1 0,1 2 0,14 5 0,0 4 0,-13-1 0,1 1 0,16 0 0,0 0 0,-13 1 0,-1 1 0,0-2 0,-1-2 0,12 4 0,-10 3 0,-6-15 0,9 16 0,-1-12 0,-8 12 0,-9-16 0,6 0 0,-5 0 0,1 0 0,11 0 0,-27 0 0,12 0 0,-16 0 0,8 0 0,-7-16 0,7 12 0,-8-27 0,0 19 0,-8-21 0,7-11 0,-7 5 0,8-4 0,0 10 0,0 5 0,-16 9 0,12-13 0,-12 28 0,16-19 0,0 21 0,-15-22 0,11 21 0,-12-29 0,16 28 0,0-11 0,-16 15 0,13 0 0,-13 0 0,16 0 0,0 0 0,0 15 0,0-11 0,0 28 0,0-21 0,0 38 0,0-17 0,0 11 0,0-10 0,0-21 0,0 19 0,0-27 0,0 12 0,0 0 0,0-13 0,0 29 0,0-28 0,0 19 0,0-21 0,0 6 0,-8 8 0,6-12 0,-21 27 0,3-27 0,0 27 0,-11-19 0,11 6 0,1 5 0,-5-19 0,22 27 0,-6-27 0,-7 12 0,11-16 0,-27 0 0,11 0 0,0 0 0,-3 16 0,5-12 0,-9 11 0,7-15 0,-11 0 0,27 8 0,-12-6 0,16 6 0,-8-8 0,6 0 0,-5 0 0,7 16 0,0-12 0,0 11 0,0-15 0,0 0 0</inkml:trace>
  <inkml:trace contextRef="#ctx0" brushRef="#br0" timeOffset="123016">618 10266 24575,'25'8'0,"1"0"0,21-5 0,-21 4 0,1 2 0,16 7 0,-16-12 0,6 11 0,-5 1 0,15-12 0,-17 8 0,1 0 0,4-11 0,1-1 0,-1 12 0,0 0 0,4-11 0,-1 2 0,-6 13 0,-1-1 0,0-12 0,-1-2 0,17 15 0,-16-16 0,-9 0 0,5 0 0,-19 0 0,12 0 0,-16 0 0,0-16 0,0-3 0,0-1 0,0 4 0,-16 8 0,12-9 0,-11 5 0,15-19 0,0 27 0,0-12 0,0 0 0,-8 13 0,6-13 0,-6 8 0,-8 6 0,13-21 0,-13 19 0,16-12 0,0 16 0,-16 0 0,-3 0 0,-1 0 0,-4-16 0,23 12 0,-7 4 0,8 28 0,0-3 0,0 3 0,0-1 0,0 1 0,0 6 0,0 0 0,0 13 0,0-4 0,8-25 0,-7-10 0,7-8 0,-8 0 0,0 15 0,-8-11 0,-9 12 0,-11-16 0,9 0 0,-13 0 0,21 0 0,-7 0 0,-5 16 0,19-12 0,-28 11 0,28-15 0,-11 0 0,15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C49CE24-AB9C-43CD-AB59-1170152E142C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49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47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13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83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06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59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66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6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Instructor Dr. Muhammad Umair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CPCS 223</a:t>
            </a:r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2076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Linear Time Sorting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974339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5A46E-D31A-4A66-A8D8-E8BC649A6555}" type="slidenum">
              <a:rPr lang="en-US"/>
              <a:pPr/>
              <a:t>3</a:t>
            </a:fld>
            <a:endParaRPr lang="en-US"/>
          </a:p>
        </p:txBody>
      </p:sp>
      <p:sp>
        <p:nvSpPr>
          <p:cNvPr id="1157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234929"/>
            <a:ext cx="6248400" cy="1143000"/>
          </a:xfrm>
        </p:spPr>
        <p:txBody>
          <a:bodyPr/>
          <a:lstStyle/>
          <a:p>
            <a:pPr algn="l"/>
            <a:r>
              <a:rPr lang="en-US" dirty="0"/>
              <a:t>Linear Time Sorting </a:t>
            </a:r>
          </a:p>
        </p:txBody>
      </p:sp>
      <p:sp>
        <p:nvSpPr>
          <p:cNvPr id="11571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2335387"/>
            <a:ext cx="6400800" cy="2906315"/>
          </a:xfrm>
        </p:spPr>
        <p:txBody>
          <a:bodyPr>
            <a:normAutofit/>
          </a:bodyPr>
          <a:lstStyle/>
          <a:p>
            <a:r>
              <a:rPr lang="en-US" dirty="0"/>
              <a:t>Sorting Techniques</a:t>
            </a:r>
          </a:p>
          <a:p>
            <a:r>
              <a:rPr lang="en-US" dirty="0"/>
              <a:t>No Comparison with different values</a:t>
            </a:r>
          </a:p>
          <a:p>
            <a:r>
              <a:rPr lang="en-US" dirty="0"/>
              <a:t>It sorts the data in Linear time.</a:t>
            </a:r>
          </a:p>
          <a:p>
            <a:pPr lvl="1"/>
            <a:r>
              <a:rPr lang="en-US" dirty="0"/>
              <a:t>Running time </a:t>
            </a:r>
            <a:r>
              <a:rPr lang="en-US" i="1" dirty="0"/>
              <a:t>O</a:t>
            </a:r>
            <a:r>
              <a:rPr lang="en-US" dirty="0"/>
              <a:t> (n)</a:t>
            </a:r>
          </a:p>
        </p:txBody>
      </p:sp>
    </p:spTree>
    <p:extLst>
      <p:ext uri="{BB962C8B-B14F-4D97-AF65-F5344CB8AC3E}">
        <p14:creationId xmlns:p14="http://schemas.microsoft.com/office/powerpoint/2010/main" val="2049779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4D3D6-FFA4-48AA-9321-7DBF8EC92398}" type="slidenum">
              <a:rPr lang="en-US"/>
              <a:pPr/>
              <a:t>4</a:t>
            </a:fld>
            <a:endParaRPr lang="en-US"/>
          </a:p>
        </p:txBody>
      </p:sp>
      <p:sp>
        <p:nvSpPr>
          <p:cNvPr id="1505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Sorting Techniques</a:t>
            </a:r>
          </a:p>
        </p:txBody>
      </p:sp>
      <p:sp>
        <p:nvSpPr>
          <p:cNvPr id="15053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Counting Sort</a:t>
            </a:r>
          </a:p>
          <a:p>
            <a:endParaRPr lang="en-US" dirty="0"/>
          </a:p>
          <a:p>
            <a:r>
              <a:rPr lang="en-US" dirty="0"/>
              <a:t>Radix Sort</a:t>
            </a:r>
          </a:p>
          <a:p>
            <a:endParaRPr lang="en-US" dirty="0"/>
          </a:p>
          <a:p>
            <a:r>
              <a:rPr lang="en-US" dirty="0"/>
              <a:t>Bucket Sort</a:t>
            </a:r>
          </a:p>
        </p:txBody>
      </p:sp>
    </p:spTree>
    <p:extLst>
      <p:ext uri="{BB962C8B-B14F-4D97-AF65-F5344CB8AC3E}">
        <p14:creationId xmlns:p14="http://schemas.microsoft.com/office/powerpoint/2010/main" val="240881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Counting Sort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Algorithm &amp; Its Tracing</a:t>
            </a:r>
          </a:p>
        </p:txBody>
      </p:sp>
    </p:spTree>
    <p:extLst>
      <p:ext uri="{BB962C8B-B14F-4D97-AF65-F5344CB8AC3E}">
        <p14:creationId xmlns:p14="http://schemas.microsoft.com/office/powerpoint/2010/main" val="73771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219200"/>
            <a:ext cx="6248400" cy="1143000"/>
          </a:xfrm>
        </p:spPr>
        <p:txBody>
          <a:bodyPr/>
          <a:lstStyle/>
          <a:p>
            <a:pPr algn="l"/>
            <a:r>
              <a:rPr lang="en-US" dirty="0"/>
              <a:t>Counting Sort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64643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7302FB-6AEA-0BEA-30CD-2F4D542E00DC}"/>
                  </a:ext>
                </a:extLst>
              </p14:cNvPr>
              <p14:cNvContentPartPr/>
              <p14:nvPr/>
            </p14:nvContentPartPr>
            <p14:xfrm>
              <a:off x="120600" y="2260440"/>
              <a:ext cx="2514960" cy="1549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7302FB-6AEA-0BEA-30CD-2F4D542E00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240" y="2251080"/>
                <a:ext cx="2533680" cy="156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028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330" y="1524000"/>
            <a:ext cx="3006270" cy="732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417" y="1519314"/>
            <a:ext cx="2315783" cy="690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405" y="2258228"/>
            <a:ext cx="2337031" cy="637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330" y="2729917"/>
            <a:ext cx="3006269" cy="658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214" y="2895600"/>
            <a:ext cx="2315786" cy="616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887" y="3649714"/>
            <a:ext cx="2953154" cy="62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840" y="3716652"/>
            <a:ext cx="2305160" cy="62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887" y="4558494"/>
            <a:ext cx="2974399" cy="605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495800"/>
            <a:ext cx="2305161" cy="658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024" y="5439549"/>
            <a:ext cx="2974400" cy="690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304800" y="12192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Counting Sort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1363" y="2362200"/>
            <a:ext cx="3400037" cy="336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8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Counting Sort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52738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561" y="1233956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Counting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1653" y="2151576"/>
            <a:ext cx="3512262" cy="2733542"/>
          </a:xfrm>
        </p:spPr>
        <p:txBody>
          <a:bodyPr>
            <a:normAutofit fontScale="47500" lnSpcReduction="20000"/>
          </a:bodyPr>
          <a:lstStyle/>
          <a:p>
            <a:pPr>
              <a:spcBef>
                <a:spcPts val="450"/>
              </a:spcBef>
            </a:pPr>
            <a:r>
              <a:rPr lang="en-US" sz="1800" b="1" dirty="0"/>
              <a:t>Statement		Cost	Iteration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1		c</a:t>
            </a:r>
            <a:r>
              <a:rPr lang="en-US" sz="2250" b="1" baseline="-25000" dirty="0"/>
              <a:t>1</a:t>
            </a:r>
            <a:r>
              <a:rPr lang="en-US" sz="2250" b="1" dirty="0"/>
              <a:t>	1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2		c</a:t>
            </a:r>
            <a:r>
              <a:rPr lang="en-US" sz="2250" b="1" baseline="-25000" dirty="0"/>
              <a:t>2</a:t>
            </a:r>
            <a:r>
              <a:rPr lang="en-US" sz="2250" b="1" dirty="0"/>
              <a:t>	k+1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3		c</a:t>
            </a:r>
            <a:r>
              <a:rPr lang="en-US" sz="2250" b="1" baseline="-25000" dirty="0"/>
              <a:t>3</a:t>
            </a:r>
            <a:r>
              <a:rPr lang="en-US" sz="2250" b="1" dirty="0"/>
              <a:t>	k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4		c</a:t>
            </a:r>
            <a:r>
              <a:rPr lang="en-US" sz="2250" b="1" baseline="-25000" dirty="0"/>
              <a:t>4</a:t>
            </a:r>
            <a:r>
              <a:rPr lang="en-US" sz="2250" b="1" dirty="0"/>
              <a:t>	n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5		c</a:t>
            </a:r>
            <a:r>
              <a:rPr lang="en-US" sz="2250" b="1" baseline="-25000" dirty="0"/>
              <a:t>5</a:t>
            </a:r>
            <a:r>
              <a:rPr lang="en-US" sz="2250" b="1" dirty="0"/>
              <a:t>	n – 1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6		0	1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7		c</a:t>
            </a:r>
            <a:r>
              <a:rPr lang="en-US" sz="2250" b="1" baseline="-25000" dirty="0"/>
              <a:t>7</a:t>
            </a:r>
            <a:r>
              <a:rPr lang="en-US" sz="2250" b="1" dirty="0"/>
              <a:t>	k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8		c</a:t>
            </a:r>
            <a:r>
              <a:rPr lang="en-US" sz="2250" b="1" baseline="-25000" dirty="0"/>
              <a:t>8</a:t>
            </a:r>
            <a:r>
              <a:rPr lang="en-US" sz="2250" b="1" dirty="0"/>
              <a:t>	k-1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9		0	1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10		c</a:t>
            </a:r>
            <a:r>
              <a:rPr lang="en-US" sz="2250" b="1" baseline="-25000" dirty="0"/>
              <a:t>10</a:t>
            </a:r>
            <a:r>
              <a:rPr lang="en-US" sz="2250" b="1" dirty="0"/>
              <a:t>	n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11		c</a:t>
            </a:r>
            <a:r>
              <a:rPr lang="en-US" sz="2250" b="1" baseline="-25000" dirty="0"/>
              <a:t>11</a:t>
            </a:r>
            <a:r>
              <a:rPr lang="en-US" sz="2250" b="1" dirty="0"/>
              <a:t>	n-1</a:t>
            </a:r>
          </a:p>
          <a:p>
            <a:pPr>
              <a:spcBef>
                <a:spcPts val="600"/>
              </a:spcBef>
            </a:pPr>
            <a:r>
              <a:rPr lang="en-US" sz="2250" b="1" dirty="0"/>
              <a:t>12		c</a:t>
            </a:r>
            <a:r>
              <a:rPr lang="en-US" sz="2250" b="1" baseline="-25000" dirty="0"/>
              <a:t>12</a:t>
            </a:r>
            <a:r>
              <a:rPr lang="en-US" sz="2250" b="1" dirty="0"/>
              <a:t>	n - 1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561" y="2151576"/>
            <a:ext cx="4097093" cy="2269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99433" y="4885119"/>
            <a:ext cx="573753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T(n) = c</a:t>
            </a:r>
            <a:r>
              <a:rPr lang="en-US" sz="1350" baseline="-25000" dirty="0"/>
              <a:t>1</a:t>
            </a:r>
            <a:r>
              <a:rPr lang="en-US" sz="1350" dirty="0"/>
              <a:t>+c</a:t>
            </a:r>
            <a:r>
              <a:rPr lang="en-US" sz="1350" baseline="-25000" dirty="0"/>
              <a:t>2</a:t>
            </a:r>
            <a:r>
              <a:rPr lang="en-US" sz="1350" dirty="0"/>
              <a:t>(k+1)+c</a:t>
            </a:r>
            <a:r>
              <a:rPr lang="en-US" sz="1350" baseline="-25000" dirty="0"/>
              <a:t>3</a:t>
            </a:r>
            <a:r>
              <a:rPr lang="en-US" sz="1350" dirty="0"/>
              <a:t>k+c</a:t>
            </a:r>
            <a:r>
              <a:rPr lang="en-US" sz="1350" baseline="-25000" dirty="0"/>
              <a:t>4</a:t>
            </a:r>
            <a:r>
              <a:rPr lang="en-US" sz="1350" dirty="0"/>
              <a:t>n+c</a:t>
            </a:r>
            <a:r>
              <a:rPr lang="en-US" sz="1350" baseline="-25000" dirty="0"/>
              <a:t>5</a:t>
            </a:r>
            <a:r>
              <a:rPr lang="en-US" sz="1350" dirty="0"/>
              <a:t>(n-1)+c</a:t>
            </a:r>
            <a:r>
              <a:rPr lang="en-US" sz="1350" baseline="-25000" dirty="0"/>
              <a:t>7</a:t>
            </a:r>
            <a:r>
              <a:rPr lang="en-US" sz="1350" dirty="0"/>
              <a:t>k+c</a:t>
            </a:r>
            <a:r>
              <a:rPr lang="en-US" sz="1350" baseline="-25000" dirty="0"/>
              <a:t>8</a:t>
            </a:r>
            <a:r>
              <a:rPr lang="en-US" sz="1350" dirty="0"/>
              <a:t>(k-1)+c</a:t>
            </a:r>
            <a:r>
              <a:rPr lang="en-US" sz="1350" baseline="-25000" dirty="0"/>
              <a:t>10</a:t>
            </a:r>
            <a:r>
              <a:rPr lang="en-US" sz="1350" dirty="0"/>
              <a:t>n+c</a:t>
            </a:r>
            <a:r>
              <a:rPr lang="en-US" sz="1350" baseline="-25000" dirty="0"/>
              <a:t>11</a:t>
            </a:r>
            <a:r>
              <a:rPr lang="en-US" sz="1350" dirty="0"/>
              <a:t>(n-1)+c</a:t>
            </a:r>
            <a:r>
              <a:rPr lang="en-US" sz="1350" baseline="-25000" dirty="0"/>
              <a:t>12</a:t>
            </a:r>
            <a:r>
              <a:rPr lang="en-US" sz="1350" dirty="0"/>
              <a:t>(n-1)</a:t>
            </a:r>
          </a:p>
          <a:p>
            <a:r>
              <a:rPr lang="en-US" sz="1350" dirty="0"/>
              <a:t>T(n) = an + c</a:t>
            </a:r>
          </a:p>
          <a:p>
            <a:r>
              <a:rPr lang="en-US" sz="1350" dirty="0"/>
              <a:t>T(n) = </a:t>
            </a:r>
            <a:r>
              <a:rPr lang="en-GB" sz="135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(n)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64520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Bucket Sort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Algorithm &amp; Its Tracing</a:t>
            </a:r>
          </a:p>
        </p:txBody>
      </p:sp>
    </p:spTree>
    <p:extLst>
      <p:ext uri="{BB962C8B-B14F-4D97-AF65-F5344CB8AC3E}">
        <p14:creationId xmlns:p14="http://schemas.microsoft.com/office/powerpoint/2010/main" val="213573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Bucket Sort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C68-CC32-4F9C-9057-BECA21AB341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955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51902" y="2625681"/>
            <a:ext cx="7058178" cy="254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7017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Bucket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25603" y="915206"/>
            <a:ext cx="3739750" cy="162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795" y="2818461"/>
            <a:ext cx="507206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415" y="2818461"/>
            <a:ext cx="450056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152" y="4568932"/>
            <a:ext cx="685800" cy="1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152" y="3252721"/>
            <a:ext cx="671513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668" y="3665299"/>
            <a:ext cx="685800" cy="221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485" y="3470002"/>
            <a:ext cx="657225" cy="1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710" y="4574013"/>
            <a:ext cx="657225" cy="207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471" y="4997305"/>
            <a:ext cx="685800" cy="221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598" y="3451439"/>
            <a:ext cx="678656" cy="221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598" y="3234861"/>
            <a:ext cx="685800" cy="207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254" y="3484642"/>
            <a:ext cx="664369" cy="17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833" y="4338571"/>
            <a:ext cx="671513" cy="207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748" y="2847036"/>
            <a:ext cx="2536031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416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Bucket Sort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187943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Bucket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865" y="2470636"/>
            <a:ext cx="3364366" cy="821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368" y="3212477"/>
            <a:ext cx="3579351" cy="632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031" y="3849979"/>
            <a:ext cx="5227703" cy="689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750" y="4539028"/>
            <a:ext cx="2707481" cy="707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181600" y="353613"/>
            <a:ext cx="3739750" cy="162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8649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Bucket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727" y="2608783"/>
            <a:ext cx="391160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542" y="3044249"/>
            <a:ext cx="1643063" cy="70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687" y="3663239"/>
            <a:ext cx="2906958" cy="683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542" y="4327304"/>
            <a:ext cx="2107405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4850507"/>
            <a:ext cx="346710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Bucket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90" y="2299687"/>
            <a:ext cx="3720014" cy="72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846" y="3014466"/>
            <a:ext cx="4027361" cy="57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981" y="3567453"/>
            <a:ext cx="1093168" cy="599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079" y="4283840"/>
            <a:ext cx="3717131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558" y="4575791"/>
            <a:ext cx="1645193" cy="1233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444" y="2286806"/>
            <a:ext cx="884537" cy="603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930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81275"/>
            <a:ext cx="6248400" cy="1143000"/>
          </a:xfrm>
        </p:spPr>
        <p:txBody>
          <a:bodyPr/>
          <a:lstStyle/>
          <a:p>
            <a:pPr algn="l"/>
            <a:r>
              <a:rPr lang="en-US" dirty="0"/>
              <a:t>Bucket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130" y="4495800"/>
            <a:ext cx="7520940" cy="1288396"/>
          </a:xfrm>
        </p:spPr>
        <p:txBody>
          <a:bodyPr>
            <a:normAutofit/>
          </a:bodyPr>
          <a:lstStyle/>
          <a:p>
            <a:r>
              <a:rPr lang="en-US" dirty="0"/>
              <a:t>So by putting these </a:t>
            </a:r>
            <a:r>
              <a:rPr lang="en-US" dirty="0" err="1"/>
              <a:t>valuse</a:t>
            </a:r>
            <a:r>
              <a:rPr lang="en-US" dirty="0"/>
              <a:t> back in                </a:t>
            </a:r>
          </a:p>
          <a:p>
            <a:pPr marL="61722" indent="0">
              <a:buNone/>
            </a:pPr>
            <a:r>
              <a:rPr lang="en-US" dirty="0"/>
              <a:t>		E[T(n)]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430" y="2000251"/>
            <a:ext cx="4303259" cy="821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2796779"/>
            <a:ext cx="2748159" cy="517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371850"/>
            <a:ext cx="1745554" cy="47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976017"/>
            <a:ext cx="1799253" cy="635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059" y="5193506"/>
            <a:ext cx="2436019" cy="521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977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Bucket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E[T(n) ]	= </a:t>
            </a:r>
            <a:r>
              <a:rPr lang="el-GR" dirty="0">
                <a:latin typeface="Times New Roman"/>
                <a:cs typeface="Times New Roman"/>
              </a:rPr>
              <a:t>ϴ</a:t>
            </a:r>
            <a:r>
              <a:rPr lang="en-US" dirty="0">
                <a:latin typeface="Times New Roman"/>
                <a:cs typeface="Times New Roman"/>
              </a:rPr>
              <a:t>(n) + n . O(2-1/n)</a:t>
            </a:r>
            <a:endParaRPr lang="en-US" dirty="0"/>
          </a:p>
          <a:p>
            <a:pPr marL="61722" indent="0">
              <a:buNone/>
            </a:pPr>
            <a:r>
              <a:rPr lang="en-US" dirty="0">
                <a:latin typeface="Times New Roman"/>
                <a:cs typeface="Times New Roman"/>
              </a:rPr>
              <a:t>	=</a:t>
            </a:r>
            <a:r>
              <a:rPr lang="el-GR" dirty="0">
                <a:latin typeface="Times New Roman"/>
                <a:cs typeface="Times New Roman"/>
              </a:rPr>
              <a:t> ϴ</a:t>
            </a:r>
            <a:r>
              <a:rPr lang="en-US" dirty="0">
                <a:latin typeface="Times New Roman"/>
                <a:cs typeface="Times New Roman"/>
              </a:rPr>
              <a:t>(n)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27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Radix Sort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Algorithm &amp; Its Tracing</a:t>
            </a:r>
          </a:p>
        </p:txBody>
      </p:sp>
    </p:spTree>
    <p:extLst>
      <p:ext uri="{BB962C8B-B14F-4D97-AF65-F5344CB8AC3E}">
        <p14:creationId xmlns:p14="http://schemas.microsoft.com/office/powerpoint/2010/main" val="3003856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3EB2-ADD1-409D-99F2-F658AE17BD51}" type="slidenum">
              <a:rPr lang="en-US"/>
              <a:pPr/>
              <a:t>20</a:t>
            </a:fld>
            <a:endParaRPr lang="en-US"/>
          </a:p>
        </p:txBody>
      </p:sp>
      <p:sp>
        <p:nvSpPr>
          <p:cNvPr id="1904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2731126"/>
            <a:ext cx="7772400" cy="3098174"/>
          </a:xfrm>
        </p:spPr>
        <p:txBody>
          <a:bodyPr/>
          <a:lstStyle/>
          <a:p>
            <a:pPr>
              <a:buFont typeface="Arial" charset="0"/>
              <a:buNone/>
            </a:pPr>
            <a:endParaRPr lang="en-US" sz="1800" dirty="0"/>
          </a:p>
        </p:txBody>
      </p:sp>
      <p:pic>
        <p:nvPicPr>
          <p:cNvPr id="19046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971800"/>
            <a:ext cx="7810935" cy="148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95400"/>
            <a:ext cx="6248400" cy="1143000"/>
          </a:xfrm>
        </p:spPr>
        <p:txBody>
          <a:bodyPr/>
          <a:lstStyle/>
          <a:p>
            <a:pPr algn="l"/>
            <a:r>
              <a:rPr lang="en-US" dirty="0"/>
              <a:t>RADIX SORT</a:t>
            </a:r>
          </a:p>
        </p:txBody>
      </p:sp>
    </p:spTree>
    <p:extLst>
      <p:ext uri="{BB962C8B-B14F-4D97-AF65-F5344CB8AC3E}">
        <p14:creationId xmlns:p14="http://schemas.microsoft.com/office/powerpoint/2010/main" val="3594796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465632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56831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534675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271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437797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251837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701781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41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436223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505633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919031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590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884832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585886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924683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756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66256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335779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485756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447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66567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647501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507418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525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942085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049630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196580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122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658485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517645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015562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295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788358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846954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407019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178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062955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14532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055674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475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169169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75324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330032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813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876134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021710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091701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435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07643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781471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47185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81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168671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940256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562598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166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405763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10204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181568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8090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062251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948802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673484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844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787483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792247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087167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470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004887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94232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479661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231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181821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774495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447001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25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769915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085568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178550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435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789054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44698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525948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218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183385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625677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440653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5141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152654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367204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784746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7673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852401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902534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961983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9597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98264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301146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248175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95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582623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030678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389676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6547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906841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881229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47026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8938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349066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219266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758858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3059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431063"/>
              </p:ext>
            </p:extLst>
          </p:nvPr>
        </p:nvGraphicFramePr>
        <p:xfrm>
          <a:off x="533400" y="2586990"/>
          <a:ext cx="6934202" cy="27470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3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720,</a:t>
                      </a:r>
                    </a:p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355,</a:t>
                      </a:r>
                    </a:p>
                    <a:p>
                      <a:pPr algn="ctr"/>
                      <a:r>
                        <a:rPr lang="en-US" dirty="0"/>
                        <a:t>457,</a:t>
                      </a:r>
                    </a:p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329,</a:t>
                      </a:r>
                    </a:p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436,</a:t>
                      </a:r>
                    </a:p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42683"/>
              </p:ext>
            </p:extLst>
          </p:nvPr>
        </p:nvGraphicFramePr>
        <p:xfrm>
          <a:off x="990600" y="1447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171039"/>
              </p:ext>
            </p:extLst>
          </p:nvPr>
        </p:nvGraphicFramePr>
        <p:xfrm>
          <a:off x="1066800" y="563880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9580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Radix Sort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50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076" y="2589114"/>
            <a:ext cx="613076" cy="2191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033" y="3441137"/>
            <a:ext cx="833253" cy="4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244" y="2606040"/>
            <a:ext cx="591791" cy="219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47" y="3441137"/>
            <a:ext cx="833253" cy="4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145" y="2578805"/>
            <a:ext cx="576225" cy="219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464" y="3441136"/>
            <a:ext cx="833253" cy="4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82" y="2550883"/>
            <a:ext cx="648393" cy="219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138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Radix Sort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3928836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Radix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T(n) = c1. d + c2 (d-1)</a:t>
            </a:r>
          </a:p>
          <a:p>
            <a:r>
              <a:rPr lang="en-US" dirty="0"/>
              <a:t>T(n) = (c1+c2) d – c2</a:t>
            </a:r>
          </a:p>
          <a:p>
            <a:r>
              <a:rPr lang="en-US" dirty="0"/>
              <a:t>T(n) = ad + b</a:t>
            </a:r>
          </a:p>
          <a:p>
            <a:r>
              <a:rPr lang="en-US" dirty="0"/>
              <a:t>T(n) = </a:t>
            </a:r>
            <a:r>
              <a:rPr lang="en-GB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(d)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52</a:t>
            </a:fld>
            <a:endParaRPr 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2835" y="2562897"/>
            <a:ext cx="6790284" cy="129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1526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0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623</TotalTime>
  <Words>1981</Words>
  <Application>Microsoft Macintosh PowerPoint</Application>
  <PresentationFormat>On-screen Show (4:3)</PresentationFormat>
  <Paragraphs>1528</Paragraphs>
  <Slides>53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Times New Roman</vt:lpstr>
      <vt:lpstr>Office Theme</vt:lpstr>
      <vt:lpstr>PowerPoint Presentation</vt:lpstr>
      <vt:lpstr>Linear Time Sorting</vt:lpstr>
      <vt:lpstr>Linear Time Sorting </vt:lpstr>
      <vt:lpstr>Sorting Techniques</vt:lpstr>
      <vt:lpstr>Counting Sort</vt:lpstr>
      <vt:lpstr>Counting Sort</vt:lpstr>
      <vt:lpstr>PowerPoint Presentation</vt:lpstr>
      <vt:lpstr>Counting Sort</vt:lpstr>
      <vt:lpstr>Counting Sort</vt:lpstr>
      <vt:lpstr>Bucket Sort</vt:lpstr>
      <vt:lpstr>Bucket Sort</vt:lpstr>
      <vt:lpstr>Bucket sort</vt:lpstr>
      <vt:lpstr>Bucket Sort</vt:lpstr>
      <vt:lpstr>Bucket Sort</vt:lpstr>
      <vt:lpstr>Bucket Sort</vt:lpstr>
      <vt:lpstr>Bucket Sort</vt:lpstr>
      <vt:lpstr>Bucket Sort</vt:lpstr>
      <vt:lpstr>Bucket Sort</vt:lpstr>
      <vt:lpstr>Radix Sort</vt:lpstr>
      <vt:lpstr>RADIX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Radix Sort</vt:lpstr>
      <vt:lpstr>Radix Sort</vt:lpstr>
      <vt:lpstr>Radix Sort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Muhammad Umair</cp:lastModifiedBy>
  <cp:revision>162</cp:revision>
  <cp:lastPrinted>2021-02-16T08:42:33Z</cp:lastPrinted>
  <dcterms:created xsi:type="dcterms:W3CDTF">2018-06-20T09:11:51Z</dcterms:created>
  <dcterms:modified xsi:type="dcterms:W3CDTF">2026-04-30T08:42:29Z</dcterms:modified>
</cp:coreProperties>
</file>