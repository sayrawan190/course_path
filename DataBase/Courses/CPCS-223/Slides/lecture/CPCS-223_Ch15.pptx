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493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482" r:id="rId10"/>
    <p:sldId id="311" r:id="rId11"/>
    <p:sldId id="312" r:id="rId12"/>
    <p:sldId id="313" r:id="rId13"/>
    <p:sldId id="314" r:id="rId14"/>
    <p:sldId id="315" r:id="rId15"/>
    <p:sldId id="316" r:id="rId16"/>
    <p:sldId id="318" r:id="rId17"/>
    <p:sldId id="319" r:id="rId18"/>
    <p:sldId id="320" r:id="rId19"/>
    <p:sldId id="321" r:id="rId20"/>
    <p:sldId id="322" r:id="rId21"/>
    <p:sldId id="396" r:id="rId22"/>
    <p:sldId id="403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487" r:id="rId33"/>
    <p:sldId id="408" r:id="rId34"/>
    <p:sldId id="492" r:id="rId35"/>
    <p:sldId id="337" r:id="rId36"/>
    <p:sldId id="409" r:id="rId37"/>
    <p:sldId id="412" r:id="rId38"/>
    <p:sldId id="415" r:id="rId39"/>
    <p:sldId id="419" r:id="rId40"/>
    <p:sldId id="423" r:id="rId41"/>
    <p:sldId id="432" r:id="rId42"/>
    <p:sldId id="438" r:id="rId43"/>
    <p:sldId id="444" r:id="rId44"/>
    <p:sldId id="443" r:id="rId45"/>
    <p:sldId id="395" r:id="rId46"/>
    <p:sldId id="346" r:id="rId47"/>
    <p:sldId id="348" r:id="rId48"/>
    <p:sldId id="349" r:id="rId49"/>
    <p:sldId id="350" r:id="rId50"/>
    <p:sldId id="351" r:id="rId51"/>
    <p:sldId id="494" r:id="rId52"/>
    <p:sldId id="353" r:id="rId53"/>
    <p:sldId id="449" r:id="rId54"/>
    <p:sldId id="355" r:id="rId55"/>
    <p:sldId id="456" r:id="rId56"/>
    <p:sldId id="461" r:id="rId57"/>
    <p:sldId id="474" r:id="rId58"/>
    <p:sldId id="359" r:id="rId59"/>
    <p:sldId id="360" r:id="rId60"/>
    <p:sldId id="361" r:id="rId61"/>
    <p:sldId id="362" r:id="rId62"/>
    <p:sldId id="363" r:id="rId63"/>
    <p:sldId id="364" r:id="rId64"/>
    <p:sldId id="365" r:id="rId65"/>
    <p:sldId id="366" r:id="rId66"/>
    <p:sldId id="367" r:id="rId67"/>
    <p:sldId id="368" r:id="rId68"/>
    <p:sldId id="369" r:id="rId69"/>
    <p:sldId id="370" r:id="rId70"/>
    <p:sldId id="371" r:id="rId71"/>
    <p:sldId id="372" r:id="rId72"/>
    <p:sldId id="373" r:id="rId73"/>
    <p:sldId id="374" r:id="rId74"/>
    <p:sldId id="375" r:id="rId75"/>
    <p:sldId id="376" r:id="rId76"/>
    <p:sldId id="377" r:id="rId77"/>
    <p:sldId id="378" r:id="rId78"/>
    <p:sldId id="379" r:id="rId79"/>
    <p:sldId id="380" r:id="rId80"/>
    <p:sldId id="381" r:id="rId81"/>
    <p:sldId id="382" r:id="rId82"/>
    <p:sldId id="383" r:id="rId83"/>
    <p:sldId id="384" r:id="rId84"/>
    <p:sldId id="385" r:id="rId85"/>
    <p:sldId id="386" r:id="rId86"/>
    <p:sldId id="387" r:id="rId87"/>
    <p:sldId id="388" r:id="rId88"/>
    <p:sldId id="389" r:id="rId89"/>
    <p:sldId id="390" r:id="rId90"/>
    <p:sldId id="391" r:id="rId91"/>
    <p:sldId id="392" r:id="rId92"/>
    <p:sldId id="393" r:id="rId93"/>
    <p:sldId id="394" r:id="rId94"/>
    <p:sldId id="301" r:id="rId9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5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7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FE4BC-C852-4AB1-B7CD-E5830693D6B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9943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FE4BC-C852-4AB1-B7CD-E5830693D6B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827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4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442C23-8757-44F4-A482-BD9268166A1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4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074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7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0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37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83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28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80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FE4BC-C852-4AB1-B7CD-E5830693D6BC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016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11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5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46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6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98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87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56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4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53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79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443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F6002-6102-495E-A927-1AFF799EE5D5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29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5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8.png"/><Relationship Id="rId7" Type="http://schemas.openxmlformats.org/officeDocument/2006/relationships/image" Target="../media/image8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2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8.png"/><Relationship Id="rId7" Type="http://schemas.openxmlformats.org/officeDocument/2006/relationships/image" Target="../media/image8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3.png"/><Relationship Id="rId9" Type="http://schemas.openxmlformats.org/officeDocument/2006/relationships/image" Target="../media/image9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10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eg"/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eg"/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70.png"/><Relationship Id="rId7" Type="http://schemas.openxmlformats.org/officeDocument/2006/relationships/image" Target="../media/image174.pn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1.png"/><Relationship Id="rId7" Type="http://schemas.openxmlformats.org/officeDocument/2006/relationships/image" Target="../media/image179.pn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176.png"/><Relationship Id="rId4" Type="http://schemas.openxmlformats.org/officeDocument/2006/relationships/image" Target="../media/image17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9.jpeg"/><Relationship Id="rId4" Type="http://schemas.openxmlformats.org/officeDocument/2006/relationships/image" Target="../media/image182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jpeg"/><Relationship Id="rId4" Type="http://schemas.openxmlformats.org/officeDocument/2006/relationships/image" Target="../media/image159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jpeg"/><Relationship Id="rId4" Type="http://schemas.openxmlformats.org/officeDocument/2006/relationships/image" Target="../media/image159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jpeg"/><Relationship Id="rId4" Type="http://schemas.openxmlformats.org/officeDocument/2006/relationships/image" Target="../media/image159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6.jpeg"/><Relationship Id="rId4" Type="http://schemas.openxmlformats.org/officeDocument/2006/relationships/image" Target="../media/image159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jpeg"/><Relationship Id="rId4" Type="http://schemas.openxmlformats.org/officeDocument/2006/relationships/image" Target="../media/image159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jpeg"/><Relationship Id="rId4" Type="http://schemas.openxmlformats.org/officeDocument/2006/relationships/image" Target="../media/image159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jpeg"/><Relationship Id="rId4" Type="http://schemas.openxmlformats.org/officeDocument/2006/relationships/image" Target="../media/image159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jpeg"/><Relationship Id="rId4" Type="http://schemas.openxmlformats.org/officeDocument/2006/relationships/image" Target="../media/image159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jpeg"/><Relationship Id="rId4" Type="http://schemas.openxmlformats.org/officeDocument/2006/relationships/image" Target="../media/image159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0138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Transform and Conquer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Introduction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7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5855A-FEDB-4E6C-818E-A91371D708A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76644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 and Conquer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2347912"/>
            <a:ext cx="6248400" cy="3533775"/>
          </a:xfrm>
        </p:spPr>
        <p:txBody>
          <a:bodyPr>
            <a:normAutofit fontScale="85000" lnSpcReduction="20000"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This </a:t>
            </a:r>
            <a:r>
              <a:rPr lang="en-US" altLang="en-US" sz="2800" dirty="0" smtClean="0"/>
              <a:t>technique has first stage i.e. </a:t>
            </a:r>
            <a:r>
              <a:rPr lang="en-US" altLang="en-US" sz="2800" b="1" i="1" dirty="0" smtClean="0">
                <a:solidFill>
                  <a:srgbClr val="0000FF"/>
                </a:solidFill>
              </a:rPr>
              <a:t>transformation</a:t>
            </a:r>
            <a:r>
              <a:rPr lang="en-US" altLang="en-US" sz="2800" dirty="0" smtClean="0"/>
              <a:t> </a:t>
            </a:r>
            <a:r>
              <a:rPr lang="en-US" altLang="en-US" sz="2800" dirty="0"/>
              <a:t>to</a:t>
            </a:r>
            <a:r>
              <a:rPr lang="en-US" altLang="en-US" sz="2800" i="1" dirty="0"/>
              <a:t/>
            </a:r>
            <a:br>
              <a:rPr lang="en-US" altLang="en-US" sz="2800" i="1" dirty="0"/>
            </a:br>
            <a:endParaRPr lang="en-US" altLang="en-US" sz="2800" dirty="0"/>
          </a:p>
          <a:p>
            <a:pPr lvl="1"/>
            <a:r>
              <a:rPr lang="en-US" altLang="en-US" sz="2400" b="1" dirty="0"/>
              <a:t>a simpler/more convenient instance of the same  problem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instance simplification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representation of the same instance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representation change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problem for which an algorithm is already available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problem reduction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0809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5855A-FEDB-4E6C-818E-A91371D708A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76644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 and Conquer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6248400" cy="353377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This </a:t>
            </a:r>
            <a:r>
              <a:rPr lang="en-US" altLang="en-US" sz="2800" dirty="0" smtClean="0"/>
              <a:t>techniques has the second stage i.e. </a:t>
            </a:r>
            <a:r>
              <a:rPr lang="en-US" altLang="en-US" sz="2800" b="1" i="1" dirty="0" smtClean="0">
                <a:solidFill>
                  <a:srgbClr val="0000FF"/>
                </a:solidFill>
              </a:rPr>
              <a:t>conquer</a:t>
            </a:r>
          </a:p>
          <a:p>
            <a:pPr lvl="1"/>
            <a:r>
              <a:rPr lang="en-US" altLang="en-US" sz="2000" b="1" dirty="0" smtClean="0"/>
              <a:t>Provide the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 SOLUTION</a:t>
            </a:r>
            <a:r>
              <a:rPr lang="en-US" altLang="en-US" sz="2000" b="1" dirty="0" smtClean="0"/>
              <a:t> of the transformed instance of original problem</a:t>
            </a:r>
            <a:endParaRPr lang="en-US" altLang="en-US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400"/>
            <a:ext cx="885825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086224"/>
            <a:ext cx="514350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437" y="3720378"/>
            <a:ext cx="1285875" cy="257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786" y="3990975"/>
            <a:ext cx="1781175" cy="352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6998" y="4486275"/>
            <a:ext cx="2190750" cy="323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9491" y="4086224"/>
            <a:ext cx="466725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0722" y="4100511"/>
            <a:ext cx="6096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2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Instances Simplification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Transform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4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50C8-1C87-4664-B373-F48628941A8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b="1" dirty="0" smtClean="0">
                <a:solidFill>
                  <a:srgbClr val="00823B"/>
                </a:solidFill>
              </a:rPr>
              <a:t>Presorting</a:t>
            </a:r>
            <a:endParaRPr lang="en-US" altLang="en-US" b="1" dirty="0">
              <a:solidFill>
                <a:srgbClr val="00823B"/>
              </a:solidFill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95500"/>
            <a:ext cx="6781800" cy="41148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Solve a problem’s instance  by transforming it </a:t>
            </a:r>
            <a:r>
              <a:rPr lang="en-US" altLang="en-US" dirty="0" smtClean="0"/>
              <a:t>into another </a:t>
            </a:r>
            <a:r>
              <a:rPr lang="en-US" altLang="en-US" dirty="0"/>
              <a:t>simpler/easier instance of the same problem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dirty="0" smtClean="0">
                <a:solidFill>
                  <a:srgbClr val="0000FF"/>
                </a:solidFill>
              </a:rPr>
              <a:t>Sorting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any sorting algorithm – </a:t>
            </a:r>
            <a:r>
              <a:rPr lang="el-GR" altLang="en-US" dirty="0" smtClean="0"/>
              <a:t>Θ</a:t>
            </a:r>
            <a:r>
              <a:rPr lang="en-US" altLang="en-US" dirty="0" smtClean="0"/>
              <a:t>(n log n)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dirty="0" smtClean="0">
                <a:solidFill>
                  <a:srgbClr val="0000FF"/>
                </a:solidFill>
              </a:rPr>
              <a:t>Example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 smtClean="0"/>
              <a:t>Many </a:t>
            </a:r>
            <a:r>
              <a:rPr lang="en-US" altLang="en-US" dirty="0"/>
              <a:t>problems involving lists are easier when list is sorted, e.g.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checking if all elements  are distinct (element uniqueness)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computing the median (selection problem)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searching 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204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6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6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Element Uniqueness Problem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Presorting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19200"/>
            <a:ext cx="6629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Element Uniqueness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6248400" cy="3657600"/>
          </a:xfrm>
        </p:spPr>
        <p:txBody>
          <a:bodyPr/>
          <a:lstStyle/>
          <a:p>
            <a:r>
              <a:rPr lang="en-US" dirty="0" smtClean="0"/>
              <a:t>In a given array, find out either all elements are unique or not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Brute Force Approach</a:t>
            </a:r>
          </a:p>
          <a:p>
            <a:pPr lvl="1"/>
            <a:r>
              <a:rPr lang="en-US" dirty="0" smtClean="0"/>
              <a:t>Unsorted data</a:t>
            </a:r>
          </a:p>
          <a:p>
            <a:pPr lvl="1"/>
            <a:r>
              <a:rPr lang="en-US" dirty="0" smtClean="0"/>
              <a:t>Compare all values with each other</a:t>
            </a:r>
          </a:p>
          <a:p>
            <a:pPr lvl="1"/>
            <a:r>
              <a:rPr lang="en-US" dirty="0" smtClean="0"/>
              <a:t>Θ(n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19200"/>
            <a:ext cx="6629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00823B"/>
                </a:solidFill>
              </a:rPr>
              <a:t>Element Uniqueness Problem </a:t>
            </a:r>
            <a:r>
              <a:rPr lang="en-US" sz="2200" b="1" dirty="0" smtClean="0">
                <a:solidFill>
                  <a:srgbClr val="00823B"/>
                </a:solidFill>
              </a:rPr>
              <a:t>(Analysis)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659723" cy="287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36" y="2743200"/>
            <a:ext cx="97155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42" y="2724150"/>
            <a:ext cx="1000125" cy="419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837" y="2805112"/>
            <a:ext cx="266700" cy="2571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707" y="2747962"/>
            <a:ext cx="1028700" cy="390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061" y="3359550"/>
            <a:ext cx="276225" cy="266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8365" y="3295650"/>
            <a:ext cx="1314450" cy="3619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9644" y="3357562"/>
            <a:ext cx="238125" cy="2381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3314700"/>
            <a:ext cx="657225" cy="3429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061" y="3810000"/>
            <a:ext cx="276225" cy="266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864" y="3750075"/>
            <a:ext cx="13144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5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Computing a </a:t>
            </a:r>
            <a:r>
              <a:rPr lang="en-US" b="1" i="1" dirty="0" smtClean="0">
                <a:solidFill>
                  <a:srgbClr val="00823B"/>
                </a:solidFill>
                <a:latin typeface="Bodoni MT" panose="02070603080606020203" pitchFamily="18" charset="0"/>
              </a:rPr>
              <a:t>mode</a:t>
            </a:r>
            <a:endParaRPr lang="en-US" b="1" i="1" dirty="0">
              <a:solidFill>
                <a:srgbClr val="00823B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Presorting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3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Computing a </a:t>
            </a:r>
            <a:r>
              <a:rPr lang="en-US" b="1" i="1" dirty="0">
                <a:solidFill>
                  <a:srgbClr val="00823B"/>
                </a:solidFill>
                <a:latin typeface="Bodoni MT" panose="02070603080606020203" pitchFamily="18" charset="0"/>
              </a:rPr>
              <a:t>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i="1" dirty="0"/>
              <a:t>mode </a:t>
            </a:r>
            <a:r>
              <a:rPr lang="en-US" dirty="0"/>
              <a:t>is a value that occurs most often in </a:t>
            </a:r>
            <a:r>
              <a:rPr lang="en-US" dirty="0" smtClean="0"/>
              <a:t>a given </a:t>
            </a:r>
            <a:r>
              <a:rPr lang="en-US" dirty="0"/>
              <a:t>list of </a:t>
            </a:r>
            <a:r>
              <a:rPr lang="en-US" dirty="0" smtClean="0"/>
              <a:t>numbers</a:t>
            </a:r>
          </a:p>
          <a:p>
            <a:pPr algn="just"/>
            <a:r>
              <a:rPr lang="en-US" b="1" dirty="0" smtClean="0">
                <a:solidFill>
                  <a:srgbClr val="0000FF"/>
                </a:solidFill>
              </a:rPr>
              <a:t>Brute Force Approach</a:t>
            </a:r>
          </a:p>
          <a:p>
            <a:pPr lvl="1" algn="just"/>
            <a:r>
              <a:rPr lang="en-US" dirty="0" smtClean="0"/>
              <a:t>Unsorted data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6934200" cy="91663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502548"/>
            <a:ext cx="3006270" cy="732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463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19200"/>
            <a:ext cx="6629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Computing a </a:t>
            </a:r>
            <a:r>
              <a:rPr lang="en-US" sz="3200" b="1" i="1" dirty="0">
                <a:solidFill>
                  <a:srgbClr val="00823B"/>
                </a:solidFill>
                <a:latin typeface="Bodoni MT" panose="02070603080606020203" pitchFamily="18" charset="0"/>
              </a:rPr>
              <a:t>mode</a:t>
            </a:r>
            <a:r>
              <a:rPr lang="en-US" sz="3200" b="1" dirty="0" smtClean="0">
                <a:solidFill>
                  <a:srgbClr val="00823B"/>
                </a:solidFill>
              </a:rPr>
              <a:t> </a:t>
            </a:r>
            <a:r>
              <a:rPr lang="en-US" sz="2200" b="1" dirty="0" smtClean="0">
                <a:solidFill>
                  <a:srgbClr val="00823B"/>
                </a:solidFill>
              </a:rPr>
              <a:t>(Algorithm)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5000"/>
            <a:ext cx="5305425" cy="361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55" y="2266950"/>
            <a:ext cx="2028825" cy="342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64" y="2583873"/>
            <a:ext cx="790575" cy="3524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47" y="2936298"/>
            <a:ext cx="2676525" cy="342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47" y="3288723"/>
            <a:ext cx="2324100" cy="361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" y="3660198"/>
            <a:ext cx="4400550" cy="342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9045" y="4012623"/>
            <a:ext cx="7762875" cy="4000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4411807"/>
            <a:ext cx="3533775" cy="3429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6755" y="4750378"/>
            <a:ext cx="3971925" cy="3619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545" y="5153891"/>
            <a:ext cx="7191375" cy="285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6755" y="5450033"/>
            <a:ext cx="2362200" cy="3333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396" y="5793800"/>
            <a:ext cx="2295525" cy="266700"/>
          </a:xfrm>
          <a:prstGeom prst="rect">
            <a:avLst/>
          </a:prstGeom>
        </p:spPr>
      </p:pic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000" y="2417262"/>
            <a:ext cx="2974400" cy="690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5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19200"/>
            <a:ext cx="6629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Computing a </a:t>
            </a:r>
            <a:r>
              <a:rPr lang="en-US" sz="3200" b="1" i="1" dirty="0">
                <a:solidFill>
                  <a:srgbClr val="00823B"/>
                </a:solidFill>
                <a:latin typeface="Bodoni MT" panose="02070603080606020203" pitchFamily="18" charset="0"/>
              </a:rPr>
              <a:t>mode</a:t>
            </a:r>
            <a:r>
              <a:rPr lang="en-US" sz="3200" b="1" dirty="0" smtClean="0">
                <a:solidFill>
                  <a:srgbClr val="00823B"/>
                </a:solidFill>
              </a:rPr>
              <a:t> </a:t>
            </a:r>
            <a:r>
              <a:rPr lang="en-US" sz="2200" b="1" dirty="0" smtClean="0">
                <a:solidFill>
                  <a:srgbClr val="00823B"/>
                </a:solidFill>
              </a:rPr>
              <a:t>(Analysis)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0"/>
            <a:ext cx="5512565" cy="271698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847850"/>
            <a:ext cx="971550" cy="381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06" y="1828800"/>
            <a:ext cx="1000125" cy="419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701" y="1909762"/>
            <a:ext cx="266700" cy="2571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571" y="1852612"/>
            <a:ext cx="1028700" cy="3905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2464200"/>
            <a:ext cx="276225" cy="2667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229" y="2400300"/>
            <a:ext cx="1314450" cy="3619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5508" y="2462212"/>
            <a:ext cx="238125" cy="23812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0514" y="2419350"/>
            <a:ext cx="657225" cy="3429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2914650"/>
            <a:ext cx="276225" cy="2667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728" y="2854725"/>
            <a:ext cx="13144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2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Searching Problem</a:t>
            </a:r>
            <a:endParaRPr lang="en-US" b="1" i="1" dirty="0">
              <a:solidFill>
                <a:srgbClr val="00823B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Presorting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4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Searching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problem </a:t>
            </a:r>
            <a:r>
              <a:rPr lang="en-US" dirty="0" smtClean="0"/>
              <a:t>is </a:t>
            </a:r>
            <a:r>
              <a:rPr lang="en-US" dirty="0"/>
              <a:t>searching for a </a:t>
            </a:r>
            <a:r>
              <a:rPr lang="en-US" dirty="0" smtClean="0"/>
              <a:t>given value </a:t>
            </a:r>
            <a:r>
              <a:rPr lang="en-US" i="1" dirty="0"/>
              <a:t>v </a:t>
            </a:r>
            <a:r>
              <a:rPr lang="en-US" dirty="0"/>
              <a:t>in a given array of </a:t>
            </a:r>
            <a:r>
              <a:rPr lang="en-US" i="1" dirty="0" smtClean="0"/>
              <a:t>n </a:t>
            </a:r>
            <a:r>
              <a:rPr lang="en-US" dirty="0" smtClean="0"/>
              <a:t>items.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Brute Force Approach</a:t>
            </a:r>
          </a:p>
          <a:p>
            <a:pPr lvl="1" algn="just"/>
            <a:r>
              <a:rPr lang="en-US" dirty="0"/>
              <a:t>Sequential / Linear Search</a:t>
            </a:r>
          </a:p>
          <a:p>
            <a:pPr lvl="1" algn="just"/>
            <a:r>
              <a:rPr lang="en-US" dirty="0"/>
              <a:t>Θ(n)</a:t>
            </a:r>
          </a:p>
          <a:p>
            <a:pPr algn="just"/>
            <a:r>
              <a:rPr lang="en-US" b="1" dirty="0" smtClean="0">
                <a:solidFill>
                  <a:srgbClr val="0000FF"/>
                </a:solidFill>
              </a:rPr>
              <a:t>Transform and Conquer</a:t>
            </a:r>
          </a:p>
          <a:p>
            <a:pPr lvl="1" algn="just"/>
            <a:r>
              <a:rPr lang="en-US" dirty="0" smtClean="0"/>
              <a:t>Sort the data Θ(n log </a:t>
            </a:r>
            <a:r>
              <a:rPr lang="en-US" dirty="0"/>
              <a:t>n</a:t>
            </a:r>
            <a:r>
              <a:rPr lang="en-US" dirty="0" smtClean="0"/>
              <a:t>)</a:t>
            </a:r>
          </a:p>
          <a:p>
            <a:pPr lvl="1" algn="just"/>
            <a:r>
              <a:rPr lang="en-US" dirty="0" smtClean="0"/>
              <a:t>Binary Search Θ(log n)</a:t>
            </a:r>
          </a:p>
          <a:p>
            <a:pPr lvl="1" algn="just"/>
            <a:r>
              <a:rPr lang="en-US" dirty="0" smtClean="0"/>
              <a:t>T(n) = </a:t>
            </a:r>
            <a:r>
              <a:rPr lang="en-US" dirty="0"/>
              <a:t>Θ(n log n</a:t>
            </a:r>
            <a:r>
              <a:rPr lang="en-US" dirty="0" smtClean="0"/>
              <a:t>) + </a:t>
            </a:r>
            <a:r>
              <a:rPr lang="en-US" dirty="0"/>
              <a:t>Θ(log n</a:t>
            </a:r>
            <a:r>
              <a:rPr lang="en-US" dirty="0" smtClean="0"/>
              <a:t>) = </a:t>
            </a:r>
            <a:r>
              <a:rPr lang="en-US" dirty="0"/>
              <a:t>Θ(n log n) 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9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Gaussian Elimination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Instance Simplification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2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Elimination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b="1" dirty="0">
                <a:solidFill>
                  <a:srgbClr val="0000FF"/>
                </a:solidFill>
              </a:rPr>
              <a:t>Given:</a:t>
            </a:r>
            <a:r>
              <a:rPr lang="en-US" altLang="en-US" dirty="0"/>
              <a:t> A system of </a:t>
            </a:r>
            <a:r>
              <a:rPr lang="en-US" altLang="en-US" i="1" dirty="0"/>
              <a:t>n</a:t>
            </a:r>
            <a:r>
              <a:rPr lang="en-US" altLang="en-US" dirty="0"/>
              <a:t> linear equations in </a:t>
            </a:r>
            <a:r>
              <a:rPr lang="en-US" altLang="en-US" i="1" dirty="0"/>
              <a:t>n </a:t>
            </a:r>
            <a:r>
              <a:rPr lang="en-US" altLang="en-US" dirty="0"/>
              <a:t>unknowns with an arbitrary coefficient </a:t>
            </a:r>
            <a:r>
              <a:rPr lang="en-US" altLang="en-US" dirty="0" smtClean="0"/>
              <a:t>matrix.</a:t>
            </a:r>
          </a:p>
          <a:p>
            <a:r>
              <a:rPr lang="en-US" altLang="en-US" b="1" dirty="0" smtClean="0">
                <a:solidFill>
                  <a:srgbClr val="0000FF"/>
                </a:solidFill>
              </a:rPr>
              <a:t>Transform </a:t>
            </a:r>
            <a:r>
              <a:rPr lang="en-US" altLang="en-US" b="1" dirty="0">
                <a:solidFill>
                  <a:srgbClr val="0000FF"/>
                </a:solidFill>
              </a:rPr>
              <a:t>to: </a:t>
            </a:r>
            <a:r>
              <a:rPr lang="en-US" altLang="en-US" dirty="0"/>
              <a:t>An equivalent system of </a:t>
            </a:r>
            <a:r>
              <a:rPr lang="en-US" altLang="en-US" i="1" dirty="0"/>
              <a:t>n</a:t>
            </a:r>
            <a:r>
              <a:rPr lang="en-US" altLang="en-US" dirty="0"/>
              <a:t> linear equations in </a:t>
            </a:r>
            <a:r>
              <a:rPr lang="en-US" altLang="en-US" i="1" dirty="0"/>
              <a:t>n </a:t>
            </a:r>
            <a:r>
              <a:rPr lang="en-US" altLang="en-US" dirty="0"/>
              <a:t>unknowns with an upper triangular coefficient </a:t>
            </a:r>
            <a:r>
              <a:rPr lang="en-US" altLang="en-US" dirty="0" smtClean="0"/>
              <a:t>matrix.</a:t>
            </a:r>
          </a:p>
          <a:p>
            <a:r>
              <a:rPr lang="en-US" altLang="en-US" b="1" dirty="0" smtClean="0">
                <a:solidFill>
                  <a:srgbClr val="0000FF"/>
                </a:solidFill>
              </a:rPr>
              <a:t>Solve: </a:t>
            </a:r>
            <a:r>
              <a:rPr lang="en-US" altLang="en-US" dirty="0"/>
              <a:t>the latter by substitutions starting with the last equation  and moving up to the first one.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3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Elimination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800" y="2057400"/>
            <a:ext cx="2667000" cy="99471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874" y="3733800"/>
            <a:ext cx="4636851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Elimination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91145"/>
            <a:ext cx="3143250" cy="1352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24545"/>
            <a:ext cx="438150" cy="285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91145"/>
            <a:ext cx="3048000" cy="1343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243695"/>
            <a:ext cx="1876425" cy="2857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962" y="3529445"/>
            <a:ext cx="2390775" cy="3143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3843770"/>
            <a:ext cx="704850" cy="2190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91" y="4062845"/>
            <a:ext cx="3733800" cy="1266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5948" y="4080596"/>
            <a:ext cx="37338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Elimination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0"/>
            <a:ext cx="2247900" cy="333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18" y="2409825"/>
            <a:ext cx="4295775" cy="361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2924175"/>
            <a:ext cx="4914900" cy="323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00425"/>
            <a:ext cx="76866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9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31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(Example)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1905000"/>
            <a:ext cx="1790700" cy="971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171825"/>
            <a:ext cx="2105025" cy="942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061" y="3790950"/>
            <a:ext cx="1552575" cy="323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4267200"/>
            <a:ext cx="2038350" cy="9239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337" y="4636942"/>
            <a:ext cx="1647825" cy="257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336" y="4894117"/>
            <a:ext cx="1647825" cy="361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3061" y="3486149"/>
            <a:ext cx="1590675" cy="3143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3736" y="4351192"/>
            <a:ext cx="2019300" cy="9048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6247" y="4903642"/>
            <a:ext cx="15621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4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31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(Example)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57400"/>
            <a:ext cx="2019300" cy="9048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911" y="2609850"/>
            <a:ext cx="1562100" cy="352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238500"/>
            <a:ext cx="2038350" cy="87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2100262"/>
            <a:ext cx="5191125" cy="314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636693"/>
            <a:ext cx="1685925" cy="266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2987386"/>
            <a:ext cx="2257425" cy="276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9516" y="3313833"/>
            <a:ext cx="26479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9200"/>
            <a:ext cx="62484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27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(Algorithm)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28800"/>
            <a:ext cx="5457825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7" y="2205037"/>
            <a:ext cx="3343275" cy="314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82" y="2583872"/>
            <a:ext cx="1990725" cy="2857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34132"/>
            <a:ext cx="2028825" cy="257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42" y="3235035"/>
            <a:ext cx="1990725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326" y="3606077"/>
            <a:ext cx="4133850" cy="361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48" y="4197491"/>
            <a:ext cx="3590925" cy="3143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544" y="4741280"/>
            <a:ext cx="2182682" cy="55461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2400" y="4855794"/>
            <a:ext cx="618339" cy="39637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1664" y="4855794"/>
            <a:ext cx="2253471" cy="36216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0882" y="5440504"/>
            <a:ext cx="2595150" cy="3506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2279196"/>
            <a:ext cx="17907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7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9200"/>
            <a:ext cx="62484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27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(Algorithm)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828800"/>
            <a:ext cx="605790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199409"/>
            <a:ext cx="50101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7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9200"/>
            <a:ext cx="62484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27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(Analysis)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828800"/>
            <a:ext cx="605790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199409"/>
            <a:ext cx="5010150" cy="3181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43991"/>
            <a:ext cx="2133600" cy="819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963141"/>
            <a:ext cx="2447925" cy="74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3753716"/>
            <a:ext cx="2095500" cy="714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4525241"/>
            <a:ext cx="31146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3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9200"/>
            <a:ext cx="62484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27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(Analysis)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828800"/>
            <a:ext cx="605790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199409"/>
            <a:ext cx="5010150" cy="3181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00300"/>
            <a:ext cx="733425" cy="438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209800"/>
            <a:ext cx="3114675" cy="781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990850"/>
            <a:ext cx="2209800" cy="7334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2575" y="3733800"/>
            <a:ext cx="3781425" cy="3238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525" y="4014355"/>
            <a:ext cx="1381125" cy="7810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0284" y="4776354"/>
            <a:ext cx="16573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0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9200"/>
            <a:ext cx="62484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00823B"/>
                </a:solidFill>
                <a:cs typeface="Times New Roman" panose="02020603050405020304" pitchFamily="18" charset="0"/>
              </a:rPr>
              <a:t>Gaussian </a:t>
            </a:r>
            <a:r>
              <a:rPr lang="en-US" altLang="en-US" b="1" dirty="0" smtClean="0">
                <a:solidFill>
                  <a:srgbClr val="00823B"/>
                </a:solidFill>
                <a:cs typeface="Times New Roman" panose="02020603050405020304" pitchFamily="18" charset="0"/>
              </a:rPr>
              <a:t>Elimination </a:t>
            </a:r>
            <a:r>
              <a:rPr lang="en-US" altLang="en-US" sz="27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(Analysis)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828800"/>
            <a:ext cx="605790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199409"/>
            <a:ext cx="5010150" cy="3181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00300"/>
            <a:ext cx="733425" cy="4381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2214562"/>
            <a:ext cx="1657350" cy="809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905" y="3105149"/>
            <a:ext cx="3009900" cy="533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050" y="3810000"/>
            <a:ext cx="1866900" cy="581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050" y="4424362"/>
            <a:ext cx="657225" cy="638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4562476"/>
            <a:ext cx="762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5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i="1" dirty="0" smtClean="0">
                <a:solidFill>
                  <a:srgbClr val="00823B"/>
                </a:solidFill>
              </a:rPr>
              <a:t>LU</a:t>
            </a:r>
            <a:r>
              <a:rPr lang="en-US" b="1" dirty="0" smtClean="0">
                <a:solidFill>
                  <a:srgbClr val="00823B"/>
                </a:solidFill>
              </a:rPr>
              <a:t> Decomposition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Instance Simplification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Students’ Exercise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1" dirty="0">
                <a:solidFill>
                  <a:srgbClr val="00823B"/>
                </a:solidFill>
              </a:rPr>
              <a:t>LU</a:t>
            </a:r>
            <a:r>
              <a:rPr lang="en-US" b="1" dirty="0">
                <a:solidFill>
                  <a:srgbClr val="00823B"/>
                </a:solidFill>
              </a:rPr>
              <a:t> Decomposition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1905000"/>
            <a:ext cx="2047875" cy="95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2922010"/>
            <a:ext cx="1704975" cy="971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61" y="2962275"/>
            <a:ext cx="2009775" cy="8667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687" y="4267200"/>
            <a:ext cx="657225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900487"/>
            <a:ext cx="2762250" cy="1000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4911" y="5038725"/>
            <a:ext cx="56673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5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1" dirty="0">
                <a:solidFill>
                  <a:srgbClr val="00823B"/>
                </a:solidFill>
              </a:rPr>
              <a:t>LU</a:t>
            </a:r>
            <a:r>
              <a:rPr lang="en-US" b="1" dirty="0">
                <a:solidFill>
                  <a:srgbClr val="00823B"/>
                </a:solidFill>
              </a:rPr>
              <a:t> Decomposition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1905000"/>
            <a:ext cx="2047875" cy="95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2922010"/>
            <a:ext cx="1704975" cy="971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61" y="2962275"/>
            <a:ext cx="2009775" cy="866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323" y="4419600"/>
            <a:ext cx="733425" cy="333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4998" y="4119995"/>
            <a:ext cx="3181350" cy="9429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4" y="5224895"/>
            <a:ext cx="70294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2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i="1" dirty="0" smtClean="0">
                <a:solidFill>
                  <a:srgbClr val="00823B"/>
                </a:solidFill>
              </a:rPr>
              <a:t>Balanced Search Tree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Instance Simplification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rgbClr val="00823B"/>
                </a:solidFill>
              </a:rPr>
              <a:t>Adelson-</a:t>
            </a:r>
            <a:r>
              <a:rPr lang="en-US" b="1" i="1" dirty="0" err="1" smtClean="0">
                <a:solidFill>
                  <a:srgbClr val="00823B"/>
                </a:solidFill>
              </a:rPr>
              <a:t>Velsky</a:t>
            </a:r>
            <a:r>
              <a:rPr lang="en-US" b="1" i="1" dirty="0" smtClean="0">
                <a:solidFill>
                  <a:srgbClr val="00823B"/>
                </a:solidFill>
              </a:rPr>
              <a:t> and Landis</a:t>
            </a:r>
            <a:br>
              <a:rPr lang="en-US" b="1" i="1" dirty="0" smtClean="0">
                <a:solidFill>
                  <a:srgbClr val="00823B"/>
                </a:solidFill>
              </a:rPr>
            </a:br>
            <a:r>
              <a:rPr lang="en-US" b="1" i="1" dirty="0" smtClean="0">
                <a:solidFill>
                  <a:srgbClr val="00823B"/>
                </a:solidFill>
              </a:rPr>
              <a:t>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2800" dirty="0" smtClean="0"/>
              <a:t>Binary Search Tree</a:t>
            </a:r>
          </a:p>
          <a:p>
            <a:pPr algn="just"/>
            <a:r>
              <a:rPr lang="en-US" sz="2800" dirty="0" smtClean="0"/>
              <a:t>It requires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0000FF"/>
                </a:solidFill>
              </a:rPr>
              <a:t>absolute </a:t>
            </a:r>
            <a:r>
              <a:rPr lang="en-US" sz="2800" b="1" dirty="0" smtClean="0">
                <a:solidFill>
                  <a:srgbClr val="0000FF"/>
                </a:solidFill>
              </a:rPr>
              <a:t>difference</a:t>
            </a:r>
            <a:r>
              <a:rPr lang="en-US" sz="2800" dirty="0" smtClean="0"/>
              <a:t> between the </a:t>
            </a:r>
            <a:r>
              <a:rPr lang="en-US" sz="2800" b="1" dirty="0">
                <a:solidFill>
                  <a:srgbClr val="0000FF"/>
                </a:solidFill>
              </a:rPr>
              <a:t>heights</a:t>
            </a:r>
            <a:r>
              <a:rPr lang="en-US" sz="2800" dirty="0"/>
              <a:t> of the left and right subtrees of every node </a:t>
            </a:r>
            <a:r>
              <a:rPr lang="en-US" sz="2800" b="1" dirty="0">
                <a:solidFill>
                  <a:srgbClr val="0000FF"/>
                </a:solidFill>
              </a:rPr>
              <a:t>never exceed </a:t>
            </a:r>
            <a:r>
              <a:rPr lang="en-US" sz="2800" b="1" dirty="0" smtClean="0">
                <a:solidFill>
                  <a:srgbClr val="0000FF"/>
                </a:solidFill>
              </a:rPr>
              <a:t>1</a:t>
            </a:r>
          </a:p>
          <a:p>
            <a:pPr algn="just"/>
            <a:r>
              <a:rPr lang="en-US" sz="2800" dirty="0"/>
              <a:t>Difference is known as </a:t>
            </a:r>
            <a:r>
              <a:rPr lang="en-US" sz="2800" b="1" dirty="0">
                <a:solidFill>
                  <a:srgbClr val="0000FF"/>
                </a:solidFill>
              </a:rPr>
              <a:t>Balance </a:t>
            </a:r>
            <a:r>
              <a:rPr lang="en-US" sz="2800" b="1" dirty="0" smtClean="0">
                <a:solidFill>
                  <a:srgbClr val="0000FF"/>
                </a:solidFill>
              </a:rPr>
              <a:t>factor </a:t>
            </a:r>
            <a:r>
              <a:rPr lang="en-US" sz="2800" b="1" dirty="0" smtClean="0">
                <a:solidFill>
                  <a:srgbClr val="FF0000"/>
                </a:solidFill>
              </a:rPr>
              <a:t>(+1, 0, -1)</a:t>
            </a:r>
            <a:endParaRPr lang="en-US" sz="2800" b="1" dirty="0">
              <a:solidFill>
                <a:srgbClr val="FF0000"/>
              </a:solidFill>
            </a:endParaRPr>
          </a:p>
          <a:p>
            <a:pPr algn="just"/>
            <a:r>
              <a:rPr lang="en-US" sz="2800" b="1" dirty="0" smtClean="0">
                <a:solidFill>
                  <a:srgbClr val="0000FF"/>
                </a:solidFill>
              </a:rPr>
              <a:t>Empty</a:t>
            </a:r>
            <a:r>
              <a:rPr lang="en-US" sz="2800" dirty="0" smtClean="0"/>
              <a:t> tree height is </a:t>
            </a:r>
            <a:r>
              <a:rPr lang="en-US" sz="2800" b="1" dirty="0" smtClean="0">
                <a:solidFill>
                  <a:srgbClr val="0000FF"/>
                </a:solidFill>
              </a:rPr>
              <a:t>-1</a:t>
            </a:r>
          </a:p>
          <a:p>
            <a:pPr algn="just"/>
            <a:r>
              <a:rPr lang="en-US" sz="2800" b="1" dirty="0" smtClean="0">
                <a:solidFill>
                  <a:srgbClr val="0000FF"/>
                </a:solidFill>
              </a:rPr>
              <a:t>One node </a:t>
            </a:r>
            <a:r>
              <a:rPr lang="en-US" sz="2800" dirty="0" smtClean="0"/>
              <a:t>tree height is </a:t>
            </a:r>
            <a:r>
              <a:rPr lang="en-US" sz="2800" b="1" dirty="0" smtClean="0">
                <a:solidFill>
                  <a:srgbClr val="0000FF"/>
                </a:solidFill>
              </a:rPr>
              <a:t>0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5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rgbClr val="00823B"/>
                </a:solidFill>
              </a:rPr>
              <a:t>Adelson-</a:t>
            </a:r>
            <a:r>
              <a:rPr lang="en-US" b="1" i="1" dirty="0" err="1" smtClean="0">
                <a:solidFill>
                  <a:srgbClr val="00823B"/>
                </a:solidFill>
              </a:rPr>
              <a:t>Velsky</a:t>
            </a:r>
            <a:r>
              <a:rPr lang="en-US" b="1" i="1" dirty="0" smtClean="0">
                <a:solidFill>
                  <a:srgbClr val="00823B"/>
                </a:solidFill>
              </a:rPr>
              <a:t> and Landis</a:t>
            </a:r>
            <a:br>
              <a:rPr lang="en-US" b="1" i="1" dirty="0" smtClean="0">
                <a:solidFill>
                  <a:srgbClr val="00823B"/>
                </a:solidFill>
              </a:rPr>
            </a:br>
            <a:r>
              <a:rPr lang="en-US" b="1" i="1" dirty="0" smtClean="0">
                <a:solidFill>
                  <a:srgbClr val="00823B"/>
                </a:solidFill>
              </a:rPr>
              <a:t>AVL 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3409950" cy="2647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667000"/>
            <a:ext cx="31908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7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1" dirty="0">
                <a:solidFill>
                  <a:srgbClr val="00823B"/>
                </a:solidFill>
              </a:rPr>
              <a:t>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pPr algn="just"/>
            <a:r>
              <a:rPr lang="en-US" dirty="0" smtClean="0"/>
              <a:t>At any time insertion </a:t>
            </a:r>
            <a:r>
              <a:rPr lang="en-US" dirty="0"/>
              <a:t>of a new node makes an AVL tree </a:t>
            </a:r>
            <a:r>
              <a:rPr lang="en-US" b="1" dirty="0" smtClean="0">
                <a:solidFill>
                  <a:srgbClr val="0000FF"/>
                </a:solidFill>
              </a:rPr>
              <a:t>unbalanced </a:t>
            </a:r>
            <a:r>
              <a:rPr lang="en-US" sz="2800" b="1" dirty="0" smtClean="0">
                <a:solidFill>
                  <a:srgbClr val="FF0000"/>
                </a:solidFill>
              </a:rPr>
              <a:t>(Balance Factor +2, -2)</a:t>
            </a:r>
          </a:p>
          <a:p>
            <a:pPr algn="just"/>
            <a:r>
              <a:rPr lang="en-US" dirty="0" smtClean="0"/>
              <a:t>Solution – </a:t>
            </a:r>
            <a:r>
              <a:rPr lang="en-US" b="1" dirty="0" smtClean="0">
                <a:solidFill>
                  <a:srgbClr val="0000FF"/>
                </a:solidFill>
              </a:rPr>
              <a:t>Rotation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Closest unbalanced </a:t>
            </a:r>
            <a:r>
              <a:rPr lang="en-US" dirty="0"/>
              <a:t>node of the </a:t>
            </a:r>
            <a:r>
              <a:rPr lang="en-US" b="1" dirty="0">
                <a:solidFill>
                  <a:srgbClr val="00823B"/>
                </a:solidFill>
              </a:rPr>
              <a:t>newly inserted </a:t>
            </a:r>
            <a:r>
              <a:rPr lang="en-US" dirty="0"/>
              <a:t>node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1" dirty="0">
                <a:solidFill>
                  <a:srgbClr val="00823B"/>
                </a:solidFill>
              </a:rPr>
              <a:t>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pPr algn="just"/>
            <a:r>
              <a:rPr lang="en-US" dirty="0" smtClean="0"/>
              <a:t>Rotation Types</a:t>
            </a:r>
          </a:p>
          <a:p>
            <a:pPr lvl="1" algn="just"/>
            <a:r>
              <a:rPr lang="en-US" dirty="0" smtClean="0"/>
              <a:t>Single </a:t>
            </a:r>
            <a:r>
              <a:rPr lang="en-US" dirty="0"/>
              <a:t>right rotation, or </a:t>
            </a:r>
            <a:r>
              <a:rPr lang="en-US" b="1" dirty="0" smtClean="0">
                <a:solidFill>
                  <a:srgbClr val="0000FF"/>
                </a:solidFill>
              </a:rPr>
              <a:t>R-rotation</a:t>
            </a:r>
          </a:p>
          <a:p>
            <a:pPr lvl="1" algn="just"/>
            <a:r>
              <a:rPr lang="en-US" dirty="0"/>
              <a:t>S</a:t>
            </a:r>
            <a:r>
              <a:rPr lang="en-US" dirty="0" smtClean="0"/>
              <a:t>ingle </a:t>
            </a:r>
            <a:r>
              <a:rPr lang="en-US" dirty="0"/>
              <a:t>left rotation, or </a:t>
            </a:r>
            <a:r>
              <a:rPr lang="en-US" b="1" dirty="0" smtClean="0">
                <a:solidFill>
                  <a:srgbClr val="0000FF"/>
                </a:solidFill>
              </a:rPr>
              <a:t>L-rotation</a:t>
            </a:r>
          </a:p>
          <a:p>
            <a:pPr lvl="1" algn="just"/>
            <a:r>
              <a:rPr lang="en-US" dirty="0"/>
              <a:t>double left-right </a:t>
            </a:r>
            <a:r>
              <a:rPr lang="en-US" dirty="0" smtClean="0"/>
              <a:t>rotation or  </a:t>
            </a:r>
            <a:r>
              <a:rPr lang="en-US" b="1" dirty="0" smtClean="0">
                <a:solidFill>
                  <a:srgbClr val="0000FF"/>
                </a:solidFill>
              </a:rPr>
              <a:t>LR-rotation</a:t>
            </a:r>
          </a:p>
          <a:p>
            <a:pPr lvl="1" algn="just"/>
            <a:r>
              <a:rPr lang="en-US" dirty="0"/>
              <a:t>double </a:t>
            </a:r>
            <a:r>
              <a:rPr lang="en-US" dirty="0" smtClean="0"/>
              <a:t>right-left </a:t>
            </a:r>
            <a:r>
              <a:rPr lang="en-US" dirty="0"/>
              <a:t>rotation or  </a:t>
            </a:r>
            <a:r>
              <a:rPr lang="en-US" b="1" dirty="0" smtClean="0">
                <a:solidFill>
                  <a:srgbClr val="0000FF"/>
                </a:solidFill>
              </a:rPr>
              <a:t>RL-rotation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629400" cy="5334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Single right rotation, or R-rotation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 smtClean="0"/>
              <a:t>Rotating </a:t>
            </a:r>
            <a:r>
              <a:rPr lang="en-US" dirty="0"/>
              <a:t>the edge connecting the root and its left child in the binary tree </a:t>
            </a:r>
            <a:r>
              <a:rPr lang="en-US" dirty="0" smtClean="0"/>
              <a:t>in to </a:t>
            </a:r>
            <a:r>
              <a:rPr lang="en-US" dirty="0"/>
              <a:t>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05200"/>
            <a:ext cx="1304925" cy="1619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045527"/>
            <a:ext cx="742950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3774064"/>
            <a:ext cx="12763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2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629400" cy="5334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Single left rotation, or L-rotation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 smtClean="0"/>
              <a:t>It is </a:t>
            </a:r>
            <a:r>
              <a:rPr lang="en-US" dirty="0"/>
              <a:t>the mirror image of </a:t>
            </a:r>
            <a:r>
              <a:rPr lang="en-US" dirty="0" smtClean="0"/>
              <a:t>the single </a:t>
            </a:r>
            <a:r>
              <a:rPr lang="en-US" i="1" dirty="0"/>
              <a:t>R</a:t>
            </a:r>
            <a:r>
              <a:rPr lang="en-US" dirty="0"/>
              <a:t>-rotation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67062"/>
            <a:ext cx="1371600" cy="1590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757611"/>
            <a:ext cx="619125" cy="409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3443285"/>
            <a:ext cx="12858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1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629400" cy="53340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00823B"/>
                </a:solidFill>
              </a:rPr>
              <a:t>double left-right rotation or  LR-rotation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combination of two </a:t>
            </a:r>
            <a:r>
              <a:rPr lang="en-US" dirty="0" smtClean="0"/>
              <a:t>rotations:</a:t>
            </a:r>
          </a:p>
          <a:p>
            <a:pPr lvl="1" algn="just"/>
            <a:r>
              <a:rPr lang="en-US" sz="2400" b="1" i="1" dirty="0" smtClean="0">
                <a:solidFill>
                  <a:srgbClr val="0000FF"/>
                </a:solidFill>
              </a:rPr>
              <a:t>L-</a:t>
            </a:r>
            <a:r>
              <a:rPr lang="en-US" sz="2400" b="1" dirty="0" smtClean="0">
                <a:solidFill>
                  <a:srgbClr val="0000FF"/>
                </a:solidFill>
              </a:rPr>
              <a:t>rotation</a:t>
            </a:r>
            <a:r>
              <a:rPr lang="en-US" sz="2400" dirty="0" smtClean="0"/>
              <a:t> of </a:t>
            </a:r>
            <a:r>
              <a:rPr lang="en-US" sz="2400" dirty="0"/>
              <a:t>the left subtree of root </a:t>
            </a:r>
            <a:r>
              <a:rPr lang="en-US" sz="2400" i="1" dirty="0" smtClean="0"/>
              <a:t>r</a:t>
            </a:r>
          </a:p>
          <a:p>
            <a:pPr lvl="1" algn="just"/>
            <a:r>
              <a:rPr lang="en-US" sz="2400" dirty="0" smtClean="0"/>
              <a:t>followed </a:t>
            </a:r>
            <a:r>
              <a:rPr lang="en-US" sz="2400" dirty="0"/>
              <a:t>by the </a:t>
            </a:r>
            <a:r>
              <a:rPr lang="en-US" sz="2400" b="1" i="1" dirty="0">
                <a:solidFill>
                  <a:srgbClr val="0000FF"/>
                </a:solidFill>
              </a:rPr>
              <a:t>R-</a:t>
            </a:r>
            <a:r>
              <a:rPr lang="en-US" sz="2400" b="1" dirty="0">
                <a:solidFill>
                  <a:srgbClr val="0000FF"/>
                </a:solidFill>
              </a:rPr>
              <a:t>rotation</a:t>
            </a:r>
            <a:r>
              <a:rPr lang="en-US" sz="2400" dirty="0"/>
              <a:t> of the new tree rooted </a:t>
            </a:r>
            <a:r>
              <a:rPr lang="en-US" sz="2400" dirty="0" smtClean="0"/>
              <a:t>at </a:t>
            </a:r>
            <a:r>
              <a:rPr lang="en-US" sz="2400" i="1" dirty="0" smtClean="0"/>
              <a:t>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581400"/>
            <a:ext cx="923925" cy="1619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993" y="4171950"/>
            <a:ext cx="695325" cy="438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09" y="3843337"/>
            <a:ext cx="1257300" cy="1095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4609234"/>
            <a:ext cx="1304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2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629400" cy="53340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00823B"/>
                </a:solidFill>
              </a:rPr>
              <a:t>double </a:t>
            </a:r>
            <a:r>
              <a:rPr lang="en-US" sz="2800" b="1" dirty="0" smtClean="0">
                <a:solidFill>
                  <a:srgbClr val="00823B"/>
                </a:solidFill>
              </a:rPr>
              <a:t>right-left </a:t>
            </a:r>
            <a:r>
              <a:rPr lang="en-US" sz="2800" b="1" dirty="0">
                <a:solidFill>
                  <a:srgbClr val="00823B"/>
                </a:solidFill>
              </a:rPr>
              <a:t>rotation or  </a:t>
            </a:r>
            <a:r>
              <a:rPr lang="en-US" sz="2800" b="1" dirty="0" smtClean="0">
                <a:solidFill>
                  <a:srgbClr val="00823B"/>
                </a:solidFill>
              </a:rPr>
              <a:t>RL-rotation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pPr algn="just"/>
            <a:r>
              <a:rPr lang="en-US" dirty="0" smtClean="0"/>
              <a:t>It is </a:t>
            </a:r>
            <a:r>
              <a:rPr lang="en-US" dirty="0"/>
              <a:t>the mirror image of the </a:t>
            </a:r>
            <a:r>
              <a:rPr lang="en-US" dirty="0" smtClean="0"/>
              <a:t>double </a:t>
            </a:r>
            <a:r>
              <a:rPr lang="en-US" i="1" dirty="0" smtClean="0"/>
              <a:t>LR</a:t>
            </a:r>
            <a:r>
              <a:rPr lang="en-US" dirty="0" smtClean="0"/>
              <a:t>-rotation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152342"/>
            <a:ext cx="1085850" cy="1647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25" y="3767137"/>
            <a:ext cx="666750" cy="390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2" y="3433761"/>
            <a:ext cx="1162050" cy="1057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157662"/>
            <a:ext cx="13716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AVL Example: </a:t>
            </a:r>
            <a:r>
              <a:rPr lang="en-US" sz="4000" dirty="0">
                <a:solidFill>
                  <a:srgbClr val="0000FF"/>
                </a:solidFill>
              </a:rPr>
              <a:t>5, 6, 8, 3, 2, 4, 7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2609850"/>
            <a:ext cx="485775" cy="59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5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80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,6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609850"/>
            <a:ext cx="885825" cy="99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57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,8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609850"/>
            <a:ext cx="1095375" cy="150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3133725"/>
            <a:ext cx="685800" cy="457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550" y="2591666"/>
            <a:ext cx="12763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2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AVL Example: </a:t>
            </a:r>
            <a:r>
              <a:rPr lang="en-US" sz="4000" dirty="0">
                <a:solidFill>
                  <a:srgbClr val="0000FF"/>
                </a:solidFill>
              </a:rPr>
              <a:t>5, 6, 8, 3, 2, 4, 7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5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80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,6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57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,8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2636698"/>
            <a:ext cx="1276350" cy="1019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323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,3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88" y="2636698"/>
            <a:ext cx="1485900" cy="1295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19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636698"/>
            <a:ext cx="1809750" cy="17716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255823"/>
            <a:ext cx="647700" cy="533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475" y="2636698"/>
            <a:ext cx="15335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3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AVL Example: </a:t>
            </a:r>
            <a:r>
              <a:rPr lang="en-US" sz="4000" dirty="0">
                <a:solidFill>
                  <a:srgbClr val="0000FF"/>
                </a:solidFill>
              </a:rPr>
              <a:t>5, 6, 8, 3, 2, 4, 7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5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80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,6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57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,8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23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,3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19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2" y="2536686"/>
            <a:ext cx="1533525" cy="1362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48507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,4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2667000"/>
            <a:ext cx="1457325" cy="179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615" y="3328987"/>
            <a:ext cx="657225" cy="4667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766" y="2886074"/>
            <a:ext cx="1771650" cy="1352550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3886200"/>
            <a:ext cx="17049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974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AVL Example: </a:t>
            </a:r>
            <a:r>
              <a:rPr lang="en-US" sz="4000" dirty="0">
                <a:solidFill>
                  <a:srgbClr val="0000FF"/>
                </a:solidFill>
              </a:rPr>
              <a:t>5, 6, 8, 3, 2, 4, 7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5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80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,6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57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,8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23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,3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19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48507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,4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4" y="2724150"/>
            <a:ext cx="1771650" cy="1352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69796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,7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781" y="2780872"/>
            <a:ext cx="1790700" cy="1838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09974"/>
            <a:ext cx="666750" cy="4667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934" y="3167061"/>
            <a:ext cx="2095500" cy="135255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619625"/>
            <a:ext cx="20574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14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AVL Example: </a:t>
            </a:r>
            <a:r>
              <a:rPr lang="en-US" sz="4000" dirty="0">
                <a:solidFill>
                  <a:srgbClr val="0000FF"/>
                </a:solidFill>
              </a:rPr>
              <a:t>5, 6, 8, 3, 2, 4, 7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5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80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,6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5769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,8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23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,3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1938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48507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,4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4" y="2724150"/>
            <a:ext cx="1771650" cy="1352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69796" y="18288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</a:rPr>
              <a:t>,7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781" y="2780872"/>
            <a:ext cx="1790700" cy="1838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09974"/>
            <a:ext cx="666750" cy="4667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934" y="3167061"/>
            <a:ext cx="2095500" cy="1352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63869" y="4800600"/>
            <a:ext cx="4155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6000" b="1" dirty="0" smtClean="0">
                <a:solidFill>
                  <a:srgbClr val="00823B"/>
                </a:solidFill>
              </a:rPr>
              <a:t>Θ</a:t>
            </a:r>
            <a:r>
              <a:rPr lang="en-US" sz="6000" b="1" dirty="0" smtClean="0">
                <a:solidFill>
                  <a:srgbClr val="00823B"/>
                </a:solidFill>
              </a:rPr>
              <a:t>( log</a:t>
            </a:r>
            <a:r>
              <a:rPr lang="en-US" sz="6000" b="1" baseline="-25000" dirty="0" smtClean="0">
                <a:solidFill>
                  <a:srgbClr val="00823B"/>
                </a:solidFill>
              </a:rPr>
              <a:t>2</a:t>
            </a:r>
            <a:r>
              <a:rPr lang="en-US" sz="6000" b="1" dirty="0" smtClean="0">
                <a:solidFill>
                  <a:srgbClr val="00823B"/>
                </a:solidFill>
              </a:rPr>
              <a:t> n)</a:t>
            </a:r>
            <a:endParaRPr lang="en-US" sz="60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31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Representation Change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Transform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5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5855A-FEDB-4E6C-818E-A91371D708A5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76644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 and Conquer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2347912"/>
            <a:ext cx="6248400" cy="3533775"/>
          </a:xfrm>
        </p:spPr>
        <p:txBody>
          <a:bodyPr>
            <a:normAutofit fontScale="85000" lnSpcReduction="20000"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This </a:t>
            </a:r>
            <a:r>
              <a:rPr lang="en-US" altLang="en-US" sz="2800" dirty="0" smtClean="0"/>
              <a:t>technique has first stage i.e. </a:t>
            </a:r>
            <a:r>
              <a:rPr lang="en-US" altLang="en-US" sz="2800" b="1" i="1" dirty="0" smtClean="0">
                <a:solidFill>
                  <a:srgbClr val="0000FF"/>
                </a:solidFill>
              </a:rPr>
              <a:t>transformation</a:t>
            </a:r>
            <a:r>
              <a:rPr lang="en-US" altLang="en-US" sz="2800" dirty="0" smtClean="0"/>
              <a:t> </a:t>
            </a:r>
            <a:r>
              <a:rPr lang="en-US" altLang="en-US" sz="2800" dirty="0"/>
              <a:t>to</a:t>
            </a:r>
            <a:r>
              <a:rPr lang="en-US" altLang="en-US" sz="2800" i="1" dirty="0"/>
              <a:t/>
            </a:r>
            <a:br>
              <a:rPr lang="en-US" altLang="en-US" sz="2800" i="1" dirty="0"/>
            </a:br>
            <a:endParaRPr lang="en-US" altLang="en-US" sz="2800" dirty="0"/>
          </a:p>
          <a:p>
            <a:pPr lvl="1"/>
            <a:r>
              <a:rPr lang="en-US" altLang="en-US" sz="2400" b="1" dirty="0">
                <a:solidFill>
                  <a:srgbClr val="00823B"/>
                </a:solidFill>
              </a:rPr>
              <a:t>a simpler/more convenient instance of the same  problem</a:t>
            </a:r>
            <a:r>
              <a:rPr lang="en-US" altLang="en-US" sz="2400" b="1" dirty="0"/>
              <a:t>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instance simplification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representation of the same instance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representation change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problem for which an algorithm is already available </a:t>
            </a:r>
            <a:r>
              <a:rPr lang="en-US" altLang="en-US" sz="2400" b="1" i="1" dirty="0" smtClean="0">
                <a:solidFill>
                  <a:srgbClr val="0000FF"/>
                </a:solidFill>
              </a:rPr>
              <a:t>problem reduction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2400" b="1" dirty="0"/>
              <a:t/>
            </a:r>
            <a:br>
              <a:rPr lang="en-US" altLang="en-US" sz="2400" b="1" dirty="0"/>
            </a:b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0215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2 – 3 Trees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Representation Change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Multiway Search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/>
          </a:bodyPr>
          <a:lstStyle/>
          <a:p>
            <a:r>
              <a:rPr lang="en-US" dirty="0"/>
              <a:t>Multiple elements in a single node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2-3 trees</a:t>
            </a:r>
          </a:p>
          <a:p>
            <a:pPr lvl="1"/>
            <a:r>
              <a:rPr lang="en-US" dirty="0" smtClean="0"/>
              <a:t>2-3-4 trees</a:t>
            </a:r>
          </a:p>
          <a:p>
            <a:pPr lvl="1"/>
            <a:r>
              <a:rPr lang="en-US" dirty="0" smtClean="0"/>
              <a:t>B-trees</a:t>
            </a:r>
          </a:p>
          <a:p>
            <a:r>
              <a:rPr lang="en-US" dirty="0" smtClean="0"/>
              <a:t>Perfectly Balanced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– 3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Introduced</a:t>
            </a:r>
            <a:r>
              <a:rPr lang="en-US" dirty="0" smtClean="0"/>
              <a:t> </a:t>
            </a:r>
            <a:r>
              <a:rPr lang="en-US" dirty="0"/>
              <a:t>by the U.S. </a:t>
            </a:r>
            <a:r>
              <a:rPr lang="en-US" dirty="0" smtClean="0"/>
              <a:t>computer scientist </a:t>
            </a:r>
            <a:r>
              <a:rPr lang="en-US" dirty="0"/>
              <a:t>John Hopcroft in </a:t>
            </a:r>
            <a:r>
              <a:rPr lang="en-US" b="1" dirty="0">
                <a:solidFill>
                  <a:srgbClr val="0000FF"/>
                </a:solidFill>
              </a:rPr>
              <a:t>1970</a:t>
            </a:r>
            <a:endParaRPr lang="en-US" b="1" dirty="0" smtClean="0">
              <a:solidFill>
                <a:srgbClr val="0000FF"/>
              </a:solidFill>
            </a:endParaRPr>
          </a:p>
          <a:p>
            <a:r>
              <a:rPr lang="en-US" dirty="0" smtClean="0"/>
              <a:t>It can </a:t>
            </a:r>
            <a:r>
              <a:rPr lang="en-US" dirty="0"/>
              <a:t>have nodes of </a:t>
            </a:r>
            <a:r>
              <a:rPr lang="en-US" dirty="0" smtClean="0"/>
              <a:t>two kinds:</a:t>
            </a:r>
          </a:p>
          <a:p>
            <a:pPr lvl="1"/>
            <a:r>
              <a:rPr lang="en-US" dirty="0" smtClean="0"/>
              <a:t>2-nodes</a:t>
            </a:r>
          </a:p>
          <a:p>
            <a:pPr lvl="1"/>
            <a:r>
              <a:rPr lang="en-US" dirty="0" smtClean="0"/>
              <a:t>3-nodes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All leaves </a:t>
            </a:r>
            <a:r>
              <a:rPr lang="en-US" dirty="0" smtClean="0"/>
              <a:t>are on </a:t>
            </a:r>
            <a:r>
              <a:rPr lang="en-US" b="1" dirty="0" smtClean="0">
                <a:solidFill>
                  <a:srgbClr val="0000FF"/>
                </a:solidFill>
              </a:rPr>
              <a:t>same level</a:t>
            </a:r>
          </a:p>
          <a:p>
            <a:r>
              <a:rPr lang="en-US" dirty="0" smtClean="0"/>
              <a:t>A </a:t>
            </a:r>
            <a:r>
              <a:rPr lang="en-US" b="1" i="1" dirty="0" smtClean="0"/>
              <a:t>2-node </a:t>
            </a:r>
            <a:r>
              <a:rPr lang="en-US" dirty="0"/>
              <a:t>contains a single </a:t>
            </a:r>
            <a:r>
              <a:rPr lang="en-US" dirty="0" smtClean="0"/>
              <a:t>key </a:t>
            </a:r>
            <a:r>
              <a:rPr lang="en-US" i="1" dirty="0" smtClean="0"/>
              <a:t>K </a:t>
            </a:r>
            <a:r>
              <a:rPr lang="en-US" dirty="0" smtClean="0"/>
              <a:t>has </a:t>
            </a:r>
            <a:r>
              <a:rPr lang="en-US" dirty="0"/>
              <a:t>two </a:t>
            </a:r>
            <a:r>
              <a:rPr lang="en-US" dirty="0" smtClean="0"/>
              <a:t>children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left </a:t>
            </a:r>
            <a:r>
              <a:rPr lang="en-US" b="1" dirty="0">
                <a:solidFill>
                  <a:srgbClr val="0000FF"/>
                </a:solidFill>
              </a:rPr>
              <a:t>child </a:t>
            </a:r>
            <a:r>
              <a:rPr lang="en-US" dirty="0"/>
              <a:t>serves as the root of a subtree whose </a:t>
            </a:r>
            <a:r>
              <a:rPr lang="en-US" dirty="0" smtClean="0"/>
              <a:t>key is </a:t>
            </a:r>
            <a:r>
              <a:rPr lang="en-US" b="1" dirty="0">
                <a:solidFill>
                  <a:srgbClr val="0000FF"/>
                </a:solidFill>
              </a:rPr>
              <a:t>less than </a:t>
            </a:r>
            <a:r>
              <a:rPr lang="en-US" b="1" i="1" dirty="0" smtClean="0">
                <a:solidFill>
                  <a:srgbClr val="0000FF"/>
                </a:solidFill>
              </a:rPr>
              <a:t>K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right </a:t>
            </a:r>
            <a:r>
              <a:rPr lang="en-US" b="1" dirty="0">
                <a:solidFill>
                  <a:srgbClr val="0000FF"/>
                </a:solidFill>
              </a:rPr>
              <a:t>child </a:t>
            </a:r>
            <a:r>
              <a:rPr lang="en-US" dirty="0"/>
              <a:t>serves as the root of a subtree whose </a:t>
            </a:r>
            <a:r>
              <a:rPr lang="en-US" dirty="0" smtClean="0"/>
              <a:t>key is </a:t>
            </a:r>
            <a:r>
              <a:rPr lang="en-US" b="1" dirty="0">
                <a:solidFill>
                  <a:srgbClr val="0000FF"/>
                </a:solidFill>
              </a:rPr>
              <a:t>greater than </a:t>
            </a:r>
            <a:r>
              <a:rPr lang="en-US" b="1" i="1" dirty="0" smtClean="0">
                <a:solidFill>
                  <a:srgbClr val="0000FF"/>
                </a:solidFill>
              </a:rPr>
              <a:t>K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3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– 3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i="1" dirty="0"/>
              <a:t>3-node </a:t>
            </a:r>
            <a:r>
              <a:rPr lang="en-US" dirty="0"/>
              <a:t>contains </a:t>
            </a:r>
            <a:r>
              <a:rPr lang="en-US" b="1" dirty="0">
                <a:solidFill>
                  <a:srgbClr val="0000FF"/>
                </a:solidFill>
              </a:rPr>
              <a:t>two ordered keys </a:t>
            </a:r>
            <a:r>
              <a:rPr lang="en-US" i="1" dirty="0"/>
              <a:t>K</a:t>
            </a:r>
            <a:r>
              <a:rPr lang="en-US" dirty="0"/>
              <a:t>1 and </a:t>
            </a:r>
            <a:r>
              <a:rPr lang="en-US" i="1" dirty="0"/>
              <a:t>K</a:t>
            </a:r>
            <a:r>
              <a:rPr lang="en-US" dirty="0"/>
              <a:t>2 (</a:t>
            </a:r>
            <a:r>
              <a:rPr lang="en-US" i="1" dirty="0"/>
              <a:t>K</a:t>
            </a:r>
            <a:r>
              <a:rPr lang="en-US" dirty="0"/>
              <a:t>1</a:t>
            </a:r>
            <a:r>
              <a:rPr lang="en-US" i="1" dirty="0"/>
              <a:t>&lt;K</a:t>
            </a:r>
            <a:r>
              <a:rPr lang="en-US" dirty="0"/>
              <a:t>2</a:t>
            </a:r>
            <a:r>
              <a:rPr lang="en-US" i="1" dirty="0" smtClean="0"/>
              <a:t>)</a:t>
            </a:r>
          </a:p>
          <a:p>
            <a:r>
              <a:rPr lang="en-US" dirty="0" smtClean="0"/>
              <a:t>It has </a:t>
            </a:r>
            <a:r>
              <a:rPr lang="en-US" b="1" dirty="0" smtClean="0">
                <a:solidFill>
                  <a:srgbClr val="0000FF"/>
                </a:solidFill>
              </a:rPr>
              <a:t>three children 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leftmost child </a:t>
            </a:r>
            <a:r>
              <a:rPr lang="en-US" dirty="0"/>
              <a:t>serves as the root of a subtree with keys </a:t>
            </a:r>
            <a:r>
              <a:rPr lang="en-US" b="1" dirty="0">
                <a:solidFill>
                  <a:srgbClr val="0000FF"/>
                </a:solidFill>
              </a:rPr>
              <a:t>less than </a:t>
            </a:r>
            <a:r>
              <a:rPr lang="en-US" b="1" i="1" dirty="0">
                <a:solidFill>
                  <a:srgbClr val="0000FF"/>
                </a:solidFill>
              </a:rPr>
              <a:t>K</a:t>
            </a:r>
            <a:r>
              <a:rPr lang="en-US" b="1" dirty="0">
                <a:solidFill>
                  <a:srgbClr val="0000FF"/>
                </a:solidFill>
              </a:rPr>
              <a:t>1</a:t>
            </a:r>
            <a:endParaRPr lang="en-US" b="1" i="1" dirty="0" smtClean="0">
              <a:solidFill>
                <a:srgbClr val="0000FF"/>
              </a:solidFill>
            </a:endParaRP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middle child </a:t>
            </a:r>
            <a:r>
              <a:rPr lang="en-US" dirty="0"/>
              <a:t>serves as the root of a subtree with keys </a:t>
            </a:r>
            <a:r>
              <a:rPr lang="en-US" b="1" dirty="0">
                <a:solidFill>
                  <a:srgbClr val="0000FF"/>
                </a:solidFill>
              </a:rPr>
              <a:t>between </a:t>
            </a:r>
            <a:r>
              <a:rPr lang="en-US" b="1" i="1" dirty="0">
                <a:solidFill>
                  <a:srgbClr val="0000FF"/>
                </a:solidFill>
              </a:rPr>
              <a:t>K</a:t>
            </a:r>
            <a:r>
              <a:rPr lang="en-US" b="1" dirty="0">
                <a:solidFill>
                  <a:srgbClr val="0000FF"/>
                </a:solidFill>
              </a:rPr>
              <a:t>1 and </a:t>
            </a:r>
            <a:r>
              <a:rPr lang="en-US" b="1" i="1" dirty="0" smtClean="0">
                <a:solidFill>
                  <a:srgbClr val="0000FF"/>
                </a:solidFill>
              </a:rPr>
              <a:t>K</a:t>
            </a:r>
            <a:r>
              <a:rPr lang="en-US" b="1" dirty="0" smtClean="0">
                <a:solidFill>
                  <a:srgbClr val="0000FF"/>
                </a:solidFill>
              </a:rPr>
              <a:t>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rightmost child </a:t>
            </a:r>
            <a:r>
              <a:rPr lang="en-US" dirty="0"/>
              <a:t>serves as the root of a subtree with keys </a:t>
            </a:r>
            <a:r>
              <a:rPr lang="en-US" b="1" dirty="0">
                <a:solidFill>
                  <a:srgbClr val="0000FF"/>
                </a:solidFill>
              </a:rPr>
              <a:t>greater than </a:t>
            </a:r>
            <a:r>
              <a:rPr lang="en-US" b="1" i="1" dirty="0">
                <a:solidFill>
                  <a:srgbClr val="0000FF"/>
                </a:solidFill>
              </a:rPr>
              <a:t>K</a:t>
            </a:r>
            <a:r>
              <a:rPr lang="en-US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0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– 3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5" y="2514600"/>
            <a:ext cx="2562225" cy="2343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447925"/>
            <a:ext cx="38100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0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– 3 </a:t>
            </a:r>
            <a:r>
              <a:rPr lang="en-US" b="1" dirty="0" smtClean="0">
                <a:solidFill>
                  <a:srgbClr val="00823B"/>
                </a:solidFill>
              </a:rPr>
              <a:t>Trees (Insertion)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Insert</a:t>
            </a:r>
            <a:r>
              <a:rPr lang="en-US" dirty="0" smtClean="0"/>
              <a:t> </a:t>
            </a:r>
            <a:r>
              <a:rPr lang="en-US" dirty="0"/>
              <a:t>a new key </a:t>
            </a:r>
            <a:r>
              <a:rPr lang="en-US" i="1" dirty="0"/>
              <a:t>K </a:t>
            </a:r>
            <a:r>
              <a:rPr lang="en-US" b="1" dirty="0">
                <a:solidFill>
                  <a:srgbClr val="0000FF"/>
                </a:solidFill>
              </a:rPr>
              <a:t>in a </a:t>
            </a:r>
            <a:r>
              <a:rPr lang="en-US" b="1" dirty="0" smtClean="0">
                <a:solidFill>
                  <a:srgbClr val="0000FF"/>
                </a:solidFill>
              </a:rPr>
              <a:t>leaf</a:t>
            </a:r>
          </a:p>
          <a:p>
            <a:pPr algn="just"/>
            <a:r>
              <a:rPr lang="en-US" dirty="0" smtClean="0"/>
              <a:t>Leaf is </a:t>
            </a:r>
            <a:r>
              <a:rPr lang="en-US" dirty="0"/>
              <a:t>a </a:t>
            </a:r>
            <a:r>
              <a:rPr lang="en-US" b="1" dirty="0" smtClean="0">
                <a:solidFill>
                  <a:srgbClr val="0000FF"/>
                </a:solidFill>
              </a:rPr>
              <a:t>2-node</a:t>
            </a:r>
          </a:p>
          <a:p>
            <a:pPr lvl="1" algn="just"/>
            <a:r>
              <a:rPr lang="en-US" b="1" dirty="0" smtClean="0">
                <a:solidFill>
                  <a:srgbClr val="0000FF"/>
                </a:solidFill>
              </a:rPr>
              <a:t>Insert</a:t>
            </a:r>
            <a:r>
              <a:rPr lang="en-US" dirty="0" smtClean="0"/>
              <a:t> </a:t>
            </a:r>
            <a:r>
              <a:rPr lang="en-US" i="1" dirty="0" smtClean="0"/>
              <a:t>K </a:t>
            </a:r>
            <a:r>
              <a:rPr lang="en-US" dirty="0" smtClean="0"/>
              <a:t>as </a:t>
            </a:r>
            <a:r>
              <a:rPr lang="en-US" b="1" dirty="0" smtClean="0">
                <a:solidFill>
                  <a:srgbClr val="0000FF"/>
                </a:solidFill>
              </a:rPr>
              <a:t>first key </a:t>
            </a:r>
            <a:r>
              <a:rPr lang="en-US" dirty="0" smtClean="0"/>
              <a:t>if it is </a:t>
            </a:r>
            <a:r>
              <a:rPr lang="en-US" b="1" dirty="0" smtClean="0">
                <a:solidFill>
                  <a:srgbClr val="00823B"/>
                </a:solidFill>
              </a:rPr>
              <a:t>smaller</a:t>
            </a:r>
            <a:r>
              <a:rPr lang="en-US" dirty="0" smtClean="0"/>
              <a:t> than </a:t>
            </a:r>
            <a:r>
              <a:rPr lang="en-US" dirty="0"/>
              <a:t>the node’s </a:t>
            </a:r>
            <a:r>
              <a:rPr lang="en-US" b="1" dirty="0">
                <a:solidFill>
                  <a:srgbClr val="00823B"/>
                </a:solidFill>
              </a:rPr>
              <a:t>old </a:t>
            </a:r>
            <a:r>
              <a:rPr lang="en-US" b="1" dirty="0" smtClean="0">
                <a:solidFill>
                  <a:srgbClr val="00823B"/>
                </a:solidFill>
              </a:rPr>
              <a:t>key</a:t>
            </a:r>
          </a:p>
          <a:p>
            <a:pPr lvl="1" algn="just"/>
            <a:r>
              <a:rPr lang="en-US" b="1" dirty="0" smtClean="0">
                <a:solidFill>
                  <a:srgbClr val="0000FF"/>
                </a:solidFill>
              </a:rPr>
              <a:t>Insert</a:t>
            </a:r>
            <a:r>
              <a:rPr lang="en-US" dirty="0" smtClean="0"/>
              <a:t> K as </a:t>
            </a:r>
            <a:r>
              <a:rPr lang="en-US" b="1" dirty="0" smtClean="0">
                <a:solidFill>
                  <a:srgbClr val="0000FF"/>
                </a:solidFill>
              </a:rPr>
              <a:t>second key</a:t>
            </a:r>
            <a:r>
              <a:rPr lang="en-US" dirty="0" smtClean="0"/>
              <a:t> if it is </a:t>
            </a:r>
            <a:r>
              <a:rPr lang="en-US" b="1" dirty="0" smtClean="0">
                <a:solidFill>
                  <a:srgbClr val="00823B"/>
                </a:solidFill>
              </a:rPr>
              <a:t>larger</a:t>
            </a:r>
            <a:r>
              <a:rPr lang="en-US" dirty="0" smtClean="0"/>
              <a:t> </a:t>
            </a:r>
            <a:r>
              <a:rPr lang="en-US" dirty="0"/>
              <a:t>than the node’s </a:t>
            </a:r>
            <a:r>
              <a:rPr lang="en-US" b="1" dirty="0">
                <a:solidFill>
                  <a:srgbClr val="00823B"/>
                </a:solidFill>
              </a:rPr>
              <a:t>old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19" y="1371600"/>
            <a:ext cx="1728981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0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Leaf </a:t>
            </a:r>
            <a:r>
              <a:rPr lang="en-US" b="1" dirty="0" smtClean="0">
                <a:solidFill>
                  <a:srgbClr val="00823B"/>
                </a:solidFill>
              </a:rPr>
              <a:t>has 2-nodes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64481"/>
            <a:ext cx="685800" cy="642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12661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2312661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endParaRPr lang="en-US" sz="2800" b="1" baseline="-25000" dirty="0">
              <a:solidFill>
                <a:srgbClr val="0000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184" y="2947344"/>
            <a:ext cx="1498816" cy="8029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7800" y="389638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sz="2800" b="1" dirty="0" smtClean="0">
                <a:solidFill>
                  <a:srgbClr val="0000FF"/>
                </a:solidFill>
              </a:rPr>
              <a:t> &lt;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4200" y="3123884"/>
            <a:ext cx="749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OR</a:t>
            </a:r>
            <a:endParaRPr lang="en-US" sz="2800" b="1" dirty="0">
              <a:solidFill>
                <a:srgbClr val="00823B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013681"/>
            <a:ext cx="1447800" cy="736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86200" y="389638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sz="2800" b="1" dirty="0" smtClean="0">
                <a:solidFill>
                  <a:srgbClr val="0000FF"/>
                </a:solidFill>
              </a:rPr>
              <a:t> &gt;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0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– 3 </a:t>
            </a:r>
            <a:r>
              <a:rPr lang="en-US" b="1" dirty="0" smtClean="0">
                <a:solidFill>
                  <a:srgbClr val="00823B"/>
                </a:solidFill>
              </a:rPr>
              <a:t>Trees (Insertion)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4600" dirty="0"/>
              <a:t>Leaf has </a:t>
            </a:r>
            <a:r>
              <a:rPr lang="en-US" sz="4600" b="1" dirty="0">
                <a:solidFill>
                  <a:srgbClr val="0000FF"/>
                </a:solidFill>
              </a:rPr>
              <a:t>3-node:</a:t>
            </a:r>
          </a:p>
          <a:p>
            <a:pPr lvl="1"/>
            <a:r>
              <a:rPr lang="en-US" sz="4000" b="1" dirty="0" smtClean="0">
                <a:solidFill>
                  <a:srgbClr val="0000FF"/>
                </a:solidFill>
              </a:rPr>
              <a:t>Split</a:t>
            </a:r>
            <a:r>
              <a:rPr lang="en-US" sz="4000" dirty="0" smtClean="0"/>
              <a:t> </a:t>
            </a:r>
            <a:r>
              <a:rPr lang="en-US" sz="4000" dirty="0"/>
              <a:t>the leaf </a:t>
            </a:r>
            <a:r>
              <a:rPr lang="en-US" sz="4000" b="1" dirty="0">
                <a:solidFill>
                  <a:srgbClr val="0000FF"/>
                </a:solidFill>
              </a:rPr>
              <a:t>in two</a:t>
            </a:r>
          </a:p>
          <a:p>
            <a:pPr lvl="1"/>
            <a:r>
              <a:rPr lang="en-US" sz="4000" b="1" dirty="0">
                <a:solidFill>
                  <a:srgbClr val="0000FF"/>
                </a:solidFill>
              </a:rPr>
              <a:t>The smallest </a:t>
            </a:r>
            <a:r>
              <a:rPr lang="en-US" sz="4000" dirty="0" smtClean="0"/>
              <a:t>key </a:t>
            </a:r>
            <a:r>
              <a:rPr lang="en-US" sz="4000" dirty="0"/>
              <a:t>is put</a:t>
            </a:r>
            <a:r>
              <a:rPr lang="en-US" sz="4000" b="1" dirty="0">
                <a:solidFill>
                  <a:srgbClr val="00823B"/>
                </a:solidFill>
              </a:rPr>
              <a:t> </a:t>
            </a:r>
            <a:r>
              <a:rPr lang="en-US" sz="4000" dirty="0"/>
              <a:t>in the </a:t>
            </a:r>
            <a:r>
              <a:rPr lang="en-US" sz="4000" b="1" dirty="0">
                <a:solidFill>
                  <a:srgbClr val="00823B"/>
                </a:solidFill>
              </a:rPr>
              <a:t>first leaf</a:t>
            </a:r>
          </a:p>
          <a:p>
            <a:pPr lvl="1"/>
            <a:r>
              <a:rPr lang="en-US" sz="4000" b="1" dirty="0" smtClean="0">
                <a:solidFill>
                  <a:srgbClr val="0000FF"/>
                </a:solidFill>
              </a:rPr>
              <a:t>The </a:t>
            </a:r>
            <a:r>
              <a:rPr lang="en-US" sz="4000" b="1" dirty="0">
                <a:solidFill>
                  <a:srgbClr val="0000FF"/>
                </a:solidFill>
              </a:rPr>
              <a:t>largest </a:t>
            </a:r>
            <a:r>
              <a:rPr lang="en-US" sz="4000" dirty="0"/>
              <a:t>key is put in the </a:t>
            </a:r>
            <a:r>
              <a:rPr lang="en-US" sz="4000" b="1" dirty="0">
                <a:solidFill>
                  <a:srgbClr val="00823B"/>
                </a:solidFill>
              </a:rPr>
              <a:t>second leaf</a:t>
            </a:r>
          </a:p>
          <a:p>
            <a:pPr lvl="1"/>
            <a:r>
              <a:rPr lang="en-US" sz="4000" b="1" dirty="0" smtClean="0">
                <a:solidFill>
                  <a:srgbClr val="0000FF"/>
                </a:solidFill>
              </a:rPr>
              <a:t>The </a:t>
            </a:r>
            <a:r>
              <a:rPr lang="en-US" sz="4000" b="1" dirty="0">
                <a:solidFill>
                  <a:srgbClr val="0000FF"/>
                </a:solidFill>
              </a:rPr>
              <a:t>middle </a:t>
            </a:r>
            <a:r>
              <a:rPr lang="en-US" sz="4000" dirty="0"/>
              <a:t>key is promoted to the old </a:t>
            </a:r>
            <a:r>
              <a:rPr lang="en-US" sz="4000" b="1" dirty="0">
                <a:solidFill>
                  <a:srgbClr val="00823B"/>
                </a:solidFill>
              </a:rPr>
              <a:t>leaf’s parent</a:t>
            </a:r>
            <a:r>
              <a:rPr lang="en-US" sz="4000" dirty="0"/>
              <a:t>. (If the leaf happens to be the tree’s root, a new root is created to accept the middle key</a:t>
            </a:r>
            <a:r>
              <a:rPr lang="en-US" sz="4000" dirty="0" smtClean="0"/>
              <a:t>.)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4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Leaf </a:t>
            </a:r>
            <a:r>
              <a:rPr lang="en-US" b="1" dirty="0" smtClean="0">
                <a:solidFill>
                  <a:srgbClr val="00823B"/>
                </a:solidFill>
              </a:rPr>
              <a:t>has 3-nodes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90800"/>
            <a:ext cx="685800" cy="642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endParaRPr lang="en-US" sz="2800" b="1" baseline="-25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57663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K</a:t>
            </a:r>
            <a:r>
              <a:rPr lang="en-US" sz="2800" b="1" baseline="-25000" dirty="0" smtClean="0">
                <a:solidFill>
                  <a:srgbClr val="FF0000"/>
                </a:solidFill>
              </a:rPr>
              <a:t>2</a:t>
            </a:r>
            <a:endParaRPr lang="en-US" sz="2800" b="1" baseline="-25000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184" y="2473663"/>
            <a:ext cx="1498816" cy="8029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7800" y="3422699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r>
              <a:rPr lang="en-US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sz="2800" b="1" dirty="0" smtClean="0">
                <a:solidFill>
                  <a:srgbClr val="0000FF"/>
                </a:solidFill>
              </a:rPr>
              <a:t> &lt;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K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1400" y="3422699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K</a:t>
            </a:r>
            <a:r>
              <a:rPr lang="en-US" sz="2800" b="1" baseline="-25000" dirty="0" smtClean="0">
                <a:solidFill>
                  <a:srgbClr val="FF0000"/>
                </a:solidFill>
              </a:rPr>
              <a:t>1</a:t>
            </a:r>
            <a:r>
              <a:rPr lang="en-US" sz="2800" b="1" dirty="0" smtClean="0">
                <a:solidFill>
                  <a:srgbClr val="FF0000"/>
                </a:solidFill>
              </a:rPr>
              <a:t>&lt; K&lt; K</a:t>
            </a:r>
            <a:r>
              <a:rPr lang="en-US" sz="2800" b="1" baseline="-25000" dirty="0" smtClean="0">
                <a:solidFill>
                  <a:srgbClr val="FF0000"/>
                </a:solidFill>
              </a:rPr>
              <a:t>2</a:t>
            </a:r>
            <a:endParaRPr lang="en-US" sz="2800" b="1" baseline="-25000" dirty="0">
              <a:solidFill>
                <a:srgbClr val="FF0000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87" y="2524780"/>
            <a:ext cx="1419225" cy="771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038600"/>
            <a:ext cx="1895475" cy="1371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975" y="3352800"/>
            <a:ext cx="25622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5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2 -3 Tree (Example)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5</a:t>
            </a:r>
            <a:endParaRPr lang="en-US" sz="2800" b="1" baseline="-25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908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8</a:t>
            </a:r>
            <a:endParaRPr lang="en-US" sz="2800" b="1" baseline="-25000" dirty="0">
              <a:solidFill>
                <a:srgbClr val="0000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593187"/>
            <a:ext cx="419100" cy="409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2573271"/>
            <a:ext cx="638175" cy="38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837" y="2549458"/>
            <a:ext cx="771525" cy="428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686050"/>
            <a:ext cx="647700" cy="285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12187"/>
            <a:ext cx="1314450" cy="7905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3233749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3</a:t>
            </a:r>
            <a:endParaRPr lang="en-US" sz="2800" b="1" dirty="0">
              <a:solidFill>
                <a:srgbClr val="0000FF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" y="3901154"/>
            <a:ext cx="1266825" cy="7334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90799" y="3233749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399" y="3756969"/>
            <a:ext cx="1428750" cy="8953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379791"/>
            <a:ext cx="647700" cy="2857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75" y="3834479"/>
            <a:ext cx="11811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8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9" grpId="0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2 -3 Tree (Example)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1838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4</a:t>
            </a:r>
            <a:endParaRPr lang="en-US" sz="2800" b="1" baseline="-25000" dirty="0">
              <a:solidFill>
                <a:srgbClr val="0000FF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94" y="4519423"/>
            <a:ext cx="64770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332997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7</a:t>
            </a:r>
            <a:endParaRPr lang="en-US" sz="2800" b="1" dirty="0">
              <a:solidFill>
                <a:srgbClr val="0000FF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066" y="4519423"/>
            <a:ext cx="647700" cy="2857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397924"/>
            <a:ext cx="1181100" cy="800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4" y="2433637"/>
            <a:ext cx="1390650" cy="790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3960691"/>
            <a:ext cx="1695450" cy="838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180" y="4046416"/>
            <a:ext cx="1752600" cy="7524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3575" y="3608266"/>
            <a:ext cx="20764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2 -3 Tree </a:t>
            </a:r>
            <a:r>
              <a:rPr lang="en-US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/>
              <a:t>A 2-3 tree of </a:t>
            </a:r>
            <a:r>
              <a:rPr lang="en-US" b="1" dirty="0">
                <a:solidFill>
                  <a:srgbClr val="0000FF"/>
                </a:solidFill>
              </a:rPr>
              <a:t>height </a:t>
            </a:r>
            <a:r>
              <a:rPr lang="en-US" b="1" i="1" dirty="0">
                <a:solidFill>
                  <a:srgbClr val="0000FF"/>
                </a:solidFill>
              </a:rPr>
              <a:t>h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Smallest </a:t>
            </a:r>
            <a:r>
              <a:rPr lang="en-US" b="1" dirty="0">
                <a:solidFill>
                  <a:srgbClr val="0000FF"/>
                </a:solidFill>
              </a:rPr>
              <a:t>number of keys </a:t>
            </a:r>
            <a:r>
              <a:rPr lang="en-US" dirty="0"/>
              <a:t>is a full tree of </a:t>
            </a:r>
            <a:r>
              <a:rPr lang="en-US" dirty="0" smtClean="0"/>
              <a:t>2-nodes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563" y="3200400"/>
            <a:ext cx="4688073" cy="6238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3987366"/>
            <a:ext cx="2676525" cy="4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1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2 -3 Tree </a:t>
            </a:r>
            <a:r>
              <a:rPr lang="en-US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/>
              <a:t>A 2-3 tree of </a:t>
            </a:r>
            <a:r>
              <a:rPr lang="en-US" b="1" dirty="0">
                <a:solidFill>
                  <a:srgbClr val="0000FF"/>
                </a:solidFill>
              </a:rPr>
              <a:t>height </a:t>
            </a:r>
            <a:r>
              <a:rPr lang="en-US" b="1" i="1" dirty="0">
                <a:solidFill>
                  <a:srgbClr val="0000FF"/>
                </a:solidFill>
              </a:rPr>
              <a:t>h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largest </a:t>
            </a:r>
            <a:r>
              <a:rPr lang="en-US" b="1" dirty="0">
                <a:solidFill>
                  <a:srgbClr val="0000FF"/>
                </a:solidFill>
              </a:rPr>
              <a:t>number of keys </a:t>
            </a:r>
            <a:r>
              <a:rPr lang="en-US" dirty="0"/>
              <a:t>is a </a:t>
            </a:r>
            <a:r>
              <a:rPr lang="en-US" dirty="0" smtClean="0"/>
              <a:t>full tree </a:t>
            </a:r>
            <a:r>
              <a:rPr lang="en-US" dirty="0"/>
              <a:t>of 3-nodes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416" y="3352800"/>
            <a:ext cx="3767959" cy="457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861088"/>
            <a:ext cx="2909943" cy="4823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394487"/>
            <a:ext cx="1584739" cy="4823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01897"/>
            <a:ext cx="3006170" cy="6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6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2 -3 Tree </a:t>
            </a:r>
            <a:r>
              <a:rPr lang="en-US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/>
              <a:t>A 2-3 tree of </a:t>
            </a:r>
            <a:r>
              <a:rPr lang="en-US" b="1" dirty="0">
                <a:solidFill>
                  <a:srgbClr val="0000FF"/>
                </a:solidFill>
              </a:rPr>
              <a:t>height </a:t>
            </a:r>
            <a:r>
              <a:rPr lang="en-US" b="1" i="1" dirty="0">
                <a:solidFill>
                  <a:srgbClr val="0000FF"/>
                </a:solidFill>
              </a:rPr>
              <a:t>h</a:t>
            </a:r>
          </a:p>
          <a:p>
            <a:pPr lvl="1"/>
            <a:r>
              <a:rPr lang="en-US" smtClean="0"/>
              <a:t>smallest </a:t>
            </a:r>
            <a:r>
              <a:rPr lang="en-US" dirty="0"/>
              <a:t>number of keys</a:t>
            </a:r>
            <a:endParaRPr lang="en-US" dirty="0" smtClean="0"/>
          </a:p>
          <a:p>
            <a:pPr lvl="1"/>
            <a:r>
              <a:rPr lang="en-US" dirty="0" smtClean="0"/>
              <a:t>largest </a:t>
            </a:r>
            <a:r>
              <a:rPr lang="en-US" dirty="0"/>
              <a:t>number of </a:t>
            </a:r>
            <a:r>
              <a:rPr lang="en-US" dirty="0" smtClean="0"/>
              <a:t>keys</a:t>
            </a:r>
          </a:p>
          <a:p>
            <a:pPr lvl="1"/>
            <a:r>
              <a:rPr lang="en-US" dirty="0" smtClean="0"/>
              <a:t>Hence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895600"/>
            <a:ext cx="2752725" cy="400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386373"/>
            <a:ext cx="2676525" cy="4322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933" y="4114800"/>
            <a:ext cx="5113867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9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Heap &amp; Heap Sort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Representation Change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0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Heap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00545" y="2362200"/>
            <a:ext cx="6588617" cy="3510298"/>
          </a:xfrm>
        </p:spPr>
        <p:txBody>
          <a:bodyPr>
            <a:normAutofit/>
          </a:bodyPr>
          <a:lstStyle/>
          <a:p>
            <a:pPr marL="257175" indent="-257175"/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complete </a:t>
            </a:r>
            <a:r>
              <a:rPr lang="en-US" b="1" dirty="0">
                <a:solidFill>
                  <a:srgbClr val="0000FF"/>
                </a:solidFill>
              </a:rPr>
              <a:t>binary tree</a:t>
            </a:r>
          </a:p>
          <a:p>
            <a:pPr marL="257175" indent="-257175"/>
            <a:r>
              <a:rPr lang="en-US" dirty="0" smtClean="0"/>
              <a:t>If </a:t>
            </a:r>
            <a:r>
              <a:rPr lang="en-US" dirty="0"/>
              <a:t>subscript </a:t>
            </a:r>
            <a:r>
              <a:rPr lang="en-US" b="1" dirty="0">
                <a:solidFill>
                  <a:srgbClr val="0000FF"/>
                </a:solidFill>
              </a:rPr>
              <a:t>start with </a:t>
            </a:r>
            <a:r>
              <a:rPr lang="en-US" b="1" dirty="0" smtClean="0">
                <a:solidFill>
                  <a:srgbClr val="0000FF"/>
                </a:solidFill>
              </a:rPr>
              <a:t>“1”</a:t>
            </a:r>
            <a:endParaRPr lang="en-US" b="1" dirty="0">
              <a:solidFill>
                <a:srgbClr val="0000FF"/>
              </a:solidFill>
            </a:endParaRPr>
          </a:p>
          <a:p>
            <a:pPr marL="557213" lvl="1" indent="-214313"/>
            <a:r>
              <a:rPr lang="en-US" dirty="0"/>
              <a:t>Left(</a:t>
            </a:r>
            <a:r>
              <a:rPr lang="en-US" dirty="0" err="1"/>
              <a:t>i</a:t>
            </a:r>
            <a:r>
              <a:rPr lang="en-US" dirty="0"/>
              <a:t>)   = 2 * </a:t>
            </a:r>
            <a:r>
              <a:rPr lang="en-US" dirty="0" err="1"/>
              <a:t>i</a:t>
            </a:r>
            <a:endParaRPr lang="en-US" dirty="0"/>
          </a:p>
          <a:p>
            <a:pPr marL="557213" lvl="1" indent="-214313"/>
            <a:r>
              <a:rPr lang="en-US" dirty="0"/>
              <a:t>Right(</a:t>
            </a:r>
            <a:r>
              <a:rPr lang="en-US" dirty="0" err="1"/>
              <a:t>i</a:t>
            </a:r>
            <a:r>
              <a:rPr lang="en-US" dirty="0"/>
              <a:t>) = 2 * </a:t>
            </a:r>
            <a:r>
              <a:rPr lang="en-US" dirty="0" err="1"/>
              <a:t>i</a:t>
            </a:r>
            <a:r>
              <a:rPr lang="en-US" dirty="0"/>
              <a:t> + 1</a:t>
            </a:r>
          </a:p>
          <a:p>
            <a:pPr marL="557213" lvl="1" indent="-214313"/>
            <a:r>
              <a:rPr lang="en-US" dirty="0"/>
              <a:t>Parent(</a:t>
            </a:r>
            <a:r>
              <a:rPr lang="en-US" dirty="0" err="1"/>
              <a:t>i</a:t>
            </a:r>
            <a:r>
              <a:rPr lang="en-US" dirty="0"/>
              <a:t>)= </a:t>
            </a:r>
            <a:r>
              <a:rPr lang="en-US" dirty="0" err="1"/>
              <a:t>i</a:t>
            </a:r>
            <a:r>
              <a:rPr lang="en-US" dirty="0"/>
              <a:t> /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522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/>
            <a:r>
              <a:rPr lang="en-US" dirty="0" smtClean="0"/>
              <a:t>If subscript </a:t>
            </a:r>
            <a:r>
              <a:rPr lang="en-US" b="1" dirty="0" smtClean="0">
                <a:solidFill>
                  <a:srgbClr val="0000FF"/>
                </a:solidFill>
              </a:rPr>
              <a:t>start with “0”</a:t>
            </a:r>
          </a:p>
          <a:p>
            <a:pPr marL="557213" lvl="1" indent="-214313"/>
            <a:r>
              <a:rPr lang="en-US" dirty="0" smtClean="0"/>
              <a:t>Left(</a:t>
            </a:r>
            <a:r>
              <a:rPr lang="en-US" dirty="0" err="1" smtClean="0"/>
              <a:t>i</a:t>
            </a:r>
            <a:r>
              <a:rPr lang="en-US" dirty="0" smtClean="0"/>
              <a:t>)   = 2 * </a:t>
            </a:r>
            <a:r>
              <a:rPr lang="en-US" dirty="0" err="1" smtClean="0"/>
              <a:t>i</a:t>
            </a:r>
            <a:r>
              <a:rPr lang="en-US" dirty="0" smtClean="0"/>
              <a:t> + 1</a:t>
            </a:r>
          </a:p>
          <a:p>
            <a:pPr marL="557213" lvl="1" indent="-214313"/>
            <a:r>
              <a:rPr lang="en-US" dirty="0" smtClean="0"/>
              <a:t>Right(</a:t>
            </a:r>
            <a:r>
              <a:rPr lang="en-US" dirty="0" err="1" smtClean="0"/>
              <a:t>i</a:t>
            </a:r>
            <a:r>
              <a:rPr lang="en-US" dirty="0" smtClean="0"/>
              <a:t>) = 2 * </a:t>
            </a:r>
            <a:r>
              <a:rPr lang="en-US" dirty="0" err="1" smtClean="0"/>
              <a:t>i</a:t>
            </a:r>
            <a:r>
              <a:rPr lang="en-US" dirty="0" smtClean="0"/>
              <a:t> + 2</a:t>
            </a:r>
          </a:p>
          <a:p>
            <a:pPr marL="557213" lvl="1" indent="-214313"/>
            <a:r>
              <a:rPr lang="en-US" dirty="0" smtClean="0"/>
              <a:t>Parent(</a:t>
            </a:r>
            <a:r>
              <a:rPr lang="en-US" dirty="0" err="1" smtClean="0"/>
              <a:t>i</a:t>
            </a:r>
            <a:r>
              <a:rPr lang="en-US" dirty="0" smtClean="0"/>
              <a:t>)= (</a:t>
            </a:r>
            <a:r>
              <a:rPr lang="en-US" dirty="0" err="1" smtClean="0"/>
              <a:t>i</a:t>
            </a:r>
            <a:r>
              <a:rPr lang="en-US" dirty="0" smtClean="0"/>
              <a:t> -1)/ 2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Heap Types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257175" indent="-257175"/>
            <a:r>
              <a:rPr lang="en-US" b="1" dirty="0" smtClean="0">
                <a:solidFill>
                  <a:srgbClr val="0000FF"/>
                </a:solidFill>
              </a:rPr>
              <a:t>Max </a:t>
            </a:r>
            <a:r>
              <a:rPr lang="en-US" b="1" dirty="0">
                <a:solidFill>
                  <a:srgbClr val="0000FF"/>
                </a:solidFill>
              </a:rPr>
              <a:t>Heap</a:t>
            </a:r>
          </a:p>
          <a:p>
            <a:pPr marL="557213" lvl="1" indent="-214313"/>
            <a:r>
              <a:rPr lang="en-US" dirty="0"/>
              <a:t>A [ Parent(</a:t>
            </a:r>
            <a:r>
              <a:rPr lang="en-US" dirty="0" err="1"/>
              <a:t>i</a:t>
            </a:r>
            <a:r>
              <a:rPr lang="en-US" dirty="0"/>
              <a:t>) ] &gt;= A [ </a:t>
            </a:r>
            <a:r>
              <a:rPr lang="en-US" dirty="0" err="1"/>
              <a:t>i</a:t>
            </a:r>
            <a:r>
              <a:rPr lang="en-US" dirty="0"/>
              <a:t> ]</a:t>
            </a:r>
          </a:p>
          <a:p>
            <a:pPr marL="257175" indent="-257175"/>
            <a:r>
              <a:rPr lang="en-US" b="1" dirty="0" smtClean="0">
                <a:solidFill>
                  <a:srgbClr val="0000FF"/>
                </a:solidFill>
              </a:rPr>
              <a:t>Min </a:t>
            </a:r>
            <a:r>
              <a:rPr lang="en-US" b="1" dirty="0">
                <a:solidFill>
                  <a:srgbClr val="0000FF"/>
                </a:solidFill>
              </a:rPr>
              <a:t>Heap</a:t>
            </a:r>
          </a:p>
          <a:p>
            <a:pPr marL="557213" lvl="1" indent="-214313"/>
            <a:r>
              <a:rPr lang="en-US" dirty="0"/>
              <a:t>A [ Parent(</a:t>
            </a:r>
            <a:r>
              <a:rPr lang="en-US" dirty="0" err="1"/>
              <a:t>i</a:t>
            </a:r>
            <a:r>
              <a:rPr lang="en-US" dirty="0"/>
              <a:t>) ] &lt;= A [ </a:t>
            </a:r>
            <a:r>
              <a:rPr lang="en-US" dirty="0" err="1"/>
              <a:t>i</a:t>
            </a:r>
            <a:r>
              <a:rPr lang="en-US" dirty="0"/>
              <a:t> 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228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Basic Procedures of Heap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MAX-HEAPIFY</a:t>
            </a:r>
          </a:p>
          <a:p>
            <a:r>
              <a:rPr lang="en-US" dirty="0" smtClean="0"/>
              <a:t>BUILD-MAX-HEAP</a:t>
            </a:r>
          </a:p>
          <a:p>
            <a:r>
              <a:rPr lang="en-US" dirty="0" smtClean="0"/>
              <a:t>HEAPSORT</a:t>
            </a:r>
          </a:p>
          <a:p>
            <a:r>
              <a:rPr lang="en-US" dirty="0" smtClean="0"/>
              <a:t>MAX-HEAP-INSERT</a:t>
            </a:r>
          </a:p>
          <a:p>
            <a:r>
              <a:rPr lang="en-US" dirty="0" smtClean="0"/>
              <a:t>HEAP-EXTRACT-MAX</a:t>
            </a:r>
          </a:p>
          <a:p>
            <a:r>
              <a:rPr lang="en-US" dirty="0" smtClean="0"/>
              <a:t>HEAP-INCREASE-KEY</a:t>
            </a:r>
          </a:p>
          <a:p>
            <a:r>
              <a:rPr lang="en-US" dirty="0" smtClean="0"/>
              <a:t>HEAP-MAXIMUM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6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Max-</a:t>
            </a:r>
            <a:r>
              <a:rPr lang="en-US" b="1" dirty="0" err="1">
                <a:solidFill>
                  <a:srgbClr val="00823B"/>
                </a:solidFill>
              </a:rPr>
              <a:t>HeapIFY</a:t>
            </a:r>
            <a:r>
              <a:rPr lang="en-US" b="1" dirty="0">
                <a:solidFill>
                  <a:srgbClr val="00823B"/>
                </a:solidFill>
              </a:rPr>
              <a:t>(A, </a:t>
            </a:r>
            <a:r>
              <a:rPr lang="en-US" b="1" dirty="0" err="1">
                <a:solidFill>
                  <a:srgbClr val="00823B"/>
                </a:solidFill>
              </a:rPr>
              <a:t>i</a:t>
            </a:r>
            <a:r>
              <a:rPr lang="en-US" b="1" dirty="0">
                <a:solidFill>
                  <a:srgbClr val="00823B"/>
                </a:solidFill>
              </a:rPr>
              <a:t>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2209800"/>
            <a:ext cx="6248400" cy="3657600"/>
          </a:xfrm>
        </p:spPr>
        <p:txBody>
          <a:bodyPr>
            <a:normAutofit/>
          </a:bodyPr>
          <a:lstStyle/>
          <a:p>
            <a:pPr marL="257175" indent="-257175">
              <a:lnSpc>
                <a:spcPct val="90000"/>
              </a:lnSpc>
            </a:pPr>
            <a:r>
              <a:rPr lang="en-US" sz="2100" dirty="0"/>
              <a:t>l </a:t>
            </a:r>
            <a:r>
              <a:rPr lang="en-US" sz="2100" dirty="0">
                <a:cs typeface="Arial" charset="0"/>
              </a:rPr>
              <a:t>← left (</a:t>
            </a:r>
            <a:r>
              <a:rPr lang="en-US" sz="2100" dirty="0" err="1">
                <a:cs typeface="Arial" charset="0"/>
              </a:rPr>
              <a:t>i</a:t>
            </a:r>
            <a:r>
              <a:rPr lang="en-US" sz="2100" dirty="0">
                <a:cs typeface="Arial" charset="0"/>
              </a:rPr>
              <a:t>)</a:t>
            </a:r>
          </a:p>
          <a:p>
            <a:pPr marL="257175" indent="-257175">
              <a:lnSpc>
                <a:spcPct val="90000"/>
              </a:lnSpc>
            </a:pPr>
            <a:r>
              <a:rPr lang="en-US" sz="2100" dirty="0">
                <a:cs typeface="Arial" charset="0"/>
              </a:rPr>
              <a:t>r ← right (</a:t>
            </a:r>
            <a:r>
              <a:rPr lang="en-US" sz="2100" dirty="0" err="1">
                <a:cs typeface="Arial" charset="0"/>
              </a:rPr>
              <a:t>i</a:t>
            </a:r>
            <a:r>
              <a:rPr lang="en-US" sz="2100" dirty="0">
                <a:cs typeface="Arial" charset="0"/>
              </a:rPr>
              <a:t>)</a:t>
            </a:r>
          </a:p>
          <a:p>
            <a:pPr marL="257175" indent="-257175">
              <a:lnSpc>
                <a:spcPct val="90000"/>
              </a:lnSpc>
            </a:pPr>
            <a:r>
              <a:rPr lang="en-US" sz="2100" dirty="0">
                <a:cs typeface="Arial" charset="0"/>
              </a:rPr>
              <a:t>If l&lt;= heap size[A] and A[l] &gt; A[</a:t>
            </a:r>
            <a:r>
              <a:rPr lang="en-US" sz="2100" dirty="0" err="1">
                <a:cs typeface="Arial" charset="0"/>
              </a:rPr>
              <a:t>i</a:t>
            </a:r>
            <a:r>
              <a:rPr lang="en-US" sz="2100" dirty="0">
                <a:cs typeface="Arial" charset="0"/>
              </a:rPr>
              <a:t>]</a:t>
            </a:r>
          </a:p>
          <a:p>
            <a:pPr marL="342900" lvl="1" indent="0">
              <a:lnSpc>
                <a:spcPct val="90000"/>
              </a:lnSpc>
              <a:buNone/>
            </a:pPr>
            <a:r>
              <a:rPr lang="en-US" sz="1800" dirty="0" smtClean="0">
                <a:cs typeface="Arial" charset="0"/>
              </a:rPr>
              <a:t>       then largest ← l</a:t>
            </a:r>
            <a:endParaRPr lang="en-US" sz="18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 smtClean="0">
                <a:cs typeface="Arial" charset="0"/>
              </a:rPr>
              <a:t>    else </a:t>
            </a:r>
            <a:r>
              <a:rPr lang="en-US" sz="2200" dirty="0">
                <a:cs typeface="Arial" charset="0"/>
              </a:rPr>
              <a:t>largest ← </a:t>
            </a:r>
            <a:r>
              <a:rPr lang="en-US" sz="2200" dirty="0" err="1">
                <a:cs typeface="Arial" charset="0"/>
              </a:rPr>
              <a:t>i</a:t>
            </a:r>
            <a:endParaRPr lang="en-US" sz="2200" dirty="0">
              <a:cs typeface="Arial" charset="0"/>
            </a:endParaRPr>
          </a:p>
          <a:p>
            <a:pPr marL="257175" indent="-257175">
              <a:lnSpc>
                <a:spcPct val="90000"/>
              </a:lnSpc>
            </a:pPr>
            <a:r>
              <a:rPr lang="en-US" sz="1650" dirty="0">
                <a:cs typeface="Arial" charset="0"/>
              </a:rPr>
              <a:t>If r&lt;= heap size[A] and A[r]&gt;A[largest]</a:t>
            </a:r>
          </a:p>
          <a:p>
            <a:pPr marL="557213" lvl="1" indent="-214313">
              <a:lnSpc>
                <a:spcPct val="90000"/>
              </a:lnSpc>
            </a:pPr>
            <a:r>
              <a:rPr lang="en-US" sz="1500" dirty="0">
                <a:cs typeface="Arial" charset="0"/>
              </a:rPr>
              <a:t>then largest </a:t>
            </a:r>
            <a:r>
              <a:rPr lang="en-US" sz="1800" dirty="0">
                <a:cs typeface="Arial" charset="0"/>
              </a:rPr>
              <a:t>← r</a:t>
            </a:r>
            <a:endParaRPr lang="en-US" sz="1500" dirty="0">
              <a:cs typeface="Arial" charset="0"/>
            </a:endParaRPr>
          </a:p>
          <a:p>
            <a:pPr marL="257175" indent="-257175">
              <a:lnSpc>
                <a:spcPct val="90000"/>
              </a:lnSpc>
            </a:pPr>
            <a:r>
              <a:rPr lang="en-US" sz="2100" dirty="0">
                <a:cs typeface="Arial" charset="0"/>
              </a:rPr>
              <a:t>If largest != </a:t>
            </a:r>
            <a:r>
              <a:rPr lang="en-US" sz="2100" dirty="0" err="1" smtClean="0">
                <a:cs typeface="Arial" charset="0"/>
              </a:rPr>
              <a:t>i</a:t>
            </a:r>
            <a:endParaRPr lang="en-US" sz="2100" dirty="0">
              <a:cs typeface="Arial" charset="0"/>
            </a:endParaRPr>
          </a:p>
          <a:p>
            <a:pPr marL="557213" lvl="1" indent="-214313">
              <a:lnSpc>
                <a:spcPct val="90000"/>
              </a:lnSpc>
            </a:pPr>
            <a:r>
              <a:rPr lang="en-US" sz="1800" dirty="0">
                <a:cs typeface="Arial" charset="0"/>
              </a:rPr>
              <a:t>then exchange A [</a:t>
            </a:r>
            <a:r>
              <a:rPr lang="en-US" sz="1800" dirty="0" err="1">
                <a:cs typeface="Arial" charset="0"/>
              </a:rPr>
              <a:t>i</a:t>
            </a:r>
            <a:r>
              <a:rPr lang="en-US" sz="1800" dirty="0">
                <a:cs typeface="Arial" charset="0"/>
              </a:rPr>
              <a:t>] ↔ A [</a:t>
            </a:r>
            <a:r>
              <a:rPr lang="en-US" sz="1800" dirty="0" err="1">
                <a:cs typeface="Arial" charset="0"/>
              </a:rPr>
              <a:t>largets</a:t>
            </a:r>
            <a:r>
              <a:rPr lang="en-US" sz="1800" dirty="0">
                <a:cs typeface="Arial" charset="0"/>
              </a:rPr>
              <a:t>]</a:t>
            </a:r>
          </a:p>
          <a:p>
            <a:pPr marL="1200150" lvl="3" indent="-171450">
              <a:lnSpc>
                <a:spcPct val="90000"/>
              </a:lnSpc>
            </a:pPr>
            <a:r>
              <a:rPr lang="en-US" sz="1350" dirty="0">
                <a:cs typeface="Arial" charset="0"/>
              </a:rPr>
              <a:t>Max-</a:t>
            </a:r>
            <a:r>
              <a:rPr lang="en-US" sz="1350" dirty="0" err="1">
                <a:cs typeface="Arial" charset="0"/>
              </a:rPr>
              <a:t>HeapIFY</a:t>
            </a:r>
            <a:r>
              <a:rPr lang="en-US" sz="1350" dirty="0">
                <a:cs typeface="Arial" charset="0"/>
              </a:rPr>
              <a:t>(A, largest)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719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Max-HeapIFY(A, i)</a:t>
            </a:r>
          </a:p>
        </p:txBody>
      </p:sp>
      <p:pic>
        <p:nvPicPr>
          <p:cNvPr id="9" name="Content Placeholder 8" descr="Heapify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1690" y="2305412"/>
            <a:ext cx="3057525" cy="1721644"/>
          </a:xfrm>
        </p:spPr>
      </p:pic>
      <p:pic>
        <p:nvPicPr>
          <p:cNvPr id="10" name="Picture 9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90750"/>
            <a:ext cx="4704030" cy="24574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82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Max-HeapIFY(A, i)</a:t>
            </a:r>
          </a:p>
        </p:txBody>
      </p:sp>
      <p:pic>
        <p:nvPicPr>
          <p:cNvPr id="9" name="Content Placeholder 8" descr="Heapify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1350" y="2274018"/>
            <a:ext cx="3057525" cy="1721644"/>
          </a:xfrm>
        </p:spPr>
      </p:pic>
      <p:pic>
        <p:nvPicPr>
          <p:cNvPr id="11" name="Picture 10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981200"/>
            <a:ext cx="4419599" cy="270778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14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Max-HeapIFY(A, i)</a:t>
            </a:r>
          </a:p>
        </p:txBody>
      </p:sp>
      <p:pic>
        <p:nvPicPr>
          <p:cNvPr id="9" name="Content Placeholder 8" descr="Heapify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1350" y="2281167"/>
            <a:ext cx="3057525" cy="1721644"/>
          </a:xfrm>
        </p:spPr>
      </p:pic>
      <p:pic>
        <p:nvPicPr>
          <p:cNvPr id="10" name="Picture 9" descr="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99" y="2114550"/>
            <a:ext cx="4400990" cy="23812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953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2334491"/>
            <a:ext cx="4114800" cy="3276600"/>
          </a:xfrm>
        </p:spPr>
        <p:txBody>
          <a:bodyPr/>
          <a:lstStyle/>
          <a:p>
            <a:r>
              <a:rPr lang="en-US" dirty="0" err="1" smtClean="0"/>
              <a:t>Childern’s</a:t>
            </a:r>
            <a:r>
              <a:rPr lang="en-US" dirty="0" smtClean="0"/>
              <a:t> subtrees each have size at most 2n/3</a:t>
            </a:r>
          </a:p>
          <a:p>
            <a:endParaRPr lang="en-US" dirty="0" smtClean="0"/>
          </a:p>
          <a:p>
            <a:r>
              <a:rPr lang="en-US" dirty="0" smtClean="0"/>
              <a:t>T(n) ≤ T(2n/3) + </a:t>
            </a:r>
            <a:r>
              <a:rPr lang="el-GR" dirty="0" smtClean="0">
                <a:latin typeface="Times New Roman"/>
                <a:cs typeface="Times New Roman"/>
              </a:rPr>
              <a:t>Θ</a:t>
            </a:r>
            <a:r>
              <a:rPr lang="en-US" dirty="0" smtClean="0">
                <a:latin typeface="Times New Roman"/>
                <a:cs typeface="Times New Roman"/>
              </a:rPr>
              <a:t>(1)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70</a:t>
            </a:fld>
            <a:endParaRPr lang="en-US" dirty="0"/>
          </a:p>
        </p:txBody>
      </p:sp>
      <p:pic>
        <p:nvPicPr>
          <p:cNvPr id="6" name="Content Placeholder 8" descr="Heapif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104" y="2438400"/>
            <a:ext cx="4736415" cy="266700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52400" y="1404602"/>
            <a:ext cx="7003960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 smtClean="0">
                <a:solidFill>
                  <a:srgbClr val="00823B"/>
                </a:solidFill>
              </a:rPr>
              <a:t>Max-</a:t>
            </a:r>
            <a:r>
              <a:rPr lang="en-US" b="1" dirty="0" err="1" smtClean="0">
                <a:solidFill>
                  <a:srgbClr val="00823B"/>
                </a:solidFill>
              </a:rPr>
              <a:t>Heapify</a:t>
            </a:r>
            <a:r>
              <a:rPr lang="en-US" b="1" dirty="0" smtClean="0">
                <a:solidFill>
                  <a:srgbClr val="00823B"/>
                </a:solidFill>
              </a:rPr>
              <a:t>(</a:t>
            </a:r>
            <a:r>
              <a:rPr lang="en-US" b="1" dirty="0" err="1" smtClean="0">
                <a:solidFill>
                  <a:srgbClr val="00823B"/>
                </a:solidFill>
              </a:rPr>
              <a:t>A,i</a:t>
            </a:r>
            <a:r>
              <a:rPr lang="en-US" b="1" dirty="0" smtClean="0">
                <a:solidFill>
                  <a:srgbClr val="00823B"/>
                </a:solidFill>
              </a:rPr>
              <a:t>)</a:t>
            </a:r>
            <a:r>
              <a:rPr lang="en-US" dirty="0" smtClean="0"/>
              <a:t> </a:t>
            </a:r>
            <a:r>
              <a:rPr lang="en-US" sz="3100" b="1" dirty="0" smtClean="0">
                <a:solidFill>
                  <a:srgbClr val="0000FF"/>
                </a:solidFill>
              </a:rPr>
              <a:t>- Analysis</a:t>
            </a:r>
            <a:endParaRPr lang="en-US" sz="31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66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404602"/>
            <a:ext cx="7003960" cy="8001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Max-</a:t>
            </a:r>
            <a:r>
              <a:rPr lang="en-US" b="1" dirty="0" err="1">
                <a:solidFill>
                  <a:srgbClr val="00823B"/>
                </a:solidFill>
              </a:rPr>
              <a:t>Heapify</a:t>
            </a:r>
            <a:r>
              <a:rPr lang="en-US" b="1" dirty="0">
                <a:solidFill>
                  <a:srgbClr val="00823B"/>
                </a:solidFill>
              </a:rPr>
              <a:t>(</a:t>
            </a:r>
            <a:r>
              <a:rPr lang="en-US" b="1" dirty="0" err="1">
                <a:solidFill>
                  <a:srgbClr val="00823B"/>
                </a:solidFill>
              </a:rPr>
              <a:t>A,i</a:t>
            </a:r>
            <a:r>
              <a:rPr lang="en-US" b="1" dirty="0">
                <a:solidFill>
                  <a:srgbClr val="00823B"/>
                </a:solidFill>
              </a:rPr>
              <a:t>)</a:t>
            </a:r>
            <a:r>
              <a:rPr lang="en-US" dirty="0"/>
              <a:t> </a:t>
            </a:r>
            <a:r>
              <a:rPr lang="en-US" sz="3100" b="1" dirty="0" smtClean="0">
                <a:solidFill>
                  <a:srgbClr val="0000FF"/>
                </a:solidFill>
              </a:rPr>
              <a:t>- Analysis</a:t>
            </a:r>
            <a:endParaRPr lang="en-US" sz="3100" b="1" dirty="0">
              <a:solidFill>
                <a:srgbClr val="0000FF"/>
              </a:solidFill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2343150"/>
            <a:ext cx="7661275" cy="3371850"/>
          </a:xfrm>
        </p:spPr>
        <p:txBody>
          <a:bodyPr>
            <a:normAutofit/>
          </a:bodyPr>
          <a:lstStyle/>
          <a:p>
            <a:pPr marL="257175" indent="-257175">
              <a:lnSpc>
                <a:spcPct val="90000"/>
              </a:lnSpc>
            </a:pPr>
            <a:r>
              <a:rPr lang="en-US" b="1" dirty="0">
                <a:solidFill>
                  <a:srgbClr val="0000FF"/>
                </a:solidFill>
              </a:rPr>
              <a:t>T(n) ≤ T(2n/3) + </a:t>
            </a:r>
            <a:r>
              <a:rPr lang="el-GR" b="1" dirty="0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r>
              <a:rPr lang="en-US" b="1" dirty="0">
                <a:solidFill>
                  <a:srgbClr val="0000FF"/>
                </a:solidFill>
                <a:latin typeface="Times New Roman"/>
                <a:cs typeface="Times New Roman"/>
              </a:rPr>
              <a:t>(1)</a:t>
            </a:r>
            <a:endParaRPr lang="en-US" dirty="0" smtClean="0"/>
          </a:p>
          <a:p>
            <a:pPr marL="257175" indent="-257175">
              <a:lnSpc>
                <a:spcPct val="90000"/>
              </a:lnSpc>
            </a:pPr>
            <a:r>
              <a:rPr lang="en-US" dirty="0" smtClean="0"/>
              <a:t>Master </a:t>
            </a:r>
            <a:r>
              <a:rPr lang="en-US" dirty="0"/>
              <a:t>Theorem</a:t>
            </a:r>
          </a:p>
          <a:p>
            <a:pPr marL="557213" lvl="1" indent="-214313">
              <a:lnSpc>
                <a:spcPct val="90000"/>
              </a:lnSpc>
            </a:pPr>
            <a:r>
              <a:rPr lang="en-US" i="1" dirty="0" smtClean="0">
                <a:solidFill>
                  <a:srgbClr val="00823B"/>
                </a:solidFill>
              </a:rPr>
              <a:t>If </a:t>
            </a:r>
            <a:r>
              <a:rPr lang="en-US" i="1" dirty="0">
                <a:solidFill>
                  <a:srgbClr val="00823B"/>
                </a:solidFill>
              </a:rPr>
              <a:t>f(n) = </a:t>
            </a:r>
            <a:r>
              <a:rPr lang="en-GB" b="1" dirty="0">
                <a:solidFill>
                  <a:srgbClr val="00823B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i="1" dirty="0">
                <a:solidFill>
                  <a:srgbClr val="00823B"/>
                </a:solidFill>
              </a:rPr>
              <a:t>(n </a:t>
            </a:r>
            <a:r>
              <a:rPr lang="en-US" i="1" baseline="30000" dirty="0">
                <a:solidFill>
                  <a:srgbClr val="00823B"/>
                </a:solidFill>
              </a:rPr>
              <a:t>log</a:t>
            </a:r>
            <a:r>
              <a:rPr lang="en-US" i="1" baseline="-10000" dirty="0">
                <a:solidFill>
                  <a:srgbClr val="00823B"/>
                </a:solidFill>
              </a:rPr>
              <a:t>b</a:t>
            </a:r>
            <a:r>
              <a:rPr lang="en-US" i="1" baseline="30000" dirty="0">
                <a:solidFill>
                  <a:srgbClr val="00823B"/>
                </a:solidFill>
              </a:rPr>
              <a:t> a</a:t>
            </a:r>
            <a:r>
              <a:rPr lang="en-US" i="1" dirty="0">
                <a:solidFill>
                  <a:srgbClr val="00823B"/>
                </a:solidFill>
                <a:cs typeface="Arial" charset="0"/>
              </a:rPr>
              <a:t>), </a:t>
            </a:r>
            <a:r>
              <a:rPr lang="en-US" i="1" dirty="0" smtClean="0">
                <a:solidFill>
                  <a:srgbClr val="00823B"/>
                </a:solidFill>
                <a:cs typeface="Arial" charset="0"/>
              </a:rPr>
              <a:t>then          </a:t>
            </a:r>
            <a:r>
              <a:rPr lang="en-US" i="1" dirty="0">
                <a:solidFill>
                  <a:srgbClr val="00823B"/>
                </a:solidFill>
                <a:cs typeface="Arial" charset="0"/>
              </a:rPr>
              <a:t>T(n)=</a:t>
            </a:r>
            <a:r>
              <a:rPr lang="en-GB" b="1" dirty="0">
                <a:solidFill>
                  <a:srgbClr val="00823B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i="1" dirty="0">
                <a:solidFill>
                  <a:srgbClr val="00823B"/>
                </a:solidFill>
              </a:rPr>
              <a:t>n </a:t>
            </a:r>
            <a:r>
              <a:rPr lang="en-US" i="1" baseline="30000" dirty="0">
                <a:solidFill>
                  <a:srgbClr val="00823B"/>
                </a:solidFill>
              </a:rPr>
              <a:t>log</a:t>
            </a:r>
            <a:r>
              <a:rPr lang="en-US" i="1" baseline="-10000" dirty="0">
                <a:solidFill>
                  <a:srgbClr val="00823B"/>
                </a:solidFill>
              </a:rPr>
              <a:t>b</a:t>
            </a:r>
            <a:r>
              <a:rPr lang="en-US" i="1" baseline="30000" dirty="0">
                <a:solidFill>
                  <a:srgbClr val="00823B"/>
                </a:solidFill>
              </a:rPr>
              <a:t> a  </a:t>
            </a:r>
            <a:r>
              <a:rPr lang="en-US" i="1" dirty="0" err="1">
                <a:solidFill>
                  <a:srgbClr val="00823B"/>
                </a:solidFill>
              </a:rPr>
              <a:t>lg</a:t>
            </a:r>
            <a:r>
              <a:rPr lang="en-US" i="1" dirty="0">
                <a:solidFill>
                  <a:srgbClr val="00823B"/>
                </a:solidFill>
              </a:rPr>
              <a:t> n)</a:t>
            </a:r>
          </a:p>
          <a:p>
            <a:pPr marL="157163" indent="-214313">
              <a:lnSpc>
                <a:spcPct val="90000"/>
              </a:lnSpc>
            </a:pPr>
            <a:r>
              <a:rPr lang="en-US" i="1" dirty="0"/>
              <a:t>a = 1, b = 3/2, f(n) = 1</a:t>
            </a:r>
          </a:p>
          <a:p>
            <a:pPr marL="157163" indent="-214313">
              <a:lnSpc>
                <a:spcPct val="90000"/>
              </a:lnSpc>
            </a:pPr>
            <a:r>
              <a:rPr lang="en-US" i="1" dirty="0"/>
              <a:t>n </a:t>
            </a:r>
            <a:r>
              <a:rPr lang="en-US" i="1" baseline="30000" dirty="0"/>
              <a:t>log</a:t>
            </a:r>
            <a:r>
              <a:rPr lang="en-US" i="1" baseline="-25000" dirty="0"/>
              <a:t>b</a:t>
            </a:r>
            <a:r>
              <a:rPr lang="en-US" i="1" baseline="30000" dirty="0"/>
              <a:t> a</a:t>
            </a:r>
            <a:r>
              <a:rPr lang="en-US" i="1" dirty="0"/>
              <a:t> =  n </a:t>
            </a:r>
            <a:r>
              <a:rPr lang="en-US" i="1" baseline="30000" dirty="0"/>
              <a:t>log</a:t>
            </a:r>
            <a:r>
              <a:rPr lang="en-US" i="1" baseline="-25000" dirty="0"/>
              <a:t>3/2</a:t>
            </a:r>
            <a:r>
              <a:rPr lang="en-US" i="1" baseline="30000" dirty="0"/>
              <a:t> 1</a:t>
            </a:r>
            <a:r>
              <a:rPr lang="en-US" i="1" dirty="0"/>
              <a:t> = n</a:t>
            </a:r>
            <a:r>
              <a:rPr lang="en-US" i="1" baseline="30000" dirty="0"/>
              <a:t>0</a:t>
            </a:r>
            <a:r>
              <a:rPr lang="en-US" i="1" dirty="0"/>
              <a:t> = 1</a:t>
            </a:r>
          </a:p>
          <a:p>
            <a:pPr marL="157163" indent="-214313">
              <a:lnSpc>
                <a:spcPct val="90000"/>
              </a:lnSpc>
            </a:pPr>
            <a:r>
              <a:rPr lang="en-US" i="1" dirty="0"/>
              <a:t>T(n) = </a:t>
            </a:r>
            <a:r>
              <a:rPr lang="el-GR" i="1" dirty="0"/>
              <a:t>Θ</a:t>
            </a:r>
            <a:r>
              <a:rPr lang="en-US" i="1" dirty="0"/>
              <a:t> (</a:t>
            </a:r>
            <a:r>
              <a:rPr lang="en-US" i="1" dirty="0" err="1"/>
              <a:t>lg</a:t>
            </a:r>
            <a:r>
              <a:rPr lang="en-US" i="1" dirty="0"/>
              <a:t> n)</a:t>
            </a:r>
            <a:endParaRPr lang="en-US" i="1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13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Build-Max-Heap(A)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 smtClean="0"/>
              <a:t>A[floor(n/2)+1.. n] are all leaves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heap-size </a:t>
            </a:r>
            <a:r>
              <a:rPr lang="en-US" dirty="0"/>
              <a:t>[A] </a:t>
            </a:r>
            <a:r>
              <a:rPr lang="en-US" dirty="0">
                <a:cs typeface="Arial" charset="0"/>
              </a:rPr>
              <a:t>← length [A]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>
                <a:cs typeface="Arial" charset="0"/>
              </a:rPr>
              <a:t>for </a:t>
            </a:r>
            <a:r>
              <a:rPr lang="en-US" sz="2400" dirty="0" err="1">
                <a:cs typeface="Arial" charset="0"/>
              </a:rPr>
              <a:t>i</a:t>
            </a:r>
            <a:r>
              <a:rPr lang="en-US" sz="2400" dirty="0">
                <a:cs typeface="Arial" charset="0"/>
              </a:rPr>
              <a:t> ← </a:t>
            </a:r>
            <a:r>
              <a:rPr lang="en-US" sz="2400" dirty="0" smtClean="0">
                <a:cs typeface="Arial" charset="0"/>
              </a:rPr>
              <a:t>floor(length </a:t>
            </a:r>
            <a:r>
              <a:rPr lang="en-US" sz="2400" dirty="0">
                <a:cs typeface="Arial" charset="0"/>
              </a:rPr>
              <a:t>[A] / </a:t>
            </a:r>
            <a:r>
              <a:rPr lang="en-US" sz="2400" dirty="0" smtClean="0">
                <a:cs typeface="Arial" charset="0"/>
              </a:rPr>
              <a:t>2) </a:t>
            </a:r>
            <a:r>
              <a:rPr lang="en-US" sz="2400" dirty="0" err="1">
                <a:cs typeface="Arial" charset="0"/>
              </a:rPr>
              <a:t>downto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smtClean="0">
                <a:cs typeface="Arial" charset="0"/>
              </a:rPr>
              <a:t>1 </a:t>
            </a:r>
            <a:r>
              <a:rPr lang="en-US" dirty="0" smtClean="0">
                <a:cs typeface="Arial" charset="0"/>
              </a:rPr>
              <a:t>do</a:t>
            </a:r>
          </a:p>
          <a:p>
            <a:pPr marL="800100" lvl="2" indent="0">
              <a:buNone/>
            </a:pPr>
            <a:r>
              <a:rPr lang="en-US" dirty="0" smtClean="0">
                <a:cs typeface="Arial" charset="0"/>
              </a:rPr>
              <a:t>		Max-</a:t>
            </a:r>
            <a:r>
              <a:rPr lang="en-US" dirty="0" err="1" smtClean="0">
                <a:cs typeface="Arial" charset="0"/>
              </a:rPr>
              <a:t>HeapIFY</a:t>
            </a:r>
            <a:r>
              <a:rPr lang="en-US" dirty="0" smtClean="0">
                <a:cs typeface="Arial" charset="0"/>
              </a:rPr>
              <a:t>(</a:t>
            </a:r>
            <a:r>
              <a:rPr lang="en-US" dirty="0" err="1" smtClean="0">
                <a:cs typeface="Arial" charset="0"/>
              </a:rPr>
              <a:t>A,i</a:t>
            </a:r>
            <a:r>
              <a:rPr lang="en-US" dirty="0">
                <a:cs typeface="Arial" charset="0"/>
              </a:rPr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2271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Build-Max-Heap(A) </a:t>
            </a:r>
            <a:r>
              <a:rPr lang="en-US" sz="1650" dirty="0"/>
              <a:t>[4,1,3,2,16,9,10,14,8,7]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2221601"/>
            <a:ext cx="3539905" cy="971550"/>
          </a:xfrm>
        </p:spPr>
      </p:pic>
      <p:pic>
        <p:nvPicPr>
          <p:cNvPr id="8" name="Picture 7" descr="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643" y="2362200"/>
            <a:ext cx="4873557" cy="2386013"/>
          </a:xfrm>
          <a:prstGeom prst="rect">
            <a:avLst/>
          </a:prstGeo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79" y="3192445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9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Build-Max-Heap(A)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73105" y="2220795"/>
            <a:ext cx="3539905" cy="971550"/>
          </a:xfrm>
        </p:spPr>
      </p:pic>
      <p:pic>
        <p:nvPicPr>
          <p:cNvPr id="8" name="Picture 7" descr="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778" y="2286000"/>
            <a:ext cx="4398422" cy="2271713"/>
          </a:xfrm>
          <a:prstGeom prst="rect">
            <a:avLst/>
          </a:prstGeo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05" y="3356652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0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Build-Max-Heap(A)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2224017"/>
            <a:ext cx="3539905" cy="971550"/>
          </a:xfrm>
        </p:spPr>
      </p:pic>
      <p:pic>
        <p:nvPicPr>
          <p:cNvPr id="8" name="Picture 7" descr="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72" y="2262187"/>
            <a:ext cx="4467428" cy="2386013"/>
          </a:xfrm>
          <a:prstGeom prst="rect">
            <a:avLst/>
          </a:prstGeo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39" y="3367018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Build-Max-Heap(A)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2231260"/>
            <a:ext cx="3539905" cy="971550"/>
          </a:xfrm>
        </p:spPr>
      </p:pic>
      <p:pic>
        <p:nvPicPr>
          <p:cNvPr id="8" name="Picture 7" descr="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601" y="2286000"/>
            <a:ext cx="4345599" cy="2353866"/>
          </a:xfrm>
          <a:prstGeom prst="rect">
            <a:avLst/>
          </a:prstGeo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4" y="330996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78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Build-Max-Heap(A)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2223212"/>
            <a:ext cx="3539905" cy="971550"/>
          </a:xfrm>
        </p:spPr>
      </p:pic>
      <p:pic>
        <p:nvPicPr>
          <p:cNvPr id="9" name="Picture 8" descr="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86000"/>
            <a:ext cx="4475642" cy="2332435"/>
          </a:xfrm>
          <a:prstGeom prst="rect">
            <a:avLst/>
          </a:prstGeom>
        </p:spPr>
      </p:pic>
      <p:pic>
        <p:nvPicPr>
          <p:cNvPr id="10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4" y="3202104"/>
            <a:ext cx="3057525" cy="1721644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6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Build-Max-Heap(A)</a:t>
            </a:r>
            <a:endParaRPr lang="en-US" dirty="0"/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2212747"/>
            <a:ext cx="3539905" cy="971550"/>
          </a:xfrm>
        </p:spPr>
      </p:pic>
      <p:pic>
        <p:nvPicPr>
          <p:cNvPr id="9" name="Picture 8" descr="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480" y="2133600"/>
            <a:ext cx="4573721" cy="2453879"/>
          </a:xfrm>
          <a:prstGeom prst="rect">
            <a:avLst/>
          </a:prstGeom>
        </p:spPr>
      </p:pic>
      <p:pic>
        <p:nvPicPr>
          <p:cNvPr id="10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4" y="3153808"/>
            <a:ext cx="3057525" cy="1721644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7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64" y="1143000"/>
            <a:ext cx="62484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Build-Max-Heap(A) </a:t>
            </a:r>
            <a:r>
              <a:rPr lang="en-US" sz="3600" b="1" dirty="0" smtClean="0">
                <a:solidFill>
                  <a:srgbClr val="0000FF"/>
                </a:solidFill>
              </a:rPr>
              <a:t>(Analysis)</a:t>
            </a:r>
            <a:endParaRPr lang="en-US" sz="3600" b="1" dirty="0">
              <a:solidFill>
                <a:srgbClr val="0000FF"/>
              </a:solidFill>
            </a:endParaRPr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4" y="1905000"/>
            <a:ext cx="3539905" cy="9715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79</a:t>
            </a:fld>
            <a:endParaRPr 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82764" y="2895600"/>
            <a:ext cx="3539905" cy="3219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Max-</a:t>
            </a:r>
            <a:r>
              <a:rPr lang="en-US" b="1" dirty="0" err="1" smtClean="0"/>
              <a:t>Heapify</a:t>
            </a:r>
            <a:r>
              <a:rPr lang="en-US" b="1" dirty="0" smtClean="0"/>
              <a:t>(</a:t>
            </a:r>
            <a:r>
              <a:rPr lang="en-US" b="1" dirty="0" err="1" smtClean="0"/>
              <a:t>A,i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O(</a:t>
            </a:r>
            <a:r>
              <a:rPr lang="en-US" b="1" dirty="0" err="1" smtClean="0"/>
              <a:t>lg</a:t>
            </a:r>
            <a:r>
              <a:rPr lang="en-US" b="1" dirty="0" smtClean="0"/>
              <a:t> n) = </a:t>
            </a:r>
            <a:r>
              <a:rPr lang="en-US" b="1" dirty="0" smtClean="0">
                <a:solidFill>
                  <a:srgbClr val="0000FF"/>
                </a:solidFill>
              </a:rPr>
              <a:t>O(h)</a:t>
            </a:r>
          </a:p>
          <a:p>
            <a:r>
              <a:rPr lang="en-US" b="1" dirty="0" smtClean="0"/>
              <a:t>Elements of “h”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Ceiling(n/2</a:t>
            </a:r>
            <a:r>
              <a:rPr lang="en-US" b="1" baseline="30000" dirty="0" smtClean="0">
                <a:solidFill>
                  <a:srgbClr val="0000FF"/>
                </a:solidFill>
              </a:rPr>
              <a:t>h+1</a:t>
            </a:r>
            <a:r>
              <a:rPr lang="en-US" b="1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b="1" dirty="0" smtClean="0"/>
              <a:t>Heights varies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0 </a:t>
            </a:r>
            <a:r>
              <a:rPr lang="en-US" b="1" dirty="0" smtClean="0"/>
              <a:t>to</a:t>
            </a:r>
            <a:r>
              <a:rPr lang="en-US" b="1" dirty="0" smtClean="0">
                <a:solidFill>
                  <a:srgbClr val="0000FF"/>
                </a:solidFill>
              </a:rPr>
              <a:t> floor(</a:t>
            </a:r>
            <a:r>
              <a:rPr lang="en-US" b="1" dirty="0" err="1" smtClean="0">
                <a:solidFill>
                  <a:srgbClr val="0000FF"/>
                </a:solidFill>
              </a:rPr>
              <a:t>lgn</a:t>
            </a:r>
            <a:r>
              <a:rPr lang="en-US" b="1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13" name="Picture 12" descr="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643" y="2362200"/>
            <a:ext cx="4873557" cy="238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2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64" y="1143000"/>
            <a:ext cx="62484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Build-Max-Heap(A) </a:t>
            </a:r>
            <a:r>
              <a:rPr lang="en-US" sz="3600" b="1" dirty="0" smtClean="0">
                <a:solidFill>
                  <a:srgbClr val="0000FF"/>
                </a:solidFill>
              </a:rPr>
              <a:t>(Analysis)</a:t>
            </a:r>
            <a:endParaRPr lang="en-US" sz="3600" b="1" dirty="0">
              <a:solidFill>
                <a:srgbClr val="0000FF"/>
              </a:solidFill>
            </a:endParaRPr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5" y="1905000"/>
            <a:ext cx="3303436" cy="14478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80</a:t>
            </a:fld>
            <a:endParaRPr 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82764" y="3287712"/>
            <a:ext cx="3539905" cy="3219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Max-</a:t>
            </a:r>
            <a:r>
              <a:rPr lang="en-US" b="1" dirty="0" err="1" smtClean="0"/>
              <a:t>Heapify</a:t>
            </a:r>
            <a:r>
              <a:rPr lang="en-US" b="1" dirty="0" smtClean="0"/>
              <a:t>(</a:t>
            </a:r>
            <a:r>
              <a:rPr lang="en-US" b="1" dirty="0" err="1" smtClean="0"/>
              <a:t>A,i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smtClean="0"/>
              <a:t>O(</a:t>
            </a:r>
            <a:r>
              <a:rPr lang="en-US" b="1" dirty="0" err="1" smtClean="0"/>
              <a:t>lg</a:t>
            </a:r>
            <a:r>
              <a:rPr lang="en-US" b="1" dirty="0" smtClean="0"/>
              <a:t> n) = </a:t>
            </a:r>
            <a:r>
              <a:rPr lang="en-US" b="1" dirty="0" smtClean="0">
                <a:solidFill>
                  <a:srgbClr val="0000FF"/>
                </a:solidFill>
              </a:rPr>
              <a:t>O(h)</a:t>
            </a:r>
          </a:p>
          <a:p>
            <a:r>
              <a:rPr lang="en-US" b="1" dirty="0" smtClean="0"/>
              <a:t>Elements of “h”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Ceiling(n/2</a:t>
            </a:r>
            <a:r>
              <a:rPr lang="en-US" b="1" baseline="30000" dirty="0" smtClean="0">
                <a:solidFill>
                  <a:srgbClr val="0000FF"/>
                </a:solidFill>
              </a:rPr>
              <a:t>h+1</a:t>
            </a:r>
            <a:r>
              <a:rPr lang="en-US" b="1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b="1" dirty="0" smtClean="0"/>
              <a:t>Heights varies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0</a:t>
            </a:r>
            <a:r>
              <a:rPr lang="en-US" b="1" dirty="0" smtClean="0"/>
              <a:t> to </a:t>
            </a:r>
            <a:r>
              <a:rPr lang="en-US" b="1" dirty="0" smtClean="0">
                <a:solidFill>
                  <a:srgbClr val="0000FF"/>
                </a:solidFill>
              </a:rPr>
              <a:t>floor(</a:t>
            </a:r>
            <a:r>
              <a:rPr lang="en-US" b="1" dirty="0" err="1" smtClean="0">
                <a:solidFill>
                  <a:srgbClr val="0000FF"/>
                </a:solidFill>
              </a:rPr>
              <a:t>lgn</a:t>
            </a:r>
            <a:r>
              <a:rPr lang="en-US" b="1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888" y="2119311"/>
            <a:ext cx="609600" cy="323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537" y="2090737"/>
            <a:ext cx="695325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874" y="2028824"/>
            <a:ext cx="914400" cy="50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960" y="1905000"/>
            <a:ext cx="495300" cy="752475"/>
          </a:xfrm>
          <a:prstGeom prst="rect">
            <a:avLst/>
          </a:prstGeom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802" y="2743200"/>
            <a:ext cx="2496688" cy="87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819525"/>
            <a:ext cx="257175" cy="2190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6764" y="3555207"/>
            <a:ext cx="1514475" cy="695325"/>
          </a:xfrm>
          <a:prstGeom prst="rect">
            <a:avLst/>
          </a:prstGeom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530" y="4431508"/>
            <a:ext cx="2699460" cy="124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83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64" y="1143000"/>
            <a:ext cx="62484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Build-Max-Heap(A) </a:t>
            </a:r>
            <a:r>
              <a:rPr lang="en-US" sz="3600" b="1" dirty="0" smtClean="0">
                <a:solidFill>
                  <a:srgbClr val="0000FF"/>
                </a:solidFill>
              </a:rPr>
              <a:t>(Analysis)</a:t>
            </a:r>
            <a:endParaRPr lang="en-US" sz="3600" b="1" dirty="0">
              <a:solidFill>
                <a:srgbClr val="0000FF"/>
              </a:solidFill>
            </a:endParaRPr>
          </a:p>
        </p:txBody>
      </p:sp>
      <p:pic>
        <p:nvPicPr>
          <p:cNvPr id="7" name="Content Placeholder 6" descr="BM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2765" y="1905000"/>
            <a:ext cx="3303436" cy="14478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537" y="2090737"/>
            <a:ext cx="695325" cy="381000"/>
          </a:xfrm>
          <a:prstGeom prst="rect">
            <a:avLst/>
          </a:prstGeom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64" y="3352800"/>
            <a:ext cx="2699460" cy="124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543" y="1940502"/>
            <a:ext cx="1514475" cy="695325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64" y="4640625"/>
            <a:ext cx="3412474" cy="1094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821564"/>
            <a:ext cx="1076325" cy="342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381375"/>
            <a:ext cx="7715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2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HeapSort</a:t>
            </a:r>
            <a:r>
              <a:rPr lang="en-US" b="1" dirty="0">
                <a:solidFill>
                  <a:srgbClr val="00823B"/>
                </a:solidFill>
              </a:rPr>
              <a:t>(A</a:t>
            </a:r>
            <a:r>
              <a:rPr lang="en-US" b="1" dirty="0" smtClean="0">
                <a:solidFill>
                  <a:srgbClr val="00823B"/>
                </a:solidFill>
              </a:rPr>
              <a:t>) </a:t>
            </a:r>
            <a:r>
              <a:rPr lang="en-US" sz="3200" b="1" dirty="0" smtClean="0">
                <a:solidFill>
                  <a:srgbClr val="0000FF"/>
                </a:solidFill>
              </a:rPr>
              <a:t>(Algorithm)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257175" indent="-257175"/>
            <a:r>
              <a:rPr lang="en-US" dirty="0" smtClean="0"/>
              <a:t>Build-Max-Heap(A</a:t>
            </a:r>
            <a:r>
              <a:rPr lang="en-US" dirty="0"/>
              <a:t>)</a:t>
            </a:r>
          </a:p>
          <a:p>
            <a:pPr marL="257175" indent="-257175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cs typeface="Arial" charset="0"/>
              </a:rPr>
              <a:t>← length [A] </a:t>
            </a:r>
            <a:r>
              <a:rPr lang="en-US" dirty="0" err="1">
                <a:cs typeface="Arial" charset="0"/>
              </a:rPr>
              <a:t>downto</a:t>
            </a:r>
            <a:r>
              <a:rPr lang="en-US" dirty="0">
                <a:cs typeface="Arial" charset="0"/>
              </a:rPr>
              <a:t> 2</a:t>
            </a:r>
          </a:p>
          <a:p>
            <a:pPr marL="557213" lvl="1" indent="-214313"/>
            <a:r>
              <a:rPr lang="en-US" dirty="0">
                <a:cs typeface="Arial" charset="0"/>
              </a:rPr>
              <a:t>do exchange A[1] ↔ A[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]</a:t>
            </a:r>
          </a:p>
          <a:p>
            <a:pPr marL="1143000" lvl="3" indent="0">
              <a:buNone/>
            </a:pPr>
            <a:r>
              <a:rPr lang="en-US" dirty="0">
                <a:cs typeface="Arial" charset="0"/>
              </a:rPr>
              <a:t>Heap-size[A] ← heap-size[A] – 1</a:t>
            </a:r>
          </a:p>
          <a:p>
            <a:pPr marL="1143000" lvl="3" indent="0">
              <a:buNone/>
            </a:pPr>
            <a:r>
              <a:rPr lang="en-US" dirty="0">
                <a:cs typeface="Arial" charset="0"/>
              </a:rPr>
              <a:t>Max-</a:t>
            </a:r>
            <a:r>
              <a:rPr lang="en-US" dirty="0" err="1">
                <a:cs typeface="Arial" charset="0"/>
              </a:rPr>
              <a:t>HeapIFY</a:t>
            </a:r>
            <a:r>
              <a:rPr lang="en-US" dirty="0">
                <a:cs typeface="Arial" charset="0"/>
              </a:rPr>
              <a:t>(A,1)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404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8" name="Picture 7" descr="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232" y="2209800"/>
            <a:ext cx="4123968" cy="2247901"/>
          </a:xfrm>
          <a:prstGeom prst="rect">
            <a:avLst/>
          </a:prstGeo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5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84</a:t>
            </a:fld>
            <a:endParaRPr lang="en-US" dirty="0"/>
          </a:p>
        </p:txBody>
      </p:sp>
      <p:pic>
        <p:nvPicPr>
          <p:cNvPr id="11" name="Picture 10" descr="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175164"/>
            <a:ext cx="3942247" cy="216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7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85</a:t>
            </a:fld>
            <a:endParaRPr lang="en-US" dirty="0"/>
          </a:p>
        </p:txBody>
      </p:sp>
      <p:pic>
        <p:nvPicPr>
          <p:cNvPr id="8" name="Picture 7" descr="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071" y="2286000"/>
            <a:ext cx="4055129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0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86</a:t>
            </a:fld>
            <a:endParaRPr lang="en-US" dirty="0"/>
          </a:p>
        </p:txBody>
      </p:sp>
      <p:pic>
        <p:nvPicPr>
          <p:cNvPr id="11" name="Picture 10" descr="3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026" y="2209800"/>
            <a:ext cx="3868174" cy="196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2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87</a:t>
            </a:fld>
            <a:endParaRPr lang="en-US" dirty="0"/>
          </a:p>
        </p:txBody>
      </p:sp>
      <p:pic>
        <p:nvPicPr>
          <p:cNvPr id="8" name="Picture 7" descr="3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470" y="2286000"/>
            <a:ext cx="4013730" cy="21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8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88</a:t>
            </a:fld>
            <a:endParaRPr lang="en-US" dirty="0"/>
          </a:p>
        </p:txBody>
      </p:sp>
      <p:pic>
        <p:nvPicPr>
          <p:cNvPr id="11" name="Picture 10" descr="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347" y="2209800"/>
            <a:ext cx="3848853" cy="207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8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89</a:t>
            </a:fld>
            <a:endParaRPr lang="en-US" dirty="0"/>
          </a:p>
        </p:txBody>
      </p:sp>
      <p:pic>
        <p:nvPicPr>
          <p:cNvPr id="8" name="Picture 7" descr="3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850" y="2209800"/>
            <a:ext cx="4227351" cy="23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4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90</a:t>
            </a:fld>
            <a:endParaRPr lang="en-US" dirty="0"/>
          </a:p>
        </p:txBody>
      </p:sp>
      <p:pic>
        <p:nvPicPr>
          <p:cNvPr id="11" name="Picture 10" descr="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86000"/>
            <a:ext cx="4040765" cy="218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4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91</a:t>
            </a:fld>
            <a:endParaRPr lang="en-US" dirty="0"/>
          </a:p>
        </p:txBody>
      </p:sp>
      <p:pic>
        <p:nvPicPr>
          <p:cNvPr id="8" name="Picture 7" descr="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155" y="2209800"/>
            <a:ext cx="3720046" cy="21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[</a:t>
            </a:r>
            <a:r>
              <a:rPr lang="en-US" sz="3100" b="1" dirty="0">
                <a:solidFill>
                  <a:srgbClr val="0000FF"/>
                </a:solidFill>
              </a:rPr>
              <a:t>16,14,10,8,7,9,3,2,4,1]</a:t>
            </a: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43000" y="2170335"/>
            <a:ext cx="3352800" cy="1201515"/>
          </a:xfrm>
        </p:spPr>
      </p:pic>
      <p:pic>
        <p:nvPicPr>
          <p:cNvPr id="9" name="Content Placeholder 8" descr="Heapif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3421857"/>
            <a:ext cx="3057525" cy="17216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92</a:t>
            </a:fld>
            <a:endParaRPr lang="en-US" dirty="0"/>
          </a:p>
        </p:txBody>
      </p:sp>
      <p:pic>
        <p:nvPicPr>
          <p:cNvPr id="11" name="Picture 10" descr="4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203" y="2209800"/>
            <a:ext cx="3965998" cy="22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5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428750"/>
            <a:ext cx="7024744" cy="6286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Heapsort(A) </a:t>
            </a:r>
            <a:r>
              <a:rPr lang="en-US" sz="3100" b="1" dirty="0" smtClean="0">
                <a:solidFill>
                  <a:srgbClr val="0000FF"/>
                </a:solidFill>
              </a:rPr>
              <a:t>(Analysis)</a:t>
            </a:r>
            <a:endParaRPr lang="en-US" sz="3100" b="1" dirty="0">
              <a:solidFill>
                <a:srgbClr val="0000FF"/>
              </a:solidFill>
            </a:endParaRPr>
          </a:p>
        </p:txBody>
      </p:sp>
      <p:pic>
        <p:nvPicPr>
          <p:cNvPr id="7" name="Content Placeholder 6" descr="HS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57200" y="2170335"/>
            <a:ext cx="3352800" cy="1201515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93</a:t>
            </a:fld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3484785"/>
            <a:ext cx="35052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dirty="0"/>
              <a:t>Build-Max-Heap(A)</a:t>
            </a:r>
          </a:p>
          <a:p>
            <a:pPr marL="557213" lvl="1" indent="-214313"/>
            <a:r>
              <a:rPr lang="en-US" b="1" i="1" dirty="0">
                <a:solidFill>
                  <a:srgbClr val="0000FF"/>
                </a:solidFill>
              </a:rPr>
              <a:t>O</a:t>
            </a:r>
            <a:r>
              <a:rPr lang="en-US" b="1" dirty="0">
                <a:solidFill>
                  <a:srgbClr val="0000FF"/>
                </a:solidFill>
              </a:rPr>
              <a:t> (n)</a:t>
            </a:r>
          </a:p>
          <a:p>
            <a:pPr marL="257175" indent="-257175"/>
            <a:r>
              <a:rPr lang="en-US" dirty="0" smtClean="0"/>
              <a:t>Max-</a:t>
            </a:r>
            <a:r>
              <a:rPr lang="en-US" dirty="0" err="1" smtClean="0"/>
              <a:t>HeapIFY</a:t>
            </a:r>
            <a:r>
              <a:rPr lang="en-US" dirty="0" smtClean="0"/>
              <a:t>(</a:t>
            </a:r>
            <a:r>
              <a:rPr lang="en-US" dirty="0" err="1" smtClean="0"/>
              <a:t>A,i</a:t>
            </a:r>
            <a:r>
              <a:rPr lang="en-US" dirty="0" smtClean="0"/>
              <a:t>)</a:t>
            </a:r>
          </a:p>
          <a:p>
            <a:pPr marL="557213" lvl="1" indent="-214313"/>
            <a:r>
              <a:rPr lang="en-US" b="1" i="1" dirty="0" smtClean="0">
                <a:solidFill>
                  <a:srgbClr val="0000FF"/>
                </a:solidFill>
              </a:rPr>
              <a:t>O</a:t>
            </a:r>
            <a:r>
              <a:rPr lang="en-US" b="1" dirty="0" smtClean="0">
                <a:solidFill>
                  <a:srgbClr val="0000FF"/>
                </a:solidFill>
              </a:rPr>
              <a:t> (</a:t>
            </a:r>
            <a:r>
              <a:rPr lang="en-US" b="1" dirty="0" err="1" smtClean="0">
                <a:solidFill>
                  <a:srgbClr val="0000FF"/>
                </a:solidFill>
              </a:rPr>
              <a:t>lg</a:t>
            </a:r>
            <a:r>
              <a:rPr lang="en-US" b="1" dirty="0" smtClean="0">
                <a:solidFill>
                  <a:srgbClr val="0000FF"/>
                </a:solidFill>
              </a:rPr>
              <a:t> n) </a:t>
            </a:r>
            <a:r>
              <a:rPr lang="en-US" dirty="0" smtClean="0"/>
              <a:t>= </a:t>
            </a:r>
            <a:r>
              <a:rPr lang="en-US" i="1" dirty="0" smtClean="0"/>
              <a:t>O</a:t>
            </a:r>
            <a:r>
              <a:rPr lang="en-US" dirty="0" smtClean="0"/>
              <a:t> (h)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0" y="2170335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T(n) =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800600" y="2170335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O (n) + 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0" y="2170335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</a:t>
            </a:r>
            <a:r>
              <a:rPr lang="en-US" sz="2800" b="1" dirty="0" smtClean="0"/>
              <a:t> * O ( </a:t>
            </a:r>
            <a:r>
              <a:rPr lang="en-US" sz="2800" b="1" dirty="0" err="1" smtClean="0"/>
              <a:t>lg</a:t>
            </a:r>
            <a:r>
              <a:rPr lang="en-US" sz="2800" b="1" dirty="0" smtClean="0"/>
              <a:t> n)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800600" y="2771092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O (n) + 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019800" y="2765686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O ( n </a:t>
            </a:r>
            <a:r>
              <a:rPr lang="en-US" sz="2800" b="1" dirty="0" err="1" smtClean="0"/>
              <a:t>lg</a:t>
            </a:r>
            <a:r>
              <a:rPr lang="en-US" sz="2800" b="1" dirty="0" smtClean="0"/>
              <a:t> n)</a:t>
            </a:r>
            <a:endParaRPr lang="en-US" sz="28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343399" y="2765686"/>
            <a:ext cx="619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=</a:t>
            </a:r>
            <a:endParaRPr lang="en-US" sz="28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876800" y="3320931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O ( n </a:t>
            </a:r>
            <a:r>
              <a:rPr lang="en-US" sz="2800" b="1" dirty="0" err="1" smtClean="0"/>
              <a:t>lg</a:t>
            </a:r>
            <a:r>
              <a:rPr lang="en-US" sz="2800" b="1" dirty="0" smtClean="0"/>
              <a:t> n)</a:t>
            </a:r>
            <a:endParaRPr lang="en-US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333009" y="3276600"/>
            <a:ext cx="619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 =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5772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4" grpId="0"/>
      <p:bldP spid="15" grpId="0"/>
      <p:bldP spid="18" grpId="0"/>
      <p:bldP spid="19" grpId="0"/>
      <p:bldP spid="2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</TotalTime>
  <Words>1818</Words>
  <Application>Microsoft Office PowerPoint</Application>
  <PresentationFormat>On-screen Show (4:3)</PresentationFormat>
  <Paragraphs>440</Paragraphs>
  <Slides>94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1" baseType="lpstr">
      <vt:lpstr>Arial</vt:lpstr>
      <vt:lpstr>Bodoni MT</vt:lpstr>
      <vt:lpstr>Calibri</vt:lpstr>
      <vt:lpstr>Monotype Sorts</vt:lpstr>
      <vt:lpstr>Symbol</vt:lpstr>
      <vt:lpstr>Times New Roman</vt:lpstr>
      <vt:lpstr>Office Theme</vt:lpstr>
      <vt:lpstr>PowerPoint Presentation</vt:lpstr>
      <vt:lpstr>Transform and Conquer</vt:lpstr>
      <vt:lpstr>Transform and Conquer</vt:lpstr>
      <vt:lpstr>Transform and Conquer</vt:lpstr>
      <vt:lpstr>Instances Simplification</vt:lpstr>
      <vt:lpstr>Presorting</vt:lpstr>
      <vt:lpstr>Element Uniqueness Problem</vt:lpstr>
      <vt:lpstr>Element Uniqueness Problem</vt:lpstr>
      <vt:lpstr>Element Uniqueness Problem (Analysis)</vt:lpstr>
      <vt:lpstr>Computing a mode</vt:lpstr>
      <vt:lpstr>Computing a mode</vt:lpstr>
      <vt:lpstr>Computing a mode (Algorithm)</vt:lpstr>
      <vt:lpstr>Computing a mode (Analysis)</vt:lpstr>
      <vt:lpstr>Searching Problem</vt:lpstr>
      <vt:lpstr>Searching Problem</vt:lpstr>
      <vt:lpstr>Gaussian Elimination</vt:lpstr>
      <vt:lpstr>Gaussian Elimination</vt:lpstr>
      <vt:lpstr>Gaussian Elimination</vt:lpstr>
      <vt:lpstr>Gaussian Elimination</vt:lpstr>
      <vt:lpstr>Gaussian Elimination</vt:lpstr>
      <vt:lpstr>Gaussian Elimination (Example)</vt:lpstr>
      <vt:lpstr>Gaussian Elimination (Example)</vt:lpstr>
      <vt:lpstr>Gaussian Elimination (Algorithm)</vt:lpstr>
      <vt:lpstr>Gaussian Elimination (Algorithm)</vt:lpstr>
      <vt:lpstr>Gaussian Elimination (Analysis)</vt:lpstr>
      <vt:lpstr>Gaussian Elimination (Analysis)</vt:lpstr>
      <vt:lpstr>Gaussian Elimination (Analysis)</vt:lpstr>
      <vt:lpstr>LU Decomposition</vt:lpstr>
      <vt:lpstr>LU Decomposition</vt:lpstr>
      <vt:lpstr>LU Decomposition</vt:lpstr>
      <vt:lpstr>Balanced Search Tree</vt:lpstr>
      <vt:lpstr>Adelson-Velsky and Landis AVL Tree</vt:lpstr>
      <vt:lpstr>Adelson-Velsky and Landis AVL Tree</vt:lpstr>
      <vt:lpstr>AVL Tree</vt:lpstr>
      <vt:lpstr>AVL Tree</vt:lpstr>
      <vt:lpstr>Single right rotation, or R-rotation</vt:lpstr>
      <vt:lpstr>Single left rotation, or L-rotation</vt:lpstr>
      <vt:lpstr>double left-right rotation or  LR-rotation</vt:lpstr>
      <vt:lpstr>double right-left rotation or  RL-rotation</vt:lpstr>
      <vt:lpstr>AVL Example: 5, 6, 8, 3, 2, 4, 7</vt:lpstr>
      <vt:lpstr>AVL Example: 5, 6, 8, 3, 2, 4, 7</vt:lpstr>
      <vt:lpstr>AVL Example: 5, 6, 8, 3, 2, 4, 7</vt:lpstr>
      <vt:lpstr>AVL Example: 5, 6, 8, 3, 2, 4, 7</vt:lpstr>
      <vt:lpstr>AVL Example: 5, 6, 8, 3, 2, 4, 7</vt:lpstr>
      <vt:lpstr>Representation Change</vt:lpstr>
      <vt:lpstr>Transform and Conquer</vt:lpstr>
      <vt:lpstr>2 – 3 Trees</vt:lpstr>
      <vt:lpstr>Multiway Search Trees</vt:lpstr>
      <vt:lpstr>2 – 3 Trees</vt:lpstr>
      <vt:lpstr>2 – 3 Trees</vt:lpstr>
      <vt:lpstr>2 – 3 Trees</vt:lpstr>
      <vt:lpstr>2 – 3 Trees (Insertion)</vt:lpstr>
      <vt:lpstr>Leaf has 2-nodes</vt:lpstr>
      <vt:lpstr>2 – 3 Trees (Insertion)</vt:lpstr>
      <vt:lpstr>Leaf has 3-nodes</vt:lpstr>
      <vt:lpstr>2 -3 Tree (Example)</vt:lpstr>
      <vt:lpstr>2 -3 Tree (Example)</vt:lpstr>
      <vt:lpstr>2 -3 Tree (Analysis)</vt:lpstr>
      <vt:lpstr>2 -3 Tree (Analysis)</vt:lpstr>
      <vt:lpstr>2 -3 Tree (Analysis)</vt:lpstr>
      <vt:lpstr>Heap &amp; Heap Sort</vt:lpstr>
      <vt:lpstr>Heap</vt:lpstr>
      <vt:lpstr>Heap</vt:lpstr>
      <vt:lpstr>Heap Types</vt:lpstr>
      <vt:lpstr>Basic Procedures of Heap</vt:lpstr>
      <vt:lpstr>Max-HeapIFY(A, i)</vt:lpstr>
      <vt:lpstr>Max-HeapIFY(A, i)</vt:lpstr>
      <vt:lpstr>Max-HeapIFY(A, i)</vt:lpstr>
      <vt:lpstr>Max-HeapIFY(A, i)</vt:lpstr>
      <vt:lpstr>PowerPoint Presentation</vt:lpstr>
      <vt:lpstr>Max-Heapify(A,i) - Analysis</vt:lpstr>
      <vt:lpstr>Build-Max-Heap(A)</vt:lpstr>
      <vt:lpstr>Build-Max-Heap(A) [4,1,3,2,16,9,10,14,8,7]</vt:lpstr>
      <vt:lpstr>Build-Max-Heap(A)</vt:lpstr>
      <vt:lpstr>Build-Max-Heap(A)</vt:lpstr>
      <vt:lpstr>Build-Max-Heap(A)</vt:lpstr>
      <vt:lpstr>Build-Max-Heap(A)</vt:lpstr>
      <vt:lpstr>Build-Max-Heap(A)</vt:lpstr>
      <vt:lpstr>Build-Max-Heap(A) (Analysis)</vt:lpstr>
      <vt:lpstr>Build-Max-Heap(A) (Analysis)</vt:lpstr>
      <vt:lpstr>Build-Max-Heap(A) (Analysis)</vt:lpstr>
      <vt:lpstr>HeapSort(A) (Algorithm)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[16,14,10,8,7,9,3,2,4,1]</vt:lpstr>
      <vt:lpstr>Heapsort(A) (Analysis)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317</cp:revision>
  <cp:lastPrinted>2023-11-05T06:48:35Z</cp:lastPrinted>
  <dcterms:created xsi:type="dcterms:W3CDTF">2018-06-20T09:11:51Z</dcterms:created>
  <dcterms:modified xsi:type="dcterms:W3CDTF">2025-04-28T16:11:22Z</dcterms:modified>
</cp:coreProperties>
</file>