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349" r:id="rId2"/>
    <p:sldId id="350" r:id="rId3"/>
    <p:sldId id="507" r:id="rId4"/>
    <p:sldId id="448" r:id="rId5"/>
    <p:sldId id="449" r:id="rId6"/>
    <p:sldId id="511" r:id="rId7"/>
    <p:sldId id="510" r:id="rId8"/>
    <p:sldId id="509" r:id="rId9"/>
    <p:sldId id="508" r:id="rId10"/>
    <p:sldId id="450" r:id="rId11"/>
    <p:sldId id="454" r:id="rId12"/>
    <p:sldId id="467" r:id="rId13"/>
    <p:sldId id="466" r:id="rId14"/>
    <p:sldId id="465" r:id="rId15"/>
    <p:sldId id="464" r:id="rId16"/>
    <p:sldId id="463" r:id="rId17"/>
    <p:sldId id="462" r:id="rId18"/>
    <p:sldId id="461" r:id="rId19"/>
    <p:sldId id="460" r:id="rId20"/>
    <p:sldId id="459" r:id="rId21"/>
    <p:sldId id="458" r:id="rId22"/>
    <p:sldId id="457" r:id="rId23"/>
    <p:sldId id="456" r:id="rId24"/>
    <p:sldId id="455" r:id="rId25"/>
    <p:sldId id="451" r:id="rId26"/>
    <p:sldId id="468" r:id="rId27"/>
    <p:sldId id="479" r:id="rId28"/>
    <p:sldId id="478" r:id="rId29"/>
    <p:sldId id="477" r:id="rId30"/>
    <p:sldId id="476" r:id="rId31"/>
    <p:sldId id="475" r:id="rId32"/>
    <p:sldId id="474" r:id="rId33"/>
    <p:sldId id="473" r:id="rId34"/>
    <p:sldId id="472" r:id="rId35"/>
    <p:sldId id="471" r:id="rId36"/>
    <p:sldId id="470" r:id="rId37"/>
    <p:sldId id="469" r:id="rId38"/>
    <p:sldId id="452" r:id="rId39"/>
    <p:sldId id="481" r:id="rId40"/>
    <p:sldId id="503" r:id="rId41"/>
    <p:sldId id="502" r:id="rId42"/>
    <p:sldId id="501" r:id="rId43"/>
    <p:sldId id="500" r:id="rId44"/>
    <p:sldId id="499" r:id="rId45"/>
    <p:sldId id="498" r:id="rId46"/>
    <p:sldId id="497" r:id="rId47"/>
    <p:sldId id="496" r:id="rId48"/>
    <p:sldId id="495" r:id="rId49"/>
    <p:sldId id="494" r:id="rId50"/>
    <p:sldId id="493" r:id="rId51"/>
    <p:sldId id="492" r:id="rId52"/>
    <p:sldId id="491" r:id="rId53"/>
    <p:sldId id="490" r:id="rId54"/>
    <p:sldId id="489" r:id="rId55"/>
    <p:sldId id="488" r:id="rId56"/>
    <p:sldId id="487" r:id="rId57"/>
    <p:sldId id="486" r:id="rId58"/>
    <p:sldId id="485" r:id="rId59"/>
    <p:sldId id="484" r:id="rId60"/>
    <p:sldId id="483" r:id="rId61"/>
    <p:sldId id="482" r:id="rId62"/>
    <p:sldId id="447" r:id="rId63"/>
    <p:sldId id="348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41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2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42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44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62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95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85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June 12-16,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 lnSpcReduction="10000"/>
          </a:bodyPr>
          <a:lstStyle/>
          <a:p>
            <a:pPr algn="r"/>
            <a:r>
              <a:rPr lang="en-US" dirty="0"/>
              <a:t>Introduction</a:t>
            </a:r>
          </a:p>
          <a:p>
            <a:pPr algn="r"/>
            <a:r>
              <a:rPr lang="en-US" sz="7200" b="1" dirty="0">
                <a:solidFill>
                  <a:srgbClr val="0000FF"/>
                </a:solidFill>
              </a:rPr>
              <a:t>Recursive</a:t>
            </a:r>
          </a:p>
        </p:txBody>
      </p:sp>
    </p:spTree>
    <p:extLst>
      <p:ext uri="{BB962C8B-B14F-4D97-AF65-F5344CB8AC3E}">
        <p14:creationId xmlns:p14="http://schemas.microsoft.com/office/powerpoint/2010/main" val="382758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823B"/>
                </a:solidFill>
              </a:rPr>
              <a:t>Iterative Algorithms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>
                <a:solidFill>
                  <a:srgbClr val="00823B"/>
                </a:solidFill>
              </a:rPr>
              <a:t>RAM Model Analysis</a:t>
            </a:r>
          </a:p>
          <a:p>
            <a:r>
              <a:rPr lang="en-US" b="1" dirty="0">
                <a:solidFill>
                  <a:srgbClr val="0000FF"/>
                </a:solidFill>
              </a:rPr>
              <a:t>Recursive Algorithm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sz="2500" dirty="0">
                <a:solidFill>
                  <a:srgbClr val="00823B"/>
                </a:solidFill>
              </a:rPr>
              <a:t>Forwards Substitution Method</a:t>
            </a:r>
          </a:p>
          <a:p>
            <a:pPr lvl="2"/>
            <a:r>
              <a:rPr lang="en-US" sz="2500" dirty="0">
                <a:solidFill>
                  <a:srgbClr val="00823B"/>
                </a:solidFill>
              </a:rPr>
              <a:t>Backwards Substitution Method</a:t>
            </a:r>
          </a:p>
          <a:p>
            <a:pPr lvl="2"/>
            <a:r>
              <a:rPr lang="en-US" sz="2600" dirty="0">
                <a:solidFill>
                  <a:srgbClr val="00823B"/>
                </a:solidFill>
              </a:rPr>
              <a:t>Substitution Method</a:t>
            </a:r>
          </a:p>
          <a:p>
            <a:pPr lvl="2"/>
            <a:r>
              <a:rPr lang="en-US" sz="2600" dirty="0">
                <a:solidFill>
                  <a:srgbClr val="00823B"/>
                </a:solidFill>
              </a:rPr>
              <a:t>Recursion Tree Method</a:t>
            </a:r>
          </a:p>
          <a:p>
            <a:pPr lvl="2"/>
            <a:r>
              <a:rPr lang="en-US" sz="2500" b="1" dirty="0">
                <a:solidFill>
                  <a:srgbClr val="00B0F0"/>
                </a:solidFill>
              </a:rPr>
              <a:t>Master Theorem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7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Master Theorem Method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Recurrence</a:t>
            </a:r>
          </a:p>
          <a:p>
            <a:pPr algn="r"/>
            <a:r>
              <a:rPr lang="en-US" dirty="0">
                <a:solidFill>
                  <a:srgbClr val="0000FF"/>
                </a:solidFill>
              </a:rPr>
              <a:t>(Formal Analysis)</a:t>
            </a:r>
          </a:p>
        </p:txBody>
      </p:sp>
    </p:spTree>
    <p:extLst>
      <p:ext uri="{BB962C8B-B14F-4D97-AF65-F5344CB8AC3E}">
        <p14:creationId xmlns:p14="http://schemas.microsoft.com/office/powerpoint/2010/main" val="264171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93AE-2711-4265-9771-3A0D60E6FDB7}" type="slidenum">
              <a:rPr lang="en-US"/>
              <a:pPr/>
              <a:t>5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Method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7175" indent="-257175"/>
            <a:r>
              <a:rPr lang="en-US" dirty="0"/>
              <a:t>Master Theorem</a:t>
            </a:r>
          </a:p>
        </p:txBody>
      </p:sp>
    </p:spTree>
    <p:extLst>
      <p:ext uri="{BB962C8B-B14F-4D97-AF65-F5344CB8AC3E}">
        <p14:creationId xmlns:p14="http://schemas.microsoft.com/office/powerpoint/2010/main" val="247293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93AE-2711-4265-9771-3A0D60E6FDB7}" type="slidenum">
              <a:rPr lang="en-US"/>
              <a:pPr/>
              <a:t>6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Method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7175" indent="-257175"/>
            <a:r>
              <a:rPr lang="en-US" dirty="0"/>
              <a:t>Master Theorem</a:t>
            </a:r>
          </a:p>
          <a:p>
            <a:pPr marL="557213" lvl="1" indent="-214313"/>
            <a:r>
              <a:rPr lang="en-US" sz="1800" i="1" dirty="0"/>
              <a:t>T(n) = a T(n/b) + f (n) where a &gt;= 1 and b &gt; 1 and T(n) can be bounded asymptotically as follows</a:t>
            </a:r>
          </a:p>
          <a:p>
            <a:pPr marL="557213" lvl="1" indent="-214313"/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92871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93AE-2711-4265-9771-3A0D60E6FDB7}" type="slidenum">
              <a:rPr lang="en-US"/>
              <a:pPr/>
              <a:t>7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Method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7175" indent="-257175"/>
            <a:r>
              <a:rPr lang="en-US" dirty="0"/>
              <a:t>Master Theorem</a:t>
            </a:r>
          </a:p>
          <a:p>
            <a:pPr marL="557213" lvl="1" indent="-214313"/>
            <a:r>
              <a:rPr lang="en-US" sz="1800" i="1" dirty="0"/>
              <a:t>T(n) = a T(n/b) + f (n) where a &gt;= 1 and b &gt; 1 and T(n) can be bounded asymptotically as follows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O(n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a-</a:t>
            </a:r>
            <a:r>
              <a:rPr lang="en-US" sz="1800" i="1" baseline="30000" dirty="0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/>
              <a:t>)</a:t>
            </a:r>
          </a:p>
          <a:p>
            <a:pPr marL="557213" lvl="1" indent="-214313"/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4213170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93AE-2711-4265-9771-3A0D60E6FDB7}" type="slidenum">
              <a:rPr lang="en-US"/>
              <a:pPr/>
              <a:t>8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Method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7175" indent="-257175"/>
            <a:r>
              <a:rPr lang="en-US" dirty="0"/>
              <a:t>Master Theorem</a:t>
            </a:r>
          </a:p>
          <a:p>
            <a:pPr marL="557213" lvl="1" indent="-214313"/>
            <a:r>
              <a:rPr lang="en-US" sz="1800" i="1" dirty="0"/>
              <a:t>T(n) = a T(n/b) + f (n) where a &gt;= 1 and b &gt; 1 and T(n) can be bounded asymptotically as follows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O(n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a-</a:t>
            </a:r>
            <a:r>
              <a:rPr lang="en-US" sz="1800" i="1" baseline="30000" dirty="0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/>
              <a:t>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>
                <a:cs typeface="Arial" charset="0"/>
              </a:rPr>
              <a:t>), then              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  </a:t>
            </a:r>
            <a:r>
              <a:rPr lang="en-US" sz="1800" i="1" dirty="0" err="1"/>
              <a:t>lg</a:t>
            </a:r>
            <a:r>
              <a:rPr lang="en-US" sz="1800" i="1" dirty="0"/>
              <a:t> n)</a:t>
            </a:r>
          </a:p>
          <a:p>
            <a:pPr marL="557213" lvl="1" indent="-214313"/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61417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C93AE-2711-4265-9771-3A0D60E6FDB7}" type="slidenum">
              <a:rPr lang="en-US"/>
              <a:pPr/>
              <a:t>9</a:t>
            </a:fld>
            <a:endParaRPr lang="en-US"/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Method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7175" indent="-257175"/>
            <a:r>
              <a:rPr lang="en-US" dirty="0"/>
              <a:t>Master Theorem</a:t>
            </a:r>
          </a:p>
          <a:p>
            <a:pPr marL="557213" lvl="1" indent="-214313"/>
            <a:r>
              <a:rPr lang="en-US" sz="1800" i="1" dirty="0"/>
              <a:t>T(n) = a T(n/b) + f (n) where a &gt;= 1 and b &gt; 1 and T(n) can be bounded asymptotically as follows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O(n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a-</a:t>
            </a:r>
            <a:r>
              <a:rPr lang="en-US" sz="1800" i="1" baseline="30000" dirty="0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/>
              <a:t>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>
                <a:cs typeface="Arial" charset="0"/>
              </a:rPr>
              <a:t>), then              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  </a:t>
            </a:r>
            <a:r>
              <a:rPr lang="en-US" sz="1800" i="1" dirty="0" err="1"/>
              <a:t>lg</a:t>
            </a:r>
            <a:r>
              <a:rPr lang="en-US" sz="1800" i="1" dirty="0"/>
              <a:t> n)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</a:t>
            </a:r>
            <a:r>
              <a:rPr lang="en-US" sz="1800" i="1" baseline="30000" dirty="0" err="1"/>
              <a:t>a+</a:t>
            </a:r>
            <a:r>
              <a:rPr lang="en-US" sz="1800" i="1" baseline="30000" dirty="0" err="1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and if a f (n/b) &lt;= c f(n) for c&lt;1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(f(n))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87667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10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685800"/>
          </a:xfrm>
        </p:spPr>
        <p:txBody>
          <a:bodyPr>
            <a:normAutofit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dirty="0"/>
              <a:t>Master Theorem</a:t>
            </a:r>
          </a:p>
          <a:p>
            <a:pPr marL="557213" lvl="1" indent="-214313"/>
            <a:r>
              <a:rPr lang="en-US" sz="1800" i="1" dirty="0"/>
              <a:t>T(n) = a T(n/b) + f (n) where a &gt;= 1 and b &gt; 1 and T(n) can be bounded asymptotically as follows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O(n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a-</a:t>
            </a:r>
            <a:r>
              <a:rPr lang="en-US" sz="1800" i="1" baseline="30000" dirty="0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/>
              <a:t>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>
                <a:cs typeface="Arial" charset="0"/>
              </a:rPr>
              <a:t>), then              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  </a:t>
            </a:r>
            <a:r>
              <a:rPr lang="en-US" sz="1800" i="1" dirty="0" err="1"/>
              <a:t>lg</a:t>
            </a:r>
            <a:r>
              <a:rPr lang="en-US" sz="1800" i="1" dirty="0"/>
              <a:t> n)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</a:t>
            </a:r>
            <a:r>
              <a:rPr lang="en-US" sz="1800" i="1" baseline="30000" dirty="0" err="1"/>
              <a:t>a+</a:t>
            </a:r>
            <a:r>
              <a:rPr lang="en-US" sz="1800" i="1" baseline="30000" dirty="0" err="1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and if a f (n/b) &lt;= c f(n) for c&lt;1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(f(n))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60892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11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420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12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3995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13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619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14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531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15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7668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16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8258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17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1096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18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r>
              <a:rPr lang="en-US" sz="1800" dirty="0"/>
              <a:t> =  2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5348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19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r>
              <a:rPr lang="en-US" sz="1800" dirty="0"/>
              <a:t> =  2 log</a:t>
            </a:r>
            <a:r>
              <a:rPr lang="en-US" sz="1800" baseline="-25000" dirty="0"/>
              <a:t>3</a:t>
            </a:r>
            <a:r>
              <a:rPr lang="en-US" sz="1800" dirty="0"/>
              <a:t> 3 = 2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9063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20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r>
              <a:rPr lang="en-US" sz="1800" dirty="0"/>
              <a:t> =  2 log</a:t>
            </a:r>
            <a:r>
              <a:rPr lang="en-US" sz="1800" baseline="-25000" dirty="0"/>
              <a:t>3</a:t>
            </a:r>
            <a:r>
              <a:rPr lang="en-US" sz="1800" dirty="0"/>
              <a:t> 3 = 2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9949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21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r>
              <a:rPr lang="en-US" sz="1800" dirty="0"/>
              <a:t> =  2 log</a:t>
            </a:r>
            <a:r>
              <a:rPr lang="en-US" sz="1800" baseline="-25000" dirty="0"/>
              <a:t>3</a:t>
            </a:r>
            <a:r>
              <a:rPr lang="en-US" sz="1800" dirty="0"/>
              <a:t> 3 = 2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8044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22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r>
              <a:rPr lang="en-US" sz="1800" dirty="0"/>
              <a:t> =  2 log</a:t>
            </a:r>
            <a:r>
              <a:rPr lang="en-US" sz="1800" baseline="-25000" dirty="0"/>
              <a:t>3</a:t>
            </a:r>
            <a:r>
              <a:rPr lang="en-US" sz="1800" dirty="0"/>
              <a:t> 3 = 2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2851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23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r>
              <a:rPr lang="en-US" sz="1800" dirty="0"/>
              <a:t> =  2 log</a:t>
            </a:r>
            <a:r>
              <a:rPr lang="en-US" sz="1800" baseline="-25000" dirty="0"/>
              <a:t>3</a:t>
            </a:r>
            <a:r>
              <a:rPr lang="en-US" sz="1800" dirty="0"/>
              <a:t> 3 = 2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Thus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T(n) =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0134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24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9 T(n/3) +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9, b = 3, f(n) =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</a:t>
            </a:r>
            <a:r>
              <a:rPr lang="en-US" sz="1800" dirty="0"/>
              <a:t> 9 = log</a:t>
            </a:r>
            <a:r>
              <a:rPr lang="en-US" sz="1800" baseline="-25000" dirty="0"/>
              <a:t>3</a:t>
            </a:r>
            <a:r>
              <a:rPr lang="en-US" sz="1800" dirty="0"/>
              <a:t> 3</a:t>
            </a:r>
            <a:r>
              <a:rPr lang="en-US" sz="1800" baseline="30000" dirty="0"/>
              <a:t>2</a:t>
            </a:r>
            <a:r>
              <a:rPr lang="en-US" sz="1800" dirty="0"/>
              <a:t> =  2 log</a:t>
            </a:r>
            <a:r>
              <a:rPr lang="en-US" sz="1800" baseline="-25000" dirty="0"/>
              <a:t>3</a:t>
            </a:r>
            <a:r>
              <a:rPr lang="en-US" sz="1800" dirty="0"/>
              <a:t> 3 = 2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Thus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T(n) = </a:t>
            </a:r>
            <a:r>
              <a:rPr lang="el-GR" sz="1800" dirty="0">
                <a:latin typeface="Times New Roman"/>
                <a:cs typeface="Times New Roman"/>
              </a:rPr>
              <a:t>ϴ</a:t>
            </a:r>
            <a:r>
              <a:rPr lang="en-US" sz="1800" dirty="0">
                <a:latin typeface="Times New Roman"/>
                <a:cs typeface="Times New Roman"/>
              </a:rPr>
              <a:t> (n</a:t>
            </a:r>
            <a:r>
              <a:rPr lang="en-US" sz="1800" baseline="30000" dirty="0">
                <a:latin typeface="Times New Roman"/>
                <a:cs typeface="Times New Roman"/>
              </a:rPr>
              <a:t>2</a:t>
            </a:r>
            <a:r>
              <a:rPr lang="en-US" sz="1800" dirty="0">
                <a:latin typeface="Times New Roman"/>
                <a:cs typeface="Times New Roman"/>
              </a:rPr>
              <a:t>)</a:t>
            </a: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6026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25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685800"/>
          </a:xfrm>
        </p:spPr>
        <p:txBody>
          <a:bodyPr>
            <a:normAutofit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dirty="0"/>
              <a:t>Master Theorem</a:t>
            </a:r>
          </a:p>
          <a:p>
            <a:pPr marL="557213" lvl="1" indent="-214313"/>
            <a:r>
              <a:rPr lang="en-US" sz="1800" i="1" dirty="0"/>
              <a:t>T(n) = a T(n/b) + f (n) where a &gt;= 1 and b &gt; 1 and T(n) can be bounded asymptotically as follows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O(n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a-</a:t>
            </a:r>
            <a:r>
              <a:rPr lang="en-US" sz="1800" i="1" baseline="30000" dirty="0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/>
              <a:t>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>
                <a:cs typeface="Arial" charset="0"/>
              </a:rPr>
              <a:t>), then              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  </a:t>
            </a:r>
            <a:r>
              <a:rPr lang="en-US" sz="1800" i="1" dirty="0" err="1"/>
              <a:t>lg</a:t>
            </a:r>
            <a:r>
              <a:rPr lang="en-US" sz="1800" i="1" dirty="0"/>
              <a:t> n)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</a:t>
            </a:r>
            <a:r>
              <a:rPr lang="en-US" sz="1800" i="1" baseline="30000" dirty="0" err="1"/>
              <a:t>a+</a:t>
            </a:r>
            <a:r>
              <a:rPr lang="en-US" sz="1800" i="1" baseline="30000" dirty="0" err="1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and if a f (n/b) &lt;= c f(n) for c&lt;1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(f(n))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0065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26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3587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27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657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28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0278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29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1608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30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 err="1"/>
              <a:t>log</a:t>
            </a:r>
            <a:r>
              <a:rPr lang="en-US" sz="1800" baseline="-25000" dirty="0" err="1"/>
              <a:t>b</a:t>
            </a:r>
            <a:r>
              <a:rPr lang="en-US" sz="1800" dirty="0" err="1"/>
              <a:t>a</a:t>
            </a: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3402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31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3/2</a:t>
            </a:r>
            <a:r>
              <a:rPr lang="en-US" sz="1800" dirty="0"/>
              <a:t> 1</a:t>
            </a:r>
          </a:p>
          <a:p>
            <a:pPr marL="257175" indent="-257175"/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3962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32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3/2</a:t>
            </a:r>
            <a:r>
              <a:rPr lang="en-US" sz="1800" dirty="0"/>
              <a:t> 1 = 0</a:t>
            </a:r>
          </a:p>
          <a:p>
            <a:pPr marL="257175" indent="-257175"/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8714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33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3/2</a:t>
            </a:r>
            <a:r>
              <a:rPr lang="en-US" sz="1800" dirty="0"/>
              <a:t> 1 = 0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785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34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3/2</a:t>
            </a:r>
            <a:r>
              <a:rPr lang="en-US" sz="1800" dirty="0"/>
              <a:t> 1 = 0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=  n</a:t>
            </a:r>
            <a:r>
              <a:rPr lang="en-US" sz="1800" baseline="30000" dirty="0"/>
              <a:t>0</a:t>
            </a:r>
            <a:r>
              <a:rPr lang="en-US" sz="1800" dirty="0"/>
              <a:t> </a:t>
            </a:r>
            <a:endParaRPr lang="en-US" sz="1800" baseline="300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5740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35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3/2</a:t>
            </a:r>
            <a:r>
              <a:rPr lang="en-US" sz="1800" dirty="0"/>
              <a:t> 1 = 0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=  n</a:t>
            </a:r>
            <a:r>
              <a:rPr lang="en-US" sz="1800" baseline="30000" dirty="0"/>
              <a:t>0</a:t>
            </a:r>
            <a:r>
              <a:rPr lang="en-US" sz="1800" dirty="0"/>
              <a:t> =  1</a:t>
            </a:r>
            <a:endParaRPr lang="en-US" sz="1800" baseline="300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664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36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3/2</a:t>
            </a:r>
            <a:r>
              <a:rPr lang="en-US" sz="1800" dirty="0"/>
              <a:t> 1 = 0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=  n</a:t>
            </a:r>
            <a:r>
              <a:rPr lang="en-US" sz="1800" baseline="30000" dirty="0"/>
              <a:t>0</a:t>
            </a:r>
            <a:r>
              <a:rPr lang="en-US" sz="1800" dirty="0"/>
              <a:t> =  1</a:t>
            </a:r>
            <a:endParaRPr lang="en-US" sz="1800" baseline="300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Thus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T(n) =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6722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37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T(2n/3) + 1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1, b = 3/2, f(n) = 1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3/2</a:t>
            </a:r>
            <a:r>
              <a:rPr lang="en-US" sz="1800" dirty="0"/>
              <a:t> 1 = 0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=  n</a:t>
            </a:r>
            <a:r>
              <a:rPr lang="en-US" sz="1800" baseline="30000" dirty="0"/>
              <a:t>0</a:t>
            </a:r>
            <a:r>
              <a:rPr lang="en-US" sz="1800" dirty="0"/>
              <a:t> =  1</a:t>
            </a:r>
            <a:endParaRPr lang="en-US" sz="1800" baseline="300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Thus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T(n) = </a:t>
            </a:r>
            <a:r>
              <a:rPr lang="el-GR" sz="1800" dirty="0">
                <a:latin typeface="Times New Roman"/>
                <a:cs typeface="Times New Roman"/>
              </a:rPr>
              <a:t>ϴ</a:t>
            </a:r>
            <a:r>
              <a:rPr lang="en-US" sz="1800" dirty="0">
                <a:latin typeface="Times New Roman"/>
                <a:cs typeface="Times New Roman"/>
              </a:rPr>
              <a:t> (</a:t>
            </a:r>
            <a:r>
              <a:rPr lang="en-US" sz="1800" dirty="0" err="1">
                <a:latin typeface="Times New Roman"/>
                <a:cs typeface="Times New Roman"/>
              </a:rPr>
              <a:t>lg</a:t>
            </a:r>
            <a:r>
              <a:rPr lang="en-US" sz="1800" dirty="0">
                <a:latin typeface="Times New Roman"/>
                <a:cs typeface="Times New Roman"/>
              </a:rPr>
              <a:t> n)</a:t>
            </a: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6980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38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685800"/>
          </a:xfrm>
        </p:spPr>
        <p:txBody>
          <a:bodyPr>
            <a:normAutofit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669959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dirty="0"/>
              <a:t>Master Theorem</a:t>
            </a:r>
          </a:p>
          <a:p>
            <a:pPr marL="557213" lvl="1" indent="-214313"/>
            <a:r>
              <a:rPr lang="en-US" sz="1800" i="1" dirty="0"/>
              <a:t>T(n) = a T(n/b) + f (n) where a &gt;= 1 and b &gt; 1 and T(n) can be bounded asymptotically as follows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O(n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a-</a:t>
            </a:r>
            <a:r>
              <a:rPr lang="en-US" sz="1800" i="1" baseline="30000" dirty="0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/>
              <a:t>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</a:t>
            </a:r>
            <a:r>
              <a:rPr lang="en-US" sz="1800" i="1" dirty="0">
                <a:cs typeface="Arial" charset="0"/>
              </a:rPr>
              <a:t>), then              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1800" i="1" dirty="0"/>
              <a:t>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a  </a:t>
            </a:r>
            <a:r>
              <a:rPr lang="en-US" sz="1800" i="1" dirty="0" err="1"/>
              <a:t>lg</a:t>
            </a:r>
            <a:r>
              <a:rPr lang="en-US" sz="1800" i="1" dirty="0"/>
              <a:t> n)</a:t>
            </a:r>
          </a:p>
          <a:p>
            <a:pPr marL="557213" lvl="1" indent="-214313"/>
            <a:endParaRPr lang="en-US" sz="1800" i="1" dirty="0"/>
          </a:p>
          <a:p>
            <a:pPr marL="557213" lvl="1" indent="-214313"/>
            <a:r>
              <a:rPr lang="en-US" sz="1800" i="1" dirty="0"/>
              <a:t>If f(n) = 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1800" i="1" dirty="0"/>
              <a:t>(n </a:t>
            </a:r>
            <a:r>
              <a:rPr lang="en-US" sz="1800" i="1" baseline="30000" dirty="0" err="1"/>
              <a:t>log</a:t>
            </a:r>
            <a:r>
              <a:rPr lang="en-US" sz="1800" i="1" baseline="-10000" dirty="0" err="1"/>
              <a:t>b</a:t>
            </a:r>
            <a:r>
              <a:rPr lang="en-US" sz="1800" i="1" baseline="30000" dirty="0"/>
              <a:t> </a:t>
            </a:r>
            <a:r>
              <a:rPr lang="en-US" sz="1800" i="1" baseline="30000" dirty="0" err="1"/>
              <a:t>a+</a:t>
            </a:r>
            <a:r>
              <a:rPr lang="en-US" sz="1800" i="1" baseline="30000" dirty="0" err="1">
                <a:cs typeface="Arial" charset="0"/>
              </a:rPr>
              <a:t>ε</a:t>
            </a:r>
            <a:r>
              <a:rPr lang="en-US" sz="1800" i="1" dirty="0">
                <a:cs typeface="Arial" charset="0"/>
              </a:rPr>
              <a:t>), for ε &gt; 0 and if a f (n/b) &lt;= c f(n) for c&lt;1 then T(n)=</a:t>
            </a:r>
            <a:r>
              <a:rPr lang="en-GB" sz="1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(f(n))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95430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39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808745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40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2632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41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82249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42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177708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43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 err="1"/>
              <a:t>log</a:t>
            </a:r>
            <a:r>
              <a:rPr lang="en-US" sz="1800" baseline="-25000" dirty="0" err="1"/>
              <a:t>b</a:t>
            </a:r>
            <a:r>
              <a:rPr lang="en-US" sz="1800" dirty="0" err="1"/>
              <a:t>a</a:t>
            </a: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323747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44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562989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45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7190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46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8397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47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33472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48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11490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49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703636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50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73147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51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4164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52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</a:t>
            </a:r>
          </a:p>
        </p:txBody>
      </p:sp>
    </p:spTree>
    <p:extLst>
      <p:ext uri="{BB962C8B-B14F-4D97-AF65-F5344CB8AC3E}">
        <p14:creationId xmlns:p14="http://schemas.microsoft.com/office/powerpoint/2010/main" val="36246657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53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</p:spTree>
    <p:extLst>
      <p:ext uri="{BB962C8B-B14F-4D97-AF65-F5344CB8AC3E}">
        <p14:creationId xmlns:p14="http://schemas.microsoft.com/office/powerpoint/2010/main" val="2180454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54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</p:txBody>
      </p:sp>
    </p:spTree>
    <p:extLst>
      <p:ext uri="{BB962C8B-B14F-4D97-AF65-F5344CB8AC3E}">
        <p14:creationId xmlns:p14="http://schemas.microsoft.com/office/powerpoint/2010/main" val="12172832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55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n- 2)</a:t>
            </a:r>
          </a:p>
        </p:txBody>
      </p:sp>
    </p:spTree>
    <p:extLst>
      <p:ext uri="{BB962C8B-B14F-4D97-AF65-F5344CB8AC3E}">
        <p14:creationId xmlns:p14="http://schemas.microsoft.com/office/powerpoint/2010/main" val="21956286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56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n- 2)</a:t>
            </a:r>
          </a:p>
          <a:p>
            <a:pPr marL="257175" indent="-257175"/>
            <a:r>
              <a:rPr lang="en-US" sz="1800" dirty="0"/>
              <a:t>               = (¾) </a:t>
            </a:r>
            <a:r>
              <a:rPr lang="en-US" sz="1800" dirty="0" err="1"/>
              <a:t>nlg</a:t>
            </a:r>
            <a:r>
              <a:rPr lang="en-US" sz="1800" dirty="0"/>
              <a:t> n -(3/2)n</a:t>
            </a:r>
          </a:p>
        </p:txBody>
      </p:sp>
    </p:spTree>
    <p:extLst>
      <p:ext uri="{BB962C8B-B14F-4D97-AF65-F5344CB8AC3E}">
        <p14:creationId xmlns:p14="http://schemas.microsoft.com/office/powerpoint/2010/main" val="9640241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57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n- 2)</a:t>
            </a:r>
          </a:p>
          <a:p>
            <a:pPr marL="257175" indent="-257175"/>
            <a:r>
              <a:rPr lang="en-US" sz="1800" dirty="0"/>
              <a:t>               = (¾) </a:t>
            </a:r>
            <a:r>
              <a:rPr lang="en-US" sz="1800" dirty="0" err="1"/>
              <a:t>nlg</a:t>
            </a:r>
            <a:r>
              <a:rPr lang="en-US" sz="1800" dirty="0"/>
              <a:t> n -(3/2)n</a:t>
            </a:r>
          </a:p>
          <a:p>
            <a:pPr marL="257175" indent="-257175"/>
            <a:r>
              <a:rPr lang="en-US" sz="1800" dirty="0"/>
              <a:t>c  f(n) =  c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37798197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58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n- 2)</a:t>
            </a:r>
          </a:p>
          <a:p>
            <a:pPr marL="257175" indent="-257175"/>
            <a:r>
              <a:rPr lang="en-US" sz="1800" dirty="0"/>
              <a:t>               = (¾) </a:t>
            </a:r>
            <a:r>
              <a:rPr lang="en-US" sz="1800" dirty="0" err="1"/>
              <a:t>nlg</a:t>
            </a:r>
            <a:r>
              <a:rPr lang="en-US" sz="1800" dirty="0"/>
              <a:t> n -(3/2)n</a:t>
            </a:r>
          </a:p>
          <a:p>
            <a:pPr marL="257175" indent="-257175"/>
            <a:r>
              <a:rPr lang="en-US" sz="1800" dirty="0"/>
              <a:t>c  f(n) =  c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(¾) </a:t>
            </a:r>
            <a:r>
              <a:rPr lang="en-US" sz="1800" dirty="0" err="1"/>
              <a:t>nlg</a:t>
            </a:r>
            <a:r>
              <a:rPr lang="en-US" sz="1800" dirty="0"/>
              <a:t> n -(3/2)n &lt;= </a:t>
            </a:r>
            <a:r>
              <a:rPr lang="en-US" sz="1800" dirty="0" err="1"/>
              <a:t>cnlgn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702236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59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n- 2)</a:t>
            </a:r>
          </a:p>
          <a:p>
            <a:pPr marL="257175" indent="-257175"/>
            <a:r>
              <a:rPr lang="en-US" sz="1800" dirty="0"/>
              <a:t>               = (¾) </a:t>
            </a:r>
            <a:r>
              <a:rPr lang="en-US" sz="1800" dirty="0" err="1"/>
              <a:t>nlg</a:t>
            </a:r>
            <a:r>
              <a:rPr lang="en-US" sz="1800" dirty="0"/>
              <a:t> n -(3/2)n</a:t>
            </a:r>
          </a:p>
          <a:p>
            <a:pPr marL="257175" indent="-257175"/>
            <a:r>
              <a:rPr lang="en-US" sz="1800" dirty="0"/>
              <a:t>c  f(n) =  c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(¾) </a:t>
            </a:r>
            <a:r>
              <a:rPr lang="en-US" sz="1800" dirty="0" err="1"/>
              <a:t>nlg</a:t>
            </a:r>
            <a:r>
              <a:rPr lang="en-US" sz="1800" dirty="0"/>
              <a:t> n -(3/2)n &lt;= </a:t>
            </a:r>
            <a:r>
              <a:rPr lang="en-US" sz="1800" dirty="0" err="1"/>
              <a:t>cnlgn</a:t>
            </a:r>
            <a:endParaRPr lang="en-US" sz="1800" dirty="0"/>
          </a:p>
          <a:p>
            <a:pPr marL="257175" indent="-257175"/>
            <a:r>
              <a:rPr lang="en-US" sz="1800" dirty="0"/>
              <a:t>For c =3/4 relation holds</a:t>
            </a:r>
          </a:p>
        </p:txBody>
      </p:sp>
    </p:spTree>
    <p:extLst>
      <p:ext uri="{BB962C8B-B14F-4D97-AF65-F5344CB8AC3E}">
        <p14:creationId xmlns:p14="http://schemas.microsoft.com/office/powerpoint/2010/main" val="2686636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60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n- 2)</a:t>
            </a:r>
          </a:p>
          <a:p>
            <a:pPr marL="257175" indent="-257175"/>
            <a:r>
              <a:rPr lang="en-US" sz="1800" dirty="0"/>
              <a:t>               = (¾) </a:t>
            </a:r>
            <a:r>
              <a:rPr lang="en-US" sz="1800" dirty="0" err="1"/>
              <a:t>nlg</a:t>
            </a:r>
            <a:r>
              <a:rPr lang="en-US" sz="1800" dirty="0"/>
              <a:t> n -(3/2)n</a:t>
            </a:r>
          </a:p>
          <a:p>
            <a:pPr marL="257175" indent="-257175"/>
            <a:r>
              <a:rPr lang="en-US" sz="1800" dirty="0"/>
              <a:t>c  f(n) =  c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(¾) </a:t>
            </a:r>
            <a:r>
              <a:rPr lang="en-US" sz="1800" dirty="0" err="1"/>
              <a:t>nlg</a:t>
            </a:r>
            <a:r>
              <a:rPr lang="en-US" sz="1800" dirty="0"/>
              <a:t> n -(3/2)n &lt;= </a:t>
            </a:r>
            <a:r>
              <a:rPr lang="en-US" sz="1800" dirty="0" err="1"/>
              <a:t>cnlgn</a:t>
            </a:r>
            <a:endParaRPr lang="en-US" sz="1800" dirty="0"/>
          </a:p>
          <a:p>
            <a:pPr marL="257175" indent="-257175"/>
            <a:r>
              <a:rPr lang="en-US" sz="1800" dirty="0"/>
              <a:t>For c =3/4 relation holds</a:t>
            </a:r>
          </a:p>
          <a:p>
            <a:pPr marL="257175" indent="-257175"/>
            <a:r>
              <a:rPr lang="en-US" sz="1800" dirty="0"/>
              <a:t>Thus</a:t>
            </a:r>
          </a:p>
          <a:p>
            <a:pPr marL="257175" indent="-257175"/>
            <a:r>
              <a:rPr lang="en-US" sz="1800" dirty="0"/>
              <a:t>T(n) =</a:t>
            </a:r>
          </a:p>
        </p:txBody>
      </p:sp>
    </p:spTree>
    <p:extLst>
      <p:ext uri="{BB962C8B-B14F-4D97-AF65-F5344CB8AC3E}">
        <p14:creationId xmlns:p14="http://schemas.microsoft.com/office/powerpoint/2010/main" val="39670785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2A7FE-B66E-4DEF-B936-6CA899D04C4E}" type="slidenum">
              <a:rPr lang="en-US"/>
              <a:pPr/>
              <a:t>61</a:t>
            </a:fld>
            <a:endParaRPr lang="en-US"/>
          </a:p>
        </p:txBody>
      </p: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3992" y="2133600"/>
            <a:ext cx="6248400" cy="536359"/>
          </a:xfrm>
        </p:spPr>
        <p:txBody>
          <a:bodyPr>
            <a:normAutofit lnSpcReduction="10000"/>
          </a:bodyPr>
          <a:lstStyle/>
          <a:p>
            <a:pPr marL="257175" indent="-257175"/>
            <a:r>
              <a:rPr lang="en-US" b="1" dirty="0">
                <a:solidFill>
                  <a:srgbClr val="0000FF"/>
                </a:solidFill>
              </a:rPr>
              <a:t>T(n) = 3T(n/4) + n </a:t>
            </a:r>
            <a:r>
              <a:rPr lang="en-US" b="1" dirty="0" err="1">
                <a:solidFill>
                  <a:srgbClr val="0000FF"/>
                </a:solidFill>
              </a:rPr>
              <a:t>lg</a:t>
            </a:r>
            <a:r>
              <a:rPr lang="en-US" b="1" dirty="0">
                <a:solidFill>
                  <a:srgbClr val="0000FF"/>
                </a:solidFill>
              </a:rPr>
              <a:t> n</a:t>
            </a:r>
          </a:p>
          <a:p>
            <a:pPr marL="257175" indent="-257175"/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3901" y="2669959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= 3, b = 4, f(n) =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log</a:t>
            </a:r>
            <a:r>
              <a:rPr lang="en-US" sz="1800" baseline="-25000" dirty="0"/>
              <a:t>b</a:t>
            </a:r>
            <a:r>
              <a:rPr lang="en-US" sz="1800" dirty="0"/>
              <a:t>a = log</a:t>
            </a:r>
            <a:r>
              <a:rPr lang="en-US" sz="1800" baseline="-25000" dirty="0"/>
              <a:t>4</a:t>
            </a:r>
            <a:r>
              <a:rPr lang="en-US" sz="1800" dirty="0"/>
              <a:t> 3 =  0.758</a:t>
            </a:r>
          </a:p>
          <a:p>
            <a:pPr marL="257175" indent="-257175"/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log</a:t>
            </a:r>
            <a:r>
              <a:rPr lang="en-US" sz="1800" baseline="-25000" dirty="0"/>
              <a:t>b</a:t>
            </a:r>
            <a:r>
              <a:rPr lang="en-US" sz="1800" dirty="0"/>
              <a:t>a 	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n		=  n</a:t>
            </a:r>
            <a:r>
              <a:rPr lang="en-US" sz="1800" baseline="30000" dirty="0"/>
              <a:t>0.758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az-Cyrl-AZ" sz="1800" dirty="0"/>
              <a:t>Є</a:t>
            </a:r>
            <a:r>
              <a:rPr lang="en-US" sz="1800" dirty="0"/>
              <a:t> = 0.242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b="1" i="1" dirty="0"/>
              <a:t>a f(n/b) &lt;= c f(n) for c&lt;1</a:t>
            </a:r>
          </a:p>
          <a:p>
            <a:pPr marL="257175" indent="-257175">
              <a:spcBef>
                <a:spcPts val="0"/>
              </a:spcBef>
            </a:pPr>
            <a:endParaRPr lang="en-US" sz="1800" dirty="0"/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f(n/b) = f(n/4)</a:t>
            </a:r>
          </a:p>
          <a:p>
            <a:pPr marL="257175" indent="-257175">
              <a:spcBef>
                <a:spcPts val="0"/>
              </a:spcBef>
            </a:pPr>
            <a:r>
              <a:rPr lang="en-US" sz="1800" dirty="0"/>
              <a:t>           =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7543799" cy="1922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05301" y="2743200"/>
            <a:ext cx="2933699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/>
            <a:r>
              <a:rPr lang="en-US" sz="1800" dirty="0"/>
              <a:t>a  f(n/b) = 3 (n/4) </a:t>
            </a:r>
            <a:r>
              <a:rPr lang="en-US" sz="1800" dirty="0" err="1"/>
              <a:t>lg</a:t>
            </a:r>
            <a:r>
              <a:rPr lang="en-US" sz="1800" dirty="0"/>
              <a:t> (n/4)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</a:t>
            </a:r>
            <a:r>
              <a:rPr lang="en-US" sz="1800" dirty="0" err="1"/>
              <a:t>lg</a:t>
            </a:r>
            <a:r>
              <a:rPr lang="en-US" sz="1800" dirty="0"/>
              <a:t> 4)</a:t>
            </a:r>
          </a:p>
          <a:p>
            <a:pPr marL="257175" indent="-257175"/>
            <a:r>
              <a:rPr lang="en-US" sz="1800" dirty="0"/>
              <a:t>               = (¾) n (</a:t>
            </a:r>
            <a:r>
              <a:rPr lang="en-US" sz="1800" dirty="0" err="1"/>
              <a:t>lg</a:t>
            </a:r>
            <a:r>
              <a:rPr lang="en-US" sz="1800" dirty="0"/>
              <a:t> n- 2)</a:t>
            </a:r>
          </a:p>
          <a:p>
            <a:pPr marL="257175" indent="-257175"/>
            <a:r>
              <a:rPr lang="en-US" sz="1800" dirty="0"/>
              <a:t>               = (¾) </a:t>
            </a:r>
            <a:r>
              <a:rPr lang="en-US" sz="1800" dirty="0" err="1"/>
              <a:t>nlg</a:t>
            </a:r>
            <a:r>
              <a:rPr lang="en-US" sz="1800" dirty="0"/>
              <a:t> n -(3/2)n</a:t>
            </a:r>
          </a:p>
          <a:p>
            <a:pPr marL="257175" indent="-257175"/>
            <a:r>
              <a:rPr lang="en-US" sz="1800" dirty="0"/>
              <a:t>c  f(n) =  c n </a:t>
            </a:r>
            <a:r>
              <a:rPr lang="en-US" sz="1800" dirty="0" err="1"/>
              <a:t>lg</a:t>
            </a:r>
            <a:r>
              <a:rPr lang="en-US" sz="1800" dirty="0"/>
              <a:t> n</a:t>
            </a:r>
          </a:p>
          <a:p>
            <a:pPr marL="257175" indent="-257175"/>
            <a:r>
              <a:rPr lang="en-US" sz="1800" dirty="0"/>
              <a:t>(¾) </a:t>
            </a:r>
            <a:r>
              <a:rPr lang="en-US" sz="1800" dirty="0" err="1"/>
              <a:t>nlg</a:t>
            </a:r>
            <a:r>
              <a:rPr lang="en-US" sz="1800" dirty="0"/>
              <a:t> n -(3/2)n &lt;= </a:t>
            </a:r>
            <a:r>
              <a:rPr lang="en-US" sz="1800" dirty="0" err="1"/>
              <a:t>cnlgn</a:t>
            </a:r>
            <a:endParaRPr lang="en-US" sz="1800" dirty="0"/>
          </a:p>
          <a:p>
            <a:pPr marL="257175" indent="-257175"/>
            <a:r>
              <a:rPr lang="en-US" sz="1800" dirty="0"/>
              <a:t>For c =3/4 relation holds</a:t>
            </a:r>
          </a:p>
          <a:p>
            <a:pPr marL="257175" indent="-257175"/>
            <a:r>
              <a:rPr lang="en-US" sz="1800" dirty="0"/>
              <a:t>Thus</a:t>
            </a:r>
          </a:p>
          <a:p>
            <a:pPr marL="257175" indent="-257175"/>
            <a:r>
              <a:rPr lang="en-US" sz="1800" dirty="0"/>
              <a:t>T(n) = </a:t>
            </a:r>
            <a:r>
              <a:rPr lang="el-GR" sz="1800" dirty="0">
                <a:latin typeface="Times New Roman"/>
                <a:cs typeface="Times New Roman"/>
              </a:rPr>
              <a:t>ϴ</a:t>
            </a:r>
            <a:r>
              <a:rPr lang="en-US" sz="1800" dirty="0">
                <a:latin typeface="Times New Roman"/>
                <a:cs typeface="Times New Roman"/>
              </a:rPr>
              <a:t> (n </a:t>
            </a:r>
            <a:r>
              <a:rPr lang="en-US" sz="1800" dirty="0" err="1">
                <a:latin typeface="Times New Roman"/>
                <a:cs typeface="Times New Roman"/>
              </a:rPr>
              <a:t>lg</a:t>
            </a:r>
            <a:r>
              <a:rPr lang="en-US" sz="1800" dirty="0">
                <a:latin typeface="Times New Roman"/>
                <a:cs typeface="Times New Roman"/>
              </a:rPr>
              <a:t> n)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72882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Home Exercises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93710"/>
            <a:ext cx="2562225" cy="600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19400"/>
            <a:ext cx="2362200" cy="257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302190"/>
            <a:ext cx="1819275" cy="28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15" y="3813555"/>
            <a:ext cx="1809750" cy="2762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15" y="4315395"/>
            <a:ext cx="1495425" cy="2190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415" y="4760085"/>
            <a:ext cx="1476375" cy="219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415" y="5200012"/>
            <a:ext cx="1466850" cy="21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415" y="5639939"/>
            <a:ext cx="15811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999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803</TotalTime>
  <Words>3929</Words>
  <Application>Microsoft Macintosh PowerPoint</Application>
  <PresentationFormat>On-screen Show (4:3)</PresentationFormat>
  <Paragraphs>573</Paragraphs>
  <Slides>63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Calibri</vt:lpstr>
      <vt:lpstr>Times New Roman</vt:lpstr>
      <vt:lpstr>Office Theme</vt:lpstr>
      <vt:lpstr>PowerPoint Presentation</vt:lpstr>
      <vt:lpstr>Algorithm Analysis</vt:lpstr>
      <vt:lpstr>Introduction</vt:lpstr>
      <vt:lpstr>Master Theorem Method</vt:lpstr>
      <vt:lpstr>Master Method</vt:lpstr>
      <vt:lpstr>Master Method</vt:lpstr>
      <vt:lpstr>Master Method</vt:lpstr>
      <vt:lpstr>Master Method</vt:lpstr>
      <vt:lpstr>Master Method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Examples</vt:lpstr>
      <vt:lpstr>Home Exercises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188</cp:revision>
  <cp:lastPrinted>2021-02-14T06:19:30Z</cp:lastPrinted>
  <dcterms:created xsi:type="dcterms:W3CDTF">2018-06-20T09:11:51Z</dcterms:created>
  <dcterms:modified xsi:type="dcterms:W3CDTF">2026-02-15T06:45:02Z</dcterms:modified>
</cp:coreProperties>
</file>