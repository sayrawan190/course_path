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6"/>
  </p:notesMasterIdLst>
  <p:handoutMasterIdLst>
    <p:handoutMasterId r:id="rId27"/>
  </p:handoutMasterIdLst>
  <p:sldIdLst>
    <p:sldId id="349" r:id="rId2"/>
    <p:sldId id="350" r:id="rId3"/>
    <p:sldId id="519" r:id="rId4"/>
    <p:sldId id="513" r:id="rId5"/>
    <p:sldId id="514" r:id="rId6"/>
    <p:sldId id="515" r:id="rId7"/>
    <p:sldId id="516" r:id="rId8"/>
    <p:sldId id="517" r:id="rId9"/>
    <p:sldId id="518" r:id="rId10"/>
    <p:sldId id="520" r:id="rId11"/>
    <p:sldId id="521" r:id="rId12"/>
    <p:sldId id="522" r:id="rId13"/>
    <p:sldId id="523" r:id="rId14"/>
    <p:sldId id="524" r:id="rId15"/>
    <p:sldId id="525" r:id="rId16"/>
    <p:sldId id="526" r:id="rId17"/>
    <p:sldId id="529" r:id="rId18"/>
    <p:sldId id="528" r:id="rId19"/>
    <p:sldId id="530" r:id="rId20"/>
    <p:sldId id="531" r:id="rId21"/>
    <p:sldId id="532" r:id="rId22"/>
    <p:sldId id="533" r:id="rId23"/>
    <p:sldId id="534" r:id="rId24"/>
    <p:sldId id="348" r:id="rId2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00823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>
      <p:cViewPr varScale="1">
        <p:scale>
          <a:sx n="121" d="100"/>
          <a:sy n="121" d="100"/>
        </p:scale>
        <p:origin x="1904" y="17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00A867-0D2F-4317-B9F6-942331555E07}" type="datetimeFigureOut">
              <a:rPr lang="en-US" smtClean="0"/>
              <a:t>2/17/26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D08E5B-3E4A-4BEF-9248-EB61691600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639999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C49CE24-AB9C-43CD-AB59-1170152E142C}" type="datetimeFigureOut">
              <a:rPr lang="en-US" smtClean="0"/>
              <a:t>2/17/26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406CE9-AE27-4DF9-BE7A-54F150597D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517769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406CE9-AE27-4DF9-BE7A-54F150597DF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56498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406CE9-AE27-4DF9-BE7A-54F150597DF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06411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406CE9-AE27-4DF9-BE7A-54F150597DF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70043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406CE9-AE27-4DF9-BE7A-54F150597DF7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748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406CE9-AE27-4DF9-BE7A-54F150597DF7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372924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406CE9-AE27-4DF9-BE7A-54F150597DF7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05069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355768" y="6324600"/>
            <a:ext cx="17526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Dr. Muhammad Umair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58000" y="6324600"/>
            <a:ext cx="457200" cy="365125"/>
          </a:xfrm>
          <a:prstGeom prst="rect">
            <a:avLst/>
          </a:prstGeom>
        </p:spPr>
        <p:txBody>
          <a:bodyPr/>
          <a:lstStyle/>
          <a:p>
            <a:fld id="{EFBA8F76-60DD-4F65-80ED-7968AD89E0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959086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219200"/>
            <a:ext cx="6248400" cy="11430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2514600"/>
            <a:ext cx="6248400" cy="3657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52400" y="6324600"/>
            <a:ext cx="17526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June 12-16, 2016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355768" y="6324600"/>
            <a:ext cx="17526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Dr. Muhammad Umair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781800" y="6324600"/>
            <a:ext cx="609600" cy="365125"/>
          </a:xfrm>
          <a:prstGeom prst="rect">
            <a:avLst/>
          </a:prstGeom>
        </p:spPr>
        <p:txBody>
          <a:bodyPr/>
          <a:lstStyle/>
          <a:p>
            <a:fld id="{EFBA8F76-60DD-4F65-80ED-7968AD89E0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1698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52400" y="6324600"/>
            <a:ext cx="17526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June 12-16, 2016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355768" y="6324600"/>
            <a:ext cx="17526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Dr. Muhammad Umair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486400" y="6324600"/>
            <a:ext cx="1828800" cy="365125"/>
          </a:xfrm>
          <a:prstGeom prst="rect">
            <a:avLst/>
          </a:prstGeom>
        </p:spPr>
        <p:txBody>
          <a:bodyPr/>
          <a:lstStyle/>
          <a:p>
            <a:fld id="{EFBA8F76-60DD-4F65-80ED-7968AD89E0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41049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52400" y="6324600"/>
            <a:ext cx="17526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June 12-16, 2016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355768" y="6324600"/>
            <a:ext cx="17526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Dr. Muhammad Umair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486400" y="6324600"/>
            <a:ext cx="1828800" cy="365125"/>
          </a:xfrm>
          <a:prstGeom prst="rect">
            <a:avLst/>
          </a:prstGeom>
        </p:spPr>
        <p:txBody>
          <a:bodyPr/>
          <a:lstStyle/>
          <a:p>
            <a:fld id="{EFBA8F76-60DD-4F65-80ED-7968AD89E0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18199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152400" y="6324600"/>
            <a:ext cx="17526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June 12-16, 2016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355768" y="6324600"/>
            <a:ext cx="17526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Dr. Muhammad Umair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5486400" y="6324600"/>
            <a:ext cx="1828800" cy="365125"/>
          </a:xfrm>
          <a:prstGeom prst="rect">
            <a:avLst/>
          </a:prstGeom>
        </p:spPr>
        <p:txBody>
          <a:bodyPr/>
          <a:lstStyle/>
          <a:p>
            <a:fld id="{EFBA8F76-60DD-4F65-80ED-7968AD89E0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38105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152400" y="6324600"/>
            <a:ext cx="17526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June 12-16, 2016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355768" y="6324600"/>
            <a:ext cx="17526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Dr. Muhammad Umair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5486400" y="6324600"/>
            <a:ext cx="1828800" cy="365125"/>
          </a:xfrm>
          <a:prstGeom prst="rect">
            <a:avLst/>
          </a:prstGeom>
        </p:spPr>
        <p:txBody>
          <a:bodyPr/>
          <a:lstStyle/>
          <a:p>
            <a:fld id="{EFBA8F76-60DD-4F65-80ED-7968AD89E0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34993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152400" y="6324600"/>
            <a:ext cx="17526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June 12-16, 2016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355768" y="6324600"/>
            <a:ext cx="17526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Dr. Muhammad Umair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5486400" y="6324600"/>
            <a:ext cx="1828800" cy="365125"/>
          </a:xfrm>
          <a:prstGeom prst="rect">
            <a:avLst/>
          </a:prstGeom>
        </p:spPr>
        <p:txBody>
          <a:bodyPr/>
          <a:lstStyle/>
          <a:p>
            <a:fld id="{EFBA8F76-60DD-4F65-80ED-7968AD89E0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05368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52400" y="6324600"/>
            <a:ext cx="17526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June 12-16, 2016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355768" y="6324600"/>
            <a:ext cx="17526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Dr. Muhammad Umair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486400" y="6324600"/>
            <a:ext cx="1828800" cy="365125"/>
          </a:xfrm>
          <a:prstGeom prst="rect">
            <a:avLst/>
          </a:prstGeom>
        </p:spPr>
        <p:txBody>
          <a:bodyPr/>
          <a:lstStyle/>
          <a:p>
            <a:fld id="{EFBA8F76-60DD-4F65-80ED-7968AD89E0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93863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52400" y="6324600"/>
            <a:ext cx="17526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June 12-16, 2016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355768" y="6324600"/>
            <a:ext cx="17526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Dr. Muhammad Umair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486400" y="6324600"/>
            <a:ext cx="1828800" cy="365125"/>
          </a:xfrm>
          <a:prstGeom prst="rect">
            <a:avLst/>
          </a:prstGeom>
        </p:spPr>
        <p:txBody>
          <a:bodyPr/>
          <a:lstStyle/>
          <a:p>
            <a:fld id="{EFBA8F76-60DD-4F65-80ED-7968AD89E0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96175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52400" y="6324600"/>
            <a:ext cx="17526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June 12-16, 2016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355768" y="6324600"/>
            <a:ext cx="17526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Dr. Muhammad Umair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486400" y="6324600"/>
            <a:ext cx="1828800" cy="365125"/>
          </a:xfrm>
          <a:prstGeom prst="rect">
            <a:avLst/>
          </a:prstGeom>
        </p:spPr>
        <p:txBody>
          <a:bodyPr/>
          <a:lstStyle/>
          <a:p>
            <a:fld id="{EFBA8F76-60DD-4F65-80ED-7968AD89E0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3817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52400" y="6324600"/>
            <a:ext cx="17526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June 12-16, 2016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355768" y="6324600"/>
            <a:ext cx="17526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Dr. Muhammad Umair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486400" y="6324600"/>
            <a:ext cx="1828800" cy="365125"/>
          </a:xfrm>
          <a:prstGeom prst="rect">
            <a:avLst/>
          </a:prstGeom>
        </p:spPr>
        <p:txBody>
          <a:bodyPr/>
          <a:lstStyle/>
          <a:p>
            <a:fld id="{EFBA8F76-60DD-4F65-80ED-7968AD89E0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4633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jp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4400" y="1752600"/>
            <a:ext cx="62484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0600" y="3276600"/>
            <a:ext cx="6248400" cy="2620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 userDrawn="1"/>
        </p:nvPicPr>
        <p:blipFill>
          <a:blip r:embed="rId13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4539052" y="-3484224"/>
            <a:ext cx="65619" cy="9144281"/>
          </a:xfrm>
          <a:prstGeom prst="rect">
            <a:avLst/>
          </a:prstGeom>
          <a:solidFill>
            <a:schemeClr val="accent6">
              <a:lumMod val="75000"/>
            </a:schemeClr>
          </a:solidFill>
          <a:ln w="9525">
            <a:noFill/>
            <a:miter lim="800000"/>
            <a:headEnd/>
            <a:tailEnd/>
          </a:ln>
          <a:effectLst/>
        </p:spPr>
      </p:pic>
      <p:pic>
        <p:nvPicPr>
          <p:cNvPr id="14" name="Picture 2"/>
          <p:cNvPicPr>
            <a:picLocks noChangeAspect="1" noChangeArrowheads="1"/>
          </p:cNvPicPr>
          <p:nvPr userDrawn="1"/>
        </p:nvPicPr>
        <p:blipFill>
          <a:blip r:embed="rId13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7696200" y="991"/>
            <a:ext cx="49212" cy="6857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6" name="TextBox 15"/>
          <p:cNvSpPr txBox="1"/>
          <p:nvPr userDrawn="1"/>
        </p:nvSpPr>
        <p:spPr>
          <a:xfrm>
            <a:off x="2646497" y="6437622"/>
            <a:ext cx="26088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Instructor Dr. Muhammad Umair</a:t>
            </a:r>
          </a:p>
        </p:txBody>
      </p:sp>
      <p:sp>
        <p:nvSpPr>
          <p:cNvPr id="4" name="TextBox 3"/>
          <p:cNvSpPr txBox="1"/>
          <p:nvPr userDrawn="1"/>
        </p:nvSpPr>
        <p:spPr>
          <a:xfrm>
            <a:off x="1055343" y="-10418"/>
            <a:ext cx="57912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i="1" dirty="0">
                <a:solidFill>
                  <a:srgbClr val="00823B"/>
                </a:solidFill>
              </a:rPr>
              <a:t>Analysis</a:t>
            </a:r>
            <a:r>
              <a:rPr lang="en-US" sz="3200" b="1" i="1" baseline="0" dirty="0">
                <a:solidFill>
                  <a:srgbClr val="00823B"/>
                </a:solidFill>
              </a:rPr>
              <a:t> and Design of Algorithms</a:t>
            </a:r>
            <a:endParaRPr lang="en-US" sz="3200" b="1" i="1" dirty="0">
              <a:solidFill>
                <a:srgbClr val="00823B"/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89065"/>
            <a:ext cx="762000" cy="91024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4800" y="76200"/>
            <a:ext cx="972911" cy="972911"/>
          </a:xfrm>
          <a:prstGeom prst="rect">
            <a:avLst/>
          </a:prstGeom>
        </p:spPr>
      </p:pic>
      <p:sp>
        <p:nvSpPr>
          <p:cNvPr id="5" name="TextBox 4"/>
          <p:cNvSpPr txBox="1"/>
          <p:nvPr userDrawn="1"/>
        </p:nvSpPr>
        <p:spPr>
          <a:xfrm>
            <a:off x="8077200" y="1295400"/>
            <a:ext cx="769121" cy="5257800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vert="wordArtVert" wrap="square" rtlCol="0">
            <a:spAutoFit/>
          </a:bodyPr>
          <a:lstStyle/>
          <a:p>
            <a:pPr algn="ctr"/>
            <a:r>
              <a:rPr lang="en-US" sz="3200" b="1" dirty="0"/>
              <a:t>CPCS 223</a:t>
            </a:r>
          </a:p>
        </p:txBody>
      </p:sp>
    </p:spTree>
    <p:extLst>
      <p:ext uri="{BB962C8B-B14F-4D97-AF65-F5344CB8AC3E}">
        <p14:creationId xmlns:p14="http://schemas.microsoft.com/office/powerpoint/2010/main" val="40108021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rgbClr val="00823B"/>
        </a:buClr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Clr>
          <a:srgbClr val="00823B"/>
        </a:buClr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Clr>
          <a:srgbClr val="00823B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Clr>
          <a:srgbClr val="00823B"/>
        </a:buClr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Clr>
          <a:srgbClr val="00823B"/>
        </a:buClr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p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24000"/>
            <a:ext cx="7675563" cy="2367907"/>
          </a:xfrm>
          <a:prstGeom prst="rect">
            <a:avLst/>
          </a:prstGeom>
        </p:spPr>
      </p:pic>
      <p:grpSp>
        <p:nvGrpSpPr>
          <p:cNvPr id="11" name="Group 10"/>
          <p:cNvGrpSpPr/>
          <p:nvPr/>
        </p:nvGrpSpPr>
        <p:grpSpPr>
          <a:xfrm>
            <a:off x="918075" y="4539129"/>
            <a:ext cx="6420832" cy="1785471"/>
            <a:chOff x="613275" y="0"/>
            <a:chExt cx="6420832" cy="1785471"/>
          </a:xfrm>
        </p:grpSpPr>
        <p:sp>
          <p:nvSpPr>
            <p:cNvPr id="13" name="Pentagon 12"/>
            <p:cNvSpPr/>
            <p:nvPr/>
          </p:nvSpPr>
          <p:spPr>
            <a:xfrm rot="10800000">
              <a:off x="613275" y="0"/>
              <a:ext cx="6420832" cy="1785471"/>
            </a:xfrm>
            <a:prstGeom prst="homePlate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4" name="Pentagon 4"/>
            <p:cNvSpPr/>
            <p:nvPr/>
          </p:nvSpPr>
          <p:spPr>
            <a:xfrm rot="21600000">
              <a:off x="1059643" y="0"/>
              <a:ext cx="5974464" cy="1785471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787343" tIns="76200" rIns="142240" bIns="76200" numCol="1" spcCol="1270" anchor="ctr" anchorCtr="0">
              <a:noAutofit/>
            </a:bodyPr>
            <a:lstStyle/>
            <a:p>
              <a:pPr lvl="0" algn="ctr" defTabSz="889000" rtl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2000" b="1" i="0" kern="1200" dirty="0">
                  <a:latin typeface="+mj-lt"/>
                </a:rPr>
                <a:t>O my Lord! Expand for me my chest [with assurance] and ease for me my task and untie the knot from my tongue that they may understand my speech. </a:t>
              </a:r>
              <a:r>
                <a:rPr lang="en-US" sz="2000" b="1" i="0" kern="1200" dirty="0">
                  <a:solidFill>
                    <a:srgbClr val="FFFF00"/>
                  </a:solidFill>
                </a:rPr>
                <a:t>(Quran 20 : 25-28)</a:t>
              </a:r>
              <a:endParaRPr lang="en-US" sz="2000" b="1" kern="1200" dirty="0">
                <a:solidFill>
                  <a:srgbClr val="FFFF00"/>
                </a:solidFill>
                <a:latin typeface="+mj-lt"/>
              </a:endParaRPr>
            </a:p>
          </p:txBody>
        </p:sp>
      </p:grpSp>
      <p:sp>
        <p:nvSpPr>
          <p:cNvPr id="12" name="Oval 11"/>
          <p:cNvSpPr/>
          <p:nvPr/>
        </p:nvSpPr>
        <p:spPr>
          <a:xfrm>
            <a:off x="304800" y="4539129"/>
            <a:ext cx="1785471" cy="1785471"/>
          </a:xfrm>
          <a:prstGeom prst="ellipse">
            <a:avLst/>
          </a:prstGeom>
          <a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39000" r="-39000"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</p:sp>
    </p:spTree>
    <p:extLst>
      <p:ext uri="{BB962C8B-B14F-4D97-AF65-F5344CB8AC3E}">
        <p14:creationId xmlns:p14="http://schemas.microsoft.com/office/powerpoint/2010/main" val="22076493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9126" y="1946943"/>
            <a:ext cx="6705600" cy="2003425"/>
          </a:xfrm>
        </p:spPr>
        <p:txBody>
          <a:bodyPr>
            <a:noAutofit/>
          </a:bodyPr>
          <a:lstStyle/>
          <a:p>
            <a:r>
              <a:rPr lang="en-US" sz="6000" b="1" dirty="0">
                <a:solidFill>
                  <a:srgbClr val="00823B"/>
                </a:solidFill>
              </a:rPr>
              <a:t>Algorithm Analysis</a:t>
            </a:r>
            <a:endParaRPr lang="en-US" sz="4800" b="1" dirty="0">
              <a:solidFill>
                <a:srgbClr val="00823B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62000" y="3962400"/>
            <a:ext cx="6400800" cy="1752600"/>
          </a:xfrm>
        </p:spPr>
        <p:txBody>
          <a:bodyPr>
            <a:normAutofit/>
          </a:bodyPr>
          <a:lstStyle/>
          <a:p>
            <a:pPr algn="r"/>
            <a:endParaRPr lang="en-US" sz="7200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275841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pc="-10" dirty="0">
                <a:cs typeface="Calibri"/>
              </a:rPr>
              <a:t>I</a:t>
            </a:r>
            <a:r>
              <a:rPr lang="en-US" spc="-40" dirty="0">
                <a:cs typeface="Calibri"/>
              </a:rPr>
              <a:t>n</a:t>
            </a:r>
            <a:r>
              <a:rPr lang="en-US" dirty="0">
                <a:cs typeface="Calibri"/>
              </a:rPr>
              <a:t>t</a:t>
            </a:r>
            <a:r>
              <a:rPr lang="en-US" spc="-70" dirty="0">
                <a:cs typeface="Calibri"/>
              </a:rPr>
              <a:t>r</a:t>
            </a:r>
            <a:r>
              <a:rPr lang="en-US" dirty="0">
                <a:cs typeface="Calibri"/>
              </a:rPr>
              <a:t>odu</a:t>
            </a:r>
            <a:r>
              <a:rPr lang="en-US" spc="-5" dirty="0">
                <a:cs typeface="Calibri"/>
              </a:rPr>
              <a:t>c</a:t>
            </a:r>
            <a:r>
              <a:rPr lang="en-US" dirty="0">
                <a:cs typeface="Calibri"/>
              </a:rPr>
              <a:t>t</a:t>
            </a:r>
            <a:r>
              <a:rPr lang="en-US" spc="-5" dirty="0">
                <a:cs typeface="Calibri"/>
              </a:rPr>
              <a:t>i</a:t>
            </a:r>
            <a:r>
              <a:rPr lang="en-US" dirty="0">
                <a:cs typeface="Calibri"/>
              </a:rPr>
              <a:t>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pc="-5" dirty="0">
                <a:cs typeface="Calibri"/>
              </a:rPr>
              <a:t>Algorithm</a:t>
            </a:r>
            <a:r>
              <a:rPr lang="en-US" spc="5" dirty="0">
                <a:cs typeface="Calibri"/>
              </a:rPr>
              <a:t> </a:t>
            </a:r>
            <a:r>
              <a:rPr lang="en-US" spc="-10" dirty="0">
                <a:cs typeface="Calibri"/>
              </a:rPr>
              <a:t>Analysis</a:t>
            </a:r>
          </a:p>
          <a:p>
            <a:r>
              <a:rPr lang="en-US" spc="-10" dirty="0">
                <a:cs typeface="Calibri"/>
              </a:rPr>
              <a:t>Methodology</a:t>
            </a:r>
          </a:p>
          <a:p>
            <a:pPr lvl="1"/>
            <a:r>
              <a:rPr lang="en-US" spc="-5" dirty="0">
                <a:cs typeface="Calibri"/>
              </a:rPr>
              <a:t>Empirical</a:t>
            </a:r>
            <a:r>
              <a:rPr lang="en-US" spc="-55" dirty="0">
                <a:cs typeface="Calibri"/>
              </a:rPr>
              <a:t> </a:t>
            </a:r>
            <a:r>
              <a:rPr lang="en-US" spc="-5" dirty="0">
                <a:cs typeface="Calibri"/>
              </a:rPr>
              <a:t>Analysis</a:t>
            </a:r>
          </a:p>
          <a:p>
            <a:pPr lvl="2"/>
            <a:r>
              <a:rPr lang="en-US" spc="-5" dirty="0">
                <a:solidFill>
                  <a:srgbClr val="00B04F"/>
                </a:solidFill>
                <a:cs typeface="Calibri"/>
              </a:rPr>
              <a:t>Experimental</a:t>
            </a:r>
            <a:r>
              <a:rPr lang="en-US" dirty="0">
                <a:solidFill>
                  <a:srgbClr val="00B04F"/>
                </a:solidFill>
                <a:cs typeface="Calibri"/>
              </a:rPr>
              <a:t> </a:t>
            </a:r>
            <a:r>
              <a:rPr lang="en-US" spc="-5" dirty="0">
                <a:cs typeface="Calibri"/>
              </a:rPr>
              <a:t>based</a:t>
            </a:r>
            <a:r>
              <a:rPr lang="en-US" spc="-10" dirty="0">
                <a:cs typeface="Calibri"/>
              </a:rPr>
              <a:t> </a:t>
            </a:r>
            <a:r>
              <a:rPr lang="en-US" spc="-5" dirty="0">
                <a:cs typeface="Calibri"/>
              </a:rPr>
              <a:t>analysis</a:t>
            </a:r>
            <a:endParaRPr lang="en-US" dirty="0">
              <a:cs typeface="Calibri"/>
            </a:endParaRPr>
          </a:p>
          <a:p>
            <a:pPr lvl="1"/>
            <a:r>
              <a:rPr lang="en-US" spc="-10" dirty="0">
                <a:cs typeface="Calibri"/>
              </a:rPr>
              <a:t>Mathematical</a:t>
            </a:r>
            <a:r>
              <a:rPr lang="en-US" spc="-35" dirty="0">
                <a:cs typeface="Calibri"/>
              </a:rPr>
              <a:t> </a:t>
            </a:r>
            <a:r>
              <a:rPr lang="en-US" dirty="0">
                <a:cs typeface="Calibri"/>
              </a:rPr>
              <a:t>/</a:t>
            </a:r>
            <a:r>
              <a:rPr lang="en-US" spc="-10" dirty="0">
                <a:cs typeface="Calibri"/>
              </a:rPr>
              <a:t> Theoretical</a:t>
            </a:r>
            <a:r>
              <a:rPr lang="en-US" spc="-15" dirty="0">
                <a:cs typeface="Calibri"/>
              </a:rPr>
              <a:t> </a:t>
            </a:r>
            <a:r>
              <a:rPr lang="en-US" spc="-5" dirty="0">
                <a:cs typeface="Calibri"/>
              </a:rPr>
              <a:t>Analysis</a:t>
            </a:r>
          </a:p>
          <a:p>
            <a:pPr lvl="2"/>
            <a:r>
              <a:rPr lang="en-US" spc="-5" dirty="0">
                <a:solidFill>
                  <a:srgbClr val="00B04F"/>
                </a:solidFill>
                <a:cs typeface="Calibri"/>
              </a:rPr>
              <a:t>Mathematical</a:t>
            </a:r>
            <a:r>
              <a:rPr lang="en-US" spc="10" dirty="0">
                <a:solidFill>
                  <a:srgbClr val="00B04F"/>
                </a:solidFill>
                <a:cs typeface="Calibri"/>
              </a:rPr>
              <a:t> </a:t>
            </a:r>
            <a:r>
              <a:rPr lang="en-US" spc="-5" dirty="0">
                <a:cs typeface="Calibri"/>
              </a:rPr>
              <a:t>based</a:t>
            </a:r>
            <a:r>
              <a:rPr lang="en-US" spc="-10" dirty="0">
                <a:cs typeface="Calibri"/>
              </a:rPr>
              <a:t> </a:t>
            </a:r>
            <a:r>
              <a:rPr lang="en-US" spc="-5" dirty="0">
                <a:cs typeface="Calibri"/>
              </a:rPr>
              <a:t>analysis</a:t>
            </a:r>
            <a:endParaRPr lang="en-US" dirty="0">
              <a:cs typeface="Calibri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87201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9126" y="1946943"/>
            <a:ext cx="6705600" cy="2003425"/>
          </a:xfrm>
        </p:spPr>
        <p:txBody>
          <a:bodyPr>
            <a:noAutofit/>
          </a:bodyPr>
          <a:lstStyle/>
          <a:p>
            <a:r>
              <a:rPr lang="en-US" sz="6000" b="1" dirty="0">
                <a:solidFill>
                  <a:srgbClr val="00823B"/>
                </a:solidFill>
              </a:rPr>
              <a:t>Empirical Analysis</a:t>
            </a:r>
            <a:endParaRPr lang="en-US" sz="4800" b="1" dirty="0">
              <a:solidFill>
                <a:srgbClr val="00823B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62000" y="3962400"/>
            <a:ext cx="6400800" cy="1752600"/>
          </a:xfrm>
        </p:spPr>
        <p:txBody>
          <a:bodyPr>
            <a:normAutofit/>
          </a:bodyPr>
          <a:lstStyle/>
          <a:p>
            <a:pPr algn="r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Method 01</a:t>
            </a:r>
          </a:p>
          <a:p>
            <a:pPr algn="r"/>
            <a:r>
              <a:rPr lang="en-US" b="1" dirty="0">
                <a:solidFill>
                  <a:srgbClr val="0000FF"/>
                </a:solidFill>
              </a:rPr>
              <a:t>w.r.t. Problem Size and Hardware Variations</a:t>
            </a:r>
          </a:p>
        </p:txBody>
      </p:sp>
    </p:spTree>
    <p:extLst>
      <p:ext uri="{BB962C8B-B14F-4D97-AF65-F5344CB8AC3E}">
        <p14:creationId xmlns:p14="http://schemas.microsoft.com/office/powerpoint/2010/main" val="37136365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pc="-10" dirty="0">
                <a:cs typeface="Calibri"/>
              </a:rPr>
              <a:t>Empirical Analysis </a:t>
            </a:r>
            <a:r>
              <a:rPr lang="en-US" spc="-5" dirty="0">
                <a:cs typeface="Calibri"/>
              </a:rPr>
              <a:t>of </a:t>
            </a:r>
            <a:r>
              <a:rPr lang="en-US" spc="-10" dirty="0">
                <a:cs typeface="Calibri"/>
              </a:rPr>
              <a:t>Time </a:t>
            </a:r>
            <a:r>
              <a:rPr lang="en-US" spc="-890" dirty="0">
                <a:cs typeface="Calibri"/>
              </a:rPr>
              <a:t> </a:t>
            </a:r>
            <a:r>
              <a:rPr lang="en-US" spc="-20" dirty="0">
                <a:cs typeface="Calibri"/>
              </a:rPr>
              <a:t>Efficiency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>
                <a:cs typeface="Calibri"/>
              </a:rPr>
              <a:t>Select</a:t>
            </a:r>
            <a:r>
              <a:rPr lang="en-US" spc="-10" dirty="0">
                <a:cs typeface="Calibri"/>
              </a:rPr>
              <a:t> </a:t>
            </a:r>
            <a:r>
              <a:rPr lang="en-US" b="1" spc="-10" dirty="0">
                <a:solidFill>
                  <a:srgbClr val="0000FF"/>
                </a:solidFill>
                <a:cs typeface="Calibri"/>
              </a:rPr>
              <a:t>multiple </a:t>
            </a:r>
            <a:r>
              <a:rPr lang="en-US" b="1" spc="-5" dirty="0">
                <a:solidFill>
                  <a:srgbClr val="0000FF"/>
                </a:solidFill>
                <a:cs typeface="Calibri"/>
              </a:rPr>
              <a:t>hardware </a:t>
            </a:r>
            <a:r>
              <a:rPr lang="en-US" spc="-5" dirty="0">
                <a:cs typeface="Calibri"/>
              </a:rPr>
              <a:t>setup</a:t>
            </a:r>
            <a:endParaRPr lang="en-US" dirty="0">
              <a:cs typeface="Calibri"/>
            </a:endParaRPr>
          </a:p>
          <a:p>
            <a:r>
              <a:rPr lang="en-US" dirty="0">
                <a:cs typeface="Calibri"/>
              </a:rPr>
              <a:t>Select</a:t>
            </a:r>
            <a:r>
              <a:rPr lang="en-US" spc="-10" dirty="0">
                <a:cs typeface="Calibri"/>
              </a:rPr>
              <a:t> </a:t>
            </a:r>
            <a:r>
              <a:rPr lang="en-US" spc="-5" dirty="0">
                <a:cs typeface="Calibri"/>
              </a:rPr>
              <a:t>a specific</a:t>
            </a:r>
            <a:r>
              <a:rPr lang="en-US" spc="15" dirty="0">
                <a:cs typeface="Calibri"/>
              </a:rPr>
              <a:t> </a:t>
            </a:r>
            <a:r>
              <a:rPr lang="en-US" spc="-10" dirty="0">
                <a:cs typeface="Calibri"/>
              </a:rPr>
              <a:t>(typical)</a:t>
            </a:r>
            <a:r>
              <a:rPr lang="en-US" spc="25" dirty="0">
                <a:cs typeface="Calibri"/>
              </a:rPr>
              <a:t> </a:t>
            </a:r>
            <a:r>
              <a:rPr lang="en-US" b="1" spc="-5" dirty="0">
                <a:solidFill>
                  <a:srgbClr val="0000FF"/>
                </a:solidFill>
                <a:cs typeface="Calibri"/>
              </a:rPr>
              <a:t>sample</a:t>
            </a:r>
            <a:r>
              <a:rPr lang="en-US" b="1" spc="10" dirty="0">
                <a:solidFill>
                  <a:srgbClr val="0000FF"/>
                </a:solidFill>
                <a:cs typeface="Calibri"/>
              </a:rPr>
              <a:t> </a:t>
            </a:r>
            <a:r>
              <a:rPr lang="en-US" b="1" spc="-5" dirty="0">
                <a:solidFill>
                  <a:srgbClr val="0000FF"/>
                </a:solidFill>
                <a:cs typeface="Calibri"/>
              </a:rPr>
              <a:t>of</a:t>
            </a:r>
            <a:r>
              <a:rPr lang="en-US" b="1" spc="-15" dirty="0">
                <a:solidFill>
                  <a:srgbClr val="0000FF"/>
                </a:solidFill>
                <a:cs typeface="Calibri"/>
              </a:rPr>
              <a:t> </a:t>
            </a:r>
            <a:r>
              <a:rPr lang="en-US" b="1" spc="-5" dirty="0">
                <a:solidFill>
                  <a:srgbClr val="0000FF"/>
                </a:solidFill>
                <a:cs typeface="Calibri"/>
              </a:rPr>
              <a:t>inputs</a:t>
            </a:r>
            <a:endParaRPr lang="en-US" b="1" dirty="0">
              <a:solidFill>
                <a:srgbClr val="0000FF"/>
              </a:solidFill>
              <a:cs typeface="Calibri"/>
            </a:endParaRPr>
          </a:p>
          <a:p>
            <a:pPr marL="354965" marR="5080" indent="-354965">
              <a:spcBef>
                <a:spcPts val="95"/>
              </a:spcBef>
              <a:buClr>
                <a:srgbClr val="00823A"/>
              </a:buClr>
              <a:buFont typeface="Arial MT"/>
              <a:buChar char="•"/>
              <a:tabLst>
                <a:tab pos="354965" algn="l"/>
                <a:tab pos="355600" algn="l"/>
                <a:tab pos="4378960" algn="l"/>
              </a:tabLst>
            </a:pPr>
            <a:r>
              <a:rPr lang="en-US" spc="-10" dirty="0">
                <a:cs typeface="Calibri"/>
              </a:rPr>
              <a:t>Us</a:t>
            </a:r>
            <a:r>
              <a:rPr lang="en-US" spc="-5" dirty="0">
                <a:cs typeface="Calibri"/>
              </a:rPr>
              <a:t>e</a:t>
            </a:r>
            <a:r>
              <a:rPr lang="en-US" spc="-45" dirty="0">
                <a:latin typeface="Times New Roman"/>
                <a:cs typeface="Times New Roman"/>
              </a:rPr>
              <a:t> </a:t>
            </a:r>
            <a:r>
              <a:rPr lang="en-US" b="1" spc="-10" dirty="0">
                <a:solidFill>
                  <a:srgbClr val="0000FF"/>
                </a:solidFill>
                <a:cs typeface="Calibri"/>
              </a:rPr>
              <a:t>p</a:t>
            </a:r>
            <a:r>
              <a:rPr lang="en-US" b="1" spc="-60" dirty="0">
                <a:solidFill>
                  <a:srgbClr val="0000FF"/>
                </a:solidFill>
                <a:cs typeface="Calibri"/>
              </a:rPr>
              <a:t>h</a:t>
            </a:r>
            <a:r>
              <a:rPr lang="en-US" b="1" spc="-30" dirty="0">
                <a:solidFill>
                  <a:srgbClr val="0000FF"/>
                </a:solidFill>
                <a:cs typeface="Calibri"/>
              </a:rPr>
              <a:t>y</a:t>
            </a:r>
            <a:r>
              <a:rPr lang="en-US" b="1" spc="-10" dirty="0">
                <a:solidFill>
                  <a:srgbClr val="0000FF"/>
                </a:solidFill>
                <a:cs typeface="Calibri"/>
              </a:rPr>
              <a:t>s</a:t>
            </a:r>
            <a:r>
              <a:rPr lang="en-US" b="1" spc="-5" dirty="0">
                <a:solidFill>
                  <a:srgbClr val="0000FF"/>
                </a:solidFill>
                <a:cs typeface="Calibri"/>
              </a:rPr>
              <a:t>i</a:t>
            </a:r>
            <a:r>
              <a:rPr lang="en-US" b="1" spc="-30" dirty="0">
                <a:solidFill>
                  <a:srgbClr val="0000FF"/>
                </a:solidFill>
                <a:cs typeface="Calibri"/>
              </a:rPr>
              <a:t>c</a:t>
            </a:r>
            <a:r>
              <a:rPr lang="en-US" b="1" spc="-5" dirty="0">
                <a:solidFill>
                  <a:srgbClr val="0000FF"/>
                </a:solidFill>
                <a:cs typeface="Calibri"/>
              </a:rPr>
              <a:t>al</a:t>
            </a:r>
            <a:r>
              <a:rPr lang="en-US" b="1" spc="-4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lang="en-US" b="1" spc="-10" dirty="0">
                <a:solidFill>
                  <a:srgbClr val="0000FF"/>
                </a:solidFill>
                <a:cs typeface="Calibri"/>
              </a:rPr>
              <a:t>un</a:t>
            </a:r>
            <a:r>
              <a:rPr lang="en-US" b="1" spc="-5" dirty="0">
                <a:solidFill>
                  <a:srgbClr val="0000FF"/>
                </a:solidFill>
                <a:cs typeface="Calibri"/>
              </a:rPr>
              <a:t>it</a:t>
            </a:r>
            <a:r>
              <a:rPr lang="en-US" b="1" spc="-6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lang="en-US" b="1" spc="-5" dirty="0">
                <a:solidFill>
                  <a:srgbClr val="0000FF"/>
                </a:solidFill>
                <a:cs typeface="Calibri"/>
              </a:rPr>
              <a:t>of</a:t>
            </a:r>
            <a:r>
              <a:rPr lang="en-US" b="1" spc="-7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lang="en-US" b="1" spc="-5" dirty="0">
                <a:solidFill>
                  <a:srgbClr val="0000FF"/>
                </a:solidFill>
                <a:cs typeface="Calibri"/>
              </a:rPr>
              <a:t>ti</a:t>
            </a:r>
            <a:r>
              <a:rPr lang="en-US" b="1" spc="-10" dirty="0">
                <a:solidFill>
                  <a:srgbClr val="0000FF"/>
                </a:solidFill>
                <a:cs typeface="Calibri"/>
              </a:rPr>
              <a:t>m</a:t>
            </a:r>
            <a:r>
              <a:rPr lang="en-US" b="1" spc="-5" dirty="0">
                <a:solidFill>
                  <a:srgbClr val="0000FF"/>
                </a:solidFill>
                <a:cs typeface="Calibri"/>
              </a:rPr>
              <a:t>e</a:t>
            </a:r>
            <a:r>
              <a:rPr lang="en-US" b="1" spc="-4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lang="en-US" spc="-10" dirty="0">
                <a:cs typeface="Calibri"/>
              </a:rPr>
              <a:t>(</a:t>
            </a:r>
            <a:r>
              <a:rPr lang="en-US" dirty="0">
                <a:cs typeface="Calibri"/>
              </a:rPr>
              <a:t>e</a:t>
            </a:r>
            <a:r>
              <a:rPr lang="en-US" spc="20" dirty="0">
                <a:cs typeface="Calibri"/>
              </a:rPr>
              <a:t>.</a:t>
            </a:r>
            <a:r>
              <a:rPr lang="en-US" spc="-5" dirty="0">
                <a:cs typeface="Calibri"/>
              </a:rPr>
              <a:t>g.,</a:t>
            </a:r>
            <a:r>
              <a:rPr lang="en-US" dirty="0">
                <a:latin typeface="Times New Roman"/>
                <a:cs typeface="Times New Roman"/>
              </a:rPr>
              <a:t>	</a:t>
            </a:r>
            <a:r>
              <a:rPr lang="en-US" spc="-10" dirty="0">
                <a:cs typeface="Calibri"/>
              </a:rPr>
              <a:t>m</a:t>
            </a:r>
            <a:r>
              <a:rPr lang="en-US" spc="-5" dirty="0">
                <a:cs typeface="Calibri"/>
              </a:rPr>
              <a:t>illi</a:t>
            </a:r>
            <a:r>
              <a:rPr lang="en-US" spc="-10" dirty="0">
                <a:cs typeface="Calibri"/>
              </a:rPr>
              <a:t>s</a:t>
            </a:r>
            <a:r>
              <a:rPr lang="en-US" dirty="0">
                <a:cs typeface="Calibri"/>
              </a:rPr>
              <a:t>e</a:t>
            </a:r>
            <a:r>
              <a:rPr lang="en-US" spc="-30" dirty="0">
                <a:cs typeface="Calibri"/>
              </a:rPr>
              <a:t>c</a:t>
            </a:r>
            <a:r>
              <a:rPr lang="en-US" spc="-5" dirty="0">
                <a:cs typeface="Calibri"/>
              </a:rPr>
              <a:t>o</a:t>
            </a:r>
            <a:r>
              <a:rPr lang="en-US" spc="-10" dirty="0">
                <a:cs typeface="Calibri"/>
              </a:rPr>
              <a:t>nds</a:t>
            </a:r>
            <a:r>
              <a:rPr lang="en-US" spc="-5" dirty="0">
                <a:cs typeface="Calibri"/>
              </a:rPr>
              <a:t>) </a:t>
            </a:r>
            <a:r>
              <a:rPr lang="en-US" spc="-5" dirty="0">
                <a:latin typeface="Times New Roman"/>
                <a:cs typeface="Times New Roman"/>
              </a:rPr>
              <a:t> </a:t>
            </a:r>
            <a:r>
              <a:rPr lang="en-US" spc="-5" dirty="0">
                <a:cs typeface="Calibri"/>
              </a:rPr>
              <a:t>or </a:t>
            </a:r>
            <a:r>
              <a:rPr lang="en-US" b="1" spc="-10" dirty="0">
                <a:solidFill>
                  <a:srgbClr val="0000FF"/>
                </a:solidFill>
                <a:cs typeface="Calibri"/>
              </a:rPr>
              <a:t>Count</a:t>
            </a:r>
            <a:r>
              <a:rPr lang="en-US" dirty="0">
                <a:cs typeface="Calibri"/>
              </a:rPr>
              <a:t> </a:t>
            </a:r>
            <a:r>
              <a:rPr lang="en-US" spc="-5" dirty="0">
                <a:cs typeface="Calibri"/>
              </a:rPr>
              <a:t>actual number</a:t>
            </a:r>
            <a:r>
              <a:rPr lang="en-US" spc="20" dirty="0">
                <a:cs typeface="Calibri"/>
              </a:rPr>
              <a:t> </a:t>
            </a:r>
            <a:r>
              <a:rPr lang="en-US" spc="-5" dirty="0">
                <a:cs typeface="Calibri"/>
              </a:rPr>
              <a:t>of</a:t>
            </a:r>
            <a:r>
              <a:rPr lang="en-US" spc="-20" dirty="0">
                <a:cs typeface="Calibri"/>
              </a:rPr>
              <a:t> </a:t>
            </a:r>
            <a:r>
              <a:rPr lang="en-US" spc="-5" dirty="0">
                <a:cs typeface="Calibri"/>
              </a:rPr>
              <a:t>basic</a:t>
            </a:r>
            <a:r>
              <a:rPr lang="en-US" spc="5" dirty="0">
                <a:cs typeface="Calibri"/>
              </a:rPr>
              <a:t> </a:t>
            </a:r>
            <a:r>
              <a:rPr lang="en-US" spc="-25" dirty="0">
                <a:cs typeface="Calibri"/>
              </a:rPr>
              <a:t>operation’s </a:t>
            </a:r>
            <a:r>
              <a:rPr lang="en-US" spc="-550" dirty="0">
                <a:cs typeface="Calibri"/>
              </a:rPr>
              <a:t> </a:t>
            </a:r>
            <a:r>
              <a:rPr lang="en-US" spc="-15" dirty="0">
                <a:cs typeface="Calibri"/>
              </a:rPr>
              <a:t>executions</a:t>
            </a:r>
          </a:p>
          <a:p>
            <a:pPr marL="354965" marR="5080" indent="-354965">
              <a:spcBef>
                <a:spcPts val="95"/>
              </a:spcBef>
              <a:buClr>
                <a:srgbClr val="00823A"/>
              </a:buClr>
              <a:buFont typeface="Arial MT"/>
              <a:buChar char="•"/>
              <a:tabLst>
                <a:tab pos="354965" algn="l"/>
                <a:tab pos="355600" algn="l"/>
                <a:tab pos="4378960" algn="l"/>
              </a:tabLst>
            </a:pPr>
            <a:r>
              <a:rPr lang="en-US" b="1" spc="-20" dirty="0">
                <a:solidFill>
                  <a:srgbClr val="0000FF"/>
                </a:solidFill>
                <a:cs typeface="Calibri"/>
              </a:rPr>
              <a:t>Analyze</a:t>
            </a:r>
            <a:r>
              <a:rPr lang="en-US" spc="20" dirty="0">
                <a:cs typeface="Calibri"/>
              </a:rPr>
              <a:t> </a:t>
            </a:r>
            <a:r>
              <a:rPr lang="en-US" spc="-5" dirty="0">
                <a:cs typeface="Calibri"/>
              </a:rPr>
              <a:t>the</a:t>
            </a:r>
            <a:r>
              <a:rPr lang="en-US" spc="-10" dirty="0">
                <a:cs typeface="Calibri"/>
              </a:rPr>
              <a:t> </a:t>
            </a:r>
            <a:r>
              <a:rPr lang="en-US" spc="-5" dirty="0">
                <a:cs typeface="Calibri"/>
              </a:rPr>
              <a:t>empirical</a:t>
            </a:r>
            <a:r>
              <a:rPr lang="en-US" spc="5" dirty="0">
                <a:cs typeface="Calibri"/>
              </a:rPr>
              <a:t> </a:t>
            </a:r>
            <a:r>
              <a:rPr lang="en-US" spc="-20" dirty="0">
                <a:cs typeface="Calibri"/>
              </a:rPr>
              <a:t>data</a:t>
            </a:r>
            <a:endParaRPr lang="en-US" dirty="0">
              <a:cs typeface="Calibri"/>
            </a:endParaRPr>
          </a:p>
          <a:p>
            <a:pPr marL="354965" marR="5080" indent="-354965">
              <a:spcBef>
                <a:spcPts val="95"/>
              </a:spcBef>
              <a:buClr>
                <a:srgbClr val="00823A"/>
              </a:buClr>
              <a:buFont typeface="Arial MT"/>
              <a:buChar char="•"/>
              <a:tabLst>
                <a:tab pos="354965" algn="l"/>
                <a:tab pos="355600" algn="l"/>
                <a:tab pos="4378960" algn="l"/>
              </a:tabLst>
            </a:pPr>
            <a:endParaRPr lang="en-US" spc="-15" dirty="0">
              <a:cs typeface="Calibri"/>
            </a:endParaRPr>
          </a:p>
          <a:p>
            <a:pPr marL="753746" marR="466090" indent="-457200">
              <a:lnSpc>
                <a:spcPct val="80000"/>
              </a:lnSpc>
              <a:spcBef>
                <a:spcPts val="600"/>
              </a:spcBef>
            </a:pPr>
            <a:endParaRPr lang="en-US" dirty="0">
              <a:cs typeface="Calibri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99390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pc="-5" dirty="0">
                <a:cs typeface="Calibri"/>
              </a:rPr>
              <a:t>Empirical</a:t>
            </a:r>
            <a:r>
              <a:rPr lang="en-US" spc="-85" dirty="0">
                <a:cs typeface="Calibri"/>
              </a:rPr>
              <a:t> </a:t>
            </a:r>
            <a:r>
              <a:rPr lang="en-US" spc="-5" dirty="0">
                <a:cs typeface="Calibri"/>
              </a:rPr>
              <a:t>Analysis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6</a:t>
            </a:fld>
            <a:endParaRPr lang="en-US"/>
          </a:p>
        </p:txBody>
      </p:sp>
      <p:graphicFrame>
        <p:nvGraphicFramePr>
          <p:cNvPr id="5" name="object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6380142"/>
              </p:ext>
            </p:extLst>
          </p:nvPr>
        </p:nvGraphicFramePr>
        <p:xfrm>
          <a:off x="547371" y="2362200"/>
          <a:ext cx="6982458" cy="362711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4912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912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8159">
                <a:tc>
                  <a:txBody>
                    <a:bodyPr/>
                    <a:lstStyle/>
                    <a:p>
                      <a:pPr marR="83185" algn="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2800" b="1" spc="-3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Type</a:t>
                      </a:r>
                      <a:r>
                        <a:rPr sz="2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800" b="1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of</a:t>
                      </a:r>
                      <a:r>
                        <a:rPr sz="28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Computer</a:t>
                      </a:r>
                      <a:endParaRPr sz="2800" dirty="0">
                        <a:latin typeface="Calibri"/>
                        <a:cs typeface="Calibri"/>
                      </a:endParaRPr>
                    </a:p>
                  </a:txBody>
                  <a:tcPr marL="0" marR="0" marT="241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9ABA59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2800" b="1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Time</a:t>
                      </a:r>
                      <a:r>
                        <a:rPr sz="2800" b="1" spc="-3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800" b="1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</a:t>
                      </a:r>
                      <a:r>
                        <a:rPr lang="en-US" sz="2800" b="1" spc="-5" dirty="0" err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</a:t>
                      </a:r>
                      <a:r>
                        <a:rPr sz="2800" b="1" spc="-5" dirty="0" err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</a:t>
                      </a:r>
                      <a:r>
                        <a:rPr sz="2800" b="1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)</a:t>
                      </a:r>
                      <a:endParaRPr sz="2800" dirty="0">
                        <a:latin typeface="Calibri"/>
                        <a:cs typeface="Calibri"/>
                      </a:endParaRPr>
                    </a:p>
                  </a:txBody>
                  <a:tcPr marL="0" marR="0" marT="241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9ABA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marR="82550" algn="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2800" spc="-5" dirty="0">
                          <a:latin typeface="Calibri"/>
                          <a:cs typeface="Calibri"/>
                        </a:rPr>
                        <a:t>Home</a:t>
                      </a:r>
                      <a:r>
                        <a:rPr sz="2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800" spc="-10" dirty="0">
                          <a:latin typeface="Calibri"/>
                          <a:cs typeface="Calibri"/>
                        </a:rPr>
                        <a:t>Computer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241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EE7D1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2800" spc="-10" dirty="0">
                          <a:latin typeface="Calibri"/>
                          <a:cs typeface="Calibri"/>
                        </a:rPr>
                        <a:t>51.915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241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EE7D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marR="82550" algn="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2800" spc="-10" dirty="0">
                          <a:latin typeface="Calibri"/>
                          <a:cs typeface="Calibri"/>
                        </a:rPr>
                        <a:t>Desktop</a:t>
                      </a:r>
                      <a:r>
                        <a:rPr sz="28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800" spc="-10" dirty="0">
                          <a:latin typeface="Calibri"/>
                          <a:cs typeface="Calibri"/>
                        </a:rPr>
                        <a:t>Computer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241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FF3EA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2800" spc="-10" dirty="0">
                          <a:latin typeface="Calibri"/>
                          <a:cs typeface="Calibri"/>
                        </a:rPr>
                        <a:t>11.508</a:t>
                      </a:r>
                      <a:endParaRPr sz="2800" dirty="0">
                        <a:latin typeface="Calibri"/>
                        <a:cs typeface="Calibri"/>
                      </a:endParaRPr>
                    </a:p>
                  </a:txBody>
                  <a:tcPr marL="0" marR="0" marT="241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F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marR="83185" algn="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2800" spc="-15" dirty="0">
                          <a:latin typeface="Calibri"/>
                          <a:cs typeface="Calibri"/>
                        </a:rPr>
                        <a:t>Minicomputer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241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EE7D1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2800" spc="-5" dirty="0">
                          <a:latin typeface="Calibri"/>
                          <a:cs typeface="Calibri"/>
                        </a:rPr>
                        <a:t>2.382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241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EE7D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marR="82550" algn="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2800" spc="-15" dirty="0">
                          <a:latin typeface="Calibri"/>
                          <a:cs typeface="Calibri"/>
                        </a:rPr>
                        <a:t>Mainframe</a:t>
                      </a:r>
                      <a:r>
                        <a:rPr sz="2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800" spc="-10" dirty="0">
                          <a:latin typeface="Calibri"/>
                          <a:cs typeface="Calibri"/>
                        </a:rPr>
                        <a:t>Computer</a:t>
                      </a:r>
                      <a:endParaRPr sz="2800" dirty="0">
                        <a:latin typeface="Calibri"/>
                        <a:cs typeface="Calibri"/>
                      </a:endParaRPr>
                    </a:p>
                  </a:txBody>
                  <a:tcPr marL="0" marR="0" marT="241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FF3EA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2800" spc="-5" dirty="0">
                          <a:latin typeface="Calibri"/>
                          <a:cs typeface="Calibri"/>
                        </a:rPr>
                        <a:t>0.431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241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F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marR="82550" algn="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2800" spc="-15" dirty="0">
                          <a:latin typeface="Calibri"/>
                          <a:cs typeface="Calibri"/>
                        </a:rPr>
                        <a:t>Supercomputer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241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EE7D1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2800" spc="-5" dirty="0">
                          <a:latin typeface="Calibri"/>
                          <a:cs typeface="Calibri"/>
                        </a:rPr>
                        <a:t>0.087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241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EE7D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8159">
                <a:tc gridSpan="2">
                  <a:txBody>
                    <a:bodyPr/>
                    <a:lstStyle/>
                    <a:p>
                      <a:pPr marL="728980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2800" b="1" spc="-5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Time</a:t>
                      </a:r>
                      <a:r>
                        <a:rPr sz="2800" b="1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800" b="1" spc="-15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to</a:t>
                      </a:r>
                      <a:r>
                        <a:rPr sz="2800" b="1" spc="-10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800" b="1" spc="-5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sort</a:t>
                      </a:r>
                      <a:r>
                        <a:rPr sz="2800" b="1" spc="10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800" b="1" spc="-5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an</a:t>
                      </a:r>
                      <a:r>
                        <a:rPr sz="2800" b="1" spc="5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800" b="1" spc="-25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array</a:t>
                      </a:r>
                      <a:r>
                        <a:rPr sz="2800" b="1" spc="15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800" b="1" spc="-5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of </a:t>
                      </a:r>
                      <a:r>
                        <a:rPr sz="2800" b="1" spc="-10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2000</a:t>
                      </a:r>
                      <a:r>
                        <a:rPr sz="2800" b="1" spc="30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800" b="1" spc="-20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integers</a:t>
                      </a:r>
                      <a:endParaRPr sz="2800" dirty="0">
                        <a:latin typeface="Calibri"/>
                        <a:cs typeface="Calibri"/>
                      </a:endParaRPr>
                    </a:p>
                  </a:txBody>
                  <a:tcPr marL="0" marR="0" marT="241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FF3E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277946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pc="-5" dirty="0">
                <a:cs typeface="Calibri"/>
              </a:rPr>
              <a:t>Empirical</a:t>
            </a:r>
            <a:r>
              <a:rPr lang="en-US" spc="-85" dirty="0">
                <a:cs typeface="Calibri"/>
              </a:rPr>
              <a:t> </a:t>
            </a:r>
            <a:r>
              <a:rPr lang="en-US" spc="-5" dirty="0">
                <a:cs typeface="Calibri"/>
              </a:rPr>
              <a:t>Analysis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7</a:t>
            </a:fld>
            <a:endParaRPr lang="en-US"/>
          </a:p>
        </p:txBody>
      </p:sp>
      <p:graphicFrame>
        <p:nvGraphicFramePr>
          <p:cNvPr id="6" name="object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1512279"/>
              </p:ext>
            </p:extLst>
          </p:nvPr>
        </p:nvGraphicFramePr>
        <p:xfrm>
          <a:off x="456883" y="2133600"/>
          <a:ext cx="7163434" cy="40698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8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82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875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731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28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Array</a:t>
                      </a:r>
                      <a:r>
                        <a:rPr sz="2800" b="1" spc="-1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8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Size</a:t>
                      </a:r>
                      <a:endParaRPr sz="2800" dirty="0">
                        <a:latin typeface="Calibri"/>
                        <a:cs typeface="Calibri"/>
                      </a:endParaRPr>
                    </a:p>
                  </a:txBody>
                  <a:tcPr marL="0" marR="0" marT="234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9ABA5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2800" b="1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Home</a:t>
                      </a:r>
                      <a:r>
                        <a:rPr sz="2800" b="1" spc="-4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800" b="1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Comp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234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9ABA59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2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Desktop</a:t>
                      </a:r>
                      <a:r>
                        <a:rPr sz="28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800" b="1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Comp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234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9ABA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6551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2800" spc="-10" dirty="0">
                          <a:latin typeface="Calibri"/>
                          <a:cs typeface="Calibri"/>
                        </a:rPr>
                        <a:t>125</a:t>
                      </a:r>
                      <a:endParaRPr sz="2800" dirty="0">
                        <a:latin typeface="Calibri"/>
                        <a:cs typeface="Calibri"/>
                      </a:endParaRPr>
                    </a:p>
                  </a:txBody>
                  <a:tcPr marL="0" marR="0" marT="241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EE7D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2800" spc="-5" dirty="0">
                          <a:latin typeface="Calibri"/>
                          <a:cs typeface="Calibri"/>
                        </a:rPr>
                        <a:t>12.5</a:t>
                      </a:r>
                      <a:endParaRPr sz="2800" dirty="0">
                        <a:latin typeface="Calibri"/>
                        <a:cs typeface="Calibri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EE7D1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2800" spc="-5" dirty="0">
                          <a:latin typeface="Calibri"/>
                          <a:cs typeface="Calibri"/>
                        </a:rPr>
                        <a:t>2.8</a:t>
                      </a:r>
                      <a:endParaRPr sz="2800" dirty="0">
                        <a:latin typeface="Calibri"/>
                        <a:cs typeface="Calibri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EE7D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6551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2800" spc="-10" dirty="0">
                          <a:latin typeface="Calibri"/>
                          <a:cs typeface="Calibri"/>
                        </a:rPr>
                        <a:t>250</a:t>
                      </a:r>
                      <a:endParaRPr sz="2800" dirty="0">
                        <a:latin typeface="Calibri"/>
                        <a:cs typeface="Calibri"/>
                      </a:endParaRPr>
                    </a:p>
                  </a:txBody>
                  <a:tcPr marL="0" marR="0" marT="241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FF3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2800" spc="-5" dirty="0">
                          <a:latin typeface="Calibri"/>
                          <a:cs typeface="Calibri"/>
                        </a:rPr>
                        <a:t>49.3</a:t>
                      </a:r>
                      <a:endParaRPr sz="2800" dirty="0">
                        <a:latin typeface="Calibri"/>
                        <a:cs typeface="Calibri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FF3EA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2800" spc="-5" dirty="0">
                          <a:latin typeface="Calibri"/>
                          <a:cs typeface="Calibri"/>
                        </a:rPr>
                        <a:t>11.0</a:t>
                      </a:r>
                      <a:endParaRPr sz="2800" dirty="0">
                        <a:latin typeface="Calibri"/>
                        <a:cs typeface="Calibri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F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7313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2800" spc="-10" dirty="0">
                          <a:latin typeface="Calibri"/>
                          <a:cs typeface="Calibri"/>
                        </a:rPr>
                        <a:t>500</a:t>
                      </a:r>
                      <a:endParaRPr sz="2800" dirty="0">
                        <a:latin typeface="Calibri"/>
                        <a:cs typeface="Calibri"/>
                      </a:endParaRPr>
                    </a:p>
                  </a:txBody>
                  <a:tcPr marL="0" marR="0" marT="241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EE7D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2800" spc="-5" dirty="0">
                          <a:latin typeface="Calibri"/>
                          <a:cs typeface="Calibri"/>
                        </a:rPr>
                        <a:t>195.8</a:t>
                      </a:r>
                      <a:endParaRPr sz="2800" dirty="0">
                        <a:latin typeface="Calibri"/>
                        <a:cs typeface="Calibri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EE7D1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2800" spc="-5" dirty="0">
                          <a:latin typeface="Calibri"/>
                          <a:cs typeface="Calibri"/>
                        </a:rPr>
                        <a:t>43.4</a:t>
                      </a:r>
                      <a:endParaRPr sz="2800" dirty="0">
                        <a:latin typeface="Calibri"/>
                        <a:cs typeface="Calibri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EE7D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6551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2800" spc="-10" dirty="0">
                          <a:latin typeface="Calibri"/>
                          <a:cs typeface="Calibri"/>
                        </a:rPr>
                        <a:t>1000</a:t>
                      </a:r>
                      <a:endParaRPr sz="2800" dirty="0">
                        <a:latin typeface="Calibri"/>
                        <a:cs typeface="Calibri"/>
                      </a:endParaRPr>
                    </a:p>
                  </a:txBody>
                  <a:tcPr marL="0" marR="0" marT="234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FF3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2800" spc="-5" dirty="0">
                          <a:latin typeface="Calibri"/>
                          <a:cs typeface="Calibri"/>
                        </a:rPr>
                        <a:t>780.3</a:t>
                      </a:r>
                      <a:endParaRPr sz="2800" dirty="0">
                        <a:latin typeface="Calibri"/>
                        <a:cs typeface="Calibri"/>
                      </a:endParaRPr>
                    </a:p>
                  </a:txBody>
                  <a:tcPr marL="0" marR="0" marT="234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FF3EA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2800" spc="-5" dirty="0">
                          <a:latin typeface="Calibri"/>
                          <a:cs typeface="Calibri"/>
                        </a:rPr>
                        <a:t>172.9</a:t>
                      </a:r>
                      <a:endParaRPr sz="2800" dirty="0">
                        <a:latin typeface="Calibri"/>
                        <a:cs typeface="Calibri"/>
                      </a:endParaRPr>
                    </a:p>
                  </a:txBody>
                  <a:tcPr marL="0" marR="0" marT="234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F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7313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2800" spc="-10" dirty="0">
                          <a:latin typeface="Calibri"/>
                          <a:cs typeface="Calibri"/>
                        </a:rPr>
                        <a:t>2000</a:t>
                      </a:r>
                      <a:endParaRPr sz="2800" dirty="0">
                        <a:latin typeface="Calibri"/>
                        <a:cs typeface="Calibri"/>
                      </a:endParaRPr>
                    </a:p>
                  </a:txBody>
                  <a:tcPr marL="0" marR="0" marT="2540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EE7D1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2800" spc="-10" dirty="0">
                          <a:latin typeface="Calibri"/>
                          <a:cs typeface="Calibri"/>
                        </a:rPr>
                        <a:t>3114.9</a:t>
                      </a:r>
                      <a:endParaRPr sz="2800" dirty="0">
                        <a:latin typeface="Calibri"/>
                        <a:cs typeface="Calibri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EE7D1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2800" spc="-5" dirty="0">
                          <a:latin typeface="Calibri"/>
                          <a:cs typeface="Calibri"/>
                        </a:rPr>
                        <a:t>690.5</a:t>
                      </a:r>
                      <a:endParaRPr sz="2800" dirty="0">
                        <a:latin typeface="Calibri"/>
                        <a:cs typeface="Calibri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EE7D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8243">
                <a:tc gridSpan="3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800" b="1" spc="-5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Insertion</a:t>
                      </a:r>
                      <a:r>
                        <a:rPr sz="1800" b="1" spc="-10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Sort</a:t>
                      </a:r>
                      <a:r>
                        <a:rPr sz="1800" b="1" spc="-40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Running</a:t>
                      </a:r>
                      <a:r>
                        <a:rPr sz="1800" b="1" spc="-40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5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Time </a:t>
                      </a:r>
                      <a:r>
                        <a:rPr sz="1800" b="1" spc="-10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for Different</a:t>
                      </a:r>
                      <a:r>
                        <a:rPr sz="1800" b="1" spc="15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Input</a:t>
                      </a:r>
                      <a:r>
                        <a:rPr sz="1800" b="1" spc="-40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10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Size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29209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FF3E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560386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2948" y="1143000"/>
            <a:ext cx="6248400" cy="609600"/>
          </a:xfrm>
        </p:spPr>
        <p:txBody>
          <a:bodyPr>
            <a:normAutofit fontScale="90000"/>
          </a:bodyPr>
          <a:lstStyle/>
          <a:p>
            <a:r>
              <a:rPr lang="en-US" spc="-5" dirty="0">
                <a:cs typeface="Calibri"/>
              </a:rPr>
              <a:t>Empirical</a:t>
            </a:r>
            <a:r>
              <a:rPr lang="en-US" spc="-85" dirty="0">
                <a:cs typeface="Calibri"/>
              </a:rPr>
              <a:t> </a:t>
            </a:r>
            <a:r>
              <a:rPr lang="en-US" spc="-5" dirty="0">
                <a:cs typeface="Calibri"/>
              </a:rPr>
              <a:t>Analysis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8</a:t>
            </a:fld>
            <a:endParaRPr lang="en-US"/>
          </a:p>
        </p:txBody>
      </p:sp>
      <p:pic>
        <p:nvPicPr>
          <p:cNvPr id="5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28800" y="1742768"/>
            <a:ext cx="4701540" cy="903732"/>
          </a:xfrm>
          <a:prstGeom prst="rect">
            <a:avLst/>
          </a:prstGeom>
        </p:spPr>
      </p:pic>
      <p:pic>
        <p:nvPicPr>
          <p:cNvPr id="7" name="object 1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19242" y="2498846"/>
            <a:ext cx="6115811" cy="3983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78687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2948" y="1143000"/>
            <a:ext cx="6248400" cy="609600"/>
          </a:xfrm>
        </p:spPr>
        <p:txBody>
          <a:bodyPr>
            <a:normAutofit fontScale="90000"/>
          </a:bodyPr>
          <a:lstStyle/>
          <a:p>
            <a:r>
              <a:rPr lang="en-US" spc="-5" dirty="0">
                <a:cs typeface="Calibri"/>
              </a:rPr>
              <a:t>Empirical</a:t>
            </a:r>
            <a:r>
              <a:rPr lang="en-US" spc="-85" dirty="0">
                <a:cs typeface="Calibri"/>
              </a:rPr>
              <a:t> </a:t>
            </a:r>
            <a:r>
              <a:rPr lang="en-US" spc="-5" dirty="0">
                <a:cs typeface="Calibri"/>
              </a:rPr>
              <a:t>Analysis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9</a:t>
            </a:fld>
            <a:endParaRPr lang="en-US"/>
          </a:p>
        </p:txBody>
      </p:sp>
      <p:graphicFrame>
        <p:nvGraphicFramePr>
          <p:cNvPr id="6" name="object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3501163"/>
              </p:ext>
            </p:extLst>
          </p:nvPr>
        </p:nvGraphicFramePr>
        <p:xfrm>
          <a:off x="395748" y="2103124"/>
          <a:ext cx="7162800" cy="387095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90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90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90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90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1739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2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n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234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9ABA5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2800" b="1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f(n)</a:t>
                      </a:r>
                      <a:endParaRPr sz="2800" dirty="0">
                        <a:latin typeface="Calibri"/>
                        <a:cs typeface="Calibri"/>
                      </a:endParaRPr>
                    </a:p>
                  </a:txBody>
                  <a:tcPr marL="0" marR="0" marT="234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9ABA5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2800" b="1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</a:t>
                      </a:r>
                      <a:r>
                        <a:rPr sz="2800" b="1" spc="-3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n</a:t>
                      </a:r>
                      <a:r>
                        <a:rPr sz="2775" b="1" baseline="255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</a:t>
                      </a:r>
                      <a:endParaRPr sz="2775" baseline="25525">
                        <a:latin typeface="Calibri"/>
                        <a:cs typeface="Calibri"/>
                      </a:endParaRPr>
                    </a:p>
                  </a:txBody>
                  <a:tcPr marL="0" marR="0" marT="2032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9ABA5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2800" b="1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%</a:t>
                      </a:r>
                      <a:r>
                        <a:rPr sz="2800" b="1" spc="-3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800" b="1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of</a:t>
                      </a:r>
                      <a:r>
                        <a:rPr sz="28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an</a:t>
                      </a:r>
                      <a:r>
                        <a:rPr sz="2775" b="1" baseline="255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</a:t>
                      </a:r>
                      <a:endParaRPr sz="2775" baseline="25525">
                        <a:latin typeface="Calibri"/>
                        <a:cs typeface="Calibri"/>
                      </a:endParaRPr>
                    </a:p>
                  </a:txBody>
                  <a:tcPr marL="0" marR="0" marT="2032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9ABA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92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2800" spc="-10" dirty="0">
                          <a:latin typeface="Calibri"/>
                          <a:cs typeface="Calibri"/>
                        </a:rPr>
                        <a:t>125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241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EE7D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2800" spc="-5" dirty="0">
                          <a:latin typeface="Calibri"/>
                          <a:cs typeface="Calibri"/>
                        </a:rPr>
                        <a:t>2.8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241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EE7D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2800" spc="-5" dirty="0">
                          <a:latin typeface="Calibri"/>
                          <a:cs typeface="Calibri"/>
                        </a:rPr>
                        <a:t>2.7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241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EE7D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2800" spc="-5" dirty="0">
                          <a:latin typeface="Calibri"/>
                          <a:cs typeface="Calibri"/>
                        </a:rPr>
                        <a:t>96.4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241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EE7D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2800" spc="-10" dirty="0">
                          <a:latin typeface="Calibri"/>
                          <a:cs typeface="Calibri"/>
                        </a:rPr>
                        <a:t>250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234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FF3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2800" spc="-5" dirty="0">
                          <a:latin typeface="Calibri"/>
                          <a:cs typeface="Calibri"/>
                        </a:rPr>
                        <a:t>11.0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234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FF3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2800" spc="-5" dirty="0">
                          <a:latin typeface="Calibri"/>
                          <a:cs typeface="Calibri"/>
                        </a:rPr>
                        <a:t>10.8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234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FF3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2800" spc="-5" dirty="0">
                          <a:latin typeface="Calibri"/>
                          <a:cs typeface="Calibri"/>
                        </a:rPr>
                        <a:t>98.1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234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F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2800" spc="-10" dirty="0">
                          <a:latin typeface="Calibri"/>
                          <a:cs typeface="Calibri"/>
                        </a:rPr>
                        <a:t>500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234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EE7D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2800" spc="-5" dirty="0">
                          <a:latin typeface="Calibri"/>
                          <a:cs typeface="Calibri"/>
                        </a:rPr>
                        <a:t>43.4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234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EE7D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2800" spc="-5" dirty="0">
                          <a:latin typeface="Calibri"/>
                          <a:cs typeface="Calibri"/>
                        </a:rPr>
                        <a:t>43.1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234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EE7D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2800" spc="-5" dirty="0">
                          <a:latin typeface="Calibri"/>
                          <a:cs typeface="Calibri"/>
                        </a:rPr>
                        <a:t>99.1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234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EE7D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2800" spc="-10" dirty="0">
                          <a:latin typeface="Calibri"/>
                          <a:cs typeface="Calibri"/>
                        </a:rPr>
                        <a:t>1000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234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FF3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2800" spc="-5" dirty="0">
                          <a:latin typeface="Calibri"/>
                          <a:cs typeface="Calibri"/>
                        </a:rPr>
                        <a:t>172.9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234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FF3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2800" spc="-5" dirty="0">
                          <a:latin typeface="Calibri"/>
                          <a:cs typeface="Calibri"/>
                        </a:rPr>
                        <a:t>172.4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234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FF3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2800" spc="-5" dirty="0">
                          <a:latin typeface="Calibri"/>
                          <a:cs typeface="Calibri"/>
                        </a:rPr>
                        <a:t>99.7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234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F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2800" spc="-10" dirty="0">
                          <a:latin typeface="Calibri"/>
                          <a:cs typeface="Calibri"/>
                        </a:rPr>
                        <a:t>2000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234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EE7D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2800" spc="-5" dirty="0">
                          <a:latin typeface="Calibri"/>
                          <a:cs typeface="Calibri"/>
                        </a:rPr>
                        <a:t>690.5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234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EE7D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2800" spc="-5" dirty="0">
                          <a:latin typeface="Calibri"/>
                          <a:cs typeface="Calibri"/>
                        </a:rPr>
                        <a:t>689.6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234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EE7D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2800" spc="-5" dirty="0">
                          <a:latin typeface="Calibri"/>
                          <a:cs typeface="Calibri"/>
                        </a:rPr>
                        <a:t>99.9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234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EE7D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6239">
                <a:tc gridSpan="4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2000" dirty="0">
                          <a:latin typeface="Calibri"/>
                          <a:cs typeface="Calibri"/>
                        </a:rPr>
                        <a:t>f(n)</a:t>
                      </a:r>
                      <a:r>
                        <a:rPr sz="20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=</a:t>
                      </a:r>
                      <a:r>
                        <a:rPr sz="20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20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10" dirty="0">
                          <a:latin typeface="Calibri"/>
                          <a:cs typeface="Calibri"/>
                        </a:rPr>
                        <a:t>n</a:t>
                      </a:r>
                      <a:r>
                        <a:rPr sz="1950" spc="15" baseline="25641" dirty="0">
                          <a:latin typeface="Calibri"/>
                          <a:cs typeface="Calibri"/>
                        </a:rPr>
                        <a:t>2</a:t>
                      </a:r>
                      <a:r>
                        <a:rPr sz="1950" spc="209" baseline="25641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+</a:t>
                      </a:r>
                      <a:r>
                        <a:rPr sz="20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b</a:t>
                      </a:r>
                      <a:r>
                        <a:rPr sz="20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n</a:t>
                      </a:r>
                      <a:r>
                        <a:rPr sz="20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+</a:t>
                      </a:r>
                      <a:r>
                        <a:rPr sz="20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c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9209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FF3E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59">
                <a:tc gridSpan="4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where</a:t>
                      </a:r>
                      <a:r>
                        <a:rPr sz="180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=</a:t>
                      </a:r>
                      <a:r>
                        <a:rPr sz="18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0.0001724,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b</a:t>
                      </a:r>
                      <a:r>
                        <a:rPr sz="180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=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0.0004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8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c = 0.1</a:t>
                      </a:r>
                    </a:p>
                  </a:txBody>
                  <a:tcPr marL="0" marR="0" marT="3175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EE7D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210942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9126" y="1946943"/>
            <a:ext cx="6705600" cy="2003425"/>
          </a:xfrm>
        </p:spPr>
        <p:txBody>
          <a:bodyPr>
            <a:noAutofit/>
          </a:bodyPr>
          <a:lstStyle/>
          <a:p>
            <a:r>
              <a:rPr lang="en-US" sz="6000" b="1" dirty="0">
                <a:solidFill>
                  <a:srgbClr val="00823B"/>
                </a:solidFill>
              </a:rPr>
              <a:t>Empirical Analysis</a:t>
            </a:r>
            <a:endParaRPr lang="en-US" sz="4800" b="1" dirty="0">
              <a:solidFill>
                <a:srgbClr val="00823B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62000" y="3962400"/>
            <a:ext cx="6400800" cy="1752600"/>
          </a:xfrm>
        </p:spPr>
        <p:txBody>
          <a:bodyPr>
            <a:normAutofit/>
          </a:bodyPr>
          <a:lstStyle/>
          <a:p>
            <a:pPr algn="r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Method 02</a:t>
            </a:r>
          </a:p>
          <a:p>
            <a:pPr algn="r"/>
            <a:r>
              <a:rPr lang="en-US" b="1" dirty="0">
                <a:solidFill>
                  <a:srgbClr val="0000FF"/>
                </a:solidFill>
              </a:rPr>
              <a:t>W.r.t. Problem Size</a:t>
            </a:r>
          </a:p>
        </p:txBody>
      </p:sp>
    </p:spTree>
    <p:extLst>
      <p:ext uri="{BB962C8B-B14F-4D97-AF65-F5344CB8AC3E}">
        <p14:creationId xmlns:p14="http://schemas.microsoft.com/office/powerpoint/2010/main" val="10755576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1219200"/>
            <a:ext cx="6248400" cy="533400"/>
          </a:xfrm>
        </p:spPr>
        <p:txBody>
          <a:bodyPr>
            <a:normAutofit fontScale="90000"/>
          </a:bodyPr>
          <a:lstStyle/>
          <a:p>
            <a:pPr algn="l"/>
            <a:r>
              <a:rPr lang="en-US" b="1" dirty="0">
                <a:solidFill>
                  <a:srgbClr val="92D050"/>
                </a:solidFill>
              </a:rPr>
              <a:t>General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828800"/>
            <a:ext cx="7391400" cy="4495800"/>
          </a:xfrm>
        </p:spPr>
        <p:txBody>
          <a:bodyPr>
            <a:noAutofit/>
          </a:bodyPr>
          <a:lstStyle/>
          <a:p>
            <a:pPr algn="just"/>
            <a:r>
              <a:rPr lang="en-US" sz="2300" dirty="0"/>
              <a:t>Understand the experiment’s </a:t>
            </a:r>
            <a:r>
              <a:rPr lang="en-US" sz="2300" b="1" dirty="0">
                <a:solidFill>
                  <a:srgbClr val="00B0F0"/>
                </a:solidFill>
              </a:rPr>
              <a:t>purpose</a:t>
            </a:r>
          </a:p>
          <a:p>
            <a:pPr algn="just"/>
            <a:r>
              <a:rPr lang="en-US" sz="2300" dirty="0"/>
              <a:t>Decide on the </a:t>
            </a:r>
            <a:r>
              <a:rPr lang="en-US" sz="2300" b="1" dirty="0">
                <a:solidFill>
                  <a:srgbClr val="00B0F0"/>
                </a:solidFill>
              </a:rPr>
              <a:t>efficiency metric M </a:t>
            </a:r>
            <a:r>
              <a:rPr lang="en-US" sz="2300" dirty="0"/>
              <a:t>to be measured and the </a:t>
            </a:r>
            <a:r>
              <a:rPr lang="en-US" sz="2300" b="1" dirty="0">
                <a:solidFill>
                  <a:srgbClr val="00B0F0"/>
                </a:solidFill>
              </a:rPr>
              <a:t>measurement unit </a:t>
            </a:r>
            <a:r>
              <a:rPr lang="en-US" sz="2300" dirty="0"/>
              <a:t>(an operation count vs. a time unit)</a:t>
            </a:r>
          </a:p>
          <a:p>
            <a:pPr algn="just"/>
            <a:r>
              <a:rPr lang="en-US" sz="2300" dirty="0"/>
              <a:t>Decide on </a:t>
            </a:r>
            <a:r>
              <a:rPr lang="en-US" sz="2300" b="1" dirty="0">
                <a:solidFill>
                  <a:srgbClr val="00B0F0"/>
                </a:solidFill>
              </a:rPr>
              <a:t>characteristics of the input </a:t>
            </a:r>
            <a:r>
              <a:rPr lang="en-US" sz="2300" dirty="0"/>
              <a:t>sample (its range, size, and so on)</a:t>
            </a:r>
          </a:p>
          <a:p>
            <a:pPr algn="just"/>
            <a:r>
              <a:rPr lang="en-US" sz="2300" dirty="0"/>
              <a:t>Prepare a </a:t>
            </a:r>
            <a:r>
              <a:rPr lang="en-US" sz="2300" b="1" dirty="0">
                <a:solidFill>
                  <a:srgbClr val="00B0F0"/>
                </a:solidFill>
              </a:rPr>
              <a:t>program implementing </a:t>
            </a:r>
            <a:r>
              <a:rPr lang="en-US" sz="2300" dirty="0"/>
              <a:t>the algorithm (or algorithms) for the experimentation</a:t>
            </a:r>
          </a:p>
          <a:p>
            <a:pPr algn="just"/>
            <a:r>
              <a:rPr lang="en-US" sz="2300" b="1" dirty="0">
                <a:solidFill>
                  <a:srgbClr val="00B0F0"/>
                </a:solidFill>
              </a:rPr>
              <a:t>Generate a sample </a:t>
            </a:r>
            <a:r>
              <a:rPr lang="en-US" sz="2300" dirty="0"/>
              <a:t>of inputs</a:t>
            </a:r>
          </a:p>
          <a:p>
            <a:pPr algn="just"/>
            <a:r>
              <a:rPr lang="en-US" sz="2300" dirty="0"/>
              <a:t>Run the algorithm (or algorithms) on the sample’s inputs and </a:t>
            </a:r>
            <a:r>
              <a:rPr lang="en-US" sz="2300" b="1" dirty="0">
                <a:solidFill>
                  <a:srgbClr val="00B0F0"/>
                </a:solidFill>
              </a:rPr>
              <a:t>record the data </a:t>
            </a:r>
            <a:r>
              <a:rPr lang="en-US" sz="2300" dirty="0"/>
              <a:t>observed</a:t>
            </a:r>
          </a:p>
          <a:p>
            <a:pPr algn="just"/>
            <a:r>
              <a:rPr lang="en-US" sz="2300" b="1" dirty="0">
                <a:solidFill>
                  <a:srgbClr val="00B0F0"/>
                </a:solidFill>
              </a:rPr>
              <a:t>Analyze</a:t>
            </a:r>
            <a:r>
              <a:rPr lang="en-US" sz="2300" dirty="0"/>
              <a:t> the data obtained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49934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1219200"/>
            <a:ext cx="6248400" cy="533400"/>
          </a:xfrm>
        </p:spPr>
        <p:txBody>
          <a:bodyPr>
            <a:normAutofit fontScale="90000"/>
          </a:bodyPr>
          <a:lstStyle/>
          <a:p>
            <a:pPr algn="l"/>
            <a:r>
              <a:rPr lang="en-US" b="1" dirty="0">
                <a:solidFill>
                  <a:srgbClr val="92D050"/>
                </a:solidFill>
              </a:rPr>
              <a:t>General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828800"/>
            <a:ext cx="7391400" cy="4495800"/>
          </a:xfrm>
        </p:spPr>
        <p:txBody>
          <a:bodyPr>
            <a:noAutofit/>
          </a:bodyPr>
          <a:lstStyle/>
          <a:p>
            <a:pPr algn="just"/>
            <a:r>
              <a:rPr lang="en-US" dirty="0"/>
              <a:t>Understand the experiment’s </a:t>
            </a:r>
            <a:r>
              <a:rPr lang="en-US" b="1" dirty="0">
                <a:solidFill>
                  <a:srgbClr val="00B0F0"/>
                </a:solidFill>
              </a:rPr>
              <a:t>purpose</a:t>
            </a:r>
          </a:p>
          <a:p>
            <a:pPr lvl="1" algn="just"/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Checking the accuracy </a:t>
            </a:r>
            <a:r>
              <a:rPr lang="en-US" dirty="0"/>
              <a:t>of theoretical analysis results</a:t>
            </a:r>
          </a:p>
          <a:p>
            <a:pPr lvl="1" algn="just"/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Comparison of efficiency </a:t>
            </a:r>
            <a:r>
              <a:rPr lang="en-US" dirty="0"/>
              <a:t>of different algorithms of same problem</a:t>
            </a:r>
          </a:p>
          <a:p>
            <a:pPr lvl="1" algn="just"/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Developing the hypothesis </a:t>
            </a:r>
            <a:r>
              <a:rPr lang="en-US" dirty="0"/>
              <a:t>about the algorithm’s efficiency</a:t>
            </a:r>
          </a:p>
          <a:p>
            <a:pPr lvl="1"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Ascertaining the efficiency </a:t>
            </a:r>
            <a:r>
              <a:rPr lang="en-US" dirty="0"/>
              <a:t>of the algorithm on a particular machine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680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1219200"/>
            <a:ext cx="6248400" cy="533400"/>
          </a:xfrm>
        </p:spPr>
        <p:txBody>
          <a:bodyPr>
            <a:normAutofit fontScale="90000"/>
          </a:bodyPr>
          <a:lstStyle/>
          <a:p>
            <a:pPr algn="l"/>
            <a:r>
              <a:rPr lang="en-US" b="1" dirty="0">
                <a:solidFill>
                  <a:srgbClr val="92D050"/>
                </a:solidFill>
              </a:rPr>
              <a:t>General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828800"/>
            <a:ext cx="7391400" cy="4495800"/>
          </a:xfrm>
        </p:spPr>
        <p:txBody>
          <a:bodyPr>
            <a:noAutofit/>
          </a:bodyPr>
          <a:lstStyle/>
          <a:p>
            <a:pPr algn="just"/>
            <a:r>
              <a:rPr lang="en-US" sz="2300" dirty="0"/>
              <a:t>Decide on the </a:t>
            </a:r>
            <a:r>
              <a:rPr lang="en-US" sz="2300" b="1" dirty="0">
                <a:solidFill>
                  <a:srgbClr val="00B0F0"/>
                </a:solidFill>
              </a:rPr>
              <a:t>efficiency metric M </a:t>
            </a:r>
            <a:r>
              <a:rPr lang="en-US" sz="2300" dirty="0"/>
              <a:t>to be measured and the </a:t>
            </a:r>
            <a:r>
              <a:rPr lang="en-US" sz="2300" b="1" dirty="0">
                <a:solidFill>
                  <a:srgbClr val="00B0F0"/>
                </a:solidFill>
              </a:rPr>
              <a:t>measurement unit </a:t>
            </a:r>
            <a:r>
              <a:rPr lang="en-US" sz="2300" dirty="0"/>
              <a:t>(an operation count vs. a time unit)</a:t>
            </a:r>
          </a:p>
          <a:p>
            <a:pPr lvl="1" algn="just"/>
            <a:r>
              <a:rPr lang="en-US" sz="2000" b="1" dirty="0">
                <a:solidFill>
                  <a:schemeClr val="accent6">
                    <a:lumMod val="75000"/>
                  </a:schemeClr>
                </a:solidFill>
              </a:rPr>
              <a:t>Operation Count</a:t>
            </a:r>
          </a:p>
          <a:p>
            <a:pPr lvl="2" algn="just"/>
            <a:r>
              <a:rPr lang="en-US" sz="1600" dirty="0"/>
              <a:t>insert a </a:t>
            </a:r>
            <a:r>
              <a:rPr lang="en-US" sz="1600" b="1" dirty="0">
                <a:solidFill>
                  <a:srgbClr val="00823B"/>
                </a:solidFill>
              </a:rPr>
              <a:t>counter</a:t>
            </a:r>
            <a:r>
              <a:rPr lang="en-US" sz="1600" dirty="0"/>
              <a:t> (or counters) into a program implementation</a:t>
            </a:r>
          </a:p>
          <a:p>
            <a:pPr lvl="2" algn="just"/>
            <a:r>
              <a:rPr lang="en-US" sz="1600" dirty="0"/>
              <a:t>Count number of times the basic operation is implemented</a:t>
            </a:r>
          </a:p>
          <a:p>
            <a:pPr lvl="2" algn="just"/>
            <a:r>
              <a:rPr lang="en-US" sz="1600" dirty="0"/>
              <a:t>Basic Operation may be executed in several places in the program</a:t>
            </a:r>
          </a:p>
          <a:p>
            <a:pPr lvl="1" algn="just"/>
            <a:r>
              <a:rPr lang="en-US" sz="2000" b="1" dirty="0">
                <a:solidFill>
                  <a:schemeClr val="accent6">
                    <a:lumMod val="75000"/>
                  </a:schemeClr>
                </a:solidFill>
              </a:rPr>
              <a:t>Time Measurement</a:t>
            </a:r>
          </a:p>
          <a:p>
            <a:pPr lvl="2" algn="just"/>
            <a:r>
              <a:rPr lang="en-US" sz="1600" b="1" dirty="0">
                <a:solidFill>
                  <a:srgbClr val="00823B"/>
                </a:solidFill>
              </a:rPr>
              <a:t>Use stopwatch </a:t>
            </a:r>
            <a:r>
              <a:rPr lang="en-US" sz="1600" dirty="0"/>
              <a:t>to measure the time taken to complete the task</a:t>
            </a:r>
          </a:p>
          <a:p>
            <a:pPr lvl="2" algn="just"/>
            <a:r>
              <a:rPr lang="en-US" sz="1600" b="1" dirty="0">
                <a:solidFill>
                  <a:srgbClr val="00823B"/>
                </a:solidFill>
              </a:rPr>
              <a:t>Use a system’s command</a:t>
            </a:r>
            <a:r>
              <a:rPr lang="en-US" sz="1600" dirty="0"/>
              <a:t>, such as the time command in UNIX</a:t>
            </a:r>
          </a:p>
          <a:p>
            <a:pPr lvl="2" algn="just"/>
            <a:r>
              <a:rPr lang="en-US" sz="1600" dirty="0"/>
              <a:t>measure the running time of a code fragment by asking for </a:t>
            </a:r>
            <a:r>
              <a:rPr lang="en-US" sz="1600" b="1" dirty="0">
                <a:solidFill>
                  <a:srgbClr val="00823B"/>
                </a:solidFill>
              </a:rPr>
              <a:t>the system time</a:t>
            </a:r>
            <a:r>
              <a:rPr lang="en-US" sz="1600" dirty="0"/>
              <a:t> right before the fragment’s start (t</a:t>
            </a:r>
            <a:r>
              <a:rPr lang="en-US" sz="1600" baseline="-25000" dirty="0"/>
              <a:t>start</a:t>
            </a:r>
            <a:r>
              <a:rPr lang="en-US" sz="1600" dirty="0"/>
              <a:t>) and just after its completion (t</a:t>
            </a:r>
            <a:r>
              <a:rPr lang="en-US" sz="1600" baseline="-25000" dirty="0"/>
              <a:t>finish</a:t>
            </a:r>
            <a:r>
              <a:rPr lang="en-US" sz="1600" dirty="0"/>
              <a:t>). The difference between the two (t</a:t>
            </a:r>
            <a:r>
              <a:rPr lang="en-US" sz="1600" baseline="-25000" dirty="0"/>
              <a:t>finish</a:t>
            </a:r>
            <a:r>
              <a:rPr lang="en-US" sz="1600" dirty="0"/>
              <a:t>− t</a:t>
            </a:r>
            <a:r>
              <a:rPr lang="en-US" sz="1600" baseline="-25000" dirty="0"/>
              <a:t>start</a:t>
            </a:r>
            <a:r>
              <a:rPr lang="en-US" sz="1600" dirty="0"/>
              <a:t>)</a:t>
            </a:r>
          </a:p>
          <a:p>
            <a:pPr lvl="3" algn="just"/>
            <a:r>
              <a:rPr lang="en-US" sz="1200" dirty="0"/>
              <a:t>In Java, the method </a:t>
            </a:r>
            <a:r>
              <a:rPr lang="en-US" sz="1200" dirty="0" err="1"/>
              <a:t>currentTimeMillis</a:t>
            </a:r>
            <a:r>
              <a:rPr lang="en-US" sz="1200" dirty="0"/>
              <a:t>() in the System class is available</a:t>
            </a:r>
            <a:endParaRPr lang="en-US" sz="11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66515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1219200"/>
            <a:ext cx="6248400" cy="533400"/>
          </a:xfrm>
        </p:spPr>
        <p:txBody>
          <a:bodyPr>
            <a:normAutofit fontScale="90000"/>
          </a:bodyPr>
          <a:lstStyle/>
          <a:p>
            <a:pPr algn="l"/>
            <a:r>
              <a:rPr lang="en-US" b="1" dirty="0">
                <a:solidFill>
                  <a:srgbClr val="92D050"/>
                </a:solidFill>
              </a:rPr>
              <a:t>General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828800"/>
            <a:ext cx="7391400" cy="4495800"/>
          </a:xfrm>
        </p:spPr>
        <p:txBody>
          <a:bodyPr>
            <a:noAutofit/>
          </a:bodyPr>
          <a:lstStyle/>
          <a:p>
            <a:pPr algn="just"/>
            <a:r>
              <a:rPr lang="en-US" dirty="0"/>
              <a:t>Decide on </a:t>
            </a:r>
            <a:r>
              <a:rPr lang="en-US" b="1" dirty="0">
                <a:solidFill>
                  <a:srgbClr val="00B0F0"/>
                </a:solidFill>
              </a:rPr>
              <a:t>characteristics of the input </a:t>
            </a:r>
            <a:r>
              <a:rPr lang="en-US" dirty="0"/>
              <a:t>sample (its range, size, and so on)</a:t>
            </a:r>
          </a:p>
          <a:p>
            <a:pPr lvl="1" algn="just"/>
            <a:r>
              <a:rPr lang="en-US" sz="3200" dirty="0"/>
              <a:t>start with a </a:t>
            </a:r>
            <a:r>
              <a:rPr lang="en-US" sz="3200" b="1" dirty="0">
                <a:solidFill>
                  <a:schemeClr val="accent6">
                    <a:lumMod val="75000"/>
                  </a:schemeClr>
                </a:solidFill>
              </a:rPr>
              <a:t>relatively small </a:t>
            </a:r>
            <a:r>
              <a:rPr lang="en-US" sz="3200" dirty="0"/>
              <a:t>sample</a:t>
            </a:r>
          </a:p>
          <a:p>
            <a:pPr lvl="1" algn="just"/>
            <a:r>
              <a:rPr lang="en-US" sz="3200" b="1" dirty="0">
                <a:solidFill>
                  <a:schemeClr val="accent6">
                    <a:lumMod val="75000"/>
                  </a:schemeClr>
                </a:solidFill>
              </a:rPr>
              <a:t>increase it later </a:t>
            </a:r>
            <a:r>
              <a:rPr lang="en-US" sz="3200" dirty="0"/>
              <a:t>if necessary</a:t>
            </a:r>
          </a:p>
          <a:p>
            <a:pPr lvl="1" algn="just"/>
            <a:r>
              <a:rPr lang="en-US" sz="3200" b="1" dirty="0">
                <a:solidFill>
                  <a:schemeClr val="accent6">
                    <a:lumMod val="75000"/>
                  </a:schemeClr>
                </a:solidFill>
              </a:rPr>
              <a:t>range </a:t>
            </a:r>
            <a:r>
              <a:rPr lang="en-US" sz="3200" dirty="0"/>
              <a:t>of instance sizes; neither </a:t>
            </a:r>
            <a:r>
              <a:rPr lang="en-US" sz="3200" dirty="0">
                <a:solidFill>
                  <a:srgbClr val="0000FF"/>
                </a:solidFill>
              </a:rPr>
              <a:t>trivially small</a:t>
            </a:r>
            <a:r>
              <a:rPr lang="en-US" sz="3200" dirty="0"/>
              <a:t> nor </a:t>
            </a:r>
            <a:r>
              <a:rPr lang="en-US" sz="3200" dirty="0">
                <a:solidFill>
                  <a:srgbClr val="0000FF"/>
                </a:solidFill>
              </a:rPr>
              <a:t>excessively large</a:t>
            </a:r>
            <a:endParaRPr lang="en-US" dirty="0">
              <a:solidFill>
                <a:srgbClr val="0000FF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43271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1219200"/>
            <a:ext cx="6248400" cy="533400"/>
          </a:xfrm>
        </p:spPr>
        <p:txBody>
          <a:bodyPr>
            <a:normAutofit fontScale="90000"/>
          </a:bodyPr>
          <a:lstStyle/>
          <a:p>
            <a:pPr algn="l"/>
            <a:r>
              <a:rPr lang="en-US" b="1" dirty="0">
                <a:solidFill>
                  <a:srgbClr val="92D050"/>
                </a:solidFill>
              </a:rPr>
              <a:t>General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828800"/>
            <a:ext cx="7391400" cy="4495800"/>
          </a:xfrm>
        </p:spPr>
        <p:txBody>
          <a:bodyPr>
            <a:noAutofit/>
          </a:bodyPr>
          <a:lstStyle/>
          <a:p>
            <a:pPr algn="just"/>
            <a:r>
              <a:rPr lang="en-US" dirty="0"/>
              <a:t>Prepare a </a:t>
            </a:r>
            <a:r>
              <a:rPr lang="en-US" b="1" dirty="0">
                <a:solidFill>
                  <a:srgbClr val="00B0F0"/>
                </a:solidFill>
              </a:rPr>
              <a:t>program implementing </a:t>
            </a:r>
            <a:r>
              <a:rPr lang="en-US" dirty="0"/>
              <a:t>the algorithm (or algorithms) for the experimentation</a:t>
            </a:r>
          </a:p>
          <a:p>
            <a:pPr lvl="1" algn="just"/>
            <a:r>
              <a:rPr lang="en-US" dirty="0"/>
              <a:t>Select any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suitable high-level programming language</a:t>
            </a:r>
          </a:p>
          <a:p>
            <a:pPr lvl="2" algn="just"/>
            <a:r>
              <a:rPr lang="en-US" dirty="0"/>
              <a:t>C, C++, Java etc.</a:t>
            </a:r>
          </a:p>
          <a:p>
            <a:pPr lvl="1" algn="just"/>
            <a:r>
              <a:rPr lang="en-US" dirty="0"/>
              <a:t>May be implemented in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multiple languages</a:t>
            </a:r>
          </a:p>
          <a:p>
            <a:pPr lvl="2" algn="just"/>
            <a:r>
              <a:rPr lang="en-US" dirty="0"/>
              <a:t>Observe the consistency in the running time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47741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1219200"/>
            <a:ext cx="6248400" cy="533400"/>
          </a:xfrm>
        </p:spPr>
        <p:txBody>
          <a:bodyPr>
            <a:normAutofit fontScale="90000"/>
          </a:bodyPr>
          <a:lstStyle/>
          <a:p>
            <a:pPr algn="l"/>
            <a:r>
              <a:rPr lang="en-US" b="1" dirty="0">
                <a:solidFill>
                  <a:srgbClr val="92D050"/>
                </a:solidFill>
              </a:rPr>
              <a:t>General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828800"/>
            <a:ext cx="7391400" cy="4495800"/>
          </a:xfrm>
        </p:spPr>
        <p:txBody>
          <a:bodyPr>
            <a:noAutofit/>
          </a:bodyPr>
          <a:lstStyle/>
          <a:p>
            <a:pPr algn="just"/>
            <a:r>
              <a:rPr lang="en-US" sz="2400" b="1" dirty="0">
                <a:solidFill>
                  <a:srgbClr val="00B0F0"/>
                </a:solidFill>
              </a:rPr>
              <a:t>Generate a sample </a:t>
            </a:r>
            <a:r>
              <a:rPr lang="en-US" sz="2400" dirty="0"/>
              <a:t>of inputs</a:t>
            </a:r>
          </a:p>
          <a:p>
            <a:pPr lvl="1" algn="just"/>
            <a:r>
              <a:rPr lang="en-US" sz="2200" dirty="0"/>
              <a:t>empirical analysis requires </a:t>
            </a:r>
            <a:r>
              <a:rPr lang="en-US" sz="2200" b="1" dirty="0">
                <a:solidFill>
                  <a:schemeClr val="accent6">
                    <a:lumMod val="75000"/>
                  </a:schemeClr>
                </a:solidFill>
              </a:rPr>
              <a:t>generating random numbers</a:t>
            </a:r>
          </a:p>
          <a:p>
            <a:pPr lvl="1" algn="just"/>
            <a:r>
              <a:rPr lang="en-US" sz="2200" dirty="0"/>
              <a:t>random number generator available in computer </a:t>
            </a:r>
            <a:r>
              <a:rPr lang="en-US" sz="2200" b="1" dirty="0">
                <a:solidFill>
                  <a:schemeClr val="accent6">
                    <a:lumMod val="75000"/>
                  </a:schemeClr>
                </a:solidFill>
              </a:rPr>
              <a:t>language libraries</a:t>
            </a:r>
          </a:p>
          <a:p>
            <a:pPr lvl="1" algn="just"/>
            <a:r>
              <a:rPr lang="en-US" sz="2200" dirty="0"/>
              <a:t>value of a (pseudo)random variable uniformly distributed in the interval </a:t>
            </a:r>
            <a:r>
              <a:rPr lang="en-US" sz="2200" b="1" dirty="0">
                <a:solidFill>
                  <a:schemeClr val="accent6">
                    <a:lumMod val="75000"/>
                  </a:schemeClr>
                </a:solidFill>
              </a:rPr>
              <a:t>between 0 and 1</a:t>
            </a:r>
          </a:p>
          <a:p>
            <a:pPr lvl="1" algn="just"/>
            <a:r>
              <a:rPr lang="en-US" sz="2200" dirty="0"/>
              <a:t>an </a:t>
            </a:r>
            <a:r>
              <a:rPr lang="en-US" sz="2200" b="1" dirty="0">
                <a:solidFill>
                  <a:schemeClr val="accent6">
                    <a:lumMod val="75000"/>
                  </a:schemeClr>
                </a:solidFill>
              </a:rPr>
              <a:t>appropriate transformation </a:t>
            </a:r>
            <a:r>
              <a:rPr lang="en-US" sz="2200" dirty="0"/>
              <a:t>may be used for desired range of value</a:t>
            </a:r>
          </a:p>
          <a:p>
            <a:pPr lvl="2" algn="just"/>
            <a:r>
              <a:rPr lang="en-US" sz="2000" dirty="0"/>
              <a:t>if </a:t>
            </a:r>
            <a:r>
              <a:rPr lang="en-US" sz="2000" b="1" dirty="0">
                <a:solidFill>
                  <a:srgbClr val="0000FF"/>
                </a:solidFill>
              </a:rPr>
              <a:t>x</a:t>
            </a:r>
            <a:r>
              <a:rPr lang="en-US" sz="2000" dirty="0"/>
              <a:t> is a continuous random variable uniformly distributed on the interval </a:t>
            </a:r>
            <a:r>
              <a:rPr lang="en-US" sz="2000" b="1" dirty="0">
                <a:solidFill>
                  <a:srgbClr val="0000FF"/>
                </a:solidFill>
              </a:rPr>
              <a:t>0 ≤ x &lt; 1</a:t>
            </a:r>
          </a:p>
          <a:p>
            <a:pPr lvl="3" algn="just"/>
            <a:r>
              <a:rPr lang="en-US" sz="1800" b="1" dirty="0">
                <a:solidFill>
                  <a:srgbClr val="0000FF"/>
                </a:solidFill>
              </a:rPr>
              <a:t>y = l + floor (x(r − l))</a:t>
            </a:r>
          </a:p>
          <a:p>
            <a:pPr lvl="3" algn="just"/>
            <a:r>
              <a:rPr lang="en-US" sz="1800" dirty="0"/>
              <a:t>Generate the value between integers </a:t>
            </a:r>
            <a:r>
              <a:rPr lang="en-US" sz="1800" b="1" dirty="0">
                <a:solidFill>
                  <a:srgbClr val="0000FF"/>
                </a:solidFill>
              </a:rPr>
              <a:t>l and r − 1 </a:t>
            </a:r>
          </a:p>
          <a:p>
            <a:pPr lvl="4" algn="just"/>
            <a:r>
              <a:rPr lang="en-US" sz="1800" dirty="0"/>
              <a:t>where (l &lt; r)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11850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1219200"/>
            <a:ext cx="6248400" cy="533400"/>
          </a:xfrm>
        </p:spPr>
        <p:txBody>
          <a:bodyPr>
            <a:normAutofit fontScale="90000"/>
          </a:bodyPr>
          <a:lstStyle/>
          <a:p>
            <a:pPr algn="l"/>
            <a:r>
              <a:rPr lang="en-US" b="1" dirty="0">
                <a:solidFill>
                  <a:srgbClr val="92D050"/>
                </a:solidFill>
              </a:rPr>
              <a:t>General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828800"/>
            <a:ext cx="7391400" cy="4495800"/>
          </a:xfrm>
        </p:spPr>
        <p:txBody>
          <a:bodyPr>
            <a:noAutofit/>
          </a:bodyPr>
          <a:lstStyle/>
          <a:p>
            <a:pPr algn="just"/>
            <a:r>
              <a:rPr lang="en-US" sz="2300" dirty="0"/>
              <a:t>Run the algorithm (or algorithms) on the sample’s inputs and </a:t>
            </a:r>
            <a:r>
              <a:rPr lang="en-US" sz="2300" b="1" dirty="0">
                <a:solidFill>
                  <a:srgbClr val="00B0F0"/>
                </a:solidFill>
              </a:rPr>
              <a:t>record the data </a:t>
            </a:r>
            <a:r>
              <a:rPr lang="en-US" sz="2300" dirty="0"/>
              <a:t>observed</a:t>
            </a:r>
          </a:p>
          <a:p>
            <a:pPr lvl="1" algn="just"/>
            <a:r>
              <a:rPr lang="en-US" sz="2000" b="1" dirty="0">
                <a:solidFill>
                  <a:schemeClr val="accent6">
                    <a:lumMod val="75000"/>
                  </a:schemeClr>
                </a:solidFill>
              </a:rPr>
              <a:t>Using Table</a:t>
            </a:r>
          </a:p>
          <a:p>
            <a:pPr lvl="2" algn="just"/>
            <a:r>
              <a:rPr lang="en-US" sz="1600" dirty="0"/>
              <a:t>Numerical data will be presented</a:t>
            </a:r>
          </a:p>
          <a:p>
            <a:pPr lvl="2" algn="just"/>
            <a:r>
              <a:rPr lang="en-US" sz="1600" dirty="0"/>
              <a:t>Manipulated easily</a:t>
            </a:r>
          </a:p>
          <a:p>
            <a:pPr lvl="2" algn="just"/>
            <a:r>
              <a:rPr lang="en-US" sz="1600" dirty="0"/>
              <a:t>Ratio M(n) / g (n) e.g. M (2n) / M(n)</a:t>
            </a:r>
          </a:p>
          <a:p>
            <a:pPr lvl="3" algn="just"/>
            <a:r>
              <a:rPr lang="en-US" sz="1200" dirty="0"/>
              <a:t>Change slightly                                              </a:t>
            </a:r>
            <a:r>
              <a:rPr lang="en-US" sz="1200" b="1" dirty="0">
                <a:solidFill>
                  <a:srgbClr val="0000FF"/>
                </a:solidFill>
              </a:rPr>
              <a:t>Logarithmic</a:t>
            </a:r>
          </a:p>
          <a:p>
            <a:pPr lvl="3" algn="just"/>
            <a:r>
              <a:rPr lang="en-US" sz="1200" dirty="0"/>
              <a:t>Converge to 2, 3, 4 etc.                                </a:t>
            </a:r>
            <a:r>
              <a:rPr lang="en-US" sz="1200" b="1" dirty="0">
                <a:solidFill>
                  <a:srgbClr val="00823B"/>
                </a:solidFill>
              </a:rPr>
              <a:t>Linear</a:t>
            </a:r>
          </a:p>
          <a:p>
            <a:pPr lvl="3" algn="just"/>
            <a:r>
              <a:rPr lang="en-US" sz="1200" dirty="0"/>
              <a:t>Converge to 4, 9, 16 etc.                              </a:t>
            </a:r>
            <a:r>
              <a:rPr lang="en-US" sz="1200" b="1" dirty="0">
                <a:solidFill>
                  <a:srgbClr val="0000FF"/>
                </a:solidFill>
              </a:rPr>
              <a:t>Quadratic</a:t>
            </a:r>
          </a:p>
          <a:p>
            <a:pPr lvl="3" algn="just"/>
            <a:r>
              <a:rPr lang="en-US" sz="1200" dirty="0"/>
              <a:t>Converge to 8, 27, 64 etc</a:t>
            </a:r>
            <a:r>
              <a:rPr lang="en-US" sz="1200"/>
              <a:t>.                            </a:t>
            </a:r>
            <a:r>
              <a:rPr lang="en-US" sz="1200" b="1">
                <a:solidFill>
                  <a:srgbClr val="00823B"/>
                </a:solidFill>
              </a:rPr>
              <a:t>Cubic</a:t>
            </a:r>
            <a:endParaRPr lang="en-US" sz="1200" b="1" dirty="0">
              <a:solidFill>
                <a:srgbClr val="00823B"/>
              </a:solidFill>
            </a:endParaRPr>
          </a:p>
          <a:p>
            <a:pPr lvl="1" algn="just"/>
            <a:r>
              <a:rPr lang="en-US" sz="2000" b="1" dirty="0">
                <a:solidFill>
                  <a:schemeClr val="accent6">
                    <a:lumMod val="75000"/>
                  </a:schemeClr>
                </a:solidFill>
              </a:rPr>
              <a:t>Graphical – Scatterplot</a:t>
            </a:r>
          </a:p>
          <a:p>
            <a:pPr lvl="2" algn="just"/>
            <a:r>
              <a:rPr lang="en-US" sz="1600" dirty="0"/>
              <a:t>Draw points in a Cartesian coordinate systems</a:t>
            </a:r>
          </a:p>
          <a:p>
            <a:pPr lvl="3" algn="just"/>
            <a:r>
              <a:rPr lang="en-US" sz="1200" dirty="0"/>
              <a:t>Concave                                                           </a:t>
            </a:r>
            <a:r>
              <a:rPr lang="en-US" sz="1200" b="1" dirty="0">
                <a:solidFill>
                  <a:srgbClr val="00823B"/>
                </a:solidFill>
              </a:rPr>
              <a:t>Logarithmic</a:t>
            </a:r>
          </a:p>
          <a:p>
            <a:pPr lvl="3" algn="just"/>
            <a:r>
              <a:rPr lang="en-US" sz="1200" dirty="0"/>
              <a:t>Points aggregation around line                    </a:t>
            </a:r>
            <a:r>
              <a:rPr lang="en-US" sz="1200" b="1" dirty="0">
                <a:solidFill>
                  <a:srgbClr val="0000FF"/>
                </a:solidFill>
              </a:rPr>
              <a:t>Linear</a:t>
            </a:r>
          </a:p>
          <a:p>
            <a:pPr lvl="3" algn="just"/>
            <a:r>
              <a:rPr lang="en-US" sz="1200" dirty="0"/>
              <a:t>Convex Shape                                                 </a:t>
            </a:r>
            <a:r>
              <a:rPr lang="en-US" sz="1200" b="1" dirty="0">
                <a:solidFill>
                  <a:srgbClr val="00823B"/>
                </a:solidFill>
              </a:rPr>
              <a:t>n </a:t>
            </a:r>
            <a:r>
              <a:rPr lang="en-US" sz="1200" b="1" dirty="0" err="1">
                <a:solidFill>
                  <a:srgbClr val="00823B"/>
                </a:solidFill>
              </a:rPr>
              <a:t>lg</a:t>
            </a:r>
            <a:r>
              <a:rPr lang="en-US" sz="1200" b="1" dirty="0">
                <a:solidFill>
                  <a:srgbClr val="00823B"/>
                </a:solidFill>
              </a:rPr>
              <a:t> n or n2</a:t>
            </a:r>
          </a:p>
          <a:p>
            <a:pPr lvl="3" algn="just"/>
            <a:r>
              <a:rPr lang="en-US" sz="1200" dirty="0"/>
              <a:t>Convex with rapid increase                          </a:t>
            </a:r>
            <a:r>
              <a:rPr lang="en-US" sz="1200" b="1" dirty="0">
                <a:solidFill>
                  <a:srgbClr val="0000FF"/>
                </a:solidFill>
              </a:rPr>
              <a:t>n</a:t>
            </a:r>
            <a:r>
              <a:rPr lang="en-US" sz="1200" b="1" baseline="30000" dirty="0">
                <a:solidFill>
                  <a:srgbClr val="0000FF"/>
                </a:solidFill>
              </a:rPr>
              <a:t>3</a:t>
            </a:r>
          </a:p>
          <a:p>
            <a:pPr lvl="3" algn="just"/>
            <a:endParaRPr lang="en-US" sz="11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206084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1219200"/>
            <a:ext cx="6248400" cy="533400"/>
          </a:xfrm>
        </p:spPr>
        <p:txBody>
          <a:bodyPr>
            <a:normAutofit fontScale="90000"/>
          </a:bodyPr>
          <a:lstStyle/>
          <a:p>
            <a:pPr algn="l"/>
            <a:r>
              <a:rPr lang="en-US" b="1" dirty="0">
                <a:solidFill>
                  <a:srgbClr val="92D050"/>
                </a:solidFill>
              </a:rPr>
              <a:t>General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828800"/>
            <a:ext cx="7391400" cy="4495800"/>
          </a:xfrm>
        </p:spPr>
        <p:txBody>
          <a:bodyPr>
            <a:noAutofit/>
          </a:bodyPr>
          <a:lstStyle/>
          <a:p>
            <a:pPr algn="just"/>
            <a:r>
              <a:rPr lang="en-US" sz="2300" dirty="0"/>
              <a:t>Run the algorithm (or algorithms) on the sample’s inputs and </a:t>
            </a:r>
            <a:r>
              <a:rPr lang="en-US" sz="2300" b="1" dirty="0">
                <a:solidFill>
                  <a:srgbClr val="00B0F0"/>
                </a:solidFill>
              </a:rPr>
              <a:t>record the data </a:t>
            </a:r>
            <a:r>
              <a:rPr lang="en-US" sz="2300" dirty="0"/>
              <a:t>observed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18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819400"/>
            <a:ext cx="1928311" cy="140017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6" name="TextBox 5"/>
          <p:cNvSpPr txBox="1"/>
          <p:nvPr/>
        </p:nvSpPr>
        <p:spPr>
          <a:xfrm>
            <a:off x="838200" y="4419600"/>
            <a:ext cx="152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0000FF"/>
                </a:solidFill>
              </a:rPr>
              <a:t>Logarithmic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2820543"/>
            <a:ext cx="1950292" cy="139903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8" name="TextBox 7"/>
          <p:cNvSpPr txBox="1"/>
          <p:nvPr/>
        </p:nvSpPr>
        <p:spPr>
          <a:xfrm>
            <a:off x="5257800" y="4419600"/>
            <a:ext cx="152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Linear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05158" y="4642366"/>
            <a:ext cx="2009684" cy="139903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048000" y="6096869"/>
            <a:ext cx="152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00823B"/>
                </a:solidFill>
              </a:rPr>
              <a:t>Quadratic</a:t>
            </a:r>
          </a:p>
        </p:txBody>
      </p:sp>
    </p:spTree>
    <p:extLst>
      <p:ext uri="{BB962C8B-B14F-4D97-AF65-F5344CB8AC3E}">
        <p14:creationId xmlns:p14="http://schemas.microsoft.com/office/powerpoint/2010/main" val="171904602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9126" y="1946943"/>
            <a:ext cx="6705600" cy="2003425"/>
          </a:xfrm>
        </p:spPr>
        <p:txBody>
          <a:bodyPr>
            <a:noAutofit/>
          </a:bodyPr>
          <a:lstStyle/>
          <a:p>
            <a:r>
              <a:rPr lang="en-US" sz="6000" b="1" dirty="0">
                <a:solidFill>
                  <a:srgbClr val="00823B"/>
                </a:solidFill>
              </a:rPr>
              <a:t>Algorithm Visualization</a:t>
            </a:r>
            <a:endParaRPr lang="en-US" sz="4800" b="1" dirty="0">
              <a:solidFill>
                <a:srgbClr val="00823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7924748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1219200"/>
            <a:ext cx="6248400" cy="533400"/>
          </a:xfrm>
        </p:spPr>
        <p:txBody>
          <a:bodyPr>
            <a:normAutofit fontScale="90000"/>
          </a:bodyPr>
          <a:lstStyle/>
          <a:p>
            <a:pPr algn="l"/>
            <a:r>
              <a:rPr lang="en-US" b="1" dirty="0">
                <a:solidFill>
                  <a:srgbClr val="92D050"/>
                </a:solidFill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828800"/>
            <a:ext cx="7391400" cy="4495800"/>
          </a:xfrm>
        </p:spPr>
        <p:txBody>
          <a:bodyPr>
            <a:noAutofit/>
          </a:bodyPr>
          <a:lstStyle/>
          <a:p>
            <a:pPr algn="just"/>
            <a:r>
              <a:rPr lang="en-US" sz="2400" dirty="0"/>
              <a:t>The use of images to convey some useful information about algorithms</a:t>
            </a:r>
          </a:p>
          <a:p>
            <a:pPr lvl="1" algn="just"/>
            <a:r>
              <a:rPr lang="en-US" sz="1900" b="1" dirty="0">
                <a:solidFill>
                  <a:schemeClr val="accent6">
                    <a:lumMod val="75000"/>
                  </a:schemeClr>
                </a:solidFill>
              </a:rPr>
              <a:t>Standard Simulation Tools</a:t>
            </a:r>
          </a:p>
          <a:p>
            <a:pPr lvl="2" algn="just"/>
            <a:r>
              <a:rPr lang="en-US" sz="1500" dirty="0"/>
              <a:t>Microsoft Excel </a:t>
            </a:r>
          </a:p>
          <a:p>
            <a:pPr lvl="1" algn="just"/>
            <a:r>
              <a:rPr lang="en-US" sz="1900" b="1" dirty="0">
                <a:solidFill>
                  <a:schemeClr val="accent6">
                    <a:lumMod val="75000"/>
                  </a:schemeClr>
                </a:solidFill>
              </a:rPr>
              <a:t>Customized Application</a:t>
            </a:r>
          </a:p>
          <a:p>
            <a:pPr lvl="2" algn="just"/>
            <a:r>
              <a:rPr lang="en-US" sz="1500" dirty="0"/>
              <a:t>High Level Language, Visual Tool etc.</a:t>
            </a:r>
          </a:p>
          <a:p>
            <a:pPr lvl="1" algn="just"/>
            <a:r>
              <a:rPr lang="en-US" sz="1900" dirty="0"/>
              <a:t>Introduced first in 1970</a:t>
            </a:r>
          </a:p>
          <a:p>
            <a:pPr lvl="1" algn="just"/>
            <a:r>
              <a:rPr lang="en-US" sz="1900" b="1" i="1" dirty="0"/>
              <a:t>Sorting Out Sorting</a:t>
            </a:r>
          </a:p>
          <a:p>
            <a:pPr lvl="1" algn="just"/>
            <a:r>
              <a:rPr lang="en-US" sz="2000" dirty="0"/>
              <a:t>Ronald </a:t>
            </a:r>
            <a:r>
              <a:rPr lang="en-US" sz="2000" dirty="0" err="1"/>
              <a:t>Baecker</a:t>
            </a:r>
            <a:r>
              <a:rPr lang="en-US" sz="2000" dirty="0"/>
              <a:t> &amp; D. Sherman (University of Toronto)</a:t>
            </a:r>
          </a:p>
          <a:p>
            <a:pPr lvl="1" algn="just"/>
            <a:r>
              <a:rPr lang="en-US" sz="2000" b="1" dirty="0"/>
              <a:t>30-minute</a:t>
            </a:r>
            <a:r>
              <a:rPr lang="en-US" sz="2000" dirty="0"/>
              <a:t> color sound film</a:t>
            </a:r>
          </a:p>
          <a:p>
            <a:pPr lvl="1" algn="just"/>
            <a:r>
              <a:rPr lang="en-US" sz="2000" b="1" dirty="0"/>
              <a:t>09 sorting algorithms </a:t>
            </a:r>
            <a:r>
              <a:rPr lang="en-US" sz="2000" dirty="0"/>
              <a:t>were presented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848929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1219200"/>
            <a:ext cx="6248400" cy="533400"/>
          </a:xfrm>
        </p:spPr>
        <p:txBody>
          <a:bodyPr>
            <a:normAutofit fontScale="90000"/>
          </a:bodyPr>
          <a:lstStyle/>
          <a:p>
            <a:pPr algn="l"/>
            <a:r>
              <a:rPr lang="en-US" b="1" dirty="0">
                <a:solidFill>
                  <a:srgbClr val="92D050"/>
                </a:solidFill>
              </a:rPr>
              <a:t>Methods &amp; Tools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828800"/>
            <a:ext cx="7391400" cy="4495800"/>
          </a:xfrm>
        </p:spPr>
        <p:txBody>
          <a:bodyPr>
            <a:noAutofit/>
          </a:bodyPr>
          <a:lstStyle/>
          <a:p>
            <a:pPr algn="just"/>
            <a:r>
              <a:rPr lang="en-US" sz="2300" dirty="0"/>
              <a:t>Methods</a:t>
            </a:r>
          </a:p>
          <a:p>
            <a:pPr lvl="1" algn="just"/>
            <a:r>
              <a:rPr lang="en-US" sz="1900" b="1" dirty="0">
                <a:solidFill>
                  <a:srgbClr val="00823B"/>
                </a:solidFill>
              </a:rPr>
              <a:t>Static </a:t>
            </a:r>
            <a:r>
              <a:rPr lang="en-US" sz="1900" dirty="0"/>
              <a:t>Algorithm Visualization</a:t>
            </a:r>
          </a:p>
          <a:p>
            <a:pPr lvl="2" algn="just"/>
            <a:r>
              <a:rPr lang="en-US" sz="1600" dirty="0"/>
              <a:t>shows an algorithm’s progress through a series of still images</a:t>
            </a:r>
            <a:endParaRPr lang="en-US" sz="1500" dirty="0"/>
          </a:p>
          <a:p>
            <a:pPr lvl="1" algn="just"/>
            <a:r>
              <a:rPr lang="en-US" sz="1900" b="1" dirty="0">
                <a:solidFill>
                  <a:srgbClr val="00823B"/>
                </a:solidFill>
              </a:rPr>
              <a:t>Dynamic</a:t>
            </a:r>
            <a:r>
              <a:rPr lang="en-US" sz="1900" dirty="0"/>
              <a:t> Algorithm Visualization / Algorithm Animation</a:t>
            </a:r>
          </a:p>
          <a:p>
            <a:pPr lvl="2" algn="just"/>
            <a:r>
              <a:rPr lang="en-US" sz="1600" dirty="0"/>
              <a:t>shows a continuous, movie-like presentation of an algorithm’s operations</a:t>
            </a:r>
          </a:p>
          <a:p>
            <a:pPr algn="just"/>
            <a:r>
              <a:rPr lang="en-US" sz="2300" dirty="0"/>
              <a:t>Tools</a:t>
            </a:r>
          </a:p>
          <a:p>
            <a:pPr lvl="1" algn="just"/>
            <a:r>
              <a:rPr lang="en-US" sz="1900" b="1" dirty="0">
                <a:solidFill>
                  <a:srgbClr val="00823B"/>
                </a:solidFill>
              </a:rPr>
              <a:t>Bar graph</a:t>
            </a:r>
          </a:p>
          <a:p>
            <a:pPr lvl="2" algn="just"/>
            <a:r>
              <a:rPr lang="en-US" sz="1400" dirty="0"/>
              <a:t>via vertical or horizontal bars or sticks of different heights or lengths</a:t>
            </a:r>
          </a:p>
          <a:p>
            <a:pPr lvl="2" algn="just"/>
            <a:r>
              <a:rPr lang="en-US" sz="1400" dirty="0"/>
              <a:t>Rearranged according to their sizes</a:t>
            </a:r>
          </a:p>
          <a:p>
            <a:pPr lvl="2" algn="just"/>
            <a:r>
              <a:rPr lang="en-US" sz="1400" dirty="0"/>
              <a:t>Useful for small inputs</a:t>
            </a:r>
          </a:p>
          <a:p>
            <a:pPr lvl="1" algn="just"/>
            <a:r>
              <a:rPr lang="en-US" sz="1900" b="1" dirty="0">
                <a:solidFill>
                  <a:srgbClr val="00823B"/>
                </a:solidFill>
              </a:rPr>
              <a:t>Scatterplot</a:t>
            </a:r>
          </a:p>
          <a:p>
            <a:pPr lvl="2" algn="just"/>
            <a:r>
              <a:rPr lang="en-US" sz="1400" dirty="0"/>
              <a:t>Useful for larger files</a:t>
            </a:r>
          </a:p>
          <a:p>
            <a:pPr lvl="2" algn="just"/>
            <a:r>
              <a:rPr lang="en-US" sz="1400" dirty="0"/>
              <a:t>Presenting points on a coordinate plane</a:t>
            </a:r>
          </a:p>
          <a:p>
            <a:pPr lvl="3" algn="just"/>
            <a:r>
              <a:rPr lang="en-US" sz="1000" dirty="0"/>
              <a:t>first coordinate representing an item’s position in the file</a:t>
            </a:r>
          </a:p>
          <a:p>
            <a:pPr lvl="3" algn="just"/>
            <a:r>
              <a:rPr lang="en-US" sz="1000" dirty="0"/>
              <a:t>second one representing the item’s value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926815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1219200"/>
            <a:ext cx="6248400" cy="533400"/>
          </a:xfrm>
        </p:spPr>
        <p:txBody>
          <a:bodyPr>
            <a:normAutofit fontScale="90000"/>
          </a:bodyPr>
          <a:lstStyle/>
          <a:p>
            <a:pPr algn="l"/>
            <a:r>
              <a:rPr lang="en-US" b="1" dirty="0">
                <a:solidFill>
                  <a:srgbClr val="92D050"/>
                </a:solidFill>
              </a:rPr>
              <a:t>Bar Graph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22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228088"/>
            <a:ext cx="3329402" cy="27432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2467" y="2209800"/>
            <a:ext cx="3318933" cy="2743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219200" y="5098780"/>
            <a:ext cx="16647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0000FF"/>
                </a:solidFill>
              </a:rPr>
              <a:t>Before Sorting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69933" y="5098780"/>
            <a:ext cx="152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After Sorting</a:t>
            </a:r>
          </a:p>
        </p:txBody>
      </p:sp>
    </p:spTree>
    <p:extLst>
      <p:ext uri="{BB962C8B-B14F-4D97-AF65-F5344CB8AC3E}">
        <p14:creationId xmlns:p14="http://schemas.microsoft.com/office/powerpoint/2010/main" val="390589697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1219200"/>
            <a:ext cx="6248400" cy="533400"/>
          </a:xfrm>
        </p:spPr>
        <p:txBody>
          <a:bodyPr>
            <a:normAutofit fontScale="90000"/>
          </a:bodyPr>
          <a:lstStyle/>
          <a:p>
            <a:pPr algn="l"/>
            <a:r>
              <a:rPr lang="en-US" b="1" dirty="0">
                <a:solidFill>
                  <a:srgbClr val="92D050"/>
                </a:solidFill>
              </a:rPr>
              <a:t>Scatterplot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23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1219200" y="5098780"/>
            <a:ext cx="16647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0000FF"/>
                </a:solidFill>
              </a:rPr>
              <a:t>Before Sorting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69933" y="5098780"/>
            <a:ext cx="152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After Sorting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2209800"/>
            <a:ext cx="3319215" cy="27432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9923" y="2209800"/>
            <a:ext cx="3330621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039203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/>
          <p:cNvGrpSpPr/>
          <p:nvPr/>
        </p:nvGrpSpPr>
        <p:grpSpPr>
          <a:xfrm>
            <a:off x="918075" y="4539129"/>
            <a:ext cx="6420832" cy="1785471"/>
            <a:chOff x="613275" y="0"/>
            <a:chExt cx="6420832" cy="1785471"/>
          </a:xfrm>
        </p:grpSpPr>
        <p:sp>
          <p:nvSpPr>
            <p:cNvPr id="13" name="Pentagon 12"/>
            <p:cNvSpPr/>
            <p:nvPr/>
          </p:nvSpPr>
          <p:spPr>
            <a:xfrm rot="10800000">
              <a:off x="613275" y="0"/>
              <a:ext cx="6420832" cy="1785471"/>
            </a:xfrm>
            <a:prstGeom prst="homePlate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4" name="Pentagon 4"/>
            <p:cNvSpPr/>
            <p:nvPr/>
          </p:nvSpPr>
          <p:spPr>
            <a:xfrm rot="21600000">
              <a:off x="1059643" y="0"/>
              <a:ext cx="5974464" cy="1785471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787343" tIns="76200" rIns="142240" bIns="76200" numCol="1" spcCol="1270" anchor="ctr" anchorCtr="0">
              <a:noAutofit/>
            </a:bodyPr>
            <a:lstStyle/>
            <a:p>
              <a:pPr lvl="0"/>
              <a:r>
                <a:rPr lang="en-US" sz="2000" dirty="0"/>
                <a:t>Allah (Alone) is Sufficient for us, and He is the Best Disposer of affairs (for us).</a:t>
              </a:r>
              <a:r>
                <a:rPr lang="en-US" sz="1400" b="1" dirty="0">
                  <a:solidFill>
                    <a:srgbClr val="FFFF00"/>
                  </a:solidFill>
                </a:rPr>
                <a:t>(Quran 3 : 173)</a:t>
              </a:r>
              <a:endParaRPr lang="en-US" sz="2000" b="1" dirty="0">
                <a:solidFill>
                  <a:srgbClr val="FFFF00"/>
                </a:solidFill>
              </a:endParaRPr>
            </a:p>
          </p:txBody>
        </p:sp>
      </p:grpSp>
      <p:sp>
        <p:nvSpPr>
          <p:cNvPr id="12" name="Oval 11"/>
          <p:cNvSpPr/>
          <p:nvPr/>
        </p:nvSpPr>
        <p:spPr>
          <a:xfrm>
            <a:off x="304800" y="4539129"/>
            <a:ext cx="1785471" cy="1785471"/>
          </a:xfrm>
          <a:prstGeom prst="ellipse">
            <a:avLst/>
          </a:prstGeom>
          <a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39000" r="-39000"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</p:sp>
      <p:pic>
        <p:nvPicPr>
          <p:cNvPr id="7" name="Content Placeholder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1143000"/>
            <a:ext cx="6420213" cy="3213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09005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Elemental</Template>
  <TotalTime>1123</TotalTime>
  <Words>1015</Words>
  <Application>Microsoft Macintosh PowerPoint</Application>
  <PresentationFormat>On-screen Show (4:3)</PresentationFormat>
  <Paragraphs>209</Paragraphs>
  <Slides>24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Arial</vt:lpstr>
      <vt:lpstr>Arial MT</vt:lpstr>
      <vt:lpstr>Calibri</vt:lpstr>
      <vt:lpstr>Times New Roman</vt:lpstr>
      <vt:lpstr>Office Theme</vt:lpstr>
      <vt:lpstr>PowerPoint Presentation</vt:lpstr>
      <vt:lpstr>Algorithm Analysis</vt:lpstr>
      <vt:lpstr>Introduction</vt:lpstr>
      <vt:lpstr>Empirical Analysis</vt:lpstr>
      <vt:lpstr>Empirical Analysis of Time  Efficiency</vt:lpstr>
      <vt:lpstr>Empirical Analysis</vt:lpstr>
      <vt:lpstr>Empirical Analysis</vt:lpstr>
      <vt:lpstr>Empirical Analysis</vt:lpstr>
      <vt:lpstr>Empirical Analysis</vt:lpstr>
      <vt:lpstr>Empirical Analysis</vt:lpstr>
      <vt:lpstr>General Plan</vt:lpstr>
      <vt:lpstr>General Plan</vt:lpstr>
      <vt:lpstr>General Plan</vt:lpstr>
      <vt:lpstr>General Plan</vt:lpstr>
      <vt:lpstr>General Plan</vt:lpstr>
      <vt:lpstr>General Plan</vt:lpstr>
      <vt:lpstr>General Plan</vt:lpstr>
      <vt:lpstr>General Plan</vt:lpstr>
      <vt:lpstr>Algorithm Visualization</vt:lpstr>
      <vt:lpstr>Introduction</vt:lpstr>
      <vt:lpstr>Methods &amp; Tools</vt:lpstr>
      <vt:lpstr>Bar Graph</vt:lpstr>
      <vt:lpstr>Scatterplot</vt:lpstr>
      <vt:lpstr>PowerPoint Presentation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pc</dc:creator>
  <cp:lastModifiedBy>Muhammad Umair</cp:lastModifiedBy>
  <cp:revision>225</cp:revision>
  <cp:lastPrinted>2023-09-25T03:15:47Z</cp:lastPrinted>
  <dcterms:created xsi:type="dcterms:W3CDTF">2018-06-20T09:11:51Z</dcterms:created>
  <dcterms:modified xsi:type="dcterms:W3CDTF">2026-02-17T07:21:58Z</dcterms:modified>
</cp:coreProperties>
</file>