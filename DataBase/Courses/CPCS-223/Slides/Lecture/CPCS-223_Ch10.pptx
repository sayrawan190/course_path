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00"/>
  </p:notesMasterIdLst>
  <p:handoutMasterIdLst>
    <p:handoutMasterId r:id="rId101"/>
  </p:handoutMasterIdLst>
  <p:sldIdLst>
    <p:sldId id="349" r:id="rId2"/>
    <p:sldId id="350" r:id="rId3"/>
    <p:sldId id="351" r:id="rId4"/>
    <p:sldId id="352" r:id="rId5"/>
    <p:sldId id="353" r:id="rId6"/>
    <p:sldId id="416" r:id="rId7"/>
    <p:sldId id="354" r:id="rId8"/>
    <p:sldId id="469" r:id="rId9"/>
    <p:sldId id="356" r:id="rId10"/>
    <p:sldId id="357" r:id="rId11"/>
    <p:sldId id="471" r:id="rId12"/>
    <p:sldId id="473" r:id="rId13"/>
    <p:sldId id="398" r:id="rId14"/>
    <p:sldId id="399" r:id="rId15"/>
    <p:sldId id="400" r:id="rId16"/>
    <p:sldId id="401" r:id="rId17"/>
    <p:sldId id="402" r:id="rId18"/>
    <p:sldId id="403" r:id="rId19"/>
    <p:sldId id="404" r:id="rId20"/>
    <p:sldId id="405" r:id="rId21"/>
    <p:sldId id="358" r:id="rId22"/>
    <p:sldId id="359" r:id="rId23"/>
    <p:sldId id="360" r:id="rId24"/>
    <p:sldId id="361" r:id="rId25"/>
    <p:sldId id="362" r:id="rId26"/>
    <p:sldId id="485" r:id="rId27"/>
    <p:sldId id="484" r:id="rId28"/>
    <p:sldId id="483" r:id="rId29"/>
    <p:sldId id="482" r:id="rId30"/>
    <p:sldId id="481" r:id="rId31"/>
    <p:sldId id="480" r:id="rId32"/>
    <p:sldId id="363" r:id="rId33"/>
    <p:sldId id="436" r:id="rId34"/>
    <p:sldId id="365" r:id="rId35"/>
    <p:sldId id="414" r:id="rId36"/>
    <p:sldId id="393" r:id="rId37"/>
    <p:sldId id="441" r:id="rId38"/>
    <p:sldId id="440" r:id="rId39"/>
    <p:sldId id="415" r:id="rId40"/>
    <p:sldId id="395" r:id="rId41"/>
    <p:sldId id="443" r:id="rId42"/>
    <p:sldId id="442" r:id="rId43"/>
    <p:sldId id="406" r:id="rId44"/>
    <p:sldId id="407" r:id="rId45"/>
    <p:sldId id="411" r:id="rId46"/>
    <p:sldId id="412" r:id="rId47"/>
    <p:sldId id="505" r:id="rId48"/>
    <p:sldId id="410" r:id="rId49"/>
    <p:sldId id="408" r:id="rId50"/>
    <p:sldId id="409" r:id="rId51"/>
    <p:sldId id="413" r:id="rId52"/>
    <p:sldId id="367" r:id="rId53"/>
    <p:sldId id="445" r:id="rId54"/>
    <p:sldId id="369" r:id="rId55"/>
    <p:sldId id="370" r:id="rId56"/>
    <p:sldId id="454" r:id="rId57"/>
    <p:sldId id="372" r:id="rId58"/>
    <p:sldId id="451" r:id="rId59"/>
    <p:sldId id="374" r:id="rId60"/>
    <p:sldId id="375" r:id="rId61"/>
    <p:sldId id="506" r:id="rId62"/>
    <p:sldId id="488" r:id="rId63"/>
    <p:sldId id="487" r:id="rId64"/>
    <p:sldId id="486" r:id="rId65"/>
    <p:sldId id="376" r:id="rId66"/>
    <p:sldId id="490" r:id="rId67"/>
    <p:sldId id="489" r:id="rId68"/>
    <p:sldId id="377" r:id="rId69"/>
    <p:sldId id="378" r:id="rId70"/>
    <p:sldId id="379" r:id="rId71"/>
    <p:sldId id="380" r:id="rId72"/>
    <p:sldId id="462" r:id="rId73"/>
    <p:sldId id="382" r:id="rId74"/>
    <p:sldId id="417" r:id="rId75"/>
    <p:sldId id="430" r:id="rId76"/>
    <p:sldId id="386" r:id="rId77"/>
    <p:sldId id="387" r:id="rId78"/>
    <p:sldId id="492" r:id="rId79"/>
    <p:sldId id="491" r:id="rId80"/>
    <p:sldId id="385" r:id="rId81"/>
    <p:sldId id="432" r:id="rId82"/>
    <p:sldId id="433" r:id="rId83"/>
    <p:sldId id="434" r:id="rId84"/>
    <p:sldId id="435" r:id="rId85"/>
    <p:sldId id="431" r:id="rId86"/>
    <p:sldId id="388" r:id="rId87"/>
    <p:sldId id="389" r:id="rId88"/>
    <p:sldId id="390" r:id="rId89"/>
    <p:sldId id="493" r:id="rId90"/>
    <p:sldId id="498" r:id="rId91"/>
    <p:sldId id="501" r:id="rId92"/>
    <p:sldId id="500" r:id="rId93"/>
    <p:sldId id="499" r:id="rId94"/>
    <p:sldId id="392" r:id="rId95"/>
    <p:sldId id="504" r:id="rId96"/>
    <p:sldId id="503" r:id="rId97"/>
    <p:sldId id="502" r:id="rId98"/>
    <p:sldId id="348" r:id="rId9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823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100" d="100"/>
          <a:sy n="100" d="100"/>
        </p:scale>
        <p:origin x="1836" y="21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notesMaster" Target="notesMasters/notesMaster1.xml"/><Relationship Id="rId105"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3F00A867-0D2F-4317-B9F6-942331555E07}" type="datetimeFigureOut">
              <a:rPr lang="en-US" smtClean="0"/>
              <a:t>2/12/2025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5D08E5B-3E4A-4BEF-9248-EB6169160052}" type="slidenum">
              <a:rPr lang="en-US" smtClean="0"/>
              <a:t>‹#›</a:t>
            </a:fld>
            <a:endParaRPr lang="en-US"/>
          </a:p>
        </p:txBody>
      </p:sp>
    </p:spTree>
    <p:extLst>
      <p:ext uri="{BB962C8B-B14F-4D97-AF65-F5344CB8AC3E}">
        <p14:creationId xmlns:p14="http://schemas.microsoft.com/office/powerpoint/2010/main" val="415639999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C49CE24-AB9C-43CD-AB59-1170152E142C}" type="datetimeFigureOut">
              <a:rPr lang="en-US" smtClean="0"/>
              <a:t>2/12/2025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5406CE9-AE27-4DF9-BE7A-54F150597DF7}" type="slidenum">
              <a:rPr lang="en-US" smtClean="0"/>
              <a:t>‹#›</a:t>
            </a:fld>
            <a:endParaRPr lang="en-US"/>
          </a:p>
        </p:txBody>
      </p:sp>
    </p:spTree>
    <p:extLst>
      <p:ext uri="{BB962C8B-B14F-4D97-AF65-F5344CB8AC3E}">
        <p14:creationId xmlns:p14="http://schemas.microsoft.com/office/powerpoint/2010/main" val="299517769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5406CE9-AE27-4DF9-BE7A-54F150597DF7}" type="slidenum">
              <a:rPr lang="en-US" smtClean="0"/>
              <a:t>1</a:t>
            </a:fld>
            <a:endParaRPr lang="en-US"/>
          </a:p>
        </p:txBody>
      </p:sp>
    </p:spTree>
    <p:extLst>
      <p:ext uri="{BB962C8B-B14F-4D97-AF65-F5344CB8AC3E}">
        <p14:creationId xmlns:p14="http://schemas.microsoft.com/office/powerpoint/2010/main" val="38456498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5406CE9-AE27-4DF9-BE7A-54F150597DF7}" type="slidenum">
              <a:rPr lang="en-US" smtClean="0"/>
              <a:t>2</a:t>
            </a:fld>
            <a:endParaRPr lang="en-US"/>
          </a:p>
        </p:txBody>
      </p:sp>
    </p:spTree>
    <p:extLst>
      <p:ext uri="{BB962C8B-B14F-4D97-AF65-F5344CB8AC3E}">
        <p14:creationId xmlns:p14="http://schemas.microsoft.com/office/powerpoint/2010/main" val="11865898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6BE5336-5161-47BC-9955-34038F49646B}" type="slidenum">
              <a:rPr lang="en-US" altLang="en-US"/>
              <a:pPr/>
              <a:t>3</a:t>
            </a:fld>
            <a:endParaRPr lang="en-US" altLang="en-US"/>
          </a:p>
        </p:txBody>
      </p:sp>
      <p:sp>
        <p:nvSpPr>
          <p:cNvPr id="193538" name="Rectangle 2"/>
          <p:cNvSpPr>
            <a:spLocks noGrp="1" noRot="1" noChangeAspect="1" noChangeArrowheads="1" noTextEdit="1"/>
          </p:cNvSpPr>
          <p:nvPr>
            <p:ph type="sldImg"/>
          </p:nvPr>
        </p:nvSpPr>
        <p:spPr>
          <a:ln/>
        </p:spPr>
      </p:sp>
      <p:sp>
        <p:nvSpPr>
          <p:cNvPr id="193539"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458577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B295444-0E35-4D8C-96E3-8186CCACFB8A}" type="slidenum">
              <a:rPr lang="en-US" altLang="en-US"/>
              <a:pPr/>
              <a:t>4</a:t>
            </a:fld>
            <a:endParaRPr lang="en-US" altLang="en-US"/>
          </a:p>
        </p:txBody>
      </p:sp>
      <p:sp>
        <p:nvSpPr>
          <p:cNvPr id="222210" name="Rectangle 2"/>
          <p:cNvSpPr>
            <a:spLocks noGrp="1" noRot="1" noChangeAspect="1" noChangeArrowheads="1" noTextEdit="1"/>
          </p:cNvSpPr>
          <p:nvPr>
            <p:ph type="sldImg"/>
          </p:nvPr>
        </p:nvSpPr>
        <p:spPr>
          <a:ln/>
        </p:spPr>
      </p:sp>
      <p:sp>
        <p:nvSpPr>
          <p:cNvPr id="22221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4825413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9FEE0F2-5A47-45FF-947B-2EC49EF5627B}" type="slidenum">
              <a:rPr lang="en-US" altLang="en-US"/>
              <a:pPr/>
              <a:t>5</a:t>
            </a:fld>
            <a:endParaRPr lang="en-US" altLang="en-US"/>
          </a:p>
        </p:txBody>
      </p:sp>
      <p:sp>
        <p:nvSpPr>
          <p:cNvPr id="194562" name="Rectangle 2"/>
          <p:cNvSpPr>
            <a:spLocks noGrp="1" noRot="1" noChangeAspect="1" noChangeArrowheads="1" noTextEdit="1"/>
          </p:cNvSpPr>
          <p:nvPr>
            <p:ph type="sldImg"/>
          </p:nvPr>
        </p:nvSpPr>
        <p:spPr>
          <a:ln/>
        </p:spPr>
      </p:sp>
      <p:sp>
        <p:nvSpPr>
          <p:cNvPr id="194563"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2424006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9FEE0F2-5A47-45FF-947B-2EC49EF5627B}" type="slidenum">
              <a:rPr lang="en-US" altLang="en-US"/>
              <a:pPr/>
              <a:t>6</a:t>
            </a:fld>
            <a:endParaRPr lang="en-US" altLang="en-US"/>
          </a:p>
        </p:txBody>
      </p:sp>
      <p:sp>
        <p:nvSpPr>
          <p:cNvPr id="194562" name="Rectangle 2"/>
          <p:cNvSpPr>
            <a:spLocks noGrp="1" noRot="1" noChangeAspect="1" noChangeArrowheads="1" noTextEdit="1"/>
          </p:cNvSpPr>
          <p:nvPr>
            <p:ph type="sldImg"/>
          </p:nvPr>
        </p:nvSpPr>
        <p:spPr>
          <a:ln/>
        </p:spPr>
      </p:sp>
      <p:sp>
        <p:nvSpPr>
          <p:cNvPr id="194563"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2424006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5406CE9-AE27-4DF9-BE7A-54F150597DF7}" type="slidenum">
              <a:rPr lang="en-US" smtClean="0"/>
              <a:t>7</a:t>
            </a:fld>
            <a:endParaRPr lang="en-US"/>
          </a:p>
        </p:txBody>
      </p:sp>
    </p:spTree>
    <p:extLst>
      <p:ext uri="{BB962C8B-B14F-4D97-AF65-F5344CB8AC3E}">
        <p14:creationId xmlns:p14="http://schemas.microsoft.com/office/powerpoint/2010/main" val="5215784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5406CE9-AE27-4DF9-BE7A-54F150597DF7}" type="slidenum">
              <a:rPr lang="en-US" smtClean="0"/>
              <a:t>21</a:t>
            </a:fld>
            <a:endParaRPr lang="en-US"/>
          </a:p>
        </p:txBody>
      </p:sp>
    </p:spTree>
    <p:extLst>
      <p:ext uri="{BB962C8B-B14F-4D97-AF65-F5344CB8AC3E}">
        <p14:creationId xmlns:p14="http://schemas.microsoft.com/office/powerpoint/2010/main" val="34416667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5406CE9-AE27-4DF9-BE7A-54F150597DF7}" type="slidenum">
              <a:rPr lang="en-US" smtClean="0"/>
              <a:t>23</a:t>
            </a:fld>
            <a:endParaRPr lang="en-US"/>
          </a:p>
        </p:txBody>
      </p:sp>
    </p:spTree>
    <p:extLst>
      <p:ext uri="{BB962C8B-B14F-4D97-AF65-F5344CB8AC3E}">
        <p14:creationId xmlns:p14="http://schemas.microsoft.com/office/powerpoint/2010/main" val="16264939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A3F48B7-0698-4D6A-A3EA-3C345D6F65A2}" type="slidenum">
              <a:rPr lang="en-US"/>
              <a:pPr/>
              <a:t>24</a:t>
            </a:fld>
            <a:endParaRPr lang="en-US"/>
          </a:p>
        </p:txBody>
      </p:sp>
      <p:sp>
        <p:nvSpPr>
          <p:cNvPr id="289794" name="Rectangle 2"/>
          <p:cNvSpPr>
            <a:spLocks noGrp="1" noRot="1" noChangeAspect="1" noChangeArrowheads="1" noTextEdit="1"/>
          </p:cNvSpPr>
          <p:nvPr>
            <p:ph type="sldImg"/>
          </p:nvPr>
        </p:nvSpPr>
        <p:spPr>
          <a:ln/>
        </p:spPr>
      </p:sp>
      <p:sp>
        <p:nvSpPr>
          <p:cNvPr id="28979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343066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5406CE9-AE27-4DF9-BE7A-54F150597DF7}" type="slidenum">
              <a:rPr lang="en-US" smtClean="0"/>
              <a:t>32</a:t>
            </a:fld>
            <a:endParaRPr lang="en-US"/>
          </a:p>
        </p:txBody>
      </p:sp>
    </p:spTree>
    <p:extLst>
      <p:ext uri="{BB962C8B-B14F-4D97-AF65-F5344CB8AC3E}">
        <p14:creationId xmlns:p14="http://schemas.microsoft.com/office/powerpoint/2010/main" val="26718340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p:spPr>
        <p:txBody>
          <a:bodyPr/>
          <a:lstStyle>
            <a:lvl1pPr algn="ctr" defTabSz="1021992">
              <a:defRPr sz="2500">
                <a:solidFill>
                  <a:schemeClr val="tx1"/>
                </a:solidFill>
                <a:latin typeface="Times New Roman" panose="02020603050405020304" pitchFamily="18" charset="0"/>
              </a:defRPr>
            </a:lvl1pPr>
            <a:lvl2pPr marL="785372" indent="-302066" algn="ctr" defTabSz="1021992">
              <a:defRPr sz="2500">
                <a:solidFill>
                  <a:schemeClr val="tx1"/>
                </a:solidFill>
                <a:latin typeface="Times New Roman" panose="02020603050405020304" pitchFamily="18" charset="0"/>
              </a:defRPr>
            </a:lvl2pPr>
            <a:lvl3pPr marL="1208265" indent="-241653" algn="ctr" defTabSz="1021992">
              <a:defRPr sz="2500">
                <a:solidFill>
                  <a:schemeClr val="tx1"/>
                </a:solidFill>
                <a:latin typeface="Times New Roman" panose="02020603050405020304" pitchFamily="18" charset="0"/>
              </a:defRPr>
            </a:lvl3pPr>
            <a:lvl4pPr marL="1691571" indent="-241653" algn="ctr" defTabSz="1021992">
              <a:defRPr sz="2500">
                <a:solidFill>
                  <a:schemeClr val="tx1"/>
                </a:solidFill>
                <a:latin typeface="Times New Roman" panose="02020603050405020304" pitchFamily="18" charset="0"/>
              </a:defRPr>
            </a:lvl4pPr>
            <a:lvl5pPr marL="2174878" indent="-241653" algn="ctr" defTabSz="1021992">
              <a:defRPr sz="2500">
                <a:solidFill>
                  <a:schemeClr val="tx1"/>
                </a:solidFill>
                <a:latin typeface="Times New Roman" panose="02020603050405020304" pitchFamily="18" charset="0"/>
              </a:defRPr>
            </a:lvl5pPr>
            <a:lvl6pPr marL="2658184" indent="-241653" algn="ctr" defTabSz="1021992" eaLnBrk="0" fontAlgn="base" hangingPunct="0">
              <a:spcBef>
                <a:spcPct val="0"/>
              </a:spcBef>
              <a:spcAft>
                <a:spcPct val="0"/>
              </a:spcAft>
              <a:defRPr sz="2500">
                <a:solidFill>
                  <a:schemeClr val="tx1"/>
                </a:solidFill>
                <a:latin typeface="Times New Roman" panose="02020603050405020304" pitchFamily="18" charset="0"/>
              </a:defRPr>
            </a:lvl6pPr>
            <a:lvl7pPr marL="3141490" indent="-241653" algn="ctr" defTabSz="1021992" eaLnBrk="0" fontAlgn="base" hangingPunct="0">
              <a:spcBef>
                <a:spcPct val="0"/>
              </a:spcBef>
              <a:spcAft>
                <a:spcPct val="0"/>
              </a:spcAft>
              <a:defRPr sz="2500">
                <a:solidFill>
                  <a:schemeClr val="tx1"/>
                </a:solidFill>
                <a:latin typeface="Times New Roman" panose="02020603050405020304" pitchFamily="18" charset="0"/>
              </a:defRPr>
            </a:lvl7pPr>
            <a:lvl8pPr marL="3624796" indent="-241653" algn="ctr" defTabSz="1021992" eaLnBrk="0" fontAlgn="base" hangingPunct="0">
              <a:spcBef>
                <a:spcPct val="0"/>
              </a:spcBef>
              <a:spcAft>
                <a:spcPct val="0"/>
              </a:spcAft>
              <a:defRPr sz="2500">
                <a:solidFill>
                  <a:schemeClr val="tx1"/>
                </a:solidFill>
                <a:latin typeface="Times New Roman" panose="02020603050405020304" pitchFamily="18" charset="0"/>
              </a:defRPr>
            </a:lvl8pPr>
            <a:lvl9pPr marL="4108102" indent="-241653" algn="ctr" defTabSz="1021992" eaLnBrk="0" fontAlgn="base" hangingPunct="0">
              <a:spcBef>
                <a:spcPct val="0"/>
              </a:spcBef>
              <a:spcAft>
                <a:spcPct val="0"/>
              </a:spcAft>
              <a:defRPr sz="2500">
                <a:solidFill>
                  <a:schemeClr val="tx1"/>
                </a:solidFill>
                <a:latin typeface="Times New Roman" panose="02020603050405020304" pitchFamily="18" charset="0"/>
              </a:defRPr>
            </a:lvl9pPr>
          </a:lstStyle>
          <a:p>
            <a:pPr algn="r"/>
            <a:fld id="{50F8DF29-74C7-44C2-92D8-DAB8000726B9}" type="slidenum">
              <a:rPr lang="en-US" altLang="en-US" sz="1300"/>
              <a:pPr algn="r"/>
              <a:t>34</a:t>
            </a:fld>
            <a:endParaRPr lang="en-US" altLang="en-US" sz="1300"/>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p:spPr>
        <p:txBody>
          <a:bodyPr/>
          <a:lstStyle/>
          <a:p>
            <a:endParaRPr lang="en-US" altLang="en-US" smtClean="0"/>
          </a:p>
        </p:txBody>
      </p:sp>
    </p:spTree>
    <p:extLst>
      <p:ext uri="{BB962C8B-B14F-4D97-AF65-F5344CB8AC3E}">
        <p14:creationId xmlns:p14="http://schemas.microsoft.com/office/powerpoint/2010/main" val="16245211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5406CE9-AE27-4DF9-BE7A-54F150597DF7}" type="slidenum">
              <a:rPr lang="en-US" smtClean="0"/>
              <a:t>35</a:t>
            </a:fld>
            <a:endParaRPr lang="en-US"/>
          </a:p>
        </p:txBody>
      </p:sp>
    </p:spTree>
    <p:extLst>
      <p:ext uri="{BB962C8B-B14F-4D97-AF65-F5344CB8AC3E}">
        <p14:creationId xmlns:p14="http://schemas.microsoft.com/office/powerpoint/2010/main" val="1161157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5406CE9-AE27-4DF9-BE7A-54F150597DF7}" type="slidenum">
              <a:rPr lang="en-US" smtClean="0"/>
              <a:t>39</a:t>
            </a:fld>
            <a:endParaRPr lang="en-US"/>
          </a:p>
        </p:txBody>
      </p:sp>
    </p:spTree>
    <p:extLst>
      <p:ext uri="{BB962C8B-B14F-4D97-AF65-F5344CB8AC3E}">
        <p14:creationId xmlns:p14="http://schemas.microsoft.com/office/powerpoint/2010/main" val="21153496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5406CE9-AE27-4DF9-BE7A-54F150597DF7}" type="slidenum">
              <a:rPr lang="en-US" smtClean="0"/>
              <a:t>40</a:t>
            </a:fld>
            <a:endParaRPr lang="en-US"/>
          </a:p>
        </p:txBody>
      </p:sp>
    </p:spTree>
    <p:extLst>
      <p:ext uri="{BB962C8B-B14F-4D97-AF65-F5344CB8AC3E}">
        <p14:creationId xmlns:p14="http://schemas.microsoft.com/office/powerpoint/2010/main" val="41818354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5406CE9-AE27-4DF9-BE7A-54F150597DF7}" type="slidenum">
              <a:rPr lang="en-US" smtClean="0"/>
              <a:t>43</a:t>
            </a:fld>
            <a:endParaRPr lang="en-US"/>
          </a:p>
        </p:txBody>
      </p:sp>
    </p:spTree>
    <p:extLst>
      <p:ext uri="{BB962C8B-B14F-4D97-AF65-F5344CB8AC3E}">
        <p14:creationId xmlns:p14="http://schemas.microsoft.com/office/powerpoint/2010/main" val="39057441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5406CE9-AE27-4DF9-BE7A-54F150597DF7}" type="slidenum">
              <a:rPr lang="en-US" smtClean="0"/>
              <a:t>47</a:t>
            </a:fld>
            <a:endParaRPr lang="en-US"/>
          </a:p>
        </p:txBody>
      </p:sp>
    </p:spTree>
    <p:extLst>
      <p:ext uri="{BB962C8B-B14F-4D97-AF65-F5344CB8AC3E}">
        <p14:creationId xmlns:p14="http://schemas.microsoft.com/office/powerpoint/2010/main" val="23899486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5406CE9-AE27-4DF9-BE7A-54F150597DF7}" type="slidenum">
              <a:rPr lang="en-US" smtClean="0"/>
              <a:t>52</a:t>
            </a:fld>
            <a:endParaRPr lang="en-US"/>
          </a:p>
        </p:txBody>
      </p:sp>
    </p:spTree>
    <p:extLst>
      <p:ext uri="{BB962C8B-B14F-4D97-AF65-F5344CB8AC3E}">
        <p14:creationId xmlns:p14="http://schemas.microsoft.com/office/powerpoint/2010/main" val="34220395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5406CE9-AE27-4DF9-BE7A-54F150597DF7}" type="slidenum">
              <a:rPr lang="en-US" smtClean="0"/>
              <a:t>54</a:t>
            </a:fld>
            <a:endParaRPr lang="en-US"/>
          </a:p>
        </p:txBody>
      </p:sp>
    </p:spTree>
    <p:extLst>
      <p:ext uri="{BB962C8B-B14F-4D97-AF65-F5344CB8AC3E}">
        <p14:creationId xmlns:p14="http://schemas.microsoft.com/office/powerpoint/2010/main" val="17403098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A3F48B7-0698-4D6A-A3EA-3C345D6F65A2}" type="slidenum">
              <a:rPr lang="en-US"/>
              <a:pPr/>
              <a:t>55</a:t>
            </a:fld>
            <a:endParaRPr lang="en-US"/>
          </a:p>
        </p:txBody>
      </p:sp>
      <p:sp>
        <p:nvSpPr>
          <p:cNvPr id="289794" name="Rectangle 2"/>
          <p:cNvSpPr>
            <a:spLocks noGrp="1" noRot="1" noChangeAspect="1" noChangeArrowheads="1" noTextEdit="1"/>
          </p:cNvSpPr>
          <p:nvPr>
            <p:ph type="sldImg"/>
          </p:nvPr>
        </p:nvSpPr>
        <p:spPr>
          <a:ln/>
        </p:spPr>
      </p:sp>
      <p:sp>
        <p:nvSpPr>
          <p:cNvPr id="28979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9261957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5406CE9-AE27-4DF9-BE7A-54F150597DF7}" type="slidenum">
              <a:rPr lang="en-US" smtClean="0"/>
              <a:t>57</a:t>
            </a:fld>
            <a:endParaRPr lang="en-US"/>
          </a:p>
        </p:txBody>
      </p:sp>
    </p:spTree>
    <p:extLst>
      <p:ext uri="{BB962C8B-B14F-4D97-AF65-F5344CB8AC3E}">
        <p14:creationId xmlns:p14="http://schemas.microsoft.com/office/powerpoint/2010/main" val="308699240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5406CE9-AE27-4DF9-BE7A-54F150597DF7}" type="slidenum">
              <a:rPr lang="en-US" smtClean="0"/>
              <a:t>59</a:t>
            </a:fld>
            <a:endParaRPr lang="en-US"/>
          </a:p>
        </p:txBody>
      </p:sp>
    </p:spTree>
    <p:extLst>
      <p:ext uri="{BB962C8B-B14F-4D97-AF65-F5344CB8AC3E}">
        <p14:creationId xmlns:p14="http://schemas.microsoft.com/office/powerpoint/2010/main" val="306090784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5406CE9-AE27-4DF9-BE7A-54F150597DF7}" type="slidenum">
              <a:rPr lang="en-US" smtClean="0"/>
              <a:t>68</a:t>
            </a:fld>
            <a:endParaRPr lang="en-US"/>
          </a:p>
        </p:txBody>
      </p:sp>
    </p:spTree>
    <p:extLst>
      <p:ext uri="{BB962C8B-B14F-4D97-AF65-F5344CB8AC3E}">
        <p14:creationId xmlns:p14="http://schemas.microsoft.com/office/powerpoint/2010/main" val="417047137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5406CE9-AE27-4DF9-BE7A-54F150597DF7}" type="slidenum">
              <a:rPr lang="en-US" smtClean="0"/>
              <a:t>70</a:t>
            </a:fld>
            <a:endParaRPr lang="en-US"/>
          </a:p>
        </p:txBody>
      </p:sp>
    </p:spTree>
    <p:extLst>
      <p:ext uri="{BB962C8B-B14F-4D97-AF65-F5344CB8AC3E}">
        <p14:creationId xmlns:p14="http://schemas.microsoft.com/office/powerpoint/2010/main" val="217320586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5406CE9-AE27-4DF9-BE7A-54F150597DF7}" type="slidenum">
              <a:rPr lang="en-US" smtClean="0"/>
              <a:t>73</a:t>
            </a:fld>
            <a:endParaRPr lang="en-US"/>
          </a:p>
        </p:txBody>
      </p:sp>
    </p:spTree>
    <p:extLst>
      <p:ext uri="{BB962C8B-B14F-4D97-AF65-F5344CB8AC3E}">
        <p14:creationId xmlns:p14="http://schemas.microsoft.com/office/powerpoint/2010/main" val="119205841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5406CE9-AE27-4DF9-BE7A-54F150597DF7}" type="slidenum">
              <a:rPr lang="en-US" smtClean="0"/>
              <a:t>76</a:t>
            </a:fld>
            <a:endParaRPr lang="en-US"/>
          </a:p>
        </p:txBody>
      </p:sp>
    </p:spTree>
    <p:extLst>
      <p:ext uri="{BB962C8B-B14F-4D97-AF65-F5344CB8AC3E}">
        <p14:creationId xmlns:p14="http://schemas.microsoft.com/office/powerpoint/2010/main" val="4739789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5406CE9-AE27-4DF9-BE7A-54F150597DF7}" type="slidenum">
              <a:rPr lang="en-US" smtClean="0"/>
              <a:t>87</a:t>
            </a:fld>
            <a:endParaRPr lang="en-US"/>
          </a:p>
        </p:txBody>
      </p:sp>
    </p:spTree>
    <p:extLst>
      <p:ext uri="{BB962C8B-B14F-4D97-AF65-F5344CB8AC3E}">
        <p14:creationId xmlns:p14="http://schemas.microsoft.com/office/powerpoint/2010/main" val="309236963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5406CE9-AE27-4DF9-BE7A-54F150597DF7}" type="slidenum">
              <a:rPr lang="en-US" smtClean="0"/>
              <a:t>98</a:t>
            </a:fld>
            <a:endParaRPr lang="en-US"/>
          </a:p>
        </p:txBody>
      </p:sp>
    </p:spTree>
    <p:extLst>
      <p:ext uri="{BB962C8B-B14F-4D97-AF65-F5344CB8AC3E}">
        <p14:creationId xmlns:p14="http://schemas.microsoft.com/office/powerpoint/2010/main" val="30605069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5" name="Footer Placeholder 4"/>
          <p:cNvSpPr>
            <a:spLocks noGrp="1"/>
          </p:cNvSpPr>
          <p:nvPr>
            <p:ph type="ftr" sz="quarter" idx="11"/>
          </p:nvPr>
        </p:nvSpPr>
        <p:spPr>
          <a:xfrm>
            <a:off x="3355768" y="6324600"/>
            <a:ext cx="1752600" cy="365125"/>
          </a:xfrm>
          <a:prstGeom prst="rect">
            <a:avLst/>
          </a:prstGeom>
        </p:spPr>
        <p:txBody>
          <a:bodyPr/>
          <a:lstStyle/>
          <a:p>
            <a:r>
              <a:rPr lang="en-US" smtClean="0"/>
              <a:t>Dr. Muhammad Umair</a:t>
            </a:r>
            <a:endParaRPr lang="en-US" dirty="0"/>
          </a:p>
        </p:txBody>
      </p:sp>
      <p:sp>
        <p:nvSpPr>
          <p:cNvPr id="6" name="Slide Number Placeholder 5"/>
          <p:cNvSpPr>
            <a:spLocks noGrp="1"/>
          </p:cNvSpPr>
          <p:nvPr>
            <p:ph type="sldNum" sz="quarter" idx="12"/>
          </p:nvPr>
        </p:nvSpPr>
        <p:spPr>
          <a:xfrm>
            <a:off x="6858000" y="6324600"/>
            <a:ext cx="457200" cy="365125"/>
          </a:xfrm>
          <a:prstGeom prst="rect">
            <a:avLst/>
          </a:prstGeom>
        </p:spPr>
        <p:txBody>
          <a:bodyPr/>
          <a:lstStyle/>
          <a:p>
            <a:fld id="{EFBA8F76-60DD-4F65-80ED-7968AD89E013}" type="slidenum">
              <a:rPr lang="en-US" smtClean="0"/>
              <a:t>‹#›</a:t>
            </a:fld>
            <a:endParaRPr lang="en-US"/>
          </a:p>
        </p:txBody>
      </p:sp>
    </p:spTree>
    <p:extLst>
      <p:ext uri="{BB962C8B-B14F-4D97-AF65-F5344CB8AC3E}">
        <p14:creationId xmlns:p14="http://schemas.microsoft.com/office/powerpoint/2010/main" val="1509590867"/>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1219200"/>
            <a:ext cx="6248400" cy="1143000"/>
          </a:xfrm>
        </p:spPr>
        <p:txBody>
          <a:bodyPr/>
          <a:lstStyle/>
          <a:p>
            <a:r>
              <a:rPr lang="en-US" dirty="0" smtClean="0"/>
              <a:t>Click to edit Master title style</a:t>
            </a:r>
            <a:endParaRPr lang="en-US" dirty="0"/>
          </a:p>
        </p:txBody>
      </p:sp>
      <p:sp>
        <p:nvSpPr>
          <p:cNvPr id="3" name="Content Placeholder 2"/>
          <p:cNvSpPr>
            <a:spLocks noGrp="1"/>
          </p:cNvSpPr>
          <p:nvPr>
            <p:ph idx="1"/>
          </p:nvPr>
        </p:nvSpPr>
        <p:spPr>
          <a:xfrm>
            <a:off x="914400" y="2514600"/>
            <a:ext cx="6248400" cy="3657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152400" y="6324600"/>
            <a:ext cx="1752600" cy="365125"/>
          </a:xfrm>
          <a:prstGeom prst="rect">
            <a:avLst/>
          </a:prstGeom>
        </p:spPr>
        <p:txBody>
          <a:bodyPr/>
          <a:lstStyle/>
          <a:p>
            <a:r>
              <a:rPr lang="en-US" smtClean="0"/>
              <a:t>June 12-16, 2016</a:t>
            </a:r>
            <a:endParaRPr lang="en-US"/>
          </a:p>
        </p:txBody>
      </p:sp>
      <p:sp>
        <p:nvSpPr>
          <p:cNvPr id="5" name="Footer Placeholder 4"/>
          <p:cNvSpPr>
            <a:spLocks noGrp="1"/>
          </p:cNvSpPr>
          <p:nvPr>
            <p:ph type="ftr" sz="quarter" idx="11"/>
          </p:nvPr>
        </p:nvSpPr>
        <p:spPr>
          <a:xfrm>
            <a:off x="3355768" y="6324600"/>
            <a:ext cx="1752600" cy="365125"/>
          </a:xfrm>
          <a:prstGeom prst="rect">
            <a:avLst/>
          </a:prstGeom>
        </p:spPr>
        <p:txBody>
          <a:bodyPr/>
          <a:lstStyle/>
          <a:p>
            <a:r>
              <a:rPr lang="en-US" smtClean="0"/>
              <a:t>Dr. Muhammad Umair</a:t>
            </a:r>
            <a:endParaRPr lang="en-US"/>
          </a:p>
        </p:txBody>
      </p:sp>
      <p:sp>
        <p:nvSpPr>
          <p:cNvPr id="6" name="Slide Number Placeholder 5"/>
          <p:cNvSpPr>
            <a:spLocks noGrp="1"/>
          </p:cNvSpPr>
          <p:nvPr>
            <p:ph type="sldNum" sz="quarter" idx="12"/>
          </p:nvPr>
        </p:nvSpPr>
        <p:spPr>
          <a:xfrm>
            <a:off x="6781800" y="6324600"/>
            <a:ext cx="609600" cy="365125"/>
          </a:xfrm>
          <a:prstGeom prst="rect">
            <a:avLst/>
          </a:prstGeom>
        </p:spPr>
        <p:txBody>
          <a:bodyPr/>
          <a:lstStyle/>
          <a:p>
            <a:fld id="{EFBA8F76-60DD-4F65-80ED-7968AD89E013}" type="slidenum">
              <a:rPr lang="en-US" smtClean="0"/>
              <a:t>‹#›</a:t>
            </a:fld>
            <a:endParaRPr lang="en-US"/>
          </a:p>
        </p:txBody>
      </p:sp>
    </p:spTree>
    <p:extLst>
      <p:ext uri="{BB962C8B-B14F-4D97-AF65-F5344CB8AC3E}">
        <p14:creationId xmlns:p14="http://schemas.microsoft.com/office/powerpoint/2010/main" val="250169803"/>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152400" y="6324600"/>
            <a:ext cx="1752600" cy="365125"/>
          </a:xfrm>
          <a:prstGeom prst="rect">
            <a:avLst/>
          </a:prstGeom>
        </p:spPr>
        <p:txBody>
          <a:bodyPr/>
          <a:lstStyle/>
          <a:p>
            <a:r>
              <a:rPr lang="en-US" smtClean="0"/>
              <a:t>June 12-16, 2016</a:t>
            </a:r>
            <a:endParaRPr lang="en-US"/>
          </a:p>
        </p:txBody>
      </p:sp>
      <p:sp>
        <p:nvSpPr>
          <p:cNvPr id="5" name="Footer Placeholder 4"/>
          <p:cNvSpPr>
            <a:spLocks noGrp="1"/>
          </p:cNvSpPr>
          <p:nvPr>
            <p:ph type="ftr" sz="quarter" idx="11"/>
          </p:nvPr>
        </p:nvSpPr>
        <p:spPr>
          <a:xfrm>
            <a:off x="3355768" y="6324600"/>
            <a:ext cx="1752600" cy="365125"/>
          </a:xfrm>
          <a:prstGeom prst="rect">
            <a:avLst/>
          </a:prstGeom>
        </p:spPr>
        <p:txBody>
          <a:bodyPr/>
          <a:lstStyle/>
          <a:p>
            <a:r>
              <a:rPr lang="en-US" smtClean="0"/>
              <a:t>Dr. Muhammad Umair</a:t>
            </a:r>
            <a:endParaRPr lang="en-US"/>
          </a:p>
        </p:txBody>
      </p:sp>
      <p:sp>
        <p:nvSpPr>
          <p:cNvPr id="6" name="Slide Number Placeholder 5"/>
          <p:cNvSpPr>
            <a:spLocks noGrp="1"/>
          </p:cNvSpPr>
          <p:nvPr>
            <p:ph type="sldNum" sz="quarter" idx="12"/>
          </p:nvPr>
        </p:nvSpPr>
        <p:spPr>
          <a:xfrm>
            <a:off x="5486400" y="6324600"/>
            <a:ext cx="1828800" cy="365125"/>
          </a:xfrm>
          <a:prstGeom prst="rect">
            <a:avLst/>
          </a:prstGeom>
        </p:spPr>
        <p:txBody>
          <a:bodyPr/>
          <a:lstStyle/>
          <a:p>
            <a:fld id="{EFBA8F76-60DD-4F65-80ED-7968AD89E013}" type="slidenum">
              <a:rPr lang="en-US" smtClean="0"/>
              <a:t>‹#›</a:t>
            </a:fld>
            <a:endParaRPr lang="en-US"/>
          </a:p>
        </p:txBody>
      </p:sp>
    </p:spTree>
    <p:extLst>
      <p:ext uri="{BB962C8B-B14F-4D97-AF65-F5344CB8AC3E}">
        <p14:creationId xmlns:p14="http://schemas.microsoft.com/office/powerpoint/2010/main" val="42741049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152400" y="6324600"/>
            <a:ext cx="1752600" cy="365125"/>
          </a:xfrm>
          <a:prstGeom prst="rect">
            <a:avLst/>
          </a:prstGeom>
        </p:spPr>
        <p:txBody>
          <a:bodyPr/>
          <a:lstStyle/>
          <a:p>
            <a:r>
              <a:rPr lang="en-US" smtClean="0"/>
              <a:t>June 12-16, 2016</a:t>
            </a:r>
            <a:endParaRPr lang="en-US"/>
          </a:p>
        </p:txBody>
      </p:sp>
      <p:sp>
        <p:nvSpPr>
          <p:cNvPr id="6" name="Footer Placeholder 5"/>
          <p:cNvSpPr>
            <a:spLocks noGrp="1"/>
          </p:cNvSpPr>
          <p:nvPr>
            <p:ph type="ftr" sz="quarter" idx="11"/>
          </p:nvPr>
        </p:nvSpPr>
        <p:spPr>
          <a:xfrm>
            <a:off x="3355768" y="6324600"/>
            <a:ext cx="1752600" cy="365125"/>
          </a:xfrm>
          <a:prstGeom prst="rect">
            <a:avLst/>
          </a:prstGeom>
        </p:spPr>
        <p:txBody>
          <a:bodyPr/>
          <a:lstStyle/>
          <a:p>
            <a:r>
              <a:rPr lang="en-US" smtClean="0"/>
              <a:t>Dr. Muhammad Umair</a:t>
            </a:r>
            <a:endParaRPr lang="en-US"/>
          </a:p>
        </p:txBody>
      </p:sp>
      <p:sp>
        <p:nvSpPr>
          <p:cNvPr id="7" name="Slide Number Placeholder 6"/>
          <p:cNvSpPr>
            <a:spLocks noGrp="1"/>
          </p:cNvSpPr>
          <p:nvPr>
            <p:ph type="sldNum" sz="quarter" idx="12"/>
          </p:nvPr>
        </p:nvSpPr>
        <p:spPr>
          <a:xfrm>
            <a:off x="5486400" y="6324600"/>
            <a:ext cx="1828800" cy="365125"/>
          </a:xfrm>
          <a:prstGeom prst="rect">
            <a:avLst/>
          </a:prstGeom>
        </p:spPr>
        <p:txBody>
          <a:bodyPr/>
          <a:lstStyle/>
          <a:p>
            <a:fld id="{EFBA8F76-60DD-4F65-80ED-7968AD89E013}" type="slidenum">
              <a:rPr lang="en-US" smtClean="0"/>
              <a:t>‹#›</a:t>
            </a:fld>
            <a:endParaRPr lang="en-US"/>
          </a:p>
        </p:txBody>
      </p:sp>
    </p:spTree>
    <p:extLst>
      <p:ext uri="{BB962C8B-B14F-4D97-AF65-F5344CB8AC3E}">
        <p14:creationId xmlns:p14="http://schemas.microsoft.com/office/powerpoint/2010/main" val="21618199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152400" y="6324600"/>
            <a:ext cx="1752600" cy="365125"/>
          </a:xfrm>
          <a:prstGeom prst="rect">
            <a:avLst/>
          </a:prstGeom>
        </p:spPr>
        <p:txBody>
          <a:bodyPr/>
          <a:lstStyle/>
          <a:p>
            <a:r>
              <a:rPr lang="en-US" smtClean="0"/>
              <a:t>June 12-16, 2016</a:t>
            </a:r>
            <a:endParaRPr lang="en-US"/>
          </a:p>
        </p:txBody>
      </p:sp>
      <p:sp>
        <p:nvSpPr>
          <p:cNvPr id="8" name="Footer Placeholder 7"/>
          <p:cNvSpPr>
            <a:spLocks noGrp="1"/>
          </p:cNvSpPr>
          <p:nvPr>
            <p:ph type="ftr" sz="quarter" idx="11"/>
          </p:nvPr>
        </p:nvSpPr>
        <p:spPr>
          <a:xfrm>
            <a:off x="3355768" y="6324600"/>
            <a:ext cx="1752600" cy="365125"/>
          </a:xfrm>
          <a:prstGeom prst="rect">
            <a:avLst/>
          </a:prstGeom>
        </p:spPr>
        <p:txBody>
          <a:bodyPr/>
          <a:lstStyle/>
          <a:p>
            <a:r>
              <a:rPr lang="en-US" smtClean="0"/>
              <a:t>Dr. Muhammad Umair</a:t>
            </a:r>
            <a:endParaRPr lang="en-US"/>
          </a:p>
        </p:txBody>
      </p:sp>
      <p:sp>
        <p:nvSpPr>
          <p:cNvPr id="9" name="Slide Number Placeholder 8"/>
          <p:cNvSpPr>
            <a:spLocks noGrp="1"/>
          </p:cNvSpPr>
          <p:nvPr>
            <p:ph type="sldNum" sz="quarter" idx="12"/>
          </p:nvPr>
        </p:nvSpPr>
        <p:spPr>
          <a:xfrm>
            <a:off x="5486400" y="6324600"/>
            <a:ext cx="1828800" cy="365125"/>
          </a:xfrm>
          <a:prstGeom prst="rect">
            <a:avLst/>
          </a:prstGeom>
        </p:spPr>
        <p:txBody>
          <a:bodyPr/>
          <a:lstStyle/>
          <a:p>
            <a:fld id="{EFBA8F76-60DD-4F65-80ED-7968AD89E013}" type="slidenum">
              <a:rPr lang="en-US" smtClean="0"/>
              <a:t>‹#›</a:t>
            </a:fld>
            <a:endParaRPr lang="en-US"/>
          </a:p>
        </p:txBody>
      </p:sp>
    </p:spTree>
    <p:extLst>
      <p:ext uri="{BB962C8B-B14F-4D97-AF65-F5344CB8AC3E}">
        <p14:creationId xmlns:p14="http://schemas.microsoft.com/office/powerpoint/2010/main" val="12538105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152400" y="6324600"/>
            <a:ext cx="1752600" cy="365125"/>
          </a:xfrm>
          <a:prstGeom prst="rect">
            <a:avLst/>
          </a:prstGeom>
        </p:spPr>
        <p:txBody>
          <a:bodyPr/>
          <a:lstStyle/>
          <a:p>
            <a:r>
              <a:rPr lang="en-US" smtClean="0"/>
              <a:t>June 12-16, 2016</a:t>
            </a:r>
            <a:endParaRPr lang="en-US"/>
          </a:p>
        </p:txBody>
      </p:sp>
      <p:sp>
        <p:nvSpPr>
          <p:cNvPr id="4" name="Footer Placeholder 3"/>
          <p:cNvSpPr>
            <a:spLocks noGrp="1"/>
          </p:cNvSpPr>
          <p:nvPr>
            <p:ph type="ftr" sz="quarter" idx="11"/>
          </p:nvPr>
        </p:nvSpPr>
        <p:spPr>
          <a:xfrm>
            <a:off x="3355768" y="6324600"/>
            <a:ext cx="1752600" cy="365125"/>
          </a:xfrm>
          <a:prstGeom prst="rect">
            <a:avLst/>
          </a:prstGeom>
        </p:spPr>
        <p:txBody>
          <a:bodyPr/>
          <a:lstStyle/>
          <a:p>
            <a:r>
              <a:rPr lang="en-US" smtClean="0"/>
              <a:t>Dr. Muhammad Umair</a:t>
            </a:r>
            <a:endParaRPr lang="en-US"/>
          </a:p>
        </p:txBody>
      </p:sp>
      <p:sp>
        <p:nvSpPr>
          <p:cNvPr id="5" name="Slide Number Placeholder 4"/>
          <p:cNvSpPr>
            <a:spLocks noGrp="1"/>
          </p:cNvSpPr>
          <p:nvPr>
            <p:ph type="sldNum" sz="quarter" idx="12"/>
          </p:nvPr>
        </p:nvSpPr>
        <p:spPr>
          <a:xfrm>
            <a:off x="5486400" y="6324600"/>
            <a:ext cx="1828800" cy="365125"/>
          </a:xfrm>
          <a:prstGeom prst="rect">
            <a:avLst/>
          </a:prstGeom>
        </p:spPr>
        <p:txBody>
          <a:bodyPr/>
          <a:lstStyle/>
          <a:p>
            <a:fld id="{EFBA8F76-60DD-4F65-80ED-7968AD89E013}" type="slidenum">
              <a:rPr lang="en-US" smtClean="0"/>
              <a:t>‹#›</a:t>
            </a:fld>
            <a:endParaRPr lang="en-US"/>
          </a:p>
        </p:txBody>
      </p:sp>
    </p:spTree>
    <p:extLst>
      <p:ext uri="{BB962C8B-B14F-4D97-AF65-F5344CB8AC3E}">
        <p14:creationId xmlns:p14="http://schemas.microsoft.com/office/powerpoint/2010/main" val="5834993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152400" y="6324600"/>
            <a:ext cx="1752600" cy="365125"/>
          </a:xfrm>
          <a:prstGeom prst="rect">
            <a:avLst/>
          </a:prstGeom>
        </p:spPr>
        <p:txBody>
          <a:bodyPr/>
          <a:lstStyle/>
          <a:p>
            <a:r>
              <a:rPr lang="en-US" smtClean="0"/>
              <a:t>June 12-16, 2016</a:t>
            </a:r>
            <a:endParaRPr lang="en-US"/>
          </a:p>
        </p:txBody>
      </p:sp>
      <p:sp>
        <p:nvSpPr>
          <p:cNvPr id="3" name="Footer Placeholder 2"/>
          <p:cNvSpPr>
            <a:spLocks noGrp="1"/>
          </p:cNvSpPr>
          <p:nvPr>
            <p:ph type="ftr" sz="quarter" idx="11"/>
          </p:nvPr>
        </p:nvSpPr>
        <p:spPr>
          <a:xfrm>
            <a:off x="3355768" y="6324600"/>
            <a:ext cx="1752600" cy="365125"/>
          </a:xfrm>
          <a:prstGeom prst="rect">
            <a:avLst/>
          </a:prstGeom>
        </p:spPr>
        <p:txBody>
          <a:bodyPr/>
          <a:lstStyle/>
          <a:p>
            <a:r>
              <a:rPr lang="en-US" smtClean="0"/>
              <a:t>Dr. Muhammad Umair</a:t>
            </a:r>
            <a:endParaRPr lang="en-US"/>
          </a:p>
        </p:txBody>
      </p:sp>
      <p:sp>
        <p:nvSpPr>
          <p:cNvPr id="4" name="Slide Number Placeholder 3"/>
          <p:cNvSpPr>
            <a:spLocks noGrp="1"/>
          </p:cNvSpPr>
          <p:nvPr>
            <p:ph type="sldNum" sz="quarter" idx="12"/>
          </p:nvPr>
        </p:nvSpPr>
        <p:spPr>
          <a:xfrm>
            <a:off x="5486400" y="6324600"/>
            <a:ext cx="1828800" cy="365125"/>
          </a:xfrm>
          <a:prstGeom prst="rect">
            <a:avLst/>
          </a:prstGeom>
        </p:spPr>
        <p:txBody>
          <a:bodyPr/>
          <a:lstStyle/>
          <a:p>
            <a:fld id="{EFBA8F76-60DD-4F65-80ED-7968AD89E013}" type="slidenum">
              <a:rPr lang="en-US" smtClean="0"/>
              <a:t>‹#›</a:t>
            </a:fld>
            <a:endParaRPr lang="en-US"/>
          </a:p>
        </p:txBody>
      </p:sp>
    </p:spTree>
    <p:extLst>
      <p:ext uri="{BB962C8B-B14F-4D97-AF65-F5344CB8AC3E}">
        <p14:creationId xmlns:p14="http://schemas.microsoft.com/office/powerpoint/2010/main" val="7705368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152400" y="6324600"/>
            <a:ext cx="1752600" cy="365125"/>
          </a:xfrm>
          <a:prstGeom prst="rect">
            <a:avLst/>
          </a:prstGeom>
        </p:spPr>
        <p:txBody>
          <a:bodyPr/>
          <a:lstStyle/>
          <a:p>
            <a:r>
              <a:rPr lang="en-US" smtClean="0"/>
              <a:t>June 12-16, 2016</a:t>
            </a:r>
            <a:endParaRPr lang="en-US"/>
          </a:p>
        </p:txBody>
      </p:sp>
      <p:sp>
        <p:nvSpPr>
          <p:cNvPr id="6" name="Footer Placeholder 5"/>
          <p:cNvSpPr>
            <a:spLocks noGrp="1"/>
          </p:cNvSpPr>
          <p:nvPr>
            <p:ph type="ftr" sz="quarter" idx="11"/>
          </p:nvPr>
        </p:nvSpPr>
        <p:spPr>
          <a:xfrm>
            <a:off x="3355768" y="6324600"/>
            <a:ext cx="1752600" cy="365125"/>
          </a:xfrm>
          <a:prstGeom prst="rect">
            <a:avLst/>
          </a:prstGeom>
        </p:spPr>
        <p:txBody>
          <a:bodyPr/>
          <a:lstStyle/>
          <a:p>
            <a:r>
              <a:rPr lang="en-US" smtClean="0"/>
              <a:t>Dr. Muhammad Umair</a:t>
            </a:r>
            <a:endParaRPr lang="en-US"/>
          </a:p>
        </p:txBody>
      </p:sp>
      <p:sp>
        <p:nvSpPr>
          <p:cNvPr id="7" name="Slide Number Placeholder 6"/>
          <p:cNvSpPr>
            <a:spLocks noGrp="1"/>
          </p:cNvSpPr>
          <p:nvPr>
            <p:ph type="sldNum" sz="quarter" idx="12"/>
          </p:nvPr>
        </p:nvSpPr>
        <p:spPr>
          <a:xfrm>
            <a:off x="5486400" y="6324600"/>
            <a:ext cx="1828800" cy="365125"/>
          </a:xfrm>
          <a:prstGeom prst="rect">
            <a:avLst/>
          </a:prstGeom>
        </p:spPr>
        <p:txBody>
          <a:bodyPr/>
          <a:lstStyle/>
          <a:p>
            <a:fld id="{EFBA8F76-60DD-4F65-80ED-7968AD89E013}" type="slidenum">
              <a:rPr lang="en-US" smtClean="0"/>
              <a:t>‹#›</a:t>
            </a:fld>
            <a:endParaRPr lang="en-US"/>
          </a:p>
        </p:txBody>
      </p:sp>
    </p:spTree>
    <p:extLst>
      <p:ext uri="{BB962C8B-B14F-4D97-AF65-F5344CB8AC3E}">
        <p14:creationId xmlns:p14="http://schemas.microsoft.com/office/powerpoint/2010/main" val="26993863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152400" y="6324600"/>
            <a:ext cx="1752600" cy="365125"/>
          </a:xfrm>
          <a:prstGeom prst="rect">
            <a:avLst/>
          </a:prstGeom>
        </p:spPr>
        <p:txBody>
          <a:bodyPr/>
          <a:lstStyle/>
          <a:p>
            <a:r>
              <a:rPr lang="en-US" smtClean="0"/>
              <a:t>June 12-16, 2016</a:t>
            </a:r>
            <a:endParaRPr lang="en-US"/>
          </a:p>
        </p:txBody>
      </p:sp>
      <p:sp>
        <p:nvSpPr>
          <p:cNvPr id="6" name="Footer Placeholder 5"/>
          <p:cNvSpPr>
            <a:spLocks noGrp="1"/>
          </p:cNvSpPr>
          <p:nvPr>
            <p:ph type="ftr" sz="quarter" idx="11"/>
          </p:nvPr>
        </p:nvSpPr>
        <p:spPr>
          <a:xfrm>
            <a:off x="3355768" y="6324600"/>
            <a:ext cx="1752600" cy="365125"/>
          </a:xfrm>
          <a:prstGeom prst="rect">
            <a:avLst/>
          </a:prstGeom>
        </p:spPr>
        <p:txBody>
          <a:bodyPr/>
          <a:lstStyle/>
          <a:p>
            <a:r>
              <a:rPr lang="en-US" smtClean="0"/>
              <a:t>Dr. Muhammad Umair</a:t>
            </a:r>
            <a:endParaRPr lang="en-US"/>
          </a:p>
        </p:txBody>
      </p:sp>
      <p:sp>
        <p:nvSpPr>
          <p:cNvPr id="7" name="Slide Number Placeholder 6"/>
          <p:cNvSpPr>
            <a:spLocks noGrp="1"/>
          </p:cNvSpPr>
          <p:nvPr>
            <p:ph type="sldNum" sz="quarter" idx="12"/>
          </p:nvPr>
        </p:nvSpPr>
        <p:spPr>
          <a:xfrm>
            <a:off x="5486400" y="6324600"/>
            <a:ext cx="1828800" cy="365125"/>
          </a:xfrm>
          <a:prstGeom prst="rect">
            <a:avLst/>
          </a:prstGeom>
        </p:spPr>
        <p:txBody>
          <a:bodyPr/>
          <a:lstStyle/>
          <a:p>
            <a:fld id="{EFBA8F76-60DD-4F65-80ED-7968AD89E013}" type="slidenum">
              <a:rPr lang="en-US" smtClean="0"/>
              <a:t>‹#›</a:t>
            </a:fld>
            <a:endParaRPr lang="en-US"/>
          </a:p>
        </p:txBody>
      </p:sp>
    </p:spTree>
    <p:extLst>
      <p:ext uri="{BB962C8B-B14F-4D97-AF65-F5344CB8AC3E}">
        <p14:creationId xmlns:p14="http://schemas.microsoft.com/office/powerpoint/2010/main" val="20996175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152400" y="6324600"/>
            <a:ext cx="1752600" cy="365125"/>
          </a:xfrm>
          <a:prstGeom prst="rect">
            <a:avLst/>
          </a:prstGeom>
        </p:spPr>
        <p:txBody>
          <a:bodyPr/>
          <a:lstStyle/>
          <a:p>
            <a:r>
              <a:rPr lang="en-US" smtClean="0"/>
              <a:t>June 12-16, 2016</a:t>
            </a:r>
            <a:endParaRPr lang="en-US"/>
          </a:p>
        </p:txBody>
      </p:sp>
      <p:sp>
        <p:nvSpPr>
          <p:cNvPr id="5" name="Footer Placeholder 4"/>
          <p:cNvSpPr>
            <a:spLocks noGrp="1"/>
          </p:cNvSpPr>
          <p:nvPr>
            <p:ph type="ftr" sz="quarter" idx="11"/>
          </p:nvPr>
        </p:nvSpPr>
        <p:spPr>
          <a:xfrm>
            <a:off x="3355768" y="6324600"/>
            <a:ext cx="1752600" cy="365125"/>
          </a:xfrm>
          <a:prstGeom prst="rect">
            <a:avLst/>
          </a:prstGeom>
        </p:spPr>
        <p:txBody>
          <a:bodyPr/>
          <a:lstStyle/>
          <a:p>
            <a:r>
              <a:rPr lang="en-US" smtClean="0"/>
              <a:t>Dr. Muhammad Umair</a:t>
            </a:r>
            <a:endParaRPr lang="en-US"/>
          </a:p>
        </p:txBody>
      </p:sp>
      <p:sp>
        <p:nvSpPr>
          <p:cNvPr id="6" name="Slide Number Placeholder 5"/>
          <p:cNvSpPr>
            <a:spLocks noGrp="1"/>
          </p:cNvSpPr>
          <p:nvPr>
            <p:ph type="sldNum" sz="quarter" idx="12"/>
          </p:nvPr>
        </p:nvSpPr>
        <p:spPr>
          <a:xfrm>
            <a:off x="5486400" y="6324600"/>
            <a:ext cx="1828800" cy="365125"/>
          </a:xfrm>
          <a:prstGeom prst="rect">
            <a:avLst/>
          </a:prstGeom>
        </p:spPr>
        <p:txBody>
          <a:bodyPr/>
          <a:lstStyle/>
          <a:p>
            <a:fld id="{EFBA8F76-60DD-4F65-80ED-7968AD89E013}" type="slidenum">
              <a:rPr lang="en-US" smtClean="0"/>
              <a:t>‹#›</a:t>
            </a:fld>
            <a:endParaRPr lang="en-US"/>
          </a:p>
        </p:txBody>
      </p:sp>
    </p:spTree>
    <p:extLst>
      <p:ext uri="{BB962C8B-B14F-4D97-AF65-F5344CB8AC3E}">
        <p14:creationId xmlns:p14="http://schemas.microsoft.com/office/powerpoint/2010/main" val="26213817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152400" y="6324600"/>
            <a:ext cx="1752600" cy="365125"/>
          </a:xfrm>
          <a:prstGeom prst="rect">
            <a:avLst/>
          </a:prstGeom>
        </p:spPr>
        <p:txBody>
          <a:bodyPr/>
          <a:lstStyle/>
          <a:p>
            <a:r>
              <a:rPr lang="en-US" smtClean="0"/>
              <a:t>June 12-16, 2016</a:t>
            </a:r>
            <a:endParaRPr lang="en-US"/>
          </a:p>
        </p:txBody>
      </p:sp>
      <p:sp>
        <p:nvSpPr>
          <p:cNvPr id="5" name="Footer Placeholder 4"/>
          <p:cNvSpPr>
            <a:spLocks noGrp="1"/>
          </p:cNvSpPr>
          <p:nvPr>
            <p:ph type="ftr" sz="quarter" idx="11"/>
          </p:nvPr>
        </p:nvSpPr>
        <p:spPr>
          <a:xfrm>
            <a:off x="3355768" y="6324600"/>
            <a:ext cx="1752600" cy="365125"/>
          </a:xfrm>
          <a:prstGeom prst="rect">
            <a:avLst/>
          </a:prstGeom>
        </p:spPr>
        <p:txBody>
          <a:bodyPr/>
          <a:lstStyle/>
          <a:p>
            <a:r>
              <a:rPr lang="en-US" smtClean="0"/>
              <a:t>Dr. Muhammad Umair</a:t>
            </a:r>
            <a:endParaRPr lang="en-US"/>
          </a:p>
        </p:txBody>
      </p:sp>
      <p:sp>
        <p:nvSpPr>
          <p:cNvPr id="6" name="Slide Number Placeholder 5"/>
          <p:cNvSpPr>
            <a:spLocks noGrp="1"/>
          </p:cNvSpPr>
          <p:nvPr>
            <p:ph type="sldNum" sz="quarter" idx="12"/>
          </p:nvPr>
        </p:nvSpPr>
        <p:spPr>
          <a:xfrm>
            <a:off x="5486400" y="6324600"/>
            <a:ext cx="1828800" cy="365125"/>
          </a:xfrm>
          <a:prstGeom prst="rect">
            <a:avLst/>
          </a:prstGeom>
        </p:spPr>
        <p:txBody>
          <a:bodyPr/>
          <a:lstStyle/>
          <a:p>
            <a:fld id="{EFBA8F76-60DD-4F65-80ED-7968AD89E013}" type="slidenum">
              <a:rPr lang="en-US" smtClean="0"/>
              <a:t>‹#›</a:t>
            </a:fld>
            <a:endParaRPr lang="en-US"/>
          </a:p>
        </p:txBody>
      </p:sp>
    </p:spTree>
    <p:extLst>
      <p:ext uri="{BB962C8B-B14F-4D97-AF65-F5344CB8AC3E}">
        <p14:creationId xmlns:p14="http://schemas.microsoft.com/office/powerpoint/2010/main" val="26234633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152400"/>
            <a:ext cx="8382000" cy="6858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09600" y="1295400"/>
            <a:ext cx="4076700" cy="49053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838700" y="1295400"/>
            <a:ext cx="4076700" cy="49053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1225550" y="6248400"/>
            <a:ext cx="1905000" cy="457200"/>
          </a:xfrm>
          <a:prstGeom prst="rect">
            <a:avLst/>
          </a:prstGeom>
        </p:spPr>
        <p:txBody>
          <a:bodyPr/>
          <a:lstStyle>
            <a:lvl1pPr>
              <a:defRPr/>
            </a:lvl1pPr>
          </a:lstStyle>
          <a:p>
            <a:endParaRPr lang="en-US"/>
          </a:p>
        </p:txBody>
      </p:sp>
      <p:sp>
        <p:nvSpPr>
          <p:cNvPr id="6" name="Footer Placeholder 5"/>
          <p:cNvSpPr>
            <a:spLocks noGrp="1"/>
          </p:cNvSpPr>
          <p:nvPr>
            <p:ph type="ftr" sz="quarter" idx="11"/>
          </p:nvPr>
        </p:nvSpPr>
        <p:spPr>
          <a:xfrm>
            <a:off x="1219200" y="6324600"/>
            <a:ext cx="6400800" cy="304800"/>
          </a:xfrm>
          <a:prstGeom prst="rect">
            <a:avLst/>
          </a:prstGeom>
        </p:spPr>
        <p:txBody>
          <a:bodyPr/>
          <a:lstStyle>
            <a:lvl1pPr>
              <a:defRPr/>
            </a:lvl1pPr>
          </a:lstStyle>
          <a:p>
            <a:r>
              <a:rPr lang="en-US"/>
              <a:t>A. Levitin “Introduction to the Design &amp; Analysis of Algorithms,” 3rd ed., Ch. 3 ©2012 Pearson Education, Inc. Upper Saddle River, NJ. All Rights Reserved. </a:t>
            </a:r>
          </a:p>
        </p:txBody>
      </p:sp>
      <p:sp>
        <p:nvSpPr>
          <p:cNvPr id="7" name="Slide Number Placeholder 6"/>
          <p:cNvSpPr>
            <a:spLocks noGrp="1"/>
          </p:cNvSpPr>
          <p:nvPr>
            <p:ph type="sldNum" sz="quarter" idx="12"/>
          </p:nvPr>
        </p:nvSpPr>
        <p:spPr>
          <a:xfrm>
            <a:off x="7239000" y="6553200"/>
            <a:ext cx="1905000" cy="304800"/>
          </a:xfrm>
          <a:prstGeom prst="rect">
            <a:avLst/>
          </a:prstGeom>
        </p:spPr>
        <p:txBody>
          <a:bodyPr/>
          <a:lstStyle>
            <a:lvl1pPr>
              <a:defRPr/>
            </a:lvl1pPr>
          </a:lstStyle>
          <a:p>
            <a:fld id="{EB0F8716-494B-4B3A-80FA-4254FB2A9B42}" type="slidenum">
              <a:rPr lang="en-US"/>
              <a:pPr/>
              <a:t>‹#›</a:t>
            </a:fld>
            <a:endParaRPr lang="en-US"/>
          </a:p>
        </p:txBody>
      </p:sp>
    </p:spTree>
    <p:extLst>
      <p:ext uri="{BB962C8B-B14F-4D97-AF65-F5344CB8AC3E}">
        <p14:creationId xmlns:p14="http://schemas.microsoft.com/office/powerpoint/2010/main" val="6146015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4400" y="1752600"/>
            <a:ext cx="6248400" cy="11430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990600" y="3276600"/>
            <a:ext cx="6248400" cy="2620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pic>
        <p:nvPicPr>
          <p:cNvPr id="1026" name="Picture 2"/>
          <p:cNvPicPr>
            <a:picLocks noChangeAspect="1" noChangeArrowheads="1"/>
          </p:cNvPicPr>
          <p:nvPr userDrawn="1"/>
        </p:nvPicPr>
        <p:blipFill>
          <a:blip r:embed="rId14">
            <a:duotone>
              <a:schemeClr val="accent3">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rot="5400000">
            <a:off x="4539052" y="-3484224"/>
            <a:ext cx="65619" cy="9144281"/>
          </a:xfrm>
          <a:prstGeom prst="rect">
            <a:avLst/>
          </a:prstGeom>
          <a:solidFill>
            <a:schemeClr val="accent6">
              <a:lumMod val="75000"/>
            </a:schemeClr>
          </a:solidFill>
          <a:ln w="9525">
            <a:noFill/>
            <a:miter lim="800000"/>
            <a:headEnd/>
            <a:tailEnd/>
          </a:ln>
          <a:effectLst/>
          <a:extLst/>
        </p:spPr>
      </p:pic>
      <p:pic>
        <p:nvPicPr>
          <p:cNvPr id="14" name="Picture 2"/>
          <p:cNvPicPr>
            <a:picLocks noChangeAspect="1" noChangeArrowheads="1"/>
          </p:cNvPicPr>
          <p:nvPr userDrawn="1"/>
        </p:nvPicPr>
        <p:blipFill>
          <a:blip r:embed="rId14">
            <a:duotone>
              <a:schemeClr val="accent3">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rot="10800000">
            <a:off x="7696200" y="991"/>
            <a:ext cx="49212" cy="6857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 name="TextBox 15"/>
          <p:cNvSpPr txBox="1"/>
          <p:nvPr userDrawn="1"/>
        </p:nvSpPr>
        <p:spPr>
          <a:xfrm>
            <a:off x="2646497" y="6437622"/>
            <a:ext cx="2608892" cy="307777"/>
          </a:xfrm>
          <a:prstGeom prst="rect">
            <a:avLst/>
          </a:prstGeom>
          <a:noFill/>
        </p:spPr>
        <p:txBody>
          <a:bodyPr wrap="square" rtlCol="0">
            <a:spAutoFit/>
          </a:bodyPr>
          <a:lstStyle/>
          <a:p>
            <a:r>
              <a:rPr lang="en-US" sz="1400" dirty="0" smtClean="0"/>
              <a:t>Instructor Dr. Muhammad Umair</a:t>
            </a:r>
            <a:endParaRPr lang="en-US" sz="1400" dirty="0"/>
          </a:p>
        </p:txBody>
      </p:sp>
      <p:sp>
        <p:nvSpPr>
          <p:cNvPr id="4" name="TextBox 3"/>
          <p:cNvSpPr txBox="1"/>
          <p:nvPr userDrawn="1"/>
        </p:nvSpPr>
        <p:spPr>
          <a:xfrm>
            <a:off x="1055343" y="-10418"/>
            <a:ext cx="5791200" cy="1077218"/>
          </a:xfrm>
          <a:prstGeom prst="rect">
            <a:avLst/>
          </a:prstGeom>
          <a:noFill/>
        </p:spPr>
        <p:txBody>
          <a:bodyPr wrap="square" rtlCol="0">
            <a:spAutoFit/>
          </a:bodyPr>
          <a:lstStyle/>
          <a:p>
            <a:pPr algn="ctr"/>
            <a:r>
              <a:rPr lang="en-US" sz="3200" b="1" i="1" dirty="0" smtClean="0">
                <a:solidFill>
                  <a:srgbClr val="00823B"/>
                </a:solidFill>
              </a:rPr>
              <a:t>Analysis</a:t>
            </a:r>
            <a:r>
              <a:rPr lang="en-US" sz="3200" b="1" i="1" baseline="0" dirty="0" smtClean="0">
                <a:solidFill>
                  <a:srgbClr val="00823B"/>
                </a:solidFill>
              </a:rPr>
              <a:t> and Design of Algorithms</a:t>
            </a:r>
            <a:endParaRPr lang="en-US" sz="3200" b="1" i="1" dirty="0">
              <a:solidFill>
                <a:srgbClr val="00823B"/>
              </a:solidFill>
            </a:endParaRPr>
          </a:p>
        </p:txBody>
      </p:sp>
      <p:pic>
        <p:nvPicPr>
          <p:cNvPr id="7" name="Picture 6"/>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152400" y="89065"/>
            <a:ext cx="762000" cy="910249"/>
          </a:xfrm>
          <a:prstGeom prst="rect">
            <a:avLst/>
          </a:prstGeom>
        </p:spPr>
      </p:pic>
      <p:pic>
        <p:nvPicPr>
          <p:cNvPr id="8" name="Picture 7"/>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7924800" y="76200"/>
            <a:ext cx="972911" cy="972911"/>
          </a:xfrm>
          <a:prstGeom prst="rect">
            <a:avLst/>
          </a:prstGeom>
        </p:spPr>
      </p:pic>
      <p:sp>
        <p:nvSpPr>
          <p:cNvPr id="5" name="TextBox 4"/>
          <p:cNvSpPr txBox="1"/>
          <p:nvPr userDrawn="1"/>
        </p:nvSpPr>
        <p:spPr>
          <a:xfrm>
            <a:off x="8077200" y="1295400"/>
            <a:ext cx="769121" cy="5257800"/>
          </a:xfrm>
          <a:prstGeom prst="rect">
            <a:avLst/>
          </a:prstGeom>
        </p:spPr>
        <p:style>
          <a:lnRef idx="0">
            <a:schemeClr val="accent3"/>
          </a:lnRef>
          <a:fillRef idx="3">
            <a:schemeClr val="accent3"/>
          </a:fillRef>
          <a:effectRef idx="3">
            <a:schemeClr val="accent3"/>
          </a:effectRef>
          <a:fontRef idx="minor">
            <a:schemeClr val="lt1"/>
          </a:fontRef>
        </p:style>
        <p:txBody>
          <a:bodyPr vert="wordArtVert" wrap="square" rtlCol="0">
            <a:spAutoFit/>
          </a:bodyPr>
          <a:lstStyle/>
          <a:p>
            <a:pPr algn="ctr"/>
            <a:r>
              <a:rPr lang="en-US" sz="3200" b="1" dirty="0" smtClean="0"/>
              <a:t>CPCS 223</a:t>
            </a:r>
            <a:endParaRPr lang="en-US" sz="3200" b="1" dirty="0"/>
          </a:p>
        </p:txBody>
      </p:sp>
    </p:spTree>
    <p:extLst>
      <p:ext uri="{BB962C8B-B14F-4D97-AF65-F5344CB8AC3E}">
        <p14:creationId xmlns:p14="http://schemas.microsoft.com/office/powerpoint/2010/main" val="40108021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iming>
    <p:tnLst>
      <p:par>
        <p:cTn id="1" dur="indefinite" restart="never" nodeType="tmRoot"/>
      </p:par>
    </p:tnLst>
  </p:timing>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Clr>
          <a:srgbClr val="00823B"/>
        </a:buClr>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Clr>
          <a:srgbClr val="00823B"/>
        </a:buClr>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Clr>
          <a:srgbClr val="00823B"/>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Clr>
          <a:srgbClr val="00823B"/>
        </a:buClr>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Clr>
          <a:srgbClr val="00823B"/>
        </a:buClr>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8.png"/><Relationship Id="rId7"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3.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3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image" Target="../media/image34.png"/><Relationship Id="rId1" Type="http://schemas.openxmlformats.org/officeDocument/2006/relationships/slideLayout" Target="../slideLayouts/slideLayout2.xml"/><Relationship Id="rId6" Type="http://schemas.openxmlformats.org/officeDocument/2006/relationships/image" Target="../media/image38.png"/><Relationship Id="rId11" Type="http://schemas.openxmlformats.org/officeDocument/2006/relationships/image" Target="../media/image43.png"/><Relationship Id="rId5" Type="http://schemas.openxmlformats.org/officeDocument/2006/relationships/image" Target="../media/image37.png"/><Relationship Id="rId10" Type="http://schemas.openxmlformats.org/officeDocument/2006/relationships/image" Target="../media/image42.png"/><Relationship Id="rId4" Type="http://schemas.openxmlformats.org/officeDocument/2006/relationships/image" Target="../media/image36.png"/><Relationship Id="rId9" Type="http://schemas.openxmlformats.org/officeDocument/2006/relationships/image" Target="../media/image41.png"/></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image" Target="../media/image44.png"/><Relationship Id="rId1" Type="http://schemas.openxmlformats.org/officeDocument/2006/relationships/slideLayout" Target="../slideLayouts/slideLayout2.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7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 Id="rId5" Type="http://schemas.openxmlformats.org/officeDocument/2006/relationships/image" Target="../media/image62.png"/><Relationship Id="rId4" Type="http://schemas.openxmlformats.org/officeDocument/2006/relationships/image" Target="../media/image61.png"/></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6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524000"/>
            <a:ext cx="7675563" cy="2367907"/>
          </a:xfrm>
          <a:prstGeom prst="rect">
            <a:avLst/>
          </a:prstGeom>
        </p:spPr>
      </p:pic>
      <p:grpSp>
        <p:nvGrpSpPr>
          <p:cNvPr id="11" name="Group 10"/>
          <p:cNvGrpSpPr/>
          <p:nvPr/>
        </p:nvGrpSpPr>
        <p:grpSpPr>
          <a:xfrm>
            <a:off x="918075" y="4539129"/>
            <a:ext cx="6420832" cy="1785471"/>
            <a:chOff x="613275" y="0"/>
            <a:chExt cx="6420832" cy="1785471"/>
          </a:xfrm>
        </p:grpSpPr>
        <p:sp>
          <p:nvSpPr>
            <p:cNvPr id="13" name="Pentagon 12"/>
            <p:cNvSpPr/>
            <p:nvPr/>
          </p:nvSpPr>
          <p:spPr>
            <a:xfrm rot="10800000">
              <a:off x="613275" y="0"/>
              <a:ext cx="6420832" cy="1785471"/>
            </a:xfrm>
            <a:prstGeom prst="homePlate">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4" name="Pentagon 4"/>
            <p:cNvSpPr/>
            <p:nvPr/>
          </p:nvSpPr>
          <p:spPr>
            <a:xfrm rot="21600000">
              <a:off x="1059643" y="0"/>
              <a:ext cx="5974464" cy="178547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87343" tIns="76200" rIns="142240" bIns="76200" numCol="1" spcCol="1270" anchor="ctr" anchorCtr="0">
              <a:noAutofit/>
            </a:bodyPr>
            <a:lstStyle/>
            <a:p>
              <a:pPr lvl="0" algn="ctr" defTabSz="889000" rtl="0">
                <a:lnSpc>
                  <a:spcPct val="90000"/>
                </a:lnSpc>
                <a:spcBef>
                  <a:spcPct val="0"/>
                </a:spcBef>
                <a:spcAft>
                  <a:spcPct val="35000"/>
                </a:spcAft>
              </a:pPr>
              <a:r>
                <a:rPr lang="en-US" sz="2000" b="1" i="0" kern="1200" dirty="0" smtClean="0">
                  <a:latin typeface="+mj-lt"/>
                </a:rPr>
                <a:t>O my Lord! Expand for me my chest [with assurance] and ease for me my task and untie the knot from my tongue that they may understand my speech. </a:t>
              </a:r>
              <a:r>
                <a:rPr lang="en-US" sz="2000" b="1" i="0" kern="1200" dirty="0" smtClean="0">
                  <a:solidFill>
                    <a:srgbClr val="FFFF00"/>
                  </a:solidFill>
                </a:rPr>
                <a:t>(Quran 20 : 25-28)</a:t>
              </a:r>
              <a:endParaRPr lang="en-US" sz="2000" b="1" kern="1200" dirty="0">
                <a:solidFill>
                  <a:srgbClr val="FFFF00"/>
                </a:solidFill>
                <a:latin typeface="+mj-lt"/>
              </a:endParaRPr>
            </a:p>
          </p:txBody>
        </p:sp>
      </p:grpSp>
      <p:sp>
        <p:nvSpPr>
          <p:cNvPr id="12" name="Oval 11"/>
          <p:cNvSpPr/>
          <p:nvPr/>
        </p:nvSpPr>
        <p:spPr>
          <a:xfrm>
            <a:off x="304800" y="4539129"/>
            <a:ext cx="1785471" cy="1785471"/>
          </a:xfrm>
          <a:prstGeom prst="ellipse">
            <a:avLst/>
          </a:prstGeom>
          <a:blipFill>
            <a:blip r:embed="rId4">
              <a:extLst>
                <a:ext uri="{28A0092B-C50C-407E-A947-70E740481C1C}">
                  <a14:useLocalDpi xmlns:a14="http://schemas.microsoft.com/office/drawing/2010/main" val="0"/>
                </a:ext>
              </a:extLst>
            </a:blip>
            <a:srcRect/>
            <a:stretch>
              <a:fillRect l="-39000" r="-39000"/>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spTree>
    <p:extLst>
      <p:ext uri="{BB962C8B-B14F-4D97-AF65-F5344CB8AC3E}">
        <p14:creationId xmlns:p14="http://schemas.microsoft.com/office/powerpoint/2010/main" val="22076493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9126" y="1946943"/>
            <a:ext cx="6705600" cy="2003425"/>
          </a:xfrm>
        </p:spPr>
        <p:txBody>
          <a:bodyPr>
            <a:noAutofit/>
          </a:bodyPr>
          <a:lstStyle/>
          <a:p>
            <a:r>
              <a:rPr lang="en-US" sz="6000" b="1" dirty="0" smtClean="0">
                <a:solidFill>
                  <a:srgbClr val="00823B"/>
                </a:solidFill>
              </a:rPr>
              <a:t>Algorithm Design</a:t>
            </a:r>
            <a:endParaRPr lang="en-US" sz="4800" b="1" dirty="0">
              <a:solidFill>
                <a:srgbClr val="00823B"/>
              </a:solidFill>
            </a:endParaRPr>
          </a:p>
        </p:txBody>
      </p:sp>
      <p:sp>
        <p:nvSpPr>
          <p:cNvPr id="3" name="Subtitle 2"/>
          <p:cNvSpPr>
            <a:spLocks noGrp="1"/>
          </p:cNvSpPr>
          <p:nvPr>
            <p:ph type="subTitle" idx="1"/>
          </p:nvPr>
        </p:nvSpPr>
        <p:spPr>
          <a:xfrm>
            <a:off x="762000" y="3962400"/>
            <a:ext cx="6400800" cy="1752600"/>
          </a:xfrm>
        </p:spPr>
        <p:txBody>
          <a:bodyPr/>
          <a:lstStyle/>
          <a:p>
            <a:pPr algn="r"/>
            <a:r>
              <a:rPr lang="en-US" dirty="0" smtClean="0"/>
              <a:t>Introduction</a:t>
            </a:r>
          </a:p>
        </p:txBody>
      </p:sp>
    </p:spTree>
    <p:extLst>
      <p:ext uri="{BB962C8B-B14F-4D97-AF65-F5344CB8AC3E}">
        <p14:creationId xmlns:p14="http://schemas.microsoft.com/office/powerpoint/2010/main" val="56726252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4647C811-C279-48A3-ADE4-99DD34C362D1}" type="slidenum">
              <a:rPr lang="en-US" altLang="en-US"/>
              <a:pPr/>
              <a:t>3</a:t>
            </a:fld>
            <a:endParaRPr lang="en-US" altLang="en-US"/>
          </a:p>
        </p:txBody>
      </p:sp>
      <p:sp>
        <p:nvSpPr>
          <p:cNvPr id="167938" name="Rectangle 2"/>
          <p:cNvSpPr>
            <a:spLocks noGrp="1" noChangeArrowheads="1"/>
          </p:cNvSpPr>
          <p:nvPr>
            <p:ph type="title"/>
          </p:nvPr>
        </p:nvSpPr>
        <p:spPr/>
        <p:txBody>
          <a:bodyPr>
            <a:normAutofit fontScale="90000"/>
          </a:bodyPr>
          <a:lstStyle/>
          <a:p>
            <a:r>
              <a:rPr lang="en-US" altLang="en-US" dirty="0" smtClean="0"/>
              <a:t>Main Issues Related </a:t>
            </a:r>
            <a:r>
              <a:rPr lang="en-US" altLang="en-US" dirty="0"/>
              <a:t>to </a:t>
            </a:r>
            <a:r>
              <a:rPr lang="en-US" altLang="en-US" dirty="0" smtClean="0"/>
              <a:t>Algorithms</a:t>
            </a:r>
            <a:endParaRPr lang="en-US" altLang="en-US" dirty="0"/>
          </a:p>
        </p:txBody>
      </p:sp>
      <p:sp>
        <p:nvSpPr>
          <p:cNvPr id="167939" name="Rectangle 3"/>
          <p:cNvSpPr>
            <a:spLocks noGrp="1" noChangeArrowheads="1"/>
          </p:cNvSpPr>
          <p:nvPr>
            <p:ph type="body" idx="1"/>
          </p:nvPr>
        </p:nvSpPr>
        <p:spPr/>
        <p:txBody>
          <a:bodyPr/>
          <a:lstStyle/>
          <a:p>
            <a:endParaRPr lang="en-US" altLang="en-US" sz="2800" dirty="0" smtClean="0"/>
          </a:p>
          <a:p>
            <a:r>
              <a:rPr lang="en-US" altLang="en-US" sz="2800" b="1" dirty="0" smtClean="0">
                <a:solidFill>
                  <a:srgbClr val="00823B"/>
                </a:solidFill>
              </a:rPr>
              <a:t>How </a:t>
            </a:r>
            <a:r>
              <a:rPr lang="en-US" altLang="en-US" sz="2800" b="1" dirty="0">
                <a:solidFill>
                  <a:srgbClr val="00823B"/>
                </a:solidFill>
              </a:rPr>
              <a:t>to analyze algorithm efficiency</a:t>
            </a:r>
          </a:p>
          <a:p>
            <a:endParaRPr lang="en-US" altLang="en-US" sz="2800" dirty="0" smtClean="0"/>
          </a:p>
          <a:p>
            <a:r>
              <a:rPr lang="en-US" altLang="en-US" sz="2800" dirty="0" smtClean="0">
                <a:solidFill>
                  <a:srgbClr val="0000FF"/>
                </a:solidFill>
              </a:rPr>
              <a:t>How </a:t>
            </a:r>
            <a:r>
              <a:rPr lang="en-US" altLang="en-US" sz="2800" dirty="0">
                <a:solidFill>
                  <a:srgbClr val="0000FF"/>
                </a:solidFill>
              </a:rPr>
              <a:t>to design </a:t>
            </a:r>
            <a:r>
              <a:rPr lang="en-US" altLang="en-US" sz="2800" dirty="0" smtClean="0">
                <a:solidFill>
                  <a:srgbClr val="0000FF"/>
                </a:solidFill>
              </a:rPr>
              <a:t>algorithms</a:t>
            </a:r>
            <a:endParaRPr lang="en-US" altLang="en-US" sz="2800" dirty="0">
              <a:solidFill>
                <a:srgbClr val="0000FF"/>
              </a:solidFill>
            </a:endParaRPr>
          </a:p>
          <a:p>
            <a:endParaRPr lang="en-US" altLang="en-US" sz="2800" dirty="0"/>
          </a:p>
          <a:p>
            <a:endParaRPr lang="en-US" altLang="en-US" sz="2800" dirty="0"/>
          </a:p>
          <a:p>
            <a:endParaRPr lang="en-US" altLang="en-US" dirty="0"/>
          </a:p>
        </p:txBody>
      </p:sp>
    </p:spTree>
    <p:extLst>
      <p:ext uri="{BB962C8B-B14F-4D97-AF65-F5344CB8AC3E}">
        <p14:creationId xmlns:p14="http://schemas.microsoft.com/office/powerpoint/2010/main" val="4064745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7939">
                                            <p:txEl>
                                              <p:pRg st="1" end="1"/>
                                            </p:txEl>
                                          </p:spTgt>
                                        </p:tgtEl>
                                        <p:attrNameLst>
                                          <p:attrName>style.visibility</p:attrName>
                                        </p:attrNameLst>
                                      </p:cBhvr>
                                      <p:to>
                                        <p:strVal val="visible"/>
                                      </p:to>
                                    </p:set>
                                    <p:anim calcmode="lin" valueType="num">
                                      <p:cBhvr additive="base">
                                        <p:cTn id="7" dur="500" fill="hold"/>
                                        <p:tgtEl>
                                          <p:spTgt spid="167939">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793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67939">
                                            <p:txEl>
                                              <p:pRg st="3" end="3"/>
                                            </p:txEl>
                                          </p:spTgt>
                                        </p:tgtEl>
                                        <p:attrNameLst>
                                          <p:attrName>style.visibility</p:attrName>
                                        </p:attrNameLst>
                                      </p:cBhvr>
                                      <p:to>
                                        <p:strVal val="visible"/>
                                      </p:to>
                                    </p:set>
                                    <p:anim calcmode="lin" valueType="num">
                                      <p:cBhvr additive="base">
                                        <p:cTn id="13" dur="500" fill="hold"/>
                                        <p:tgtEl>
                                          <p:spTgt spid="167939">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67939">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648B9030-B296-4C28-AB91-0AA9A1B46524}" type="slidenum">
              <a:rPr lang="en-US" altLang="en-US"/>
              <a:pPr/>
              <a:t>4</a:t>
            </a:fld>
            <a:endParaRPr lang="en-US" altLang="en-US"/>
          </a:p>
        </p:txBody>
      </p:sp>
      <p:sp>
        <p:nvSpPr>
          <p:cNvPr id="215042" name="Rectangle 2"/>
          <p:cNvSpPr>
            <a:spLocks noGrp="1" noChangeArrowheads="1"/>
          </p:cNvSpPr>
          <p:nvPr>
            <p:ph type="title"/>
          </p:nvPr>
        </p:nvSpPr>
        <p:spPr>
          <a:xfrm>
            <a:off x="914400" y="990600"/>
            <a:ext cx="6248400" cy="1143000"/>
          </a:xfrm>
        </p:spPr>
        <p:txBody>
          <a:bodyPr/>
          <a:lstStyle/>
          <a:p>
            <a:r>
              <a:rPr lang="en-US" altLang="en-US" dirty="0"/>
              <a:t>Important </a:t>
            </a:r>
            <a:r>
              <a:rPr lang="en-US" altLang="en-US" dirty="0" smtClean="0"/>
              <a:t>Problem Types</a:t>
            </a:r>
            <a:endParaRPr lang="en-US" altLang="en-US" dirty="0"/>
          </a:p>
        </p:txBody>
      </p:sp>
      <p:sp>
        <p:nvSpPr>
          <p:cNvPr id="215043" name="Rectangle 3"/>
          <p:cNvSpPr>
            <a:spLocks noGrp="1" noChangeArrowheads="1"/>
          </p:cNvSpPr>
          <p:nvPr>
            <p:ph type="body" idx="1"/>
          </p:nvPr>
        </p:nvSpPr>
        <p:spPr>
          <a:xfrm>
            <a:off x="609600" y="2057400"/>
            <a:ext cx="6553200" cy="4191000"/>
          </a:xfrm>
        </p:spPr>
        <p:txBody>
          <a:bodyPr>
            <a:normAutofit fontScale="92500" lnSpcReduction="20000"/>
          </a:bodyPr>
          <a:lstStyle/>
          <a:p>
            <a:pPr>
              <a:lnSpc>
                <a:spcPct val="90000"/>
              </a:lnSpc>
            </a:pPr>
            <a:r>
              <a:rPr lang="en-US" altLang="en-US" dirty="0"/>
              <a:t>S</a:t>
            </a:r>
            <a:r>
              <a:rPr lang="en-US" altLang="en-US" dirty="0" smtClean="0"/>
              <a:t>orting</a:t>
            </a:r>
            <a:r>
              <a:rPr lang="en-US" altLang="en-US" dirty="0"/>
              <a:t/>
            </a:r>
            <a:br>
              <a:rPr lang="en-US" altLang="en-US" dirty="0"/>
            </a:br>
            <a:endParaRPr lang="en-US" altLang="en-US" dirty="0"/>
          </a:p>
          <a:p>
            <a:pPr>
              <a:lnSpc>
                <a:spcPct val="90000"/>
              </a:lnSpc>
            </a:pPr>
            <a:r>
              <a:rPr lang="en-US" altLang="en-US" dirty="0"/>
              <a:t>S</a:t>
            </a:r>
            <a:r>
              <a:rPr lang="en-US" altLang="en-US" dirty="0" smtClean="0"/>
              <a:t>earching</a:t>
            </a:r>
            <a:r>
              <a:rPr lang="en-US" altLang="en-US" dirty="0"/>
              <a:t/>
            </a:r>
            <a:br>
              <a:rPr lang="en-US" altLang="en-US" dirty="0"/>
            </a:br>
            <a:endParaRPr lang="en-US" altLang="en-US" dirty="0"/>
          </a:p>
          <a:p>
            <a:pPr>
              <a:lnSpc>
                <a:spcPct val="90000"/>
              </a:lnSpc>
            </a:pPr>
            <a:r>
              <a:rPr lang="en-US" altLang="en-US" dirty="0"/>
              <a:t>S</a:t>
            </a:r>
            <a:r>
              <a:rPr lang="en-US" altLang="en-US" dirty="0" smtClean="0"/>
              <a:t>tring </a:t>
            </a:r>
            <a:r>
              <a:rPr lang="en-US" altLang="en-US" dirty="0"/>
              <a:t>processing</a:t>
            </a:r>
            <a:br>
              <a:rPr lang="en-US" altLang="en-US" dirty="0"/>
            </a:br>
            <a:endParaRPr lang="en-US" altLang="en-US" dirty="0"/>
          </a:p>
          <a:p>
            <a:pPr>
              <a:lnSpc>
                <a:spcPct val="90000"/>
              </a:lnSpc>
            </a:pPr>
            <a:r>
              <a:rPr lang="en-US" altLang="en-US" dirty="0"/>
              <a:t>G</a:t>
            </a:r>
            <a:r>
              <a:rPr lang="en-US" altLang="en-US" dirty="0" smtClean="0"/>
              <a:t>raph </a:t>
            </a:r>
            <a:r>
              <a:rPr lang="en-US" altLang="en-US" dirty="0"/>
              <a:t>problems</a:t>
            </a:r>
            <a:br>
              <a:rPr lang="en-US" altLang="en-US" dirty="0"/>
            </a:br>
            <a:endParaRPr lang="en-US" altLang="en-US" dirty="0"/>
          </a:p>
          <a:p>
            <a:pPr>
              <a:lnSpc>
                <a:spcPct val="80000"/>
              </a:lnSpc>
            </a:pPr>
            <a:r>
              <a:rPr lang="en-US" altLang="en-US" dirty="0"/>
              <a:t>G</a:t>
            </a:r>
            <a:r>
              <a:rPr lang="en-US" altLang="en-US" dirty="0" smtClean="0"/>
              <a:t>eometric </a:t>
            </a:r>
            <a:r>
              <a:rPr lang="en-US" altLang="en-US" dirty="0"/>
              <a:t>problems</a:t>
            </a:r>
            <a:br>
              <a:rPr lang="en-US" altLang="en-US" dirty="0"/>
            </a:br>
            <a:endParaRPr lang="en-US" altLang="en-US" dirty="0"/>
          </a:p>
          <a:p>
            <a:pPr>
              <a:lnSpc>
                <a:spcPct val="80000"/>
              </a:lnSpc>
            </a:pPr>
            <a:r>
              <a:rPr lang="en-US" altLang="en-US" dirty="0"/>
              <a:t>N</a:t>
            </a:r>
            <a:r>
              <a:rPr lang="en-US" altLang="en-US" dirty="0" smtClean="0"/>
              <a:t>umerical problems ………..</a:t>
            </a:r>
          </a:p>
          <a:p>
            <a:pPr marL="0" indent="0">
              <a:lnSpc>
                <a:spcPct val="80000"/>
              </a:lnSpc>
              <a:buNone/>
            </a:pPr>
            <a:endParaRPr lang="en-US" altLang="en-US" dirty="0"/>
          </a:p>
        </p:txBody>
      </p:sp>
    </p:spTree>
    <p:extLst>
      <p:ext uri="{BB962C8B-B14F-4D97-AF65-F5344CB8AC3E}">
        <p14:creationId xmlns:p14="http://schemas.microsoft.com/office/powerpoint/2010/main" val="4260938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15043">
                                            <p:txEl>
                                              <p:pRg st="0" end="0"/>
                                            </p:txEl>
                                          </p:spTgt>
                                        </p:tgtEl>
                                        <p:attrNameLst>
                                          <p:attrName>style.visibility</p:attrName>
                                        </p:attrNameLst>
                                      </p:cBhvr>
                                      <p:to>
                                        <p:strVal val="visible"/>
                                      </p:to>
                                    </p:set>
                                    <p:anim calcmode="lin" valueType="num">
                                      <p:cBhvr additive="base">
                                        <p:cTn id="7" dur="500" fill="hold"/>
                                        <p:tgtEl>
                                          <p:spTgt spid="21504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1504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15043">
                                            <p:txEl>
                                              <p:pRg st="1" end="1"/>
                                            </p:txEl>
                                          </p:spTgt>
                                        </p:tgtEl>
                                        <p:attrNameLst>
                                          <p:attrName>style.visibility</p:attrName>
                                        </p:attrNameLst>
                                      </p:cBhvr>
                                      <p:to>
                                        <p:strVal val="visible"/>
                                      </p:to>
                                    </p:set>
                                    <p:anim calcmode="lin" valueType="num">
                                      <p:cBhvr additive="base">
                                        <p:cTn id="13" dur="500" fill="hold"/>
                                        <p:tgtEl>
                                          <p:spTgt spid="21504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1504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15043">
                                            <p:txEl>
                                              <p:pRg st="2" end="2"/>
                                            </p:txEl>
                                          </p:spTgt>
                                        </p:tgtEl>
                                        <p:attrNameLst>
                                          <p:attrName>style.visibility</p:attrName>
                                        </p:attrNameLst>
                                      </p:cBhvr>
                                      <p:to>
                                        <p:strVal val="visible"/>
                                      </p:to>
                                    </p:set>
                                    <p:anim calcmode="lin" valueType="num">
                                      <p:cBhvr additive="base">
                                        <p:cTn id="19" dur="500" fill="hold"/>
                                        <p:tgtEl>
                                          <p:spTgt spid="21504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1504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15043">
                                            <p:txEl>
                                              <p:pRg st="3" end="3"/>
                                            </p:txEl>
                                          </p:spTgt>
                                        </p:tgtEl>
                                        <p:attrNameLst>
                                          <p:attrName>style.visibility</p:attrName>
                                        </p:attrNameLst>
                                      </p:cBhvr>
                                      <p:to>
                                        <p:strVal val="visible"/>
                                      </p:to>
                                    </p:set>
                                    <p:anim calcmode="lin" valueType="num">
                                      <p:cBhvr additive="base">
                                        <p:cTn id="25" dur="500" fill="hold"/>
                                        <p:tgtEl>
                                          <p:spTgt spid="21504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1504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15043">
                                            <p:txEl>
                                              <p:pRg st="4" end="4"/>
                                            </p:txEl>
                                          </p:spTgt>
                                        </p:tgtEl>
                                        <p:attrNameLst>
                                          <p:attrName>style.visibility</p:attrName>
                                        </p:attrNameLst>
                                      </p:cBhvr>
                                      <p:to>
                                        <p:strVal val="visible"/>
                                      </p:to>
                                    </p:set>
                                    <p:anim calcmode="lin" valueType="num">
                                      <p:cBhvr additive="base">
                                        <p:cTn id="31" dur="500" fill="hold"/>
                                        <p:tgtEl>
                                          <p:spTgt spid="21504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1504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15043">
                                            <p:txEl>
                                              <p:pRg st="5" end="5"/>
                                            </p:txEl>
                                          </p:spTgt>
                                        </p:tgtEl>
                                        <p:attrNameLst>
                                          <p:attrName>style.visibility</p:attrName>
                                        </p:attrNameLst>
                                      </p:cBhvr>
                                      <p:to>
                                        <p:strVal val="visible"/>
                                      </p:to>
                                    </p:set>
                                    <p:anim calcmode="lin" valueType="num">
                                      <p:cBhvr additive="base">
                                        <p:cTn id="37" dur="500" fill="hold"/>
                                        <p:tgtEl>
                                          <p:spTgt spid="21504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1504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4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6"/>
          <p:cNvSpPr>
            <a:spLocks noGrp="1"/>
          </p:cNvSpPr>
          <p:nvPr>
            <p:ph type="sldNum" sz="quarter" idx="12"/>
          </p:nvPr>
        </p:nvSpPr>
        <p:spPr/>
        <p:txBody>
          <a:bodyPr/>
          <a:lstStyle/>
          <a:p>
            <a:fld id="{295E2B53-9FB8-4CBD-9785-72D6D796CAC3}" type="slidenum">
              <a:rPr lang="en-US" altLang="en-US"/>
              <a:pPr/>
              <a:t>5</a:t>
            </a:fld>
            <a:endParaRPr lang="en-US" altLang="en-US"/>
          </a:p>
        </p:txBody>
      </p:sp>
      <p:sp>
        <p:nvSpPr>
          <p:cNvPr id="166914" name="Rectangle 2"/>
          <p:cNvSpPr>
            <a:spLocks noGrp="1" noChangeArrowheads="1"/>
          </p:cNvSpPr>
          <p:nvPr>
            <p:ph type="title"/>
          </p:nvPr>
        </p:nvSpPr>
        <p:spPr>
          <a:xfrm>
            <a:off x="457200" y="1143000"/>
            <a:ext cx="8094518" cy="685800"/>
          </a:xfrm>
        </p:spPr>
        <p:txBody>
          <a:bodyPr>
            <a:normAutofit/>
          </a:bodyPr>
          <a:lstStyle/>
          <a:p>
            <a:pPr algn="l"/>
            <a:r>
              <a:rPr lang="en-US" altLang="en-US" sz="3200" b="1" dirty="0"/>
              <a:t>Algorithm  </a:t>
            </a:r>
            <a:r>
              <a:rPr lang="en-US" altLang="en-US" sz="3200" b="1" dirty="0" smtClean="0"/>
              <a:t>Design Techniques/Strategies</a:t>
            </a:r>
            <a:endParaRPr lang="en-US" altLang="en-US" sz="3200" b="1" dirty="0"/>
          </a:p>
        </p:txBody>
      </p:sp>
      <p:sp>
        <p:nvSpPr>
          <p:cNvPr id="166915" name="Rectangle 3"/>
          <p:cNvSpPr>
            <a:spLocks noGrp="1" noChangeArrowheads="1"/>
          </p:cNvSpPr>
          <p:nvPr>
            <p:ph type="body" sz="half" idx="1"/>
          </p:nvPr>
        </p:nvSpPr>
        <p:spPr>
          <a:xfrm>
            <a:off x="588818" y="2389909"/>
            <a:ext cx="3810000" cy="3962400"/>
          </a:xfrm>
        </p:spPr>
        <p:txBody>
          <a:bodyPr>
            <a:normAutofit fontScale="92500" lnSpcReduction="20000"/>
          </a:bodyPr>
          <a:lstStyle/>
          <a:p>
            <a:r>
              <a:rPr lang="en-US" altLang="en-US" dirty="0"/>
              <a:t>Brute force</a:t>
            </a:r>
          </a:p>
          <a:p>
            <a:endParaRPr lang="en-US" altLang="en-US" dirty="0"/>
          </a:p>
          <a:p>
            <a:r>
              <a:rPr lang="en-US" altLang="en-US" dirty="0"/>
              <a:t>Divide and conquer</a:t>
            </a:r>
          </a:p>
          <a:p>
            <a:endParaRPr lang="en-US" altLang="en-US" dirty="0"/>
          </a:p>
          <a:p>
            <a:r>
              <a:rPr lang="en-US" altLang="en-US" dirty="0"/>
              <a:t>Decrease and conquer</a:t>
            </a:r>
          </a:p>
          <a:p>
            <a:endParaRPr lang="en-US" altLang="en-US" dirty="0"/>
          </a:p>
          <a:p>
            <a:r>
              <a:rPr lang="en-US" altLang="en-US" dirty="0"/>
              <a:t>Transform and conquer</a:t>
            </a:r>
            <a:br>
              <a:rPr lang="en-US" altLang="en-US" dirty="0"/>
            </a:br>
            <a:endParaRPr lang="en-US" altLang="en-US" dirty="0"/>
          </a:p>
          <a:p>
            <a:r>
              <a:rPr lang="en-US" altLang="en-US" dirty="0"/>
              <a:t>Space and time tradeoffs</a:t>
            </a:r>
          </a:p>
          <a:p>
            <a:endParaRPr lang="en-US" altLang="en-US" dirty="0"/>
          </a:p>
          <a:p>
            <a:endParaRPr lang="en-US" altLang="en-US" sz="2000" dirty="0"/>
          </a:p>
        </p:txBody>
      </p:sp>
      <p:sp>
        <p:nvSpPr>
          <p:cNvPr id="7" name="Rectangle 3"/>
          <p:cNvSpPr txBox="1">
            <a:spLocks noChangeArrowheads="1"/>
          </p:cNvSpPr>
          <p:nvPr/>
        </p:nvSpPr>
        <p:spPr>
          <a:xfrm>
            <a:off x="4191000" y="2389909"/>
            <a:ext cx="3810000" cy="3962400"/>
          </a:xfrm>
          <a:prstGeom prst="rect">
            <a:avLst/>
          </a:prstGeom>
        </p:spPr>
        <p:txBody>
          <a:bodyPr vert="horz" lIns="91440" tIns="45720" rIns="91440" bIns="45720" rtlCol="0">
            <a:normAutofit fontScale="92500" lnSpcReduction="10000"/>
          </a:bodyPr>
          <a:lstStyle>
            <a:lvl1pPr marL="342900" indent="-342900" algn="l" defTabSz="914400" rtl="0" eaLnBrk="1" latinLnBrk="0" hangingPunct="1">
              <a:spcBef>
                <a:spcPct val="20000"/>
              </a:spcBef>
              <a:buClr>
                <a:srgbClr val="00823B"/>
              </a:buClr>
              <a:buFont typeface="Arial" panose="020B0604020202020204"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Clr>
                <a:srgbClr val="00823B"/>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Clr>
                <a:srgbClr val="00823B"/>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Clr>
                <a:srgbClr val="00823B"/>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rgbClr val="00823B"/>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9pPr>
          </a:lstStyle>
          <a:p>
            <a:r>
              <a:rPr lang="en-US" altLang="en-US" dirty="0" smtClean="0"/>
              <a:t>Greedy Approach</a:t>
            </a:r>
          </a:p>
          <a:p>
            <a:endParaRPr lang="en-US" altLang="en-US" dirty="0" smtClean="0"/>
          </a:p>
          <a:p>
            <a:r>
              <a:rPr lang="en-US" altLang="en-US" dirty="0" smtClean="0"/>
              <a:t>Dynamic Programming</a:t>
            </a:r>
          </a:p>
          <a:p>
            <a:endParaRPr lang="en-US" altLang="en-US" dirty="0" smtClean="0"/>
          </a:p>
          <a:p>
            <a:r>
              <a:rPr lang="en-US" altLang="en-US" dirty="0" smtClean="0"/>
              <a:t>Iterative Improvement</a:t>
            </a:r>
          </a:p>
          <a:p>
            <a:endParaRPr lang="en-US" altLang="en-US" dirty="0" smtClean="0"/>
          </a:p>
          <a:p>
            <a:r>
              <a:rPr lang="en-US" altLang="en-US" dirty="0" smtClean="0"/>
              <a:t>Backtracking</a:t>
            </a:r>
            <a:br>
              <a:rPr lang="en-US" altLang="en-US" dirty="0" smtClean="0"/>
            </a:br>
            <a:endParaRPr lang="en-US" altLang="en-US" dirty="0" smtClean="0"/>
          </a:p>
          <a:p>
            <a:r>
              <a:rPr lang="en-US" altLang="en-US" dirty="0" smtClean="0"/>
              <a:t>Branch and bound</a:t>
            </a:r>
          </a:p>
          <a:p>
            <a:endParaRPr lang="en-US" altLang="en-US" dirty="0" smtClean="0"/>
          </a:p>
          <a:p>
            <a:endParaRPr lang="en-US" altLang="en-US" sz="2000" dirty="0"/>
          </a:p>
        </p:txBody>
      </p:sp>
    </p:spTree>
    <p:extLst>
      <p:ext uri="{BB962C8B-B14F-4D97-AF65-F5344CB8AC3E}">
        <p14:creationId xmlns:p14="http://schemas.microsoft.com/office/powerpoint/2010/main" val="3542328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6915">
                                            <p:txEl>
                                              <p:pRg st="0" end="0"/>
                                            </p:txEl>
                                          </p:spTgt>
                                        </p:tgtEl>
                                        <p:attrNameLst>
                                          <p:attrName>style.visibility</p:attrName>
                                        </p:attrNameLst>
                                      </p:cBhvr>
                                      <p:to>
                                        <p:strVal val="visible"/>
                                      </p:to>
                                    </p:set>
                                    <p:anim calcmode="lin" valueType="num">
                                      <p:cBhvr additive="base">
                                        <p:cTn id="7" dur="500" fill="hold"/>
                                        <p:tgtEl>
                                          <p:spTgt spid="16691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691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66915">
                                            <p:txEl>
                                              <p:pRg st="2" end="2"/>
                                            </p:txEl>
                                          </p:spTgt>
                                        </p:tgtEl>
                                        <p:attrNameLst>
                                          <p:attrName>style.visibility</p:attrName>
                                        </p:attrNameLst>
                                      </p:cBhvr>
                                      <p:to>
                                        <p:strVal val="visible"/>
                                      </p:to>
                                    </p:set>
                                    <p:anim calcmode="lin" valueType="num">
                                      <p:cBhvr additive="base">
                                        <p:cTn id="13" dur="500" fill="hold"/>
                                        <p:tgtEl>
                                          <p:spTgt spid="16691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6691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66915">
                                            <p:txEl>
                                              <p:pRg st="4" end="4"/>
                                            </p:txEl>
                                          </p:spTgt>
                                        </p:tgtEl>
                                        <p:attrNameLst>
                                          <p:attrName>style.visibility</p:attrName>
                                        </p:attrNameLst>
                                      </p:cBhvr>
                                      <p:to>
                                        <p:strVal val="visible"/>
                                      </p:to>
                                    </p:set>
                                    <p:anim calcmode="lin" valueType="num">
                                      <p:cBhvr additive="base">
                                        <p:cTn id="19" dur="500" fill="hold"/>
                                        <p:tgtEl>
                                          <p:spTgt spid="166915">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6691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66915">
                                            <p:txEl>
                                              <p:pRg st="6" end="6"/>
                                            </p:txEl>
                                          </p:spTgt>
                                        </p:tgtEl>
                                        <p:attrNameLst>
                                          <p:attrName>style.visibility</p:attrName>
                                        </p:attrNameLst>
                                      </p:cBhvr>
                                      <p:to>
                                        <p:strVal val="visible"/>
                                      </p:to>
                                    </p:set>
                                    <p:anim calcmode="lin" valueType="num">
                                      <p:cBhvr additive="base">
                                        <p:cTn id="25" dur="500" fill="hold"/>
                                        <p:tgtEl>
                                          <p:spTgt spid="166915">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6691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66915">
                                            <p:txEl>
                                              <p:pRg st="7" end="7"/>
                                            </p:txEl>
                                          </p:spTgt>
                                        </p:tgtEl>
                                        <p:attrNameLst>
                                          <p:attrName>style.visibility</p:attrName>
                                        </p:attrNameLst>
                                      </p:cBhvr>
                                      <p:to>
                                        <p:strVal val="visible"/>
                                      </p:to>
                                    </p:set>
                                    <p:anim calcmode="lin" valueType="num">
                                      <p:cBhvr additive="base">
                                        <p:cTn id="31" dur="500" fill="hold"/>
                                        <p:tgtEl>
                                          <p:spTgt spid="166915">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66915">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7"/>
                                        </p:tgtEl>
                                        <p:attrNameLst>
                                          <p:attrName>style.visibility</p:attrName>
                                        </p:attrNameLst>
                                      </p:cBhvr>
                                      <p:to>
                                        <p:strVal val="visible"/>
                                      </p:to>
                                    </p:set>
                                    <p:anim calcmode="lin" valueType="num">
                                      <p:cBhvr additive="base">
                                        <p:cTn id="37" dur="500" fill="hold"/>
                                        <p:tgtEl>
                                          <p:spTgt spid="7"/>
                                        </p:tgtEl>
                                        <p:attrNameLst>
                                          <p:attrName>ppt_x</p:attrName>
                                        </p:attrNameLst>
                                      </p:cBhvr>
                                      <p:tavLst>
                                        <p:tav tm="0">
                                          <p:val>
                                            <p:strVal val="#ppt_x"/>
                                          </p:val>
                                        </p:tav>
                                        <p:tav tm="100000">
                                          <p:val>
                                            <p:strVal val="#ppt_x"/>
                                          </p:val>
                                        </p:tav>
                                      </p:tavLst>
                                    </p:anim>
                                    <p:anim calcmode="lin" valueType="num">
                                      <p:cBhvr additive="base">
                                        <p:cTn id="3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915" grpId="0" build="p"/>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6"/>
          <p:cNvSpPr>
            <a:spLocks noGrp="1"/>
          </p:cNvSpPr>
          <p:nvPr>
            <p:ph type="sldNum" sz="quarter" idx="12"/>
          </p:nvPr>
        </p:nvSpPr>
        <p:spPr/>
        <p:txBody>
          <a:bodyPr/>
          <a:lstStyle/>
          <a:p>
            <a:fld id="{295E2B53-9FB8-4CBD-9785-72D6D796CAC3}" type="slidenum">
              <a:rPr lang="en-US" altLang="en-US"/>
              <a:pPr/>
              <a:t>6</a:t>
            </a:fld>
            <a:endParaRPr lang="en-US" altLang="en-US"/>
          </a:p>
        </p:txBody>
      </p:sp>
      <p:sp>
        <p:nvSpPr>
          <p:cNvPr id="166914" name="Rectangle 2"/>
          <p:cNvSpPr>
            <a:spLocks noGrp="1" noChangeArrowheads="1"/>
          </p:cNvSpPr>
          <p:nvPr>
            <p:ph type="title"/>
          </p:nvPr>
        </p:nvSpPr>
        <p:spPr>
          <a:xfrm>
            <a:off x="457200" y="1143000"/>
            <a:ext cx="8094518" cy="685800"/>
          </a:xfrm>
        </p:spPr>
        <p:txBody>
          <a:bodyPr>
            <a:normAutofit/>
          </a:bodyPr>
          <a:lstStyle/>
          <a:p>
            <a:pPr algn="l"/>
            <a:r>
              <a:rPr lang="en-US" altLang="en-US" sz="3200" b="1" dirty="0"/>
              <a:t>Algorithm  </a:t>
            </a:r>
            <a:r>
              <a:rPr lang="en-US" altLang="en-US" sz="3200" b="1" dirty="0" smtClean="0"/>
              <a:t>Design Techniques/Strategies</a:t>
            </a:r>
            <a:endParaRPr lang="en-US" altLang="en-US" sz="3200" b="1" dirty="0"/>
          </a:p>
        </p:txBody>
      </p:sp>
      <p:sp>
        <p:nvSpPr>
          <p:cNvPr id="166915" name="Rectangle 3"/>
          <p:cNvSpPr>
            <a:spLocks noGrp="1" noChangeArrowheads="1"/>
          </p:cNvSpPr>
          <p:nvPr>
            <p:ph type="body" sz="half" idx="1"/>
          </p:nvPr>
        </p:nvSpPr>
        <p:spPr>
          <a:xfrm>
            <a:off x="588818" y="2389909"/>
            <a:ext cx="3810000" cy="3962400"/>
          </a:xfrm>
        </p:spPr>
        <p:txBody>
          <a:bodyPr>
            <a:normAutofit fontScale="92500" lnSpcReduction="20000"/>
          </a:bodyPr>
          <a:lstStyle/>
          <a:p>
            <a:r>
              <a:rPr lang="en-US" altLang="en-US" dirty="0">
                <a:solidFill>
                  <a:srgbClr val="0000FF"/>
                </a:solidFill>
              </a:rPr>
              <a:t>Brute force</a:t>
            </a:r>
          </a:p>
          <a:p>
            <a:endParaRPr lang="en-US" altLang="en-US" dirty="0">
              <a:solidFill>
                <a:srgbClr val="0000FF"/>
              </a:solidFill>
            </a:endParaRPr>
          </a:p>
          <a:p>
            <a:r>
              <a:rPr lang="en-US" altLang="en-US" dirty="0">
                <a:solidFill>
                  <a:srgbClr val="0000FF"/>
                </a:solidFill>
              </a:rPr>
              <a:t>Divide and conquer</a:t>
            </a:r>
          </a:p>
          <a:p>
            <a:endParaRPr lang="en-US" altLang="en-US" dirty="0">
              <a:solidFill>
                <a:srgbClr val="0000FF"/>
              </a:solidFill>
            </a:endParaRPr>
          </a:p>
          <a:p>
            <a:r>
              <a:rPr lang="en-US" altLang="en-US" dirty="0">
                <a:solidFill>
                  <a:srgbClr val="0000FF"/>
                </a:solidFill>
              </a:rPr>
              <a:t>Decrease and conquer</a:t>
            </a:r>
          </a:p>
          <a:p>
            <a:endParaRPr lang="en-US" altLang="en-US" dirty="0">
              <a:solidFill>
                <a:srgbClr val="0000FF"/>
              </a:solidFill>
            </a:endParaRPr>
          </a:p>
          <a:p>
            <a:r>
              <a:rPr lang="en-US" altLang="en-US" dirty="0">
                <a:solidFill>
                  <a:srgbClr val="0000FF"/>
                </a:solidFill>
              </a:rPr>
              <a:t>Transform and conquer</a:t>
            </a:r>
            <a:br>
              <a:rPr lang="en-US" altLang="en-US" dirty="0">
                <a:solidFill>
                  <a:srgbClr val="0000FF"/>
                </a:solidFill>
              </a:rPr>
            </a:br>
            <a:endParaRPr lang="en-US" altLang="en-US" dirty="0">
              <a:solidFill>
                <a:srgbClr val="0000FF"/>
              </a:solidFill>
            </a:endParaRPr>
          </a:p>
          <a:p>
            <a:r>
              <a:rPr lang="en-US" altLang="en-US" dirty="0">
                <a:solidFill>
                  <a:srgbClr val="0000FF"/>
                </a:solidFill>
              </a:rPr>
              <a:t>Space and time tradeoffs</a:t>
            </a:r>
          </a:p>
          <a:p>
            <a:endParaRPr lang="en-US" altLang="en-US" dirty="0"/>
          </a:p>
          <a:p>
            <a:endParaRPr lang="en-US" altLang="en-US" sz="2000" dirty="0"/>
          </a:p>
        </p:txBody>
      </p:sp>
      <p:sp>
        <p:nvSpPr>
          <p:cNvPr id="7" name="Rectangle 3"/>
          <p:cNvSpPr txBox="1">
            <a:spLocks noChangeArrowheads="1"/>
          </p:cNvSpPr>
          <p:nvPr/>
        </p:nvSpPr>
        <p:spPr>
          <a:xfrm>
            <a:off x="4191000" y="2389909"/>
            <a:ext cx="3810000" cy="3962400"/>
          </a:xfrm>
          <a:prstGeom prst="rect">
            <a:avLst/>
          </a:prstGeom>
        </p:spPr>
        <p:txBody>
          <a:bodyPr vert="horz" lIns="91440" tIns="45720" rIns="91440" bIns="45720" rtlCol="0">
            <a:normAutofit fontScale="92500" lnSpcReduction="10000"/>
          </a:bodyPr>
          <a:lstStyle>
            <a:lvl1pPr marL="342900" indent="-342900" algn="l" defTabSz="914400" rtl="0" eaLnBrk="1" latinLnBrk="0" hangingPunct="1">
              <a:spcBef>
                <a:spcPct val="20000"/>
              </a:spcBef>
              <a:buClr>
                <a:srgbClr val="00823B"/>
              </a:buClr>
              <a:buFont typeface="Arial" panose="020B0604020202020204"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Clr>
                <a:srgbClr val="00823B"/>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Clr>
                <a:srgbClr val="00823B"/>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Clr>
                <a:srgbClr val="00823B"/>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rgbClr val="00823B"/>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9pPr>
          </a:lstStyle>
          <a:p>
            <a:r>
              <a:rPr lang="en-US" altLang="en-US" dirty="0" smtClean="0"/>
              <a:t>Greedy Approach</a:t>
            </a:r>
          </a:p>
          <a:p>
            <a:endParaRPr lang="en-US" altLang="en-US" dirty="0" smtClean="0"/>
          </a:p>
          <a:p>
            <a:r>
              <a:rPr lang="en-US" altLang="en-US" dirty="0" smtClean="0"/>
              <a:t>Dynamic Programming</a:t>
            </a:r>
          </a:p>
          <a:p>
            <a:endParaRPr lang="en-US" altLang="en-US" dirty="0" smtClean="0"/>
          </a:p>
          <a:p>
            <a:r>
              <a:rPr lang="en-US" altLang="en-US" dirty="0" smtClean="0"/>
              <a:t>Iterative Improvement</a:t>
            </a:r>
          </a:p>
          <a:p>
            <a:endParaRPr lang="en-US" altLang="en-US" dirty="0" smtClean="0"/>
          </a:p>
          <a:p>
            <a:r>
              <a:rPr lang="en-US" altLang="en-US" dirty="0" smtClean="0"/>
              <a:t>Backtracking</a:t>
            </a:r>
            <a:br>
              <a:rPr lang="en-US" altLang="en-US" dirty="0" smtClean="0"/>
            </a:br>
            <a:endParaRPr lang="en-US" altLang="en-US" dirty="0" smtClean="0"/>
          </a:p>
          <a:p>
            <a:r>
              <a:rPr lang="en-US" altLang="en-US" dirty="0" smtClean="0"/>
              <a:t>Branch and bound</a:t>
            </a:r>
          </a:p>
          <a:p>
            <a:endParaRPr lang="en-US" altLang="en-US" dirty="0" smtClean="0"/>
          </a:p>
          <a:p>
            <a:endParaRPr lang="en-US" altLang="en-US" sz="2000" dirty="0"/>
          </a:p>
        </p:txBody>
      </p:sp>
    </p:spTree>
    <p:extLst>
      <p:ext uri="{BB962C8B-B14F-4D97-AF65-F5344CB8AC3E}">
        <p14:creationId xmlns:p14="http://schemas.microsoft.com/office/powerpoint/2010/main" val="332522983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9126" y="1946943"/>
            <a:ext cx="6705600" cy="2003425"/>
          </a:xfrm>
        </p:spPr>
        <p:txBody>
          <a:bodyPr>
            <a:noAutofit/>
          </a:bodyPr>
          <a:lstStyle/>
          <a:p>
            <a:r>
              <a:rPr lang="en-US" sz="6000" b="1" dirty="0" smtClean="0">
                <a:solidFill>
                  <a:srgbClr val="00823B"/>
                </a:solidFill>
              </a:rPr>
              <a:t>Brute Force Algorithms</a:t>
            </a:r>
            <a:endParaRPr lang="en-US" sz="4800" b="1" dirty="0">
              <a:solidFill>
                <a:srgbClr val="00823B"/>
              </a:solidFill>
            </a:endParaRPr>
          </a:p>
        </p:txBody>
      </p:sp>
      <p:sp>
        <p:nvSpPr>
          <p:cNvPr id="3" name="Subtitle 2"/>
          <p:cNvSpPr>
            <a:spLocks noGrp="1"/>
          </p:cNvSpPr>
          <p:nvPr>
            <p:ph type="subTitle" idx="1"/>
          </p:nvPr>
        </p:nvSpPr>
        <p:spPr>
          <a:xfrm>
            <a:off x="762000" y="3962400"/>
            <a:ext cx="6400800" cy="1752600"/>
          </a:xfrm>
        </p:spPr>
        <p:txBody>
          <a:bodyPr/>
          <a:lstStyle/>
          <a:p>
            <a:pPr algn="r"/>
            <a:r>
              <a:rPr lang="en-US" dirty="0" smtClean="0"/>
              <a:t>Introduction</a:t>
            </a:r>
          </a:p>
        </p:txBody>
      </p:sp>
    </p:spTree>
    <p:extLst>
      <p:ext uri="{BB962C8B-B14F-4D97-AF65-F5344CB8AC3E}">
        <p14:creationId xmlns:p14="http://schemas.microsoft.com/office/powerpoint/2010/main" val="231977843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smtClean="0">
                <a:solidFill>
                  <a:srgbClr val="00823B"/>
                </a:solidFill>
              </a:rPr>
              <a:t>Introduction</a:t>
            </a:r>
            <a:endParaRPr lang="en-US" b="1" dirty="0">
              <a:solidFill>
                <a:srgbClr val="00823B"/>
              </a:solidFill>
            </a:endParaRPr>
          </a:p>
        </p:txBody>
      </p:sp>
      <p:sp>
        <p:nvSpPr>
          <p:cNvPr id="3" name="Content Placeholder 2"/>
          <p:cNvSpPr>
            <a:spLocks noGrp="1"/>
          </p:cNvSpPr>
          <p:nvPr>
            <p:ph idx="1"/>
          </p:nvPr>
        </p:nvSpPr>
        <p:spPr/>
        <p:txBody>
          <a:bodyPr>
            <a:normAutofit/>
          </a:bodyPr>
          <a:lstStyle/>
          <a:p>
            <a:pPr algn="just"/>
            <a:r>
              <a:rPr lang="en-US" dirty="0" smtClean="0"/>
              <a:t>Literally</a:t>
            </a:r>
            <a:r>
              <a:rPr lang="en-US" dirty="0"/>
              <a:t> to </a:t>
            </a:r>
            <a:r>
              <a:rPr lang="en-US" dirty="0" smtClean="0"/>
              <a:t>mean</a:t>
            </a:r>
          </a:p>
          <a:p>
            <a:pPr lvl="1"/>
            <a:r>
              <a:rPr lang="en-US" dirty="0" smtClean="0"/>
              <a:t>exceptional</a:t>
            </a:r>
            <a:r>
              <a:rPr lang="en-US" dirty="0"/>
              <a:t> physical </a:t>
            </a:r>
            <a:r>
              <a:rPr lang="en-US" dirty="0" smtClean="0"/>
              <a:t>power  in</a:t>
            </a:r>
            <a:r>
              <a:rPr lang="en-US" dirty="0"/>
              <a:t> </a:t>
            </a:r>
            <a:r>
              <a:rPr lang="en-US" dirty="0" smtClean="0"/>
              <a:t>the figurative sense.</a:t>
            </a:r>
          </a:p>
          <a:p>
            <a:r>
              <a:rPr lang="en-US" dirty="0" smtClean="0"/>
              <a:t>The</a:t>
            </a:r>
            <a:r>
              <a:rPr lang="en-US" dirty="0"/>
              <a:t> </a:t>
            </a:r>
            <a:r>
              <a:rPr lang="en-US" dirty="0" smtClean="0"/>
              <a:t>origin</a:t>
            </a:r>
          </a:p>
          <a:p>
            <a:pPr lvl="1"/>
            <a:r>
              <a:rPr lang="en-US" dirty="0"/>
              <a:t> comes from Latin </a:t>
            </a:r>
            <a:r>
              <a:rPr lang="en-US" b="1" i="1" dirty="0" err="1" smtClean="0">
                <a:solidFill>
                  <a:srgbClr val="00823B"/>
                </a:solidFill>
              </a:rPr>
              <a:t>brutus</a:t>
            </a:r>
            <a:r>
              <a:rPr lang="en-US" dirty="0"/>
              <a:t>, for “</a:t>
            </a:r>
            <a:r>
              <a:rPr lang="en-US" dirty="0">
                <a:solidFill>
                  <a:srgbClr val="0000FF"/>
                </a:solidFill>
              </a:rPr>
              <a:t>heavy</a:t>
            </a:r>
            <a:r>
              <a:rPr lang="en-US" dirty="0"/>
              <a:t>, </a:t>
            </a:r>
            <a:r>
              <a:rPr lang="en-US" dirty="0">
                <a:solidFill>
                  <a:srgbClr val="0000FF"/>
                </a:solidFill>
              </a:rPr>
              <a:t>stupid</a:t>
            </a:r>
            <a:r>
              <a:rPr lang="en-US" dirty="0"/>
              <a:t>, </a:t>
            </a:r>
            <a:r>
              <a:rPr lang="en-US" dirty="0">
                <a:solidFill>
                  <a:srgbClr val="0000FF"/>
                </a:solidFill>
              </a:rPr>
              <a:t>unreasoning</a:t>
            </a:r>
            <a:r>
              <a:rPr lang="en-US" dirty="0"/>
              <a:t>.” </a:t>
            </a:r>
          </a:p>
        </p:txBody>
      </p:sp>
      <p:sp>
        <p:nvSpPr>
          <p:cNvPr id="4" name="Slide Number Placeholder 3"/>
          <p:cNvSpPr>
            <a:spLocks noGrp="1"/>
          </p:cNvSpPr>
          <p:nvPr>
            <p:ph type="sldNum" sz="quarter" idx="12"/>
          </p:nvPr>
        </p:nvSpPr>
        <p:spPr/>
        <p:txBody>
          <a:bodyPr/>
          <a:lstStyle/>
          <a:p>
            <a:fld id="{EFBA8F76-60DD-4F65-80ED-7968AD89E013}" type="slidenum">
              <a:rPr lang="en-US" smtClean="0"/>
              <a:t>8</a:t>
            </a:fld>
            <a:endParaRPr lang="en-US"/>
          </a:p>
        </p:txBody>
      </p:sp>
    </p:spTree>
    <p:extLst>
      <p:ext uri="{BB962C8B-B14F-4D97-AF65-F5344CB8AC3E}">
        <p14:creationId xmlns:p14="http://schemas.microsoft.com/office/powerpoint/2010/main" val="1462520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smtClean="0">
                <a:solidFill>
                  <a:srgbClr val="00823B"/>
                </a:solidFill>
              </a:rPr>
              <a:t>Introduction</a:t>
            </a:r>
            <a:endParaRPr lang="en-US" b="1" dirty="0">
              <a:solidFill>
                <a:srgbClr val="00823B"/>
              </a:solidFill>
            </a:endParaRPr>
          </a:p>
        </p:txBody>
      </p:sp>
      <p:sp>
        <p:nvSpPr>
          <p:cNvPr id="3" name="Content Placeholder 2"/>
          <p:cNvSpPr>
            <a:spLocks noGrp="1"/>
          </p:cNvSpPr>
          <p:nvPr>
            <p:ph idx="1"/>
          </p:nvPr>
        </p:nvSpPr>
        <p:spPr/>
        <p:txBody>
          <a:bodyPr/>
          <a:lstStyle/>
          <a:p>
            <a:pPr algn="just"/>
            <a:r>
              <a:rPr lang="en-US" b="1" dirty="0" smtClean="0">
                <a:solidFill>
                  <a:srgbClr val="0000FF"/>
                </a:solidFill>
              </a:rPr>
              <a:t>Relying </a:t>
            </a:r>
            <a:r>
              <a:rPr lang="en-US" b="1" dirty="0">
                <a:solidFill>
                  <a:srgbClr val="0000FF"/>
                </a:solidFill>
              </a:rPr>
              <a:t>on </a:t>
            </a:r>
            <a:r>
              <a:rPr lang="en-US" dirty="0"/>
              <a:t>or </a:t>
            </a:r>
            <a:r>
              <a:rPr lang="en-US" b="1" dirty="0">
                <a:solidFill>
                  <a:schemeClr val="accent6">
                    <a:lumMod val="75000"/>
                  </a:schemeClr>
                </a:solidFill>
              </a:rPr>
              <a:t>achieved through </a:t>
            </a:r>
            <a:r>
              <a:rPr lang="en-US" dirty="0"/>
              <a:t>the application of </a:t>
            </a:r>
            <a:r>
              <a:rPr lang="en-US" b="1" dirty="0">
                <a:solidFill>
                  <a:srgbClr val="0000FF"/>
                </a:solidFill>
              </a:rPr>
              <a:t>force</a:t>
            </a:r>
            <a:r>
              <a:rPr lang="en-US" dirty="0"/>
              <a:t>, effort, or power in usually </a:t>
            </a:r>
            <a:r>
              <a:rPr lang="en-US" b="1" dirty="0">
                <a:solidFill>
                  <a:srgbClr val="0000FF"/>
                </a:solidFill>
              </a:rPr>
              <a:t>large amounts </a:t>
            </a:r>
            <a:r>
              <a:rPr lang="en-US" b="1" dirty="0">
                <a:solidFill>
                  <a:srgbClr val="00823B"/>
                </a:solidFill>
              </a:rPr>
              <a:t>instead of </a:t>
            </a:r>
            <a:r>
              <a:rPr lang="en-US" dirty="0"/>
              <a:t>more </a:t>
            </a:r>
            <a:r>
              <a:rPr lang="en-US" b="1" dirty="0">
                <a:solidFill>
                  <a:srgbClr val="00823B"/>
                </a:solidFill>
              </a:rPr>
              <a:t>efficient</a:t>
            </a:r>
            <a:r>
              <a:rPr lang="en-US" dirty="0"/>
              <a:t>, </a:t>
            </a:r>
            <a:r>
              <a:rPr lang="en-US" b="1" dirty="0">
                <a:solidFill>
                  <a:srgbClr val="00823B"/>
                </a:solidFill>
              </a:rPr>
              <a:t>carefully planned</a:t>
            </a:r>
            <a:r>
              <a:rPr lang="en-US" dirty="0"/>
              <a:t>, or </a:t>
            </a:r>
            <a:r>
              <a:rPr lang="en-US" b="1" dirty="0">
                <a:solidFill>
                  <a:srgbClr val="00823B"/>
                </a:solidFill>
              </a:rPr>
              <a:t>precisely directed</a:t>
            </a:r>
            <a:r>
              <a:rPr lang="en-US" dirty="0"/>
              <a:t> methods</a:t>
            </a:r>
          </a:p>
        </p:txBody>
      </p:sp>
      <p:sp>
        <p:nvSpPr>
          <p:cNvPr id="4" name="Slide Number Placeholder 3"/>
          <p:cNvSpPr>
            <a:spLocks noGrp="1"/>
          </p:cNvSpPr>
          <p:nvPr>
            <p:ph type="sldNum" sz="quarter" idx="12"/>
          </p:nvPr>
        </p:nvSpPr>
        <p:spPr/>
        <p:txBody>
          <a:bodyPr/>
          <a:lstStyle/>
          <a:p>
            <a:fld id="{EFBA8F76-60DD-4F65-80ED-7968AD89E013}" type="slidenum">
              <a:rPr lang="en-US" smtClean="0"/>
              <a:t>9</a:t>
            </a:fld>
            <a:endParaRPr lang="en-US"/>
          </a:p>
        </p:txBody>
      </p:sp>
    </p:spTree>
    <p:extLst>
      <p:ext uri="{BB962C8B-B14F-4D97-AF65-F5344CB8AC3E}">
        <p14:creationId xmlns:p14="http://schemas.microsoft.com/office/powerpoint/2010/main" val="221382840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smtClean="0">
                <a:solidFill>
                  <a:srgbClr val="00823B"/>
                </a:solidFill>
              </a:rPr>
              <a:t>Introduction</a:t>
            </a:r>
            <a:endParaRPr lang="en-US" b="1" dirty="0">
              <a:solidFill>
                <a:srgbClr val="00823B"/>
              </a:solidFill>
            </a:endParaRPr>
          </a:p>
        </p:txBody>
      </p:sp>
      <p:sp>
        <p:nvSpPr>
          <p:cNvPr id="3" name="Content Placeholder 2"/>
          <p:cNvSpPr>
            <a:spLocks noGrp="1"/>
          </p:cNvSpPr>
          <p:nvPr>
            <p:ph idx="1"/>
          </p:nvPr>
        </p:nvSpPr>
        <p:spPr/>
        <p:txBody>
          <a:bodyPr>
            <a:normAutofit/>
          </a:bodyPr>
          <a:lstStyle/>
          <a:p>
            <a:pPr algn="just"/>
            <a:r>
              <a:rPr lang="en-US" dirty="0"/>
              <a:t>A straightforward approach, usually based directly on the </a:t>
            </a:r>
            <a:r>
              <a:rPr lang="en-US" b="1" dirty="0">
                <a:solidFill>
                  <a:srgbClr val="00823B"/>
                </a:solidFill>
              </a:rPr>
              <a:t>problem’s statement</a:t>
            </a:r>
            <a:r>
              <a:rPr lang="en-US" dirty="0"/>
              <a:t> and definitions of the </a:t>
            </a:r>
            <a:r>
              <a:rPr lang="en-US" b="1" dirty="0">
                <a:solidFill>
                  <a:srgbClr val="00823B"/>
                </a:solidFill>
              </a:rPr>
              <a:t>concepts</a:t>
            </a:r>
            <a:r>
              <a:rPr lang="en-US" dirty="0"/>
              <a:t> </a:t>
            </a:r>
            <a:r>
              <a:rPr lang="en-US" dirty="0" smtClean="0"/>
              <a:t>involved</a:t>
            </a:r>
          </a:p>
          <a:p>
            <a:pPr algn="just"/>
            <a:r>
              <a:rPr lang="en-US" dirty="0" smtClean="0"/>
              <a:t>Examples</a:t>
            </a:r>
          </a:p>
          <a:p>
            <a:pPr lvl="1" algn="just"/>
            <a:r>
              <a:rPr lang="en-US" dirty="0" smtClean="0"/>
              <a:t>a</a:t>
            </a:r>
            <a:r>
              <a:rPr lang="en-US" baseline="30000" dirty="0" smtClean="0"/>
              <a:t>n</a:t>
            </a:r>
            <a:r>
              <a:rPr lang="en-US" dirty="0" smtClean="0"/>
              <a:t>, n!, multiplying matrices, search</a:t>
            </a:r>
            <a:endParaRPr lang="en-US" dirty="0"/>
          </a:p>
        </p:txBody>
      </p:sp>
      <p:sp>
        <p:nvSpPr>
          <p:cNvPr id="4" name="Slide Number Placeholder 3"/>
          <p:cNvSpPr>
            <a:spLocks noGrp="1"/>
          </p:cNvSpPr>
          <p:nvPr>
            <p:ph type="sldNum" sz="quarter" idx="12"/>
          </p:nvPr>
        </p:nvSpPr>
        <p:spPr/>
        <p:txBody>
          <a:bodyPr/>
          <a:lstStyle/>
          <a:p>
            <a:fld id="{EFBA8F76-60DD-4F65-80ED-7968AD89E013}" type="slidenum">
              <a:rPr lang="en-US" smtClean="0"/>
              <a:t>10</a:t>
            </a:fld>
            <a:endParaRPr lang="en-US"/>
          </a:p>
        </p:txBody>
      </p:sp>
    </p:spTree>
    <p:extLst>
      <p:ext uri="{BB962C8B-B14F-4D97-AF65-F5344CB8AC3E}">
        <p14:creationId xmlns:p14="http://schemas.microsoft.com/office/powerpoint/2010/main" val="1034255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Max Number of 1’s</a:t>
            </a:r>
          </a:p>
        </p:txBody>
      </p:sp>
      <p:sp>
        <p:nvSpPr>
          <p:cNvPr id="3" name="Content Placeholder 2"/>
          <p:cNvSpPr>
            <a:spLocks noGrp="1"/>
          </p:cNvSpPr>
          <p:nvPr>
            <p:ph idx="1"/>
          </p:nvPr>
        </p:nvSpPr>
        <p:spPr/>
        <p:txBody>
          <a:bodyPr>
            <a:normAutofit fontScale="85000" lnSpcReduction="20000"/>
          </a:bodyPr>
          <a:lstStyle/>
          <a:p>
            <a:r>
              <a:rPr lang="en-US" sz="2900" dirty="0"/>
              <a:t>You are given an </a:t>
            </a:r>
            <a:r>
              <a:rPr lang="en-US" sz="2900" i="1" dirty="0" smtClean="0"/>
              <a:t>n </a:t>
            </a:r>
            <a:r>
              <a:rPr lang="en-US" sz="2200" dirty="0" smtClean="0"/>
              <a:t>x </a:t>
            </a:r>
            <a:r>
              <a:rPr lang="en-US" sz="2900" i="1" dirty="0" smtClean="0"/>
              <a:t>n</a:t>
            </a:r>
            <a:r>
              <a:rPr lang="en-US" sz="2900" dirty="0" smtClean="0"/>
              <a:t> </a:t>
            </a:r>
            <a:r>
              <a:rPr lang="en-US" sz="2900" dirty="0"/>
              <a:t>integer array</a:t>
            </a:r>
          </a:p>
          <a:p>
            <a:pPr lvl="1"/>
            <a:r>
              <a:rPr lang="en-US" sz="2500" dirty="0"/>
              <a:t>Say, for example, a 100x100 sized array</a:t>
            </a:r>
          </a:p>
          <a:p>
            <a:r>
              <a:rPr lang="en-US" sz="2900" dirty="0"/>
              <a:t>Each row is filled with several 1’s followed by all 0’s</a:t>
            </a:r>
          </a:p>
          <a:p>
            <a:pPr lvl="1"/>
            <a:r>
              <a:rPr lang="en-US" sz="2500" dirty="0"/>
              <a:t>Example: </a:t>
            </a:r>
          </a:p>
          <a:p>
            <a:pPr lvl="2"/>
            <a:r>
              <a:rPr lang="en-US" sz="2100" dirty="0"/>
              <a:t>Row 1 may have 38 1’s followed by 62 0’s</a:t>
            </a:r>
          </a:p>
          <a:p>
            <a:pPr lvl="2"/>
            <a:r>
              <a:rPr lang="en-US" sz="2100" dirty="0"/>
              <a:t>Row 2 may have 73 1’s followed by 27 0’s</a:t>
            </a:r>
          </a:p>
          <a:p>
            <a:pPr lvl="2"/>
            <a:r>
              <a:rPr lang="en-US" sz="2100" dirty="0"/>
              <a:t>Row 3 may have 12 1’s followed by 82 0’s</a:t>
            </a:r>
          </a:p>
          <a:p>
            <a:pPr lvl="2"/>
            <a:r>
              <a:rPr lang="en-US" sz="2100" dirty="0"/>
              <a:t>You get the idea</a:t>
            </a:r>
          </a:p>
          <a:p>
            <a:r>
              <a:rPr lang="en-US" sz="2900" dirty="0"/>
              <a:t>The goal of the problem is to identify the row that has the maximum number of 1’s.</a:t>
            </a:r>
          </a:p>
          <a:p>
            <a:endParaRPr lang="en-US" dirty="0"/>
          </a:p>
        </p:txBody>
      </p:sp>
      <p:sp>
        <p:nvSpPr>
          <p:cNvPr id="5" name="Slide Number Placeholder 4"/>
          <p:cNvSpPr>
            <a:spLocks noGrp="1"/>
          </p:cNvSpPr>
          <p:nvPr>
            <p:ph type="sldNum" sz="quarter" idx="12"/>
          </p:nvPr>
        </p:nvSpPr>
        <p:spPr/>
        <p:txBody>
          <a:bodyPr/>
          <a:lstStyle/>
          <a:p>
            <a:fld id="{DDC76627-6CEE-4E3A-AF80-81DF9B174472}" type="slidenum">
              <a:rPr lang="en-US" smtClean="0"/>
              <a:pPr/>
              <a:t>11</a:t>
            </a:fld>
            <a:endParaRPr lang="en-US"/>
          </a:p>
        </p:txBody>
      </p:sp>
    </p:spTree>
    <p:extLst>
      <p:ext uri="{BB962C8B-B14F-4D97-AF65-F5344CB8AC3E}">
        <p14:creationId xmlns:p14="http://schemas.microsoft.com/office/powerpoint/2010/main" val="312163581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Max Number of </a:t>
            </a:r>
            <a:r>
              <a:rPr lang="en-US" dirty="0" smtClean="0"/>
              <a:t>1’s </a:t>
            </a:r>
            <a:r>
              <a:rPr lang="en-US" sz="2400" dirty="0" smtClean="0">
                <a:solidFill>
                  <a:schemeClr val="accent6">
                    <a:lumMod val="75000"/>
                  </a:schemeClr>
                </a:solidFill>
              </a:rPr>
              <a:t>(Basic Solution)</a:t>
            </a:r>
            <a:endParaRPr lang="en-US" dirty="0">
              <a:solidFill>
                <a:schemeClr val="accent6">
                  <a:lumMod val="75000"/>
                </a:schemeClr>
              </a:solidFill>
            </a:endParaRPr>
          </a:p>
        </p:txBody>
      </p:sp>
      <p:sp>
        <p:nvSpPr>
          <p:cNvPr id="3" name="Content Placeholder 2"/>
          <p:cNvSpPr>
            <a:spLocks noGrp="1"/>
          </p:cNvSpPr>
          <p:nvPr>
            <p:ph idx="1"/>
          </p:nvPr>
        </p:nvSpPr>
        <p:spPr/>
        <p:txBody>
          <a:bodyPr>
            <a:noAutofit/>
          </a:bodyPr>
          <a:lstStyle/>
          <a:p>
            <a:r>
              <a:rPr lang="en-US" sz="2400" b="1" dirty="0" smtClean="0">
                <a:solidFill>
                  <a:srgbClr val="0000FF"/>
                </a:solidFill>
              </a:rPr>
              <a:t>Brute Force</a:t>
            </a:r>
            <a:r>
              <a:rPr lang="en-US" sz="2400" dirty="0" smtClean="0"/>
              <a:t> solution</a:t>
            </a:r>
            <a:r>
              <a:rPr lang="en-US" sz="2400" dirty="0"/>
              <a:t>:</a:t>
            </a:r>
          </a:p>
          <a:p>
            <a:pPr lvl="1"/>
            <a:r>
              <a:rPr lang="en-US" sz="2000" dirty="0"/>
              <a:t>Make a variable called </a:t>
            </a:r>
            <a:r>
              <a:rPr lang="en-US" sz="2000" dirty="0" err="1"/>
              <a:t>MaxOnes</a:t>
            </a:r>
            <a:r>
              <a:rPr lang="en-US" sz="2000" dirty="0"/>
              <a:t> and set equal to 0</a:t>
            </a:r>
          </a:p>
          <a:p>
            <a:pPr lvl="1"/>
            <a:r>
              <a:rPr lang="en-US" sz="2000" dirty="0"/>
              <a:t>For each row do the following:</a:t>
            </a:r>
          </a:p>
          <a:p>
            <a:pPr lvl="2"/>
            <a:r>
              <a:rPr lang="en-US" sz="1800" dirty="0"/>
              <a:t>Start from the beginning of the row on the left side</a:t>
            </a:r>
          </a:p>
          <a:p>
            <a:pPr lvl="2"/>
            <a:r>
              <a:rPr lang="en-US" sz="1800" dirty="0"/>
              <a:t>Scan left to right, counting the number of 1’s until the first zero is encountered</a:t>
            </a:r>
          </a:p>
          <a:p>
            <a:pPr lvl="2"/>
            <a:r>
              <a:rPr lang="en-US" sz="1800" dirty="0"/>
              <a:t>If the number of 1’s is greater than the value stored in </a:t>
            </a:r>
            <a:r>
              <a:rPr lang="en-US" sz="1800" dirty="0" err="1"/>
              <a:t>MaxOnes</a:t>
            </a:r>
            <a:r>
              <a:rPr lang="en-US" sz="1800" dirty="0"/>
              <a:t>, update </a:t>
            </a:r>
            <a:r>
              <a:rPr lang="en-US" sz="1800" dirty="0" err="1"/>
              <a:t>MaxOnes</a:t>
            </a:r>
            <a:r>
              <a:rPr lang="en-US" sz="1800" dirty="0"/>
              <a:t> with the number of 1’s seen on this row</a:t>
            </a:r>
          </a:p>
          <a:p>
            <a:r>
              <a:rPr lang="en-US" sz="2400" dirty="0"/>
              <a:t>Clearly, this works</a:t>
            </a:r>
          </a:p>
          <a:p>
            <a:r>
              <a:rPr lang="en-US" sz="2400" dirty="0"/>
              <a:t>But let’s see how long this algorithm will </a:t>
            </a:r>
            <a:r>
              <a:rPr lang="en-US" sz="2400" dirty="0" smtClean="0"/>
              <a:t>take</a:t>
            </a:r>
            <a:endParaRPr lang="en-US" sz="2400" dirty="0"/>
          </a:p>
        </p:txBody>
      </p:sp>
      <p:sp>
        <p:nvSpPr>
          <p:cNvPr id="5" name="Slide Number Placeholder 4"/>
          <p:cNvSpPr>
            <a:spLocks noGrp="1"/>
          </p:cNvSpPr>
          <p:nvPr>
            <p:ph type="sldNum" sz="quarter" idx="12"/>
          </p:nvPr>
        </p:nvSpPr>
        <p:spPr/>
        <p:txBody>
          <a:bodyPr/>
          <a:lstStyle/>
          <a:p>
            <a:fld id="{DDC76627-6CEE-4E3A-AF80-81DF9B174472}" type="slidenum">
              <a:rPr lang="en-US" smtClean="0"/>
              <a:pPr/>
              <a:t>12</a:t>
            </a:fld>
            <a:endParaRPr lang="en-US"/>
          </a:p>
        </p:txBody>
      </p:sp>
    </p:spTree>
    <p:extLst>
      <p:ext uri="{BB962C8B-B14F-4D97-AF65-F5344CB8AC3E}">
        <p14:creationId xmlns:p14="http://schemas.microsoft.com/office/powerpoint/2010/main" val="26760399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Max Number of </a:t>
            </a:r>
            <a:r>
              <a:rPr lang="en-US" dirty="0" smtClean="0"/>
              <a:t>1’s </a:t>
            </a:r>
            <a:r>
              <a:rPr lang="en-US" sz="3200" dirty="0" smtClean="0">
                <a:solidFill>
                  <a:schemeClr val="accent6">
                    <a:lumMod val="75000"/>
                  </a:schemeClr>
                </a:solidFill>
              </a:rPr>
              <a:t>(Example 01)</a:t>
            </a:r>
            <a:endParaRPr lang="en-US" dirty="0">
              <a:solidFill>
                <a:schemeClr val="accent6">
                  <a:lumMod val="75000"/>
                </a:schemeClr>
              </a:solidFill>
            </a:endParaRPr>
          </a:p>
        </p:txBody>
      </p:sp>
      <p:sp>
        <p:nvSpPr>
          <p:cNvPr id="3" name="Content Placeholder 2"/>
          <p:cNvSpPr>
            <a:spLocks noGrp="1"/>
          </p:cNvSpPr>
          <p:nvPr>
            <p:ph idx="1"/>
          </p:nvPr>
        </p:nvSpPr>
        <p:spPr/>
        <p:txBody>
          <a:bodyPr>
            <a:normAutofit/>
          </a:bodyPr>
          <a:lstStyle/>
          <a:p>
            <a:endParaRPr lang="en-US" dirty="0" smtClean="0"/>
          </a:p>
          <a:p>
            <a:endParaRPr lang="en-US" dirty="0"/>
          </a:p>
          <a:p>
            <a:endParaRPr lang="en-US" dirty="0" smtClean="0"/>
          </a:p>
          <a:p>
            <a:endParaRPr lang="en-US" dirty="0"/>
          </a:p>
          <a:p>
            <a:endParaRPr lang="en-US" dirty="0" smtClean="0"/>
          </a:p>
          <a:p>
            <a:endParaRPr lang="en-US" dirty="0"/>
          </a:p>
        </p:txBody>
      </p:sp>
      <p:sp>
        <p:nvSpPr>
          <p:cNvPr id="5" name="Slide Number Placeholder 4"/>
          <p:cNvSpPr>
            <a:spLocks noGrp="1"/>
          </p:cNvSpPr>
          <p:nvPr>
            <p:ph type="sldNum" sz="quarter" idx="12"/>
          </p:nvPr>
        </p:nvSpPr>
        <p:spPr/>
        <p:txBody>
          <a:bodyPr/>
          <a:lstStyle/>
          <a:p>
            <a:fld id="{DDC76627-6CEE-4E3A-AF80-81DF9B174472}" type="slidenum">
              <a:rPr lang="en-US" smtClean="0"/>
              <a:pPr/>
              <a:t>13</a:t>
            </a:fld>
            <a:endParaRPr lang="en-US"/>
          </a:p>
        </p:txBody>
      </p:sp>
      <p:cxnSp>
        <p:nvCxnSpPr>
          <p:cNvPr id="8" name="Straight Arrow Connector 7"/>
          <p:cNvCxnSpPr/>
          <p:nvPr/>
        </p:nvCxnSpPr>
        <p:spPr>
          <a:xfrm flipV="1">
            <a:off x="1701676" y="2021304"/>
            <a:ext cx="2739695" cy="1306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flipH="1">
            <a:off x="1521090" y="2403566"/>
            <a:ext cx="5799" cy="176318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graphicFrame>
        <p:nvGraphicFramePr>
          <p:cNvPr id="9" name="Table 8"/>
          <p:cNvGraphicFramePr>
            <a:graphicFrameLocks noGrp="1"/>
          </p:cNvGraphicFramePr>
          <p:nvPr>
            <p:extLst/>
          </p:nvPr>
        </p:nvGraphicFramePr>
        <p:xfrm>
          <a:off x="1682817" y="2131249"/>
          <a:ext cx="7002780" cy="2484120"/>
        </p:xfrm>
        <a:graphic>
          <a:graphicData uri="http://schemas.openxmlformats.org/drawingml/2006/table">
            <a:tbl>
              <a:tblPr/>
              <a:tblGrid>
                <a:gridCol w="1167130">
                  <a:extLst>
                    <a:ext uri="{9D8B030D-6E8A-4147-A177-3AD203B41FA5}">
                      <a16:colId xmlns:a16="http://schemas.microsoft.com/office/drawing/2014/main" val="20000"/>
                    </a:ext>
                  </a:extLst>
                </a:gridCol>
                <a:gridCol w="1167130">
                  <a:extLst>
                    <a:ext uri="{9D8B030D-6E8A-4147-A177-3AD203B41FA5}">
                      <a16:colId xmlns:a16="http://schemas.microsoft.com/office/drawing/2014/main" val="20001"/>
                    </a:ext>
                  </a:extLst>
                </a:gridCol>
                <a:gridCol w="1167130">
                  <a:extLst>
                    <a:ext uri="{9D8B030D-6E8A-4147-A177-3AD203B41FA5}">
                      <a16:colId xmlns:a16="http://schemas.microsoft.com/office/drawing/2014/main" val="20002"/>
                    </a:ext>
                  </a:extLst>
                </a:gridCol>
                <a:gridCol w="1167130">
                  <a:extLst>
                    <a:ext uri="{9D8B030D-6E8A-4147-A177-3AD203B41FA5}">
                      <a16:colId xmlns:a16="http://schemas.microsoft.com/office/drawing/2014/main" val="20003"/>
                    </a:ext>
                  </a:extLst>
                </a:gridCol>
                <a:gridCol w="1167130">
                  <a:extLst>
                    <a:ext uri="{9D8B030D-6E8A-4147-A177-3AD203B41FA5}">
                      <a16:colId xmlns:a16="http://schemas.microsoft.com/office/drawing/2014/main" val="20004"/>
                    </a:ext>
                  </a:extLst>
                </a:gridCol>
                <a:gridCol w="1167130">
                  <a:extLst>
                    <a:ext uri="{9D8B030D-6E8A-4147-A177-3AD203B41FA5}">
                      <a16:colId xmlns:a16="http://schemas.microsoft.com/office/drawing/2014/main" val="20005"/>
                    </a:ext>
                  </a:extLst>
                </a:gridCol>
              </a:tblGrid>
              <a:tr h="414020">
                <a:tc>
                  <a:txBody>
                    <a:bodyPr/>
                    <a:lstStyle/>
                    <a:p>
                      <a:pPr marL="0" marR="0" algn="ctr">
                        <a:spcBef>
                          <a:spcPts val="0"/>
                        </a:spcBef>
                        <a:spcAft>
                          <a:spcPts val="0"/>
                        </a:spcAft>
                      </a:pPr>
                      <a:r>
                        <a:rPr lang="en-US" sz="1600" b="1" dirty="0">
                          <a:solidFill>
                            <a:schemeClr val="accent1">
                              <a:lumMod val="50000"/>
                            </a:schemeClr>
                          </a:solidFill>
                          <a:latin typeface="Times"/>
                          <a:ea typeface="Times New Roman"/>
                          <a:cs typeface="Times New Roman"/>
                        </a:rPr>
                        <a:t>1</a:t>
                      </a:r>
                      <a:endParaRPr lang="en-US" sz="1200" dirty="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a:solidFill>
                            <a:schemeClr val="accent1">
                              <a:lumMod val="50000"/>
                            </a:schemeClr>
                          </a:solidFill>
                          <a:latin typeface="Times"/>
                          <a:ea typeface="Times New Roman"/>
                          <a:cs typeface="Times New Roman"/>
                        </a:rPr>
                        <a:t>1</a:t>
                      </a:r>
                      <a:endParaRPr lang="en-US" sz="120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1">
                              <a:lumMod val="50000"/>
                            </a:schemeClr>
                          </a:solidFill>
                          <a:latin typeface="Times"/>
                          <a:ea typeface="Times New Roman"/>
                          <a:cs typeface="Times New Roman"/>
                        </a:rPr>
                        <a:t>0</a:t>
                      </a:r>
                      <a:endParaRPr lang="en-US" sz="1200" dirty="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a:solidFill>
                            <a:schemeClr val="accent1">
                              <a:lumMod val="50000"/>
                            </a:schemeClr>
                          </a:solidFill>
                          <a:latin typeface="Times"/>
                          <a:ea typeface="Times New Roman"/>
                          <a:cs typeface="Times New Roman"/>
                        </a:rPr>
                        <a:t>0</a:t>
                      </a:r>
                      <a:endParaRPr lang="en-US" sz="120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a:solidFill>
                            <a:schemeClr val="accent1">
                              <a:lumMod val="50000"/>
                            </a:schemeClr>
                          </a:solidFill>
                          <a:latin typeface="Times"/>
                          <a:ea typeface="Times New Roman"/>
                          <a:cs typeface="Times New Roman"/>
                        </a:rPr>
                        <a:t>0</a:t>
                      </a:r>
                      <a:endParaRPr lang="en-US" sz="120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a:solidFill>
                            <a:schemeClr val="accent1">
                              <a:lumMod val="50000"/>
                            </a:schemeClr>
                          </a:solidFill>
                          <a:latin typeface="Times"/>
                          <a:ea typeface="Times New Roman"/>
                          <a:cs typeface="Times New Roman"/>
                        </a:rPr>
                        <a:t>0</a:t>
                      </a:r>
                      <a:endParaRPr lang="en-US" sz="120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14020">
                <a:tc>
                  <a:txBody>
                    <a:bodyPr/>
                    <a:lstStyle/>
                    <a:p>
                      <a:pPr marL="0" marR="0" algn="ctr">
                        <a:spcBef>
                          <a:spcPts val="0"/>
                        </a:spcBef>
                        <a:spcAft>
                          <a:spcPts val="0"/>
                        </a:spcAft>
                      </a:pPr>
                      <a:r>
                        <a:rPr lang="en-US" sz="1600" b="1" dirty="0">
                          <a:solidFill>
                            <a:schemeClr val="accent1">
                              <a:lumMod val="50000"/>
                            </a:schemeClr>
                          </a:solidFill>
                          <a:latin typeface="Times"/>
                          <a:ea typeface="Times New Roman"/>
                          <a:cs typeface="Times New Roman"/>
                        </a:rPr>
                        <a:t>0</a:t>
                      </a:r>
                      <a:endParaRPr lang="en-US" sz="1200" dirty="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1">
                              <a:lumMod val="50000"/>
                            </a:schemeClr>
                          </a:solidFill>
                          <a:latin typeface="Times"/>
                          <a:ea typeface="Times New Roman"/>
                          <a:cs typeface="Times New Roman"/>
                        </a:rPr>
                        <a:t>0</a:t>
                      </a:r>
                      <a:endParaRPr lang="en-US" sz="1200" dirty="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a:solidFill>
                            <a:schemeClr val="accent1">
                              <a:lumMod val="50000"/>
                            </a:schemeClr>
                          </a:solidFill>
                          <a:latin typeface="Times"/>
                          <a:ea typeface="Times New Roman"/>
                          <a:cs typeface="Times New Roman"/>
                        </a:rPr>
                        <a:t>0</a:t>
                      </a:r>
                      <a:endParaRPr lang="en-US" sz="120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a:solidFill>
                            <a:schemeClr val="accent1">
                              <a:lumMod val="50000"/>
                            </a:schemeClr>
                          </a:solidFill>
                          <a:latin typeface="Times"/>
                          <a:ea typeface="Times New Roman"/>
                          <a:cs typeface="Times New Roman"/>
                        </a:rPr>
                        <a:t>0</a:t>
                      </a:r>
                      <a:endParaRPr lang="en-US" sz="120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a:solidFill>
                            <a:schemeClr val="accent1">
                              <a:lumMod val="50000"/>
                            </a:schemeClr>
                          </a:solidFill>
                          <a:latin typeface="Times"/>
                          <a:ea typeface="Times New Roman"/>
                          <a:cs typeface="Times New Roman"/>
                        </a:rPr>
                        <a:t>0</a:t>
                      </a:r>
                      <a:endParaRPr lang="en-US" sz="120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a:solidFill>
                            <a:schemeClr val="accent1">
                              <a:lumMod val="50000"/>
                            </a:schemeClr>
                          </a:solidFill>
                          <a:latin typeface="Times"/>
                          <a:ea typeface="Times New Roman"/>
                          <a:cs typeface="Times New Roman"/>
                        </a:rPr>
                        <a:t>0</a:t>
                      </a:r>
                      <a:endParaRPr lang="en-US" sz="120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14020">
                <a:tc>
                  <a:txBody>
                    <a:bodyPr/>
                    <a:lstStyle/>
                    <a:p>
                      <a:pPr marL="0" marR="0" algn="ctr">
                        <a:spcBef>
                          <a:spcPts val="0"/>
                        </a:spcBef>
                        <a:spcAft>
                          <a:spcPts val="0"/>
                        </a:spcAft>
                      </a:pPr>
                      <a:r>
                        <a:rPr lang="en-US" sz="1600" b="1" dirty="0">
                          <a:solidFill>
                            <a:schemeClr val="accent1">
                              <a:lumMod val="50000"/>
                            </a:schemeClr>
                          </a:solidFill>
                          <a:latin typeface="Times"/>
                          <a:ea typeface="Times New Roman"/>
                          <a:cs typeface="Times New Roman"/>
                        </a:rPr>
                        <a:t>1</a:t>
                      </a:r>
                      <a:endParaRPr lang="en-US" sz="1200" dirty="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1">
                              <a:lumMod val="50000"/>
                            </a:schemeClr>
                          </a:solidFill>
                          <a:latin typeface="Times"/>
                          <a:ea typeface="Times New Roman"/>
                          <a:cs typeface="Times New Roman"/>
                        </a:rPr>
                        <a:t>1</a:t>
                      </a:r>
                      <a:endParaRPr lang="en-US" sz="1200" dirty="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1">
                              <a:lumMod val="50000"/>
                            </a:schemeClr>
                          </a:solidFill>
                          <a:latin typeface="Times"/>
                          <a:ea typeface="Times New Roman"/>
                          <a:cs typeface="Times New Roman"/>
                        </a:rPr>
                        <a:t>1</a:t>
                      </a:r>
                      <a:endParaRPr lang="en-US" sz="1200" dirty="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1">
                              <a:lumMod val="50000"/>
                            </a:schemeClr>
                          </a:solidFill>
                          <a:latin typeface="Times"/>
                          <a:ea typeface="Times New Roman"/>
                          <a:cs typeface="Times New Roman"/>
                        </a:rPr>
                        <a:t>0</a:t>
                      </a:r>
                      <a:endParaRPr lang="en-US" sz="1200" dirty="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a:solidFill>
                            <a:schemeClr val="accent1">
                              <a:lumMod val="50000"/>
                            </a:schemeClr>
                          </a:solidFill>
                          <a:latin typeface="Times"/>
                          <a:ea typeface="Times New Roman"/>
                          <a:cs typeface="Times New Roman"/>
                        </a:rPr>
                        <a:t>0</a:t>
                      </a:r>
                      <a:endParaRPr lang="en-US" sz="120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a:solidFill>
                            <a:schemeClr val="accent1">
                              <a:lumMod val="50000"/>
                            </a:schemeClr>
                          </a:solidFill>
                          <a:latin typeface="Times"/>
                          <a:ea typeface="Times New Roman"/>
                          <a:cs typeface="Times New Roman"/>
                        </a:rPr>
                        <a:t>0</a:t>
                      </a:r>
                      <a:endParaRPr lang="en-US" sz="120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14020">
                <a:tc>
                  <a:txBody>
                    <a:bodyPr/>
                    <a:lstStyle/>
                    <a:p>
                      <a:pPr marL="0" marR="0" algn="ctr">
                        <a:spcBef>
                          <a:spcPts val="0"/>
                        </a:spcBef>
                        <a:spcAft>
                          <a:spcPts val="0"/>
                        </a:spcAft>
                      </a:pPr>
                      <a:r>
                        <a:rPr lang="en-US" sz="1600" b="1" dirty="0">
                          <a:solidFill>
                            <a:schemeClr val="accent1">
                              <a:lumMod val="50000"/>
                            </a:schemeClr>
                          </a:solidFill>
                          <a:latin typeface="Times"/>
                          <a:ea typeface="Times New Roman"/>
                          <a:cs typeface="Times New Roman"/>
                        </a:rPr>
                        <a:t>1</a:t>
                      </a:r>
                      <a:endParaRPr lang="en-US" sz="1200" dirty="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1">
                              <a:lumMod val="50000"/>
                            </a:schemeClr>
                          </a:solidFill>
                          <a:latin typeface="Times"/>
                          <a:ea typeface="Times New Roman"/>
                          <a:cs typeface="Times New Roman"/>
                        </a:rPr>
                        <a:t>1</a:t>
                      </a:r>
                      <a:endParaRPr lang="en-US" sz="1200" dirty="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1">
                              <a:lumMod val="50000"/>
                            </a:schemeClr>
                          </a:solidFill>
                          <a:latin typeface="Times"/>
                          <a:ea typeface="Times New Roman"/>
                          <a:cs typeface="Times New Roman"/>
                        </a:rPr>
                        <a:t>1</a:t>
                      </a:r>
                      <a:endParaRPr lang="en-US" sz="1200" dirty="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1">
                              <a:lumMod val="50000"/>
                            </a:schemeClr>
                          </a:solidFill>
                          <a:latin typeface="Times"/>
                          <a:ea typeface="Times New Roman"/>
                          <a:cs typeface="Times New Roman"/>
                        </a:rPr>
                        <a:t>0</a:t>
                      </a:r>
                      <a:endParaRPr lang="en-US" sz="1200" dirty="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1">
                              <a:lumMod val="50000"/>
                            </a:schemeClr>
                          </a:solidFill>
                          <a:latin typeface="Times"/>
                          <a:ea typeface="Times New Roman"/>
                          <a:cs typeface="Times New Roman"/>
                        </a:rPr>
                        <a:t>0</a:t>
                      </a:r>
                      <a:endParaRPr lang="en-US" sz="1200" dirty="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a:solidFill>
                            <a:schemeClr val="accent1">
                              <a:lumMod val="50000"/>
                            </a:schemeClr>
                          </a:solidFill>
                          <a:latin typeface="Times"/>
                          <a:ea typeface="Times New Roman"/>
                          <a:cs typeface="Times New Roman"/>
                        </a:rPr>
                        <a:t>0</a:t>
                      </a:r>
                      <a:endParaRPr lang="en-US" sz="120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14020">
                <a:tc>
                  <a:txBody>
                    <a:bodyPr/>
                    <a:lstStyle/>
                    <a:p>
                      <a:pPr marL="0" marR="0" algn="ctr">
                        <a:spcBef>
                          <a:spcPts val="0"/>
                        </a:spcBef>
                        <a:spcAft>
                          <a:spcPts val="0"/>
                        </a:spcAft>
                      </a:pPr>
                      <a:r>
                        <a:rPr lang="en-US" sz="1600" b="1" dirty="0">
                          <a:solidFill>
                            <a:schemeClr val="accent1">
                              <a:lumMod val="50000"/>
                            </a:schemeClr>
                          </a:solidFill>
                          <a:latin typeface="Times"/>
                          <a:ea typeface="Times New Roman"/>
                          <a:cs typeface="Times New Roman"/>
                        </a:rPr>
                        <a:t>1</a:t>
                      </a:r>
                      <a:endParaRPr lang="en-US" sz="1200" dirty="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1">
                              <a:lumMod val="50000"/>
                            </a:schemeClr>
                          </a:solidFill>
                          <a:latin typeface="Times"/>
                          <a:ea typeface="Times New Roman"/>
                          <a:cs typeface="Times New Roman"/>
                        </a:rPr>
                        <a:t>1</a:t>
                      </a:r>
                      <a:endParaRPr lang="en-US" sz="1200" dirty="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1">
                              <a:lumMod val="50000"/>
                            </a:schemeClr>
                          </a:solidFill>
                          <a:latin typeface="Times"/>
                          <a:ea typeface="Times New Roman"/>
                          <a:cs typeface="Times New Roman"/>
                        </a:rPr>
                        <a:t>1</a:t>
                      </a:r>
                      <a:endParaRPr lang="en-US" sz="1200" dirty="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1">
                              <a:lumMod val="50000"/>
                            </a:schemeClr>
                          </a:solidFill>
                          <a:latin typeface="Times"/>
                          <a:ea typeface="Times New Roman"/>
                          <a:cs typeface="Times New Roman"/>
                        </a:rPr>
                        <a:t>1</a:t>
                      </a:r>
                      <a:endParaRPr lang="en-US" sz="1200" dirty="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1">
                              <a:lumMod val="50000"/>
                            </a:schemeClr>
                          </a:solidFill>
                          <a:latin typeface="Times"/>
                          <a:ea typeface="Times New Roman"/>
                          <a:cs typeface="Times New Roman"/>
                        </a:rPr>
                        <a:t>1</a:t>
                      </a:r>
                      <a:endParaRPr lang="en-US" sz="1200" dirty="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1">
                              <a:lumMod val="50000"/>
                            </a:schemeClr>
                          </a:solidFill>
                          <a:latin typeface="Times"/>
                          <a:ea typeface="Times New Roman"/>
                          <a:cs typeface="Times New Roman"/>
                        </a:rPr>
                        <a:t>0</a:t>
                      </a:r>
                      <a:endParaRPr lang="en-US" sz="1200" dirty="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14020">
                <a:tc>
                  <a:txBody>
                    <a:bodyPr/>
                    <a:lstStyle/>
                    <a:p>
                      <a:pPr marL="0" marR="0" algn="ctr">
                        <a:spcBef>
                          <a:spcPts val="0"/>
                        </a:spcBef>
                        <a:spcAft>
                          <a:spcPts val="0"/>
                        </a:spcAft>
                      </a:pPr>
                      <a:r>
                        <a:rPr lang="en-US" sz="1600" b="1" dirty="0">
                          <a:solidFill>
                            <a:schemeClr val="accent1">
                              <a:lumMod val="50000"/>
                            </a:schemeClr>
                          </a:solidFill>
                          <a:latin typeface="Times"/>
                          <a:ea typeface="Times New Roman"/>
                          <a:cs typeface="Times New Roman"/>
                        </a:rPr>
                        <a:t>1</a:t>
                      </a:r>
                      <a:endParaRPr lang="en-US" sz="1200" dirty="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1">
                              <a:lumMod val="50000"/>
                            </a:schemeClr>
                          </a:solidFill>
                          <a:latin typeface="Times"/>
                          <a:ea typeface="Times New Roman"/>
                          <a:cs typeface="Times New Roman"/>
                        </a:rPr>
                        <a:t>1</a:t>
                      </a:r>
                      <a:endParaRPr lang="en-US" sz="1200" dirty="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1">
                              <a:lumMod val="50000"/>
                            </a:schemeClr>
                          </a:solidFill>
                          <a:latin typeface="Times"/>
                          <a:ea typeface="Times New Roman"/>
                          <a:cs typeface="Times New Roman"/>
                        </a:rPr>
                        <a:t>1</a:t>
                      </a:r>
                      <a:endParaRPr lang="en-US" sz="1200" dirty="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1">
                              <a:lumMod val="50000"/>
                            </a:schemeClr>
                          </a:solidFill>
                          <a:latin typeface="Times"/>
                          <a:ea typeface="Times New Roman"/>
                          <a:cs typeface="Times New Roman"/>
                        </a:rPr>
                        <a:t>1</a:t>
                      </a:r>
                      <a:endParaRPr lang="en-US" sz="1200" dirty="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1">
                              <a:lumMod val="50000"/>
                            </a:schemeClr>
                          </a:solidFill>
                          <a:latin typeface="Times"/>
                          <a:ea typeface="Times New Roman"/>
                          <a:cs typeface="Times New Roman"/>
                        </a:rPr>
                        <a:t>0</a:t>
                      </a:r>
                      <a:endParaRPr lang="en-US" sz="1200" dirty="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1">
                              <a:lumMod val="50000"/>
                            </a:schemeClr>
                          </a:solidFill>
                          <a:latin typeface="Times"/>
                          <a:ea typeface="Times New Roman"/>
                          <a:cs typeface="Times New Roman"/>
                        </a:rPr>
                        <a:t>0</a:t>
                      </a:r>
                      <a:endParaRPr lang="en-US" sz="1200" dirty="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966579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0-#ppt_w/2"/>
                                          </p:val>
                                        </p:tav>
                                        <p:tav tm="100000">
                                          <p:val>
                                            <p:strVal val="#ppt_x"/>
                                          </p:val>
                                        </p:tav>
                                      </p:tavLst>
                                    </p:anim>
                                    <p:anim calcmode="lin" valueType="num">
                                      <p:cBhvr additive="base">
                                        <p:cTn id="14"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1"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Max Number of </a:t>
            </a:r>
            <a:r>
              <a:rPr lang="en-US" dirty="0" smtClean="0"/>
              <a:t>1’s </a:t>
            </a:r>
            <a:r>
              <a:rPr lang="en-US" sz="3200" dirty="0" smtClean="0">
                <a:solidFill>
                  <a:schemeClr val="accent6">
                    <a:lumMod val="75000"/>
                  </a:schemeClr>
                </a:solidFill>
              </a:rPr>
              <a:t>(Example 01)</a:t>
            </a:r>
            <a:endParaRPr lang="en-US" dirty="0">
              <a:solidFill>
                <a:schemeClr val="accent6">
                  <a:lumMod val="75000"/>
                </a:schemeClr>
              </a:solidFill>
            </a:endParaRPr>
          </a:p>
        </p:txBody>
      </p:sp>
      <p:sp>
        <p:nvSpPr>
          <p:cNvPr id="3" name="Content Placeholder 2"/>
          <p:cNvSpPr>
            <a:spLocks noGrp="1"/>
          </p:cNvSpPr>
          <p:nvPr>
            <p:ph idx="1"/>
          </p:nvPr>
        </p:nvSpPr>
        <p:spPr/>
        <p:txBody>
          <a:bodyPr>
            <a:normAutofit fontScale="85000" lnSpcReduction="10000"/>
          </a:bodyPr>
          <a:lstStyle/>
          <a:p>
            <a:endParaRPr lang="en-US" dirty="0" smtClean="0"/>
          </a:p>
          <a:p>
            <a:endParaRPr lang="en-US" dirty="0"/>
          </a:p>
          <a:p>
            <a:endParaRPr lang="en-US" dirty="0" smtClean="0"/>
          </a:p>
          <a:p>
            <a:endParaRPr lang="en-US" dirty="0"/>
          </a:p>
          <a:p>
            <a:endParaRPr lang="en-US" dirty="0" smtClean="0"/>
          </a:p>
          <a:p>
            <a:r>
              <a:rPr lang="en-US" dirty="0" smtClean="0"/>
              <a:t>Rows 6 &amp; Columns 6</a:t>
            </a:r>
          </a:p>
          <a:p>
            <a:r>
              <a:rPr lang="en-US" dirty="0" smtClean="0"/>
              <a:t># of Comparison 23</a:t>
            </a:r>
          </a:p>
          <a:p>
            <a:r>
              <a:rPr lang="en-US" dirty="0" smtClean="0"/>
              <a:t>Max. Number of comparisons 6 x 6 = 36</a:t>
            </a:r>
            <a:endParaRPr lang="en-US" dirty="0"/>
          </a:p>
          <a:p>
            <a:endParaRPr lang="en-US" dirty="0"/>
          </a:p>
        </p:txBody>
      </p:sp>
      <p:sp>
        <p:nvSpPr>
          <p:cNvPr id="5" name="Slide Number Placeholder 4"/>
          <p:cNvSpPr>
            <a:spLocks noGrp="1"/>
          </p:cNvSpPr>
          <p:nvPr>
            <p:ph type="sldNum" sz="quarter" idx="12"/>
          </p:nvPr>
        </p:nvSpPr>
        <p:spPr/>
        <p:txBody>
          <a:bodyPr/>
          <a:lstStyle/>
          <a:p>
            <a:fld id="{DDC76627-6CEE-4E3A-AF80-81DF9B174472}" type="slidenum">
              <a:rPr lang="en-US" smtClean="0"/>
              <a:pPr/>
              <a:t>14</a:t>
            </a:fld>
            <a:endParaRPr lang="en-US"/>
          </a:p>
        </p:txBody>
      </p:sp>
      <p:graphicFrame>
        <p:nvGraphicFramePr>
          <p:cNvPr id="6" name="Table 5"/>
          <p:cNvGraphicFramePr>
            <a:graphicFrameLocks noGrp="1"/>
          </p:cNvGraphicFramePr>
          <p:nvPr>
            <p:extLst/>
          </p:nvPr>
        </p:nvGraphicFramePr>
        <p:xfrm>
          <a:off x="1688613" y="2130409"/>
          <a:ext cx="7002780" cy="2484120"/>
        </p:xfrm>
        <a:graphic>
          <a:graphicData uri="http://schemas.openxmlformats.org/drawingml/2006/table">
            <a:tbl>
              <a:tblPr/>
              <a:tblGrid>
                <a:gridCol w="1167130">
                  <a:extLst>
                    <a:ext uri="{9D8B030D-6E8A-4147-A177-3AD203B41FA5}">
                      <a16:colId xmlns:a16="http://schemas.microsoft.com/office/drawing/2014/main" val="20000"/>
                    </a:ext>
                  </a:extLst>
                </a:gridCol>
                <a:gridCol w="1167130">
                  <a:extLst>
                    <a:ext uri="{9D8B030D-6E8A-4147-A177-3AD203B41FA5}">
                      <a16:colId xmlns:a16="http://schemas.microsoft.com/office/drawing/2014/main" val="20001"/>
                    </a:ext>
                  </a:extLst>
                </a:gridCol>
                <a:gridCol w="1167130">
                  <a:extLst>
                    <a:ext uri="{9D8B030D-6E8A-4147-A177-3AD203B41FA5}">
                      <a16:colId xmlns:a16="http://schemas.microsoft.com/office/drawing/2014/main" val="20002"/>
                    </a:ext>
                  </a:extLst>
                </a:gridCol>
                <a:gridCol w="1167130">
                  <a:extLst>
                    <a:ext uri="{9D8B030D-6E8A-4147-A177-3AD203B41FA5}">
                      <a16:colId xmlns:a16="http://schemas.microsoft.com/office/drawing/2014/main" val="20003"/>
                    </a:ext>
                  </a:extLst>
                </a:gridCol>
                <a:gridCol w="1167130">
                  <a:extLst>
                    <a:ext uri="{9D8B030D-6E8A-4147-A177-3AD203B41FA5}">
                      <a16:colId xmlns:a16="http://schemas.microsoft.com/office/drawing/2014/main" val="20004"/>
                    </a:ext>
                  </a:extLst>
                </a:gridCol>
                <a:gridCol w="1167130">
                  <a:extLst>
                    <a:ext uri="{9D8B030D-6E8A-4147-A177-3AD203B41FA5}">
                      <a16:colId xmlns:a16="http://schemas.microsoft.com/office/drawing/2014/main" val="20005"/>
                    </a:ext>
                  </a:extLst>
                </a:gridCol>
              </a:tblGrid>
              <a:tr h="414020">
                <a:tc>
                  <a:txBody>
                    <a:bodyPr/>
                    <a:lstStyle/>
                    <a:p>
                      <a:pPr marL="0" marR="0" algn="ctr">
                        <a:spcBef>
                          <a:spcPts val="0"/>
                        </a:spcBef>
                        <a:spcAft>
                          <a:spcPts val="0"/>
                        </a:spcAft>
                      </a:pPr>
                      <a:r>
                        <a:rPr lang="en-US" sz="1600" b="1" dirty="0">
                          <a:solidFill>
                            <a:schemeClr val="accent6">
                              <a:lumMod val="75000"/>
                            </a:schemeClr>
                          </a:solidFill>
                          <a:latin typeface="Times"/>
                          <a:ea typeface="Times New Roman"/>
                          <a:cs typeface="Times New Roman"/>
                        </a:rPr>
                        <a:t>1</a:t>
                      </a:r>
                      <a:endParaRPr lang="en-US" sz="1200" dirty="0">
                        <a:solidFill>
                          <a:schemeClr val="accent6">
                            <a:lumMod val="75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a:solidFill>
                            <a:schemeClr val="accent6">
                              <a:lumMod val="75000"/>
                            </a:schemeClr>
                          </a:solidFill>
                          <a:latin typeface="Times"/>
                          <a:ea typeface="Times New Roman"/>
                          <a:cs typeface="Times New Roman"/>
                        </a:rPr>
                        <a:t>1</a:t>
                      </a:r>
                      <a:endParaRPr lang="en-US" sz="1200">
                        <a:solidFill>
                          <a:schemeClr val="accent6">
                            <a:lumMod val="75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6">
                              <a:lumMod val="75000"/>
                            </a:schemeClr>
                          </a:solidFill>
                          <a:latin typeface="Times"/>
                          <a:ea typeface="Times New Roman"/>
                          <a:cs typeface="Times New Roman"/>
                        </a:rPr>
                        <a:t>0</a:t>
                      </a:r>
                      <a:endParaRPr lang="en-US" sz="1200" dirty="0">
                        <a:solidFill>
                          <a:schemeClr val="accent6">
                            <a:lumMod val="75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a:solidFill>
                            <a:schemeClr val="accent1">
                              <a:lumMod val="50000"/>
                            </a:schemeClr>
                          </a:solidFill>
                          <a:latin typeface="Times"/>
                          <a:ea typeface="Times New Roman"/>
                          <a:cs typeface="Times New Roman"/>
                        </a:rPr>
                        <a:t>0</a:t>
                      </a:r>
                      <a:endParaRPr lang="en-US" sz="120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a:solidFill>
                            <a:schemeClr val="accent1">
                              <a:lumMod val="50000"/>
                            </a:schemeClr>
                          </a:solidFill>
                          <a:latin typeface="Times"/>
                          <a:ea typeface="Times New Roman"/>
                          <a:cs typeface="Times New Roman"/>
                        </a:rPr>
                        <a:t>0</a:t>
                      </a:r>
                      <a:endParaRPr lang="en-US" sz="120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a:solidFill>
                            <a:schemeClr val="accent1">
                              <a:lumMod val="50000"/>
                            </a:schemeClr>
                          </a:solidFill>
                          <a:latin typeface="Times"/>
                          <a:ea typeface="Times New Roman"/>
                          <a:cs typeface="Times New Roman"/>
                        </a:rPr>
                        <a:t>0</a:t>
                      </a:r>
                      <a:endParaRPr lang="en-US" sz="120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14020">
                <a:tc>
                  <a:txBody>
                    <a:bodyPr/>
                    <a:lstStyle/>
                    <a:p>
                      <a:pPr marL="0" marR="0" algn="ctr">
                        <a:spcBef>
                          <a:spcPts val="0"/>
                        </a:spcBef>
                        <a:spcAft>
                          <a:spcPts val="0"/>
                        </a:spcAft>
                      </a:pPr>
                      <a:r>
                        <a:rPr lang="en-US" sz="1600" b="1" dirty="0">
                          <a:solidFill>
                            <a:schemeClr val="accent6">
                              <a:lumMod val="75000"/>
                            </a:schemeClr>
                          </a:solidFill>
                          <a:latin typeface="Times"/>
                          <a:ea typeface="Times New Roman"/>
                          <a:cs typeface="Times New Roman"/>
                        </a:rPr>
                        <a:t>0</a:t>
                      </a:r>
                      <a:endParaRPr lang="en-US" sz="1200" dirty="0">
                        <a:solidFill>
                          <a:schemeClr val="accent6">
                            <a:lumMod val="75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1">
                              <a:lumMod val="50000"/>
                            </a:schemeClr>
                          </a:solidFill>
                          <a:latin typeface="Times"/>
                          <a:ea typeface="Times New Roman"/>
                          <a:cs typeface="Times New Roman"/>
                        </a:rPr>
                        <a:t>0</a:t>
                      </a:r>
                      <a:endParaRPr lang="en-US" sz="1200" dirty="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a:solidFill>
                            <a:schemeClr val="accent1">
                              <a:lumMod val="50000"/>
                            </a:schemeClr>
                          </a:solidFill>
                          <a:latin typeface="Times"/>
                          <a:ea typeface="Times New Roman"/>
                          <a:cs typeface="Times New Roman"/>
                        </a:rPr>
                        <a:t>0</a:t>
                      </a:r>
                      <a:endParaRPr lang="en-US" sz="120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a:solidFill>
                            <a:schemeClr val="accent1">
                              <a:lumMod val="50000"/>
                            </a:schemeClr>
                          </a:solidFill>
                          <a:latin typeface="Times"/>
                          <a:ea typeface="Times New Roman"/>
                          <a:cs typeface="Times New Roman"/>
                        </a:rPr>
                        <a:t>0</a:t>
                      </a:r>
                      <a:endParaRPr lang="en-US" sz="120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a:solidFill>
                            <a:schemeClr val="accent1">
                              <a:lumMod val="50000"/>
                            </a:schemeClr>
                          </a:solidFill>
                          <a:latin typeface="Times"/>
                          <a:ea typeface="Times New Roman"/>
                          <a:cs typeface="Times New Roman"/>
                        </a:rPr>
                        <a:t>0</a:t>
                      </a:r>
                      <a:endParaRPr lang="en-US" sz="120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a:solidFill>
                            <a:schemeClr val="accent1">
                              <a:lumMod val="50000"/>
                            </a:schemeClr>
                          </a:solidFill>
                          <a:latin typeface="Times"/>
                          <a:ea typeface="Times New Roman"/>
                          <a:cs typeface="Times New Roman"/>
                        </a:rPr>
                        <a:t>0</a:t>
                      </a:r>
                      <a:endParaRPr lang="en-US" sz="120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14020">
                <a:tc>
                  <a:txBody>
                    <a:bodyPr/>
                    <a:lstStyle/>
                    <a:p>
                      <a:pPr marL="0" marR="0" algn="ctr">
                        <a:spcBef>
                          <a:spcPts val="0"/>
                        </a:spcBef>
                        <a:spcAft>
                          <a:spcPts val="0"/>
                        </a:spcAft>
                      </a:pPr>
                      <a:r>
                        <a:rPr lang="en-US" sz="1600" b="1" dirty="0">
                          <a:solidFill>
                            <a:schemeClr val="accent6">
                              <a:lumMod val="75000"/>
                            </a:schemeClr>
                          </a:solidFill>
                          <a:latin typeface="Times"/>
                          <a:ea typeface="Times New Roman"/>
                          <a:cs typeface="Times New Roman"/>
                        </a:rPr>
                        <a:t>1</a:t>
                      </a:r>
                      <a:endParaRPr lang="en-US" sz="1200" dirty="0">
                        <a:solidFill>
                          <a:schemeClr val="accent6">
                            <a:lumMod val="75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6">
                              <a:lumMod val="75000"/>
                            </a:schemeClr>
                          </a:solidFill>
                          <a:latin typeface="Times"/>
                          <a:ea typeface="Times New Roman"/>
                          <a:cs typeface="Times New Roman"/>
                        </a:rPr>
                        <a:t>1</a:t>
                      </a:r>
                      <a:endParaRPr lang="en-US" sz="1200" dirty="0">
                        <a:solidFill>
                          <a:schemeClr val="accent6">
                            <a:lumMod val="75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6">
                              <a:lumMod val="75000"/>
                            </a:schemeClr>
                          </a:solidFill>
                          <a:latin typeface="Times"/>
                          <a:ea typeface="Times New Roman"/>
                          <a:cs typeface="Times New Roman"/>
                        </a:rPr>
                        <a:t>1</a:t>
                      </a:r>
                      <a:endParaRPr lang="en-US" sz="1200" dirty="0">
                        <a:solidFill>
                          <a:schemeClr val="accent6">
                            <a:lumMod val="75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6">
                              <a:lumMod val="75000"/>
                            </a:schemeClr>
                          </a:solidFill>
                          <a:latin typeface="Times"/>
                          <a:ea typeface="Times New Roman"/>
                          <a:cs typeface="Times New Roman"/>
                        </a:rPr>
                        <a:t>0</a:t>
                      </a:r>
                      <a:endParaRPr lang="en-US" sz="1200" dirty="0">
                        <a:solidFill>
                          <a:schemeClr val="accent6">
                            <a:lumMod val="75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a:solidFill>
                            <a:schemeClr val="accent1">
                              <a:lumMod val="50000"/>
                            </a:schemeClr>
                          </a:solidFill>
                          <a:latin typeface="Times"/>
                          <a:ea typeface="Times New Roman"/>
                          <a:cs typeface="Times New Roman"/>
                        </a:rPr>
                        <a:t>0</a:t>
                      </a:r>
                      <a:endParaRPr lang="en-US" sz="120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a:solidFill>
                            <a:schemeClr val="accent1">
                              <a:lumMod val="50000"/>
                            </a:schemeClr>
                          </a:solidFill>
                          <a:latin typeface="Times"/>
                          <a:ea typeface="Times New Roman"/>
                          <a:cs typeface="Times New Roman"/>
                        </a:rPr>
                        <a:t>0</a:t>
                      </a:r>
                      <a:endParaRPr lang="en-US" sz="120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14020">
                <a:tc>
                  <a:txBody>
                    <a:bodyPr/>
                    <a:lstStyle/>
                    <a:p>
                      <a:pPr marL="0" marR="0" algn="ctr">
                        <a:spcBef>
                          <a:spcPts val="0"/>
                        </a:spcBef>
                        <a:spcAft>
                          <a:spcPts val="0"/>
                        </a:spcAft>
                      </a:pPr>
                      <a:r>
                        <a:rPr lang="en-US" sz="1600" b="1" dirty="0">
                          <a:solidFill>
                            <a:schemeClr val="accent6">
                              <a:lumMod val="75000"/>
                            </a:schemeClr>
                          </a:solidFill>
                          <a:latin typeface="Times"/>
                          <a:ea typeface="Times New Roman"/>
                          <a:cs typeface="Times New Roman"/>
                        </a:rPr>
                        <a:t>1</a:t>
                      </a:r>
                      <a:endParaRPr lang="en-US" sz="1200" dirty="0">
                        <a:solidFill>
                          <a:schemeClr val="accent6">
                            <a:lumMod val="75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6">
                              <a:lumMod val="75000"/>
                            </a:schemeClr>
                          </a:solidFill>
                          <a:latin typeface="Times"/>
                          <a:ea typeface="Times New Roman"/>
                          <a:cs typeface="Times New Roman"/>
                        </a:rPr>
                        <a:t>1</a:t>
                      </a:r>
                      <a:endParaRPr lang="en-US" sz="1200" dirty="0">
                        <a:solidFill>
                          <a:schemeClr val="accent6">
                            <a:lumMod val="75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6">
                              <a:lumMod val="75000"/>
                            </a:schemeClr>
                          </a:solidFill>
                          <a:latin typeface="Times"/>
                          <a:ea typeface="Times New Roman"/>
                          <a:cs typeface="Times New Roman"/>
                        </a:rPr>
                        <a:t>1</a:t>
                      </a:r>
                      <a:endParaRPr lang="en-US" sz="1200" dirty="0">
                        <a:solidFill>
                          <a:schemeClr val="accent6">
                            <a:lumMod val="75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6">
                              <a:lumMod val="75000"/>
                            </a:schemeClr>
                          </a:solidFill>
                          <a:latin typeface="Times"/>
                          <a:ea typeface="Times New Roman"/>
                          <a:cs typeface="Times New Roman"/>
                        </a:rPr>
                        <a:t>0</a:t>
                      </a:r>
                      <a:endParaRPr lang="en-US" sz="1200" dirty="0">
                        <a:solidFill>
                          <a:schemeClr val="accent6">
                            <a:lumMod val="75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1">
                              <a:lumMod val="50000"/>
                            </a:schemeClr>
                          </a:solidFill>
                          <a:latin typeface="Times"/>
                          <a:ea typeface="Times New Roman"/>
                          <a:cs typeface="Times New Roman"/>
                        </a:rPr>
                        <a:t>0</a:t>
                      </a:r>
                      <a:endParaRPr lang="en-US" sz="1200" dirty="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a:solidFill>
                            <a:schemeClr val="accent1">
                              <a:lumMod val="50000"/>
                            </a:schemeClr>
                          </a:solidFill>
                          <a:latin typeface="Times"/>
                          <a:ea typeface="Times New Roman"/>
                          <a:cs typeface="Times New Roman"/>
                        </a:rPr>
                        <a:t>0</a:t>
                      </a:r>
                      <a:endParaRPr lang="en-US" sz="120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14020">
                <a:tc>
                  <a:txBody>
                    <a:bodyPr/>
                    <a:lstStyle/>
                    <a:p>
                      <a:pPr marL="0" marR="0" algn="ctr">
                        <a:spcBef>
                          <a:spcPts val="0"/>
                        </a:spcBef>
                        <a:spcAft>
                          <a:spcPts val="0"/>
                        </a:spcAft>
                      </a:pPr>
                      <a:r>
                        <a:rPr lang="en-US" sz="1600" b="1" dirty="0">
                          <a:solidFill>
                            <a:schemeClr val="accent6">
                              <a:lumMod val="75000"/>
                            </a:schemeClr>
                          </a:solidFill>
                          <a:latin typeface="Times"/>
                          <a:ea typeface="Times New Roman"/>
                          <a:cs typeface="Times New Roman"/>
                        </a:rPr>
                        <a:t>1</a:t>
                      </a:r>
                      <a:endParaRPr lang="en-US" sz="1200" dirty="0">
                        <a:solidFill>
                          <a:schemeClr val="accent6">
                            <a:lumMod val="75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6">
                              <a:lumMod val="75000"/>
                            </a:schemeClr>
                          </a:solidFill>
                          <a:latin typeface="Times"/>
                          <a:ea typeface="Times New Roman"/>
                          <a:cs typeface="Times New Roman"/>
                        </a:rPr>
                        <a:t>1</a:t>
                      </a:r>
                      <a:endParaRPr lang="en-US" sz="1200" dirty="0">
                        <a:solidFill>
                          <a:schemeClr val="accent6">
                            <a:lumMod val="75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6">
                              <a:lumMod val="75000"/>
                            </a:schemeClr>
                          </a:solidFill>
                          <a:latin typeface="Times"/>
                          <a:ea typeface="Times New Roman"/>
                          <a:cs typeface="Times New Roman"/>
                        </a:rPr>
                        <a:t>1</a:t>
                      </a:r>
                      <a:endParaRPr lang="en-US" sz="1200" dirty="0">
                        <a:solidFill>
                          <a:schemeClr val="accent6">
                            <a:lumMod val="75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6">
                              <a:lumMod val="75000"/>
                            </a:schemeClr>
                          </a:solidFill>
                          <a:latin typeface="Times"/>
                          <a:ea typeface="Times New Roman"/>
                          <a:cs typeface="Times New Roman"/>
                        </a:rPr>
                        <a:t>1</a:t>
                      </a:r>
                      <a:endParaRPr lang="en-US" sz="1200" dirty="0">
                        <a:solidFill>
                          <a:schemeClr val="accent6">
                            <a:lumMod val="75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6">
                              <a:lumMod val="75000"/>
                            </a:schemeClr>
                          </a:solidFill>
                          <a:latin typeface="Times"/>
                          <a:ea typeface="Times New Roman"/>
                          <a:cs typeface="Times New Roman"/>
                        </a:rPr>
                        <a:t>1</a:t>
                      </a:r>
                      <a:endParaRPr lang="en-US" sz="1200" dirty="0">
                        <a:solidFill>
                          <a:schemeClr val="accent6">
                            <a:lumMod val="75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6">
                              <a:lumMod val="75000"/>
                            </a:schemeClr>
                          </a:solidFill>
                          <a:latin typeface="Times"/>
                          <a:ea typeface="Times New Roman"/>
                          <a:cs typeface="Times New Roman"/>
                        </a:rPr>
                        <a:t>0</a:t>
                      </a:r>
                      <a:endParaRPr lang="en-US" sz="1200" dirty="0">
                        <a:solidFill>
                          <a:schemeClr val="accent6">
                            <a:lumMod val="75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14020">
                <a:tc>
                  <a:txBody>
                    <a:bodyPr/>
                    <a:lstStyle/>
                    <a:p>
                      <a:pPr marL="0" marR="0" algn="ctr">
                        <a:spcBef>
                          <a:spcPts val="0"/>
                        </a:spcBef>
                        <a:spcAft>
                          <a:spcPts val="0"/>
                        </a:spcAft>
                      </a:pPr>
                      <a:r>
                        <a:rPr lang="en-US" sz="1600" b="1" dirty="0">
                          <a:solidFill>
                            <a:schemeClr val="accent6">
                              <a:lumMod val="75000"/>
                            </a:schemeClr>
                          </a:solidFill>
                          <a:latin typeface="Times"/>
                          <a:ea typeface="Times New Roman"/>
                          <a:cs typeface="Times New Roman"/>
                        </a:rPr>
                        <a:t>1</a:t>
                      </a:r>
                      <a:endParaRPr lang="en-US" sz="1200" dirty="0">
                        <a:solidFill>
                          <a:schemeClr val="accent6">
                            <a:lumMod val="75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6">
                              <a:lumMod val="75000"/>
                            </a:schemeClr>
                          </a:solidFill>
                          <a:latin typeface="Times"/>
                          <a:ea typeface="Times New Roman"/>
                          <a:cs typeface="Times New Roman"/>
                        </a:rPr>
                        <a:t>1</a:t>
                      </a:r>
                      <a:endParaRPr lang="en-US" sz="1200" dirty="0">
                        <a:solidFill>
                          <a:schemeClr val="accent6">
                            <a:lumMod val="75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6">
                              <a:lumMod val="75000"/>
                            </a:schemeClr>
                          </a:solidFill>
                          <a:latin typeface="Times"/>
                          <a:ea typeface="Times New Roman"/>
                          <a:cs typeface="Times New Roman"/>
                        </a:rPr>
                        <a:t>1</a:t>
                      </a:r>
                      <a:endParaRPr lang="en-US" sz="1200" dirty="0">
                        <a:solidFill>
                          <a:schemeClr val="accent6">
                            <a:lumMod val="75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6">
                              <a:lumMod val="75000"/>
                            </a:schemeClr>
                          </a:solidFill>
                          <a:latin typeface="Times"/>
                          <a:ea typeface="Times New Roman"/>
                          <a:cs typeface="Times New Roman"/>
                        </a:rPr>
                        <a:t>1</a:t>
                      </a:r>
                      <a:endParaRPr lang="en-US" sz="1200" dirty="0">
                        <a:solidFill>
                          <a:schemeClr val="accent6">
                            <a:lumMod val="75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6">
                              <a:lumMod val="75000"/>
                            </a:schemeClr>
                          </a:solidFill>
                          <a:latin typeface="Times"/>
                          <a:ea typeface="Times New Roman"/>
                          <a:cs typeface="Times New Roman"/>
                        </a:rPr>
                        <a:t>0</a:t>
                      </a:r>
                      <a:endParaRPr lang="en-US" sz="1200" dirty="0">
                        <a:solidFill>
                          <a:schemeClr val="accent6">
                            <a:lumMod val="75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1">
                              <a:lumMod val="50000"/>
                            </a:schemeClr>
                          </a:solidFill>
                          <a:latin typeface="Times"/>
                          <a:ea typeface="Times New Roman"/>
                          <a:cs typeface="Times New Roman"/>
                        </a:rPr>
                        <a:t>0</a:t>
                      </a:r>
                      <a:endParaRPr lang="en-US" sz="1200" dirty="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cxnSp>
        <p:nvCxnSpPr>
          <p:cNvPr id="8" name="Straight Arrow Connector 7"/>
          <p:cNvCxnSpPr/>
          <p:nvPr/>
        </p:nvCxnSpPr>
        <p:spPr>
          <a:xfrm flipV="1">
            <a:off x="1701676" y="2021304"/>
            <a:ext cx="2739695" cy="1306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flipH="1">
            <a:off x="1521090" y="2403566"/>
            <a:ext cx="5799" cy="176318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97145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 calcmode="lin" valueType="num">
                                      <p:cBhvr additive="base">
                                        <p:cTn id="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anim calcmode="lin" valueType="num">
                                      <p:cBhvr additive="base">
                                        <p:cTn id="1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Max Number of </a:t>
            </a:r>
            <a:r>
              <a:rPr lang="en-US" dirty="0" smtClean="0"/>
              <a:t>1’s</a:t>
            </a:r>
            <a:r>
              <a:rPr lang="en-US" dirty="0">
                <a:solidFill>
                  <a:schemeClr val="accent6">
                    <a:lumMod val="75000"/>
                  </a:schemeClr>
                </a:solidFill>
              </a:rPr>
              <a:t> </a:t>
            </a:r>
            <a:r>
              <a:rPr lang="en-US" sz="3200" dirty="0">
                <a:solidFill>
                  <a:schemeClr val="accent6">
                    <a:lumMod val="75000"/>
                  </a:schemeClr>
                </a:solidFill>
              </a:rPr>
              <a:t>(Example </a:t>
            </a:r>
            <a:r>
              <a:rPr lang="en-US" sz="3200" dirty="0" smtClean="0">
                <a:solidFill>
                  <a:schemeClr val="accent6">
                    <a:lumMod val="75000"/>
                  </a:schemeClr>
                </a:solidFill>
              </a:rPr>
              <a:t>02)</a:t>
            </a:r>
            <a:endParaRPr lang="en-US" sz="4800" dirty="0"/>
          </a:p>
        </p:txBody>
      </p:sp>
      <p:sp>
        <p:nvSpPr>
          <p:cNvPr id="3" name="Content Placeholder 2"/>
          <p:cNvSpPr>
            <a:spLocks noGrp="1"/>
          </p:cNvSpPr>
          <p:nvPr>
            <p:ph idx="1"/>
          </p:nvPr>
        </p:nvSpPr>
        <p:spPr/>
        <p:txBody>
          <a:bodyPr>
            <a:normAutofit fontScale="85000" lnSpcReduction="10000"/>
          </a:bodyPr>
          <a:lstStyle/>
          <a:p>
            <a:endParaRPr lang="en-US" dirty="0" smtClean="0"/>
          </a:p>
          <a:p>
            <a:endParaRPr lang="en-US" dirty="0"/>
          </a:p>
          <a:p>
            <a:endParaRPr lang="en-US" dirty="0" smtClean="0"/>
          </a:p>
          <a:p>
            <a:endParaRPr lang="en-US" dirty="0"/>
          </a:p>
          <a:p>
            <a:endParaRPr lang="en-US" dirty="0" smtClean="0"/>
          </a:p>
          <a:p>
            <a:r>
              <a:rPr lang="en-US" dirty="0" smtClean="0"/>
              <a:t>Rows 7 &amp; Columns 8</a:t>
            </a:r>
          </a:p>
          <a:p>
            <a:r>
              <a:rPr lang="en-US" dirty="0" smtClean="0"/>
              <a:t># of comparisons 30</a:t>
            </a:r>
          </a:p>
          <a:p>
            <a:r>
              <a:rPr lang="en-US" dirty="0" smtClean="0"/>
              <a:t>Max. Number of comparisons 7 x 8 = 56</a:t>
            </a:r>
            <a:endParaRPr lang="en-US" dirty="0"/>
          </a:p>
          <a:p>
            <a:endParaRPr lang="en-US" dirty="0"/>
          </a:p>
        </p:txBody>
      </p:sp>
      <p:sp>
        <p:nvSpPr>
          <p:cNvPr id="5" name="Slide Number Placeholder 4"/>
          <p:cNvSpPr>
            <a:spLocks noGrp="1"/>
          </p:cNvSpPr>
          <p:nvPr>
            <p:ph type="sldNum" sz="quarter" idx="12"/>
          </p:nvPr>
        </p:nvSpPr>
        <p:spPr/>
        <p:txBody>
          <a:bodyPr/>
          <a:lstStyle/>
          <a:p>
            <a:fld id="{DDC76627-6CEE-4E3A-AF80-81DF9B174472}" type="slidenum">
              <a:rPr lang="en-US" smtClean="0"/>
              <a:pPr/>
              <a:t>15</a:t>
            </a:fld>
            <a:endParaRPr lang="en-US"/>
          </a:p>
        </p:txBody>
      </p:sp>
      <p:graphicFrame>
        <p:nvGraphicFramePr>
          <p:cNvPr id="9" name="Table 8"/>
          <p:cNvGraphicFramePr>
            <a:graphicFrameLocks noGrp="1"/>
          </p:cNvGraphicFramePr>
          <p:nvPr>
            <p:extLst/>
          </p:nvPr>
        </p:nvGraphicFramePr>
        <p:xfrm>
          <a:off x="1682817" y="2156535"/>
          <a:ext cx="6703536" cy="2445002"/>
        </p:xfrm>
        <a:graphic>
          <a:graphicData uri="http://schemas.openxmlformats.org/drawingml/2006/table">
            <a:tbl>
              <a:tblPr/>
              <a:tblGrid>
                <a:gridCol w="837942">
                  <a:extLst>
                    <a:ext uri="{9D8B030D-6E8A-4147-A177-3AD203B41FA5}">
                      <a16:colId xmlns:a16="http://schemas.microsoft.com/office/drawing/2014/main" val="20000"/>
                    </a:ext>
                  </a:extLst>
                </a:gridCol>
                <a:gridCol w="837942">
                  <a:extLst>
                    <a:ext uri="{9D8B030D-6E8A-4147-A177-3AD203B41FA5}">
                      <a16:colId xmlns:a16="http://schemas.microsoft.com/office/drawing/2014/main" val="20001"/>
                    </a:ext>
                  </a:extLst>
                </a:gridCol>
                <a:gridCol w="837942">
                  <a:extLst>
                    <a:ext uri="{9D8B030D-6E8A-4147-A177-3AD203B41FA5}">
                      <a16:colId xmlns:a16="http://schemas.microsoft.com/office/drawing/2014/main" val="20002"/>
                    </a:ext>
                  </a:extLst>
                </a:gridCol>
                <a:gridCol w="837942">
                  <a:extLst>
                    <a:ext uri="{9D8B030D-6E8A-4147-A177-3AD203B41FA5}">
                      <a16:colId xmlns:a16="http://schemas.microsoft.com/office/drawing/2014/main" val="20003"/>
                    </a:ext>
                  </a:extLst>
                </a:gridCol>
                <a:gridCol w="837942">
                  <a:extLst>
                    <a:ext uri="{9D8B030D-6E8A-4147-A177-3AD203B41FA5}">
                      <a16:colId xmlns:a16="http://schemas.microsoft.com/office/drawing/2014/main" val="20004"/>
                    </a:ext>
                  </a:extLst>
                </a:gridCol>
                <a:gridCol w="837942">
                  <a:extLst>
                    <a:ext uri="{9D8B030D-6E8A-4147-A177-3AD203B41FA5}">
                      <a16:colId xmlns:a16="http://schemas.microsoft.com/office/drawing/2014/main" val="20005"/>
                    </a:ext>
                  </a:extLst>
                </a:gridCol>
                <a:gridCol w="837942">
                  <a:extLst>
                    <a:ext uri="{9D8B030D-6E8A-4147-A177-3AD203B41FA5}">
                      <a16:colId xmlns:a16="http://schemas.microsoft.com/office/drawing/2014/main" val="20006"/>
                    </a:ext>
                  </a:extLst>
                </a:gridCol>
                <a:gridCol w="837942">
                  <a:extLst>
                    <a:ext uri="{9D8B030D-6E8A-4147-A177-3AD203B41FA5}">
                      <a16:colId xmlns:a16="http://schemas.microsoft.com/office/drawing/2014/main" val="20007"/>
                    </a:ext>
                  </a:extLst>
                </a:gridCol>
              </a:tblGrid>
              <a:tr h="349286">
                <a:tc>
                  <a:txBody>
                    <a:bodyPr/>
                    <a:lstStyle/>
                    <a:p>
                      <a:pPr marL="0" marR="0" algn="ctr">
                        <a:spcBef>
                          <a:spcPts val="0"/>
                        </a:spcBef>
                        <a:spcAft>
                          <a:spcPts val="0"/>
                        </a:spcAft>
                      </a:pPr>
                      <a:r>
                        <a:rPr lang="en-US" sz="1600" b="1" dirty="0">
                          <a:solidFill>
                            <a:schemeClr val="accent6">
                              <a:lumMod val="75000"/>
                            </a:schemeClr>
                          </a:solidFill>
                          <a:latin typeface="Times"/>
                          <a:ea typeface="Times New Roman"/>
                          <a:cs typeface="Times New Roman"/>
                        </a:rPr>
                        <a:t>0</a:t>
                      </a:r>
                      <a:endParaRPr lang="en-US" sz="1200" dirty="0">
                        <a:solidFill>
                          <a:schemeClr val="accent6">
                            <a:lumMod val="75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a:solidFill>
                            <a:schemeClr val="accent1">
                              <a:lumMod val="50000"/>
                            </a:schemeClr>
                          </a:solidFill>
                          <a:latin typeface="Times"/>
                          <a:ea typeface="Times New Roman"/>
                          <a:cs typeface="Times New Roman"/>
                        </a:rPr>
                        <a:t>0</a:t>
                      </a:r>
                      <a:endParaRPr lang="en-US" sz="120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a:solidFill>
                            <a:schemeClr val="accent1">
                              <a:lumMod val="50000"/>
                            </a:schemeClr>
                          </a:solidFill>
                          <a:latin typeface="Times"/>
                          <a:ea typeface="Times New Roman"/>
                          <a:cs typeface="Times New Roman"/>
                        </a:rPr>
                        <a:t>0</a:t>
                      </a:r>
                      <a:endParaRPr lang="en-US" sz="120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a:solidFill>
                            <a:schemeClr val="accent1">
                              <a:lumMod val="50000"/>
                            </a:schemeClr>
                          </a:solidFill>
                          <a:latin typeface="Times"/>
                          <a:ea typeface="Times New Roman"/>
                          <a:cs typeface="Times New Roman"/>
                        </a:rPr>
                        <a:t>0</a:t>
                      </a:r>
                      <a:endParaRPr lang="en-US" sz="120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a:solidFill>
                            <a:schemeClr val="accent1">
                              <a:lumMod val="50000"/>
                            </a:schemeClr>
                          </a:solidFill>
                          <a:latin typeface="Times"/>
                          <a:ea typeface="Times New Roman"/>
                          <a:cs typeface="Times New Roman"/>
                        </a:rPr>
                        <a:t>0</a:t>
                      </a:r>
                      <a:endParaRPr lang="en-US" sz="120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a:solidFill>
                            <a:schemeClr val="accent1">
                              <a:lumMod val="50000"/>
                            </a:schemeClr>
                          </a:solidFill>
                          <a:latin typeface="Times"/>
                          <a:ea typeface="Times New Roman"/>
                          <a:cs typeface="Times New Roman"/>
                        </a:rPr>
                        <a:t>0</a:t>
                      </a:r>
                      <a:endParaRPr lang="en-US" sz="120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a:solidFill>
                            <a:schemeClr val="accent1">
                              <a:lumMod val="50000"/>
                            </a:schemeClr>
                          </a:solidFill>
                          <a:latin typeface="Times"/>
                          <a:ea typeface="Times New Roman"/>
                          <a:cs typeface="Times New Roman"/>
                        </a:rPr>
                        <a:t>0</a:t>
                      </a:r>
                      <a:endParaRPr lang="en-US" sz="120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a:solidFill>
                            <a:schemeClr val="accent1">
                              <a:lumMod val="50000"/>
                            </a:schemeClr>
                          </a:solidFill>
                          <a:latin typeface="Times"/>
                          <a:ea typeface="Times New Roman"/>
                          <a:cs typeface="Times New Roman"/>
                        </a:rPr>
                        <a:t>0</a:t>
                      </a:r>
                      <a:endParaRPr lang="en-US" sz="120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49286">
                <a:tc>
                  <a:txBody>
                    <a:bodyPr/>
                    <a:lstStyle/>
                    <a:p>
                      <a:pPr marL="0" marR="0" algn="ctr">
                        <a:spcBef>
                          <a:spcPts val="0"/>
                        </a:spcBef>
                        <a:spcAft>
                          <a:spcPts val="0"/>
                        </a:spcAft>
                      </a:pPr>
                      <a:r>
                        <a:rPr lang="en-US" sz="1600" b="1" dirty="0">
                          <a:solidFill>
                            <a:schemeClr val="accent6">
                              <a:lumMod val="75000"/>
                            </a:schemeClr>
                          </a:solidFill>
                          <a:latin typeface="Times"/>
                          <a:ea typeface="Times New Roman"/>
                          <a:cs typeface="Times New Roman"/>
                        </a:rPr>
                        <a:t>1</a:t>
                      </a:r>
                      <a:endParaRPr lang="en-US" sz="1200" dirty="0">
                        <a:solidFill>
                          <a:schemeClr val="accent6">
                            <a:lumMod val="75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6">
                              <a:lumMod val="75000"/>
                            </a:schemeClr>
                          </a:solidFill>
                          <a:latin typeface="Times"/>
                          <a:ea typeface="Times New Roman"/>
                          <a:cs typeface="Times New Roman"/>
                        </a:rPr>
                        <a:t>1</a:t>
                      </a:r>
                      <a:endParaRPr lang="en-US" sz="1200" dirty="0">
                        <a:solidFill>
                          <a:schemeClr val="accent6">
                            <a:lumMod val="75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6">
                              <a:lumMod val="75000"/>
                            </a:schemeClr>
                          </a:solidFill>
                          <a:latin typeface="Times"/>
                          <a:ea typeface="Times New Roman"/>
                          <a:cs typeface="Times New Roman"/>
                        </a:rPr>
                        <a:t>0</a:t>
                      </a:r>
                      <a:endParaRPr lang="en-US" sz="1200" dirty="0">
                        <a:solidFill>
                          <a:schemeClr val="accent6">
                            <a:lumMod val="75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a:solidFill>
                            <a:schemeClr val="accent1">
                              <a:lumMod val="50000"/>
                            </a:schemeClr>
                          </a:solidFill>
                          <a:latin typeface="Times"/>
                          <a:ea typeface="Times New Roman"/>
                          <a:cs typeface="Times New Roman"/>
                        </a:rPr>
                        <a:t>0</a:t>
                      </a:r>
                      <a:endParaRPr lang="en-US" sz="120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a:solidFill>
                            <a:schemeClr val="accent1">
                              <a:lumMod val="50000"/>
                            </a:schemeClr>
                          </a:solidFill>
                          <a:latin typeface="Times"/>
                          <a:ea typeface="Times New Roman"/>
                          <a:cs typeface="Times New Roman"/>
                        </a:rPr>
                        <a:t>0</a:t>
                      </a:r>
                      <a:endParaRPr lang="en-US" sz="120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a:solidFill>
                            <a:schemeClr val="accent1">
                              <a:lumMod val="50000"/>
                            </a:schemeClr>
                          </a:solidFill>
                          <a:latin typeface="Times"/>
                          <a:ea typeface="Times New Roman"/>
                          <a:cs typeface="Times New Roman"/>
                        </a:rPr>
                        <a:t>0</a:t>
                      </a:r>
                      <a:endParaRPr lang="en-US" sz="120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a:solidFill>
                            <a:schemeClr val="accent1">
                              <a:lumMod val="50000"/>
                            </a:schemeClr>
                          </a:solidFill>
                          <a:latin typeface="Times"/>
                          <a:ea typeface="Times New Roman"/>
                          <a:cs typeface="Times New Roman"/>
                        </a:rPr>
                        <a:t>0</a:t>
                      </a:r>
                      <a:endParaRPr lang="en-US" sz="120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a:solidFill>
                            <a:schemeClr val="accent1">
                              <a:lumMod val="50000"/>
                            </a:schemeClr>
                          </a:solidFill>
                          <a:latin typeface="Times"/>
                          <a:ea typeface="Times New Roman"/>
                          <a:cs typeface="Times New Roman"/>
                        </a:rPr>
                        <a:t>0</a:t>
                      </a:r>
                      <a:endParaRPr lang="en-US" sz="120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49286">
                <a:tc>
                  <a:txBody>
                    <a:bodyPr/>
                    <a:lstStyle/>
                    <a:p>
                      <a:pPr marL="0" marR="0" algn="ctr">
                        <a:spcBef>
                          <a:spcPts val="0"/>
                        </a:spcBef>
                        <a:spcAft>
                          <a:spcPts val="0"/>
                        </a:spcAft>
                      </a:pPr>
                      <a:r>
                        <a:rPr lang="en-US" sz="1600" b="1" dirty="0">
                          <a:solidFill>
                            <a:schemeClr val="accent6">
                              <a:lumMod val="75000"/>
                            </a:schemeClr>
                          </a:solidFill>
                          <a:latin typeface="Times"/>
                          <a:ea typeface="Times New Roman"/>
                          <a:cs typeface="Times New Roman"/>
                        </a:rPr>
                        <a:t>1</a:t>
                      </a:r>
                      <a:endParaRPr lang="en-US" sz="1200" dirty="0">
                        <a:solidFill>
                          <a:schemeClr val="accent6">
                            <a:lumMod val="75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6">
                              <a:lumMod val="75000"/>
                            </a:schemeClr>
                          </a:solidFill>
                          <a:latin typeface="Times"/>
                          <a:ea typeface="Times New Roman"/>
                          <a:cs typeface="Times New Roman"/>
                        </a:rPr>
                        <a:t>0</a:t>
                      </a:r>
                      <a:endParaRPr lang="en-US" sz="1200" dirty="0">
                        <a:solidFill>
                          <a:schemeClr val="accent6">
                            <a:lumMod val="75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1">
                              <a:lumMod val="50000"/>
                            </a:schemeClr>
                          </a:solidFill>
                          <a:latin typeface="Times"/>
                          <a:ea typeface="Times New Roman"/>
                          <a:cs typeface="Times New Roman"/>
                        </a:rPr>
                        <a:t>0</a:t>
                      </a:r>
                      <a:endParaRPr lang="en-US" sz="1200" dirty="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a:solidFill>
                            <a:schemeClr val="accent1">
                              <a:lumMod val="50000"/>
                            </a:schemeClr>
                          </a:solidFill>
                          <a:latin typeface="Times"/>
                          <a:ea typeface="Times New Roman"/>
                          <a:cs typeface="Times New Roman"/>
                        </a:rPr>
                        <a:t>0</a:t>
                      </a:r>
                      <a:endParaRPr lang="en-US" sz="120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a:solidFill>
                            <a:schemeClr val="accent1">
                              <a:lumMod val="50000"/>
                            </a:schemeClr>
                          </a:solidFill>
                          <a:latin typeface="Times"/>
                          <a:ea typeface="Times New Roman"/>
                          <a:cs typeface="Times New Roman"/>
                        </a:rPr>
                        <a:t>0</a:t>
                      </a:r>
                      <a:endParaRPr lang="en-US" sz="120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a:solidFill>
                            <a:schemeClr val="accent1">
                              <a:lumMod val="50000"/>
                            </a:schemeClr>
                          </a:solidFill>
                          <a:latin typeface="Times"/>
                          <a:ea typeface="Times New Roman"/>
                          <a:cs typeface="Times New Roman"/>
                        </a:rPr>
                        <a:t>0</a:t>
                      </a:r>
                      <a:endParaRPr lang="en-US" sz="120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a:solidFill>
                            <a:schemeClr val="accent1">
                              <a:lumMod val="50000"/>
                            </a:schemeClr>
                          </a:solidFill>
                          <a:latin typeface="Times"/>
                          <a:ea typeface="Times New Roman"/>
                          <a:cs typeface="Times New Roman"/>
                        </a:rPr>
                        <a:t>0</a:t>
                      </a:r>
                      <a:endParaRPr lang="en-US" sz="120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a:solidFill>
                            <a:schemeClr val="accent1">
                              <a:lumMod val="50000"/>
                            </a:schemeClr>
                          </a:solidFill>
                          <a:latin typeface="Times"/>
                          <a:ea typeface="Times New Roman"/>
                          <a:cs typeface="Times New Roman"/>
                        </a:rPr>
                        <a:t>0</a:t>
                      </a:r>
                      <a:endParaRPr lang="en-US" sz="120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49286">
                <a:tc>
                  <a:txBody>
                    <a:bodyPr/>
                    <a:lstStyle/>
                    <a:p>
                      <a:pPr marL="0" marR="0" algn="ctr">
                        <a:spcBef>
                          <a:spcPts val="0"/>
                        </a:spcBef>
                        <a:spcAft>
                          <a:spcPts val="0"/>
                        </a:spcAft>
                      </a:pPr>
                      <a:r>
                        <a:rPr lang="en-US" sz="1600" b="1" dirty="0">
                          <a:solidFill>
                            <a:schemeClr val="accent6">
                              <a:lumMod val="75000"/>
                            </a:schemeClr>
                          </a:solidFill>
                          <a:latin typeface="Times"/>
                          <a:ea typeface="Times New Roman"/>
                          <a:cs typeface="Times New Roman"/>
                        </a:rPr>
                        <a:t>1</a:t>
                      </a:r>
                      <a:endParaRPr lang="en-US" sz="1200" dirty="0">
                        <a:solidFill>
                          <a:schemeClr val="accent6">
                            <a:lumMod val="75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6">
                              <a:lumMod val="75000"/>
                            </a:schemeClr>
                          </a:solidFill>
                          <a:latin typeface="Times"/>
                          <a:ea typeface="Times New Roman"/>
                          <a:cs typeface="Times New Roman"/>
                        </a:rPr>
                        <a:t>1</a:t>
                      </a:r>
                      <a:endParaRPr lang="en-US" sz="1200" dirty="0">
                        <a:solidFill>
                          <a:schemeClr val="accent6">
                            <a:lumMod val="75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6">
                              <a:lumMod val="75000"/>
                            </a:schemeClr>
                          </a:solidFill>
                          <a:latin typeface="Times"/>
                          <a:ea typeface="Times New Roman"/>
                          <a:cs typeface="Times New Roman"/>
                        </a:rPr>
                        <a:t>1</a:t>
                      </a:r>
                      <a:endParaRPr lang="en-US" sz="1200" dirty="0">
                        <a:solidFill>
                          <a:schemeClr val="accent6">
                            <a:lumMod val="75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6">
                              <a:lumMod val="75000"/>
                            </a:schemeClr>
                          </a:solidFill>
                          <a:latin typeface="Times"/>
                          <a:ea typeface="Times New Roman"/>
                          <a:cs typeface="Times New Roman"/>
                        </a:rPr>
                        <a:t>0</a:t>
                      </a:r>
                      <a:endParaRPr lang="en-US" sz="1200" dirty="0">
                        <a:solidFill>
                          <a:schemeClr val="accent6">
                            <a:lumMod val="75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1">
                              <a:lumMod val="50000"/>
                            </a:schemeClr>
                          </a:solidFill>
                          <a:latin typeface="Times"/>
                          <a:ea typeface="Times New Roman"/>
                          <a:cs typeface="Times New Roman"/>
                        </a:rPr>
                        <a:t>0</a:t>
                      </a:r>
                      <a:endParaRPr lang="en-US" sz="1200" dirty="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a:solidFill>
                            <a:schemeClr val="accent1">
                              <a:lumMod val="50000"/>
                            </a:schemeClr>
                          </a:solidFill>
                          <a:latin typeface="Times"/>
                          <a:ea typeface="Times New Roman"/>
                          <a:cs typeface="Times New Roman"/>
                        </a:rPr>
                        <a:t>0</a:t>
                      </a:r>
                      <a:endParaRPr lang="en-US" sz="120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a:solidFill>
                            <a:schemeClr val="accent1">
                              <a:lumMod val="50000"/>
                            </a:schemeClr>
                          </a:solidFill>
                          <a:latin typeface="Times"/>
                          <a:ea typeface="Times New Roman"/>
                          <a:cs typeface="Times New Roman"/>
                        </a:rPr>
                        <a:t>0</a:t>
                      </a:r>
                      <a:endParaRPr lang="en-US" sz="120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a:solidFill>
                            <a:schemeClr val="accent1">
                              <a:lumMod val="50000"/>
                            </a:schemeClr>
                          </a:solidFill>
                          <a:latin typeface="Times"/>
                          <a:ea typeface="Times New Roman"/>
                          <a:cs typeface="Times New Roman"/>
                        </a:rPr>
                        <a:t>0</a:t>
                      </a:r>
                      <a:endParaRPr lang="en-US" sz="120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49286">
                <a:tc>
                  <a:txBody>
                    <a:bodyPr/>
                    <a:lstStyle/>
                    <a:p>
                      <a:pPr marL="0" marR="0" algn="ctr">
                        <a:spcBef>
                          <a:spcPts val="0"/>
                        </a:spcBef>
                        <a:spcAft>
                          <a:spcPts val="0"/>
                        </a:spcAft>
                      </a:pPr>
                      <a:r>
                        <a:rPr lang="en-US" sz="1600" b="1" dirty="0">
                          <a:solidFill>
                            <a:schemeClr val="accent6">
                              <a:lumMod val="75000"/>
                            </a:schemeClr>
                          </a:solidFill>
                          <a:latin typeface="Times"/>
                          <a:ea typeface="Times New Roman"/>
                          <a:cs typeface="Times New Roman"/>
                        </a:rPr>
                        <a:t>1</a:t>
                      </a:r>
                      <a:endParaRPr lang="en-US" sz="1200" dirty="0">
                        <a:solidFill>
                          <a:schemeClr val="accent6">
                            <a:lumMod val="75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6">
                              <a:lumMod val="75000"/>
                            </a:schemeClr>
                          </a:solidFill>
                          <a:latin typeface="Times"/>
                          <a:ea typeface="Times New Roman"/>
                          <a:cs typeface="Times New Roman"/>
                        </a:rPr>
                        <a:t>1</a:t>
                      </a:r>
                      <a:endParaRPr lang="en-US" sz="1200" dirty="0">
                        <a:solidFill>
                          <a:schemeClr val="accent6">
                            <a:lumMod val="75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6">
                              <a:lumMod val="75000"/>
                            </a:schemeClr>
                          </a:solidFill>
                          <a:latin typeface="Times"/>
                          <a:ea typeface="Times New Roman"/>
                          <a:cs typeface="Times New Roman"/>
                        </a:rPr>
                        <a:t>1</a:t>
                      </a:r>
                      <a:endParaRPr lang="en-US" sz="1200" dirty="0">
                        <a:solidFill>
                          <a:schemeClr val="accent6">
                            <a:lumMod val="75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6">
                              <a:lumMod val="75000"/>
                            </a:schemeClr>
                          </a:solidFill>
                          <a:latin typeface="Times"/>
                          <a:ea typeface="Times New Roman"/>
                          <a:cs typeface="Times New Roman"/>
                        </a:rPr>
                        <a:t>1</a:t>
                      </a:r>
                      <a:endParaRPr lang="en-US" sz="1200" dirty="0">
                        <a:solidFill>
                          <a:schemeClr val="accent6">
                            <a:lumMod val="75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6">
                              <a:lumMod val="75000"/>
                            </a:schemeClr>
                          </a:solidFill>
                          <a:latin typeface="Times"/>
                          <a:ea typeface="Times New Roman"/>
                          <a:cs typeface="Times New Roman"/>
                        </a:rPr>
                        <a:t>0</a:t>
                      </a:r>
                      <a:endParaRPr lang="en-US" sz="1200" dirty="0">
                        <a:solidFill>
                          <a:schemeClr val="accent6">
                            <a:lumMod val="75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1">
                              <a:lumMod val="50000"/>
                            </a:schemeClr>
                          </a:solidFill>
                          <a:latin typeface="Times"/>
                          <a:ea typeface="Times New Roman"/>
                          <a:cs typeface="Times New Roman"/>
                        </a:rPr>
                        <a:t>0</a:t>
                      </a:r>
                      <a:endParaRPr lang="en-US" sz="1200" dirty="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1">
                              <a:lumMod val="50000"/>
                            </a:schemeClr>
                          </a:solidFill>
                          <a:latin typeface="Times"/>
                          <a:ea typeface="Times New Roman"/>
                          <a:cs typeface="Times New Roman"/>
                        </a:rPr>
                        <a:t>0</a:t>
                      </a:r>
                      <a:endParaRPr lang="en-US" sz="1200" dirty="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a:solidFill>
                            <a:schemeClr val="accent1">
                              <a:lumMod val="50000"/>
                            </a:schemeClr>
                          </a:solidFill>
                          <a:latin typeface="Times"/>
                          <a:ea typeface="Times New Roman"/>
                          <a:cs typeface="Times New Roman"/>
                        </a:rPr>
                        <a:t>0</a:t>
                      </a:r>
                      <a:endParaRPr lang="en-US" sz="120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349286">
                <a:tc>
                  <a:txBody>
                    <a:bodyPr/>
                    <a:lstStyle/>
                    <a:p>
                      <a:pPr marL="0" marR="0" algn="ctr">
                        <a:spcBef>
                          <a:spcPts val="0"/>
                        </a:spcBef>
                        <a:spcAft>
                          <a:spcPts val="0"/>
                        </a:spcAft>
                      </a:pPr>
                      <a:r>
                        <a:rPr lang="en-US" sz="1600" b="1" dirty="0">
                          <a:solidFill>
                            <a:schemeClr val="accent6">
                              <a:lumMod val="75000"/>
                            </a:schemeClr>
                          </a:solidFill>
                          <a:latin typeface="Times"/>
                          <a:ea typeface="Times New Roman"/>
                          <a:cs typeface="Times New Roman"/>
                        </a:rPr>
                        <a:t>1</a:t>
                      </a:r>
                      <a:endParaRPr lang="en-US" sz="1200" dirty="0">
                        <a:solidFill>
                          <a:schemeClr val="accent6">
                            <a:lumMod val="75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6">
                              <a:lumMod val="75000"/>
                            </a:schemeClr>
                          </a:solidFill>
                          <a:latin typeface="Times"/>
                          <a:ea typeface="Times New Roman"/>
                          <a:cs typeface="Times New Roman"/>
                        </a:rPr>
                        <a:t>1</a:t>
                      </a:r>
                      <a:endParaRPr lang="en-US" sz="1200" dirty="0">
                        <a:solidFill>
                          <a:schemeClr val="accent6">
                            <a:lumMod val="75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6">
                              <a:lumMod val="75000"/>
                            </a:schemeClr>
                          </a:solidFill>
                          <a:latin typeface="Times"/>
                          <a:ea typeface="Times New Roman"/>
                          <a:cs typeface="Times New Roman"/>
                        </a:rPr>
                        <a:t>1</a:t>
                      </a:r>
                      <a:endParaRPr lang="en-US" sz="1200" dirty="0">
                        <a:solidFill>
                          <a:schemeClr val="accent6">
                            <a:lumMod val="75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6">
                              <a:lumMod val="75000"/>
                            </a:schemeClr>
                          </a:solidFill>
                          <a:latin typeface="Times"/>
                          <a:ea typeface="Times New Roman"/>
                          <a:cs typeface="Times New Roman"/>
                        </a:rPr>
                        <a:t>1</a:t>
                      </a:r>
                      <a:endParaRPr lang="en-US" sz="1200" dirty="0">
                        <a:solidFill>
                          <a:schemeClr val="accent6">
                            <a:lumMod val="75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6">
                              <a:lumMod val="75000"/>
                            </a:schemeClr>
                          </a:solidFill>
                          <a:latin typeface="Times"/>
                          <a:ea typeface="Times New Roman"/>
                          <a:cs typeface="Times New Roman"/>
                        </a:rPr>
                        <a:t>1</a:t>
                      </a:r>
                      <a:endParaRPr lang="en-US" sz="1200" dirty="0">
                        <a:solidFill>
                          <a:schemeClr val="accent6">
                            <a:lumMod val="75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6">
                              <a:lumMod val="75000"/>
                            </a:schemeClr>
                          </a:solidFill>
                          <a:latin typeface="Times"/>
                          <a:ea typeface="Times New Roman"/>
                          <a:cs typeface="Times New Roman"/>
                        </a:rPr>
                        <a:t>1</a:t>
                      </a:r>
                      <a:endParaRPr lang="en-US" sz="1200" dirty="0">
                        <a:solidFill>
                          <a:schemeClr val="accent6">
                            <a:lumMod val="75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6">
                              <a:lumMod val="75000"/>
                            </a:schemeClr>
                          </a:solidFill>
                          <a:latin typeface="Times"/>
                          <a:ea typeface="Times New Roman"/>
                          <a:cs typeface="Times New Roman"/>
                        </a:rPr>
                        <a:t>0</a:t>
                      </a:r>
                      <a:endParaRPr lang="en-US" sz="1200" dirty="0">
                        <a:solidFill>
                          <a:schemeClr val="accent6">
                            <a:lumMod val="75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a:solidFill>
                            <a:schemeClr val="accent1">
                              <a:lumMod val="50000"/>
                            </a:schemeClr>
                          </a:solidFill>
                          <a:latin typeface="Times"/>
                          <a:ea typeface="Times New Roman"/>
                          <a:cs typeface="Times New Roman"/>
                        </a:rPr>
                        <a:t>0</a:t>
                      </a:r>
                      <a:endParaRPr lang="en-US" sz="120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349286">
                <a:tc>
                  <a:txBody>
                    <a:bodyPr/>
                    <a:lstStyle/>
                    <a:p>
                      <a:pPr marL="0" marR="0" algn="ctr">
                        <a:spcBef>
                          <a:spcPts val="0"/>
                        </a:spcBef>
                        <a:spcAft>
                          <a:spcPts val="0"/>
                        </a:spcAft>
                      </a:pPr>
                      <a:r>
                        <a:rPr lang="en-US" sz="1600" b="1" dirty="0">
                          <a:solidFill>
                            <a:schemeClr val="accent6">
                              <a:lumMod val="75000"/>
                            </a:schemeClr>
                          </a:solidFill>
                          <a:latin typeface="Times"/>
                          <a:ea typeface="Times New Roman"/>
                          <a:cs typeface="Times New Roman"/>
                        </a:rPr>
                        <a:t>1</a:t>
                      </a:r>
                      <a:endParaRPr lang="en-US" sz="1200" dirty="0">
                        <a:solidFill>
                          <a:schemeClr val="accent6">
                            <a:lumMod val="75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6">
                              <a:lumMod val="75000"/>
                            </a:schemeClr>
                          </a:solidFill>
                          <a:latin typeface="Times"/>
                          <a:ea typeface="Times New Roman"/>
                          <a:cs typeface="Times New Roman"/>
                        </a:rPr>
                        <a:t>1</a:t>
                      </a:r>
                      <a:endParaRPr lang="en-US" sz="1200" dirty="0">
                        <a:solidFill>
                          <a:schemeClr val="accent6">
                            <a:lumMod val="75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6">
                              <a:lumMod val="75000"/>
                            </a:schemeClr>
                          </a:solidFill>
                          <a:latin typeface="Times"/>
                          <a:ea typeface="Times New Roman"/>
                          <a:cs typeface="Times New Roman"/>
                        </a:rPr>
                        <a:t>1</a:t>
                      </a:r>
                      <a:endParaRPr lang="en-US" sz="1200" dirty="0">
                        <a:solidFill>
                          <a:schemeClr val="accent6">
                            <a:lumMod val="75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6">
                              <a:lumMod val="75000"/>
                            </a:schemeClr>
                          </a:solidFill>
                          <a:latin typeface="Times"/>
                          <a:ea typeface="Times New Roman"/>
                          <a:cs typeface="Times New Roman"/>
                        </a:rPr>
                        <a:t>1</a:t>
                      </a:r>
                      <a:endParaRPr lang="en-US" sz="1200" dirty="0">
                        <a:solidFill>
                          <a:schemeClr val="accent6">
                            <a:lumMod val="75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6">
                              <a:lumMod val="75000"/>
                            </a:schemeClr>
                          </a:solidFill>
                          <a:latin typeface="Times"/>
                          <a:ea typeface="Times New Roman"/>
                          <a:cs typeface="Times New Roman"/>
                        </a:rPr>
                        <a:t>1</a:t>
                      </a:r>
                      <a:endParaRPr lang="en-US" sz="1200" dirty="0">
                        <a:solidFill>
                          <a:schemeClr val="accent6">
                            <a:lumMod val="75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6">
                              <a:lumMod val="75000"/>
                            </a:schemeClr>
                          </a:solidFill>
                          <a:latin typeface="Times"/>
                          <a:ea typeface="Times New Roman"/>
                          <a:cs typeface="Times New Roman"/>
                        </a:rPr>
                        <a:t>1</a:t>
                      </a:r>
                      <a:endParaRPr lang="en-US" sz="1200" dirty="0">
                        <a:solidFill>
                          <a:schemeClr val="accent6">
                            <a:lumMod val="75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6">
                              <a:lumMod val="75000"/>
                            </a:schemeClr>
                          </a:solidFill>
                          <a:latin typeface="Times"/>
                          <a:ea typeface="Times New Roman"/>
                          <a:cs typeface="Times New Roman"/>
                        </a:rPr>
                        <a:t>1</a:t>
                      </a:r>
                      <a:endParaRPr lang="en-US" sz="1200" dirty="0">
                        <a:solidFill>
                          <a:schemeClr val="accent6">
                            <a:lumMod val="75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6">
                              <a:lumMod val="75000"/>
                            </a:schemeClr>
                          </a:solidFill>
                          <a:latin typeface="Times"/>
                          <a:ea typeface="Times New Roman"/>
                          <a:cs typeface="Times New Roman"/>
                        </a:rPr>
                        <a:t>0</a:t>
                      </a:r>
                      <a:endParaRPr lang="en-US" sz="1200" dirty="0">
                        <a:solidFill>
                          <a:schemeClr val="accent6">
                            <a:lumMod val="75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421468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 calcmode="lin" valueType="num">
                                      <p:cBhvr additive="base">
                                        <p:cTn id="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anim calcmode="lin" valueType="num">
                                      <p:cBhvr additive="base">
                                        <p:cTn id="1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 calcmode="lin" valueType="num">
                                      <p:cBhvr additive="base">
                                        <p:cTn id="1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Max Number of </a:t>
            </a:r>
            <a:r>
              <a:rPr lang="en-US" dirty="0" smtClean="0"/>
              <a:t>1’s </a:t>
            </a:r>
            <a:r>
              <a:rPr lang="en-US" sz="2400" dirty="0" smtClean="0">
                <a:solidFill>
                  <a:schemeClr val="accent6">
                    <a:lumMod val="75000"/>
                  </a:schemeClr>
                </a:solidFill>
              </a:rPr>
              <a:t>(Analysis)</a:t>
            </a:r>
            <a:endParaRPr lang="en-US" dirty="0"/>
          </a:p>
        </p:txBody>
      </p:sp>
      <p:sp>
        <p:nvSpPr>
          <p:cNvPr id="3" name="Content Placeholder 2"/>
          <p:cNvSpPr>
            <a:spLocks noGrp="1"/>
          </p:cNvSpPr>
          <p:nvPr>
            <p:ph idx="1"/>
          </p:nvPr>
        </p:nvSpPr>
        <p:spPr/>
        <p:txBody>
          <a:bodyPr>
            <a:normAutofit fontScale="77500" lnSpcReduction="20000"/>
          </a:bodyPr>
          <a:lstStyle/>
          <a:p>
            <a:r>
              <a:rPr lang="en-US" sz="2900" dirty="0"/>
              <a:t>Analysis of Straightforward Solution:</a:t>
            </a:r>
          </a:p>
          <a:p>
            <a:pPr lvl="1"/>
            <a:r>
              <a:rPr lang="en-US" sz="2500" dirty="0"/>
              <a:t>Basically we iterate through each square that contains a 1, as well as the first 0 in each row</a:t>
            </a:r>
          </a:p>
          <a:p>
            <a:pPr lvl="1"/>
            <a:r>
              <a:rPr lang="en-US" sz="2500" dirty="0"/>
              <a:t>If all cells were 0, we would only “visit” one cell per row, resulting in n visited cells</a:t>
            </a:r>
          </a:p>
          <a:p>
            <a:pPr lvl="1"/>
            <a:r>
              <a:rPr lang="en-US" sz="2500" dirty="0"/>
              <a:t>However, if all cells were 1’s, we would “visit” all of the cells (</a:t>
            </a:r>
            <a:r>
              <a:rPr lang="en-US" sz="2500" b="1" dirty="0">
                <a:solidFill>
                  <a:schemeClr val="accent6">
                    <a:lumMod val="75000"/>
                  </a:schemeClr>
                </a:solidFill>
              </a:rPr>
              <a:t>n</a:t>
            </a:r>
            <a:r>
              <a:rPr lang="en-US" sz="2500" b="1" baseline="30000" dirty="0">
                <a:solidFill>
                  <a:schemeClr val="accent6">
                    <a:lumMod val="75000"/>
                  </a:schemeClr>
                </a:solidFill>
              </a:rPr>
              <a:t>2</a:t>
            </a:r>
            <a:r>
              <a:rPr lang="en-US" sz="2500" dirty="0">
                <a:solidFill>
                  <a:schemeClr val="accent6">
                    <a:lumMod val="75000"/>
                  </a:schemeClr>
                </a:solidFill>
              </a:rPr>
              <a:t> </a:t>
            </a:r>
            <a:r>
              <a:rPr lang="en-US" sz="2500" dirty="0"/>
              <a:t>total)</a:t>
            </a:r>
          </a:p>
          <a:p>
            <a:pPr lvl="2"/>
            <a:r>
              <a:rPr lang="en-US" sz="2200" dirty="0"/>
              <a:t>So in the worst case, the number of simple steps the algorithm takes would be approximately n</a:t>
            </a:r>
            <a:r>
              <a:rPr lang="en-US" sz="2200" baseline="30000" dirty="0"/>
              <a:t>2</a:t>
            </a:r>
          </a:p>
          <a:p>
            <a:pPr lvl="1"/>
            <a:r>
              <a:rPr lang="en-US" sz="2600" dirty="0"/>
              <a:t>This makes the running time of this algorithm </a:t>
            </a:r>
            <a:r>
              <a:rPr lang="en-US" sz="2600" b="1" dirty="0">
                <a:solidFill>
                  <a:schemeClr val="accent6">
                    <a:lumMod val="75000"/>
                  </a:schemeClr>
                </a:solidFill>
              </a:rPr>
              <a:t>O(n</a:t>
            </a:r>
            <a:r>
              <a:rPr lang="en-US" sz="2600" b="1" baseline="30000" dirty="0">
                <a:solidFill>
                  <a:schemeClr val="accent6">
                    <a:lumMod val="75000"/>
                  </a:schemeClr>
                </a:solidFill>
              </a:rPr>
              <a:t>2</a:t>
            </a:r>
            <a:r>
              <a:rPr lang="en-US" sz="2600" b="1" dirty="0">
                <a:solidFill>
                  <a:schemeClr val="accent6">
                    <a:lumMod val="75000"/>
                  </a:schemeClr>
                </a:solidFill>
              </a:rPr>
              <a:t>)</a:t>
            </a:r>
          </a:p>
          <a:p>
            <a:pPr lvl="2"/>
            <a:r>
              <a:rPr lang="en-US" sz="2200" dirty="0"/>
              <a:t>The meaning of this Big-O will be discussed later in the semester</a:t>
            </a:r>
          </a:p>
          <a:p>
            <a:endParaRPr lang="en-US" dirty="0"/>
          </a:p>
        </p:txBody>
      </p:sp>
      <p:sp>
        <p:nvSpPr>
          <p:cNvPr id="5" name="Slide Number Placeholder 4"/>
          <p:cNvSpPr>
            <a:spLocks noGrp="1"/>
          </p:cNvSpPr>
          <p:nvPr>
            <p:ph type="sldNum" sz="quarter" idx="12"/>
          </p:nvPr>
        </p:nvSpPr>
        <p:spPr/>
        <p:txBody>
          <a:bodyPr/>
          <a:lstStyle/>
          <a:p>
            <a:fld id="{DDC76627-6CEE-4E3A-AF80-81DF9B174472}" type="slidenum">
              <a:rPr lang="en-US" smtClean="0"/>
              <a:pPr/>
              <a:t>16</a:t>
            </a:fld>
            <a:endParaRPr lang="en-US"/>
          </a:p>
        </p:txBody>
      </p:sp>
    </p:spTree>
    <p:extLst>
      <p:ext uri="{BB962C8B-B14F-4D97-AF65-F5344CB8AC3E}">
        <p14:creationId xmlns:p14="http://schemas.microsoft.com/office/powerpoint/2010/main" val="3845189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Max Number of </a:t>
            </a:r>
            <a:r>
              <a:rPr lang="en-US" dirty="0" smtClean="0"/>
              <a:t>1’s </a:t>
            </a:r>
            <a:r>
              <a:rPr lang="en-US" sz="2800" dirty="0" smtClean="0">
                <a:solidFill>
                  <a:schemeClr val="accent6">
                    <a:lumMod val="75000"/>
                  </a:schemeClr>
                </a:solidFill>
              </a:rPr>
              <a:t>(</a:t>
            </a:r>
            <a:r>
              <a:rPr lang="en-US" sz="2800" dirty="0">
                <a:solidFill>
                  <a:schemeClr val="accent6">
                    <a:lumMod val="75000"/>
                  </a:schemeClr>
                </a:solidFill>
              </a:rPr>
              <a:t>O</a:t>
            </a:r>
            <a:r>
              <a:rPr lang="en-US" sz="2800" dirty="0" smtClean="0">
                <a:solidFill>
                  <a:schemeClr val="accent6">
                    <a:lumMod val="75000"/>
                  </a:schemeClr>
                </a:solidFill>
              </a:rPr>
              <a:t>ptimal Solution)</a:t>
            </a:r>
            <a:endParaRPr lang="en-US" dirty="0">
              <a:solidFill>
                <a:schemeClr val="accent6">
                  <a:lumMod val="75000"/>
                </a:schemeClr>
              </a:solidFill>
            </a:endParaRPr>
          </a:p>
        </p:txBody>
      </p:sp>
      <p:sp>
        <p:nvSpPr>
          <p:cNvPr id="3" name="Content Placeholder 2"/>
          <p:cNvSpPr>
            <a:spLocks noGrp="1"/>
          </p:cNvSpPr>
          <p:nvPr>
            <p:ph idx="1"/>
          </p:nvPr>
        </p:nvSpPr>
        <p:spPr/>
        <p:txBody>
          <a:bodyPr>
            <a:normAutofit fontScale="77500" lnSpcReduction="20000"/>
          </a:bodyPr>
          <a:lstStyle/>
          <a:p>
            <a:pPr>
              <a:defRPr/>
            </a:pPr>
            <a:r>
              <a:rPr lang="en-US" sz="2900" b="1" dirty="0" smtClean="0">
                <a:solidFill>
                  <a:srgbClr val="0000FF"/>
                </a:solidFill>
              </a:rPr>
              <a:t>Efficient </a:t>
            </a:r>
            <a:r>
              <a:rPr lang="en-US" sz="2900" b="1" dirty="0">
                <a:solidFill>
                  <a:srgbClr val="0000FF"/>
                </a:solidFill>
              </a:rPr>
              <a:t>algorithm</a:t>
            </a:r>
            <a:r>
              <a:rPr lang="en-US" sz="2900" dirty="0"/>
              <a:t>:</a:t>
            </a:r>
          </a:p>
          <a:p>
            <a:pPr marL="457200" indent="-457200">
              <a:buSzPct val="80000"/>
              <a:buFont typeface="+mj-lt"/>
              <a:buAutoNum type="arabicPeriod"/>
              <a:defRPr/>
            </a:pPr>
            <a:r>
              <a:rPr lang="en-US" sz="2900" dirty="0"/>
              <a:t>Initialize the current row and current column to 0</a:t>
            </a:r>
          </a:p>
          <a:p>
            <a:pPr marL="457200" indent="-457200">
              <a:buSzPct val="80000"/>
              <a:buFont typeface="+mj-lt"/>
              <a:buAutoNum type="arabicPeriod"/>
              <a:defRPr/>
            </a:pPr>
            <a:r>
              <a:rPr lang="en-US" sz="2900" dirty="0"/>
              <a:t>While the current row is less than n (or before the last row)</a:t>
            </a:r>
          </a:p>
          <a:p>
            <a:pPr marL="857250" lvl="1" indent="-457200">
              <a:buSzPct val="80000"/>
              <a:buFont typeface="+mj-lt"/>
              <a:buAutoNum type="alphaLcPeriod"/>
              <a:defRPr/>
            </a:pPr>
            <a:r>
              <a:rPr lang="en-US" sz="2500" dirty="0"/>
              <a:t>While the cell at the current row and column is 1</a:t>
            </a:r>
          </a:p>
          <a:p>
            <a:pPr marL="1314450" lvl="2" indent="-457200">
              <a:buSzPct val="80000"/>
              <a:buFont typeface="Wingdings" pitchFamily="2" charset="2"/>
              <a:buChar char="Ø"/>
              <a:defRPr/>
            </a:pPr>
            <a:r>
              <a:rPr lang="en-US" sz="2100" dirty="0"/>
              <a:t>Increment the current column</a:t>
            </a:r>
          </a:p>
          <a:p>
            <a:pPr marL="857250" lvl="1" indent="-457200">
              <a:buSzPct val="80000"/>
              <a:buFont typeface="+mj-lt"/>
              <a:buAutoNum type="alphaLcPeriod"/>
              <a:defRPr/>
            </a:pPr>
            <a:r>
              <a:rPr lang="en-US" sz="2500" dirty="0"/>
              <a:t>Increment the current row</a:t>
            </a:r>
          </a:p>
          <a:p>
            <a:pPr marL="457200" indent="-457200">
              <a:buSzPct val="80000"/>
              <a:buFont typeface="+mj-lt"/>
              <a:buAutoNum type="arabicPeriod"/>
              <a:defRPr/>
            </a:pPr>
            <a:r>
              <a:rPr lang="en-US" sz="2900" dirty="0"/>
              <a:t>The current column index represents the maximum number of 1’s seen</a:t>
            </a:r>
          </a:p>
          <a:p>
            <a:pPr marL="457200" indent="-457200">
              <a:buSzPct val="80000"/>
              <a:buFont typeface="+mj-lt"/>
              <a:buAutoNum type="arabicPeriod"/>
              <a:defRPr/>
            </a:pPr>
            <a:r>
              <a:rPr lang="en-US" sz="2900" dirty="0"/>
              <a:t>Now let’s trace through a couple of examples</a:t>
            </a:r>
          </a:p>
          <a:p>
            <a:endParaRPr lang="en-US" dirty="0"/>
          </a:p>
        </p:txBody>
      </p:sp>
      <p:sp>
        <p:nvSpPr>
          <p:cNvPr id="5" name="Slide Number Placeholder 4"/>
          <p:cNvSpPr>
            <a:spLocks noGrp="1"/>
          </p:cNvSpPr>
          <p:nvPr>
            <p:ph type="sldNum" sz="quarter" idx="12"/>
          </p:nvPr>
        </p:nvSpPr>
        <p:spPr/>
        <p:txBody>
          <a:bodyPr/>
          <a:lstStyle/>
          <a:p>
            <a:fld id="{DDC76627-6CEE-4E3A-AF80-81DF9B174472}" type="slidenum">
              <a:rPr lang="en-US" smtClean="0"/>
              <a:pPr/>
              <a:t>17</a:t>
            </a:fld>
            <a:endParaRPr lang="en-US"/>
          </a:p>
        </p:txBody>
      </p:sp>
    </p:spTree>
    <p:extLst>
      <p:ext uri="{BB962C8B-B14F-4D97-AF65-F5344CB8AC3E}">
        <p14:creationId xmlns:p14="http://schemas.microsoft.com/office/powerpoint/2010/main" val="264756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Max Number of </a:t>
            </a:r>
            <a:r>
              <a:rPr lang="en-US" dirty="0" smtClean="0"/>
              <a:t>1’s </a:t>
            </a:r>
            <a:r>
              <a:rPr lang="en-US" sz="3200" dirty="0" smtClean="0">
                <a:solidFill>
                  <a:schemeClr val="accent6">
                    <a:lumMod val="75000"/>
                  </a:schemeClr>
                </a:solidFill>
              </a:rPr>
              <a:t>(Example 01)</a:t>
            </a:r>
            <a:endParaRPr lang="en-US" dirty="0">
              <a:solidFill>
                <a:schemeClr val="accent6">
                  <a:lumMod val="75000"/>
                </a:schemeClr>
              </a:solidFill>
            </a:endParaRPr>
          </a:p>
        </p:txBody>
      </p:sp>
      <p:sp>
        <p:nvSpPr>
          <p:cNvPr id="3" name="Content Placeholder 2"/>
          <p:cNvSpPr>
            <a:spLocks noGrp="1"/>
          </p:cNvSpPr>
          <p:nvPr>
            <p:ph idx="1"/>
          </p:nvPr>
        </p:nvSpPr>
        <p:spPr/>
        <p:txBody>
          <a:bodyPr>
            <a:normAutofit fontScale="85000" lnSpcReduction="20000"/>
          </a:bodyPr>
          <a:lstStyle/>
          <a:p>
            <a:endParaRPr lang="en-US" dirty="0" smtClean="0"/>
          </a:p>
          <a:p>
            <a:endParaRPr lang="en-US" dirty="0"/>
          </a:p>
          <a:p>
            <a:endParaRPr lang="en-US" dirty="0" smtClean="0"/>
          </a:p>
          <a:p>
            <a:endParaRPr lang="en-US" dirty="0"/>
          </a:p>
          <a:p>
            <a:endParaRPr lang="en-US" dirty="0" smtClean="0"/>
          </a:p>
          <a:p>
            <a:r>
              <a:rPr lang="en-US" dirty="0" smtClean="0"/>
              <a:t>Rows 6 &amp; Columns 6</a:t>
            </a:r>
          </a:p>
          <a:p>
            <a:r>
              <a:rPr lang="en-US" dirty="0" smtClean="0"/>
              <a:t># of comparisons 11 		</a:t>
            </a:r>
            <a:r>
              <a:rPr lang="en-US" dirty="0" smtClean="0">
                <a:solidFill>
                  <a:schemeClr val="accent6">
                    <a:lumMod val="75000"/>
                  </a:schemeClr>
                </a:solidFill>
              </a:rPr>
              <a:t>(previously 23)</a:t>
            </a:r>
          </a:p>
          <a:p>
            <a:r>
              <a:rPr lang="en-US" dirty="0" smtClean="0"/>
              <a:t>Max. Number of comparisons 6 + 6 = 12</a:t>
            </a:r>
            <a:endParaRPr lang="en-US" dirty="0"/>
          </a:p>
          <a:p>
            <a:endParaRPr lang="en-US" dirty="0"/>
          </a:p>
        </p:txBody>
      </p:sp>
      <p:sp>
        <p:nvSpPr>
          <p:cNvPr id="5" name="Slide Number Placeholder 4"/>
          <p:cNvSpPr>
            <a:spLocks noGrp="1"/>
          </p:cNvSpPr>
          <p:nvPr>
            <p:ph type="sldNum" sz="quarter" idx="12"/>
          </p:nvPr>
        </p:nvSpPr>
        <p:spPr/>
        <p:txBody>
          <a:bodyPr/>
          <a:lstStyle/>
          <a:p>
            <a:fld id="{DDC76627-6CEE-4E3A-AF80-81DF9B174472}" type="slidenum">
              <a:rPr lang="en-US" smtClean="0"/>
              <a:pPr/>
              <a:t>18</a:t>
            </a:fld>
            <a:endParaRPr lang="en-US"/>
          </a:p>
        </p:txBody>
      </p:sp>
      <p:graphicFrame>
        <p:nvGraphicFramePr>
          <p:cNvPr id="9" name="Table 8"/>
          <p:cNvGraphicFramePr>
            <a:graphicFrameLocks noGrp="1"/>
          </p:cNvGraphicFramePr>
          <p:nvPr>
            <p:extLst/>
          </p:nvPr>
        </p:nvGraphicFramePr>
        <p:xfrm>
          <a:off x="1782540" y="2148838"/>
          <a:ext cx="7002780" cy="2484120"/>
        </p:xfrm>
        <a:graphic>
          <a:graphicData uri="http://schemas.openxmlformats.org/drawingml/2006/table">
            <a:tbl>
              <a:tblPr/>
              <a:tblGrid>
                <a:gridCol w="1167130">
                  <a:extLst>
                    <a:ext uri="{9D8B030D-6E8A-4147-A177-3AD203B41FA5}">
                      <a16:colId xmlns:a16="http://schemas.microsoft.com/office/drawing/2014/main" val="20000"/>
                    </a:ext>
                  </a:extLst>
                </a:gridCol>
                <a:gridCol w="1167130">
                  <a:extLst>
                    <a:ext uri="{9D8B030D-6E8A-4147-A177-3AD203B41FA5}">
                      <a16:colId xmlns:a16="http://schemas.microsoft.com/office/drawing/2014/main" val="20001"/>
                    </a:ext>
                  </a:extLst>
                </a:gridCol>
                <a:gridCol w="1167130">
                  <a:extLst>
                    <a:ext uri="{9D8B030D-6E8A-4147-A177-3AD203B41FA5}">
                      <a16:colId xmlns:a16="http://schemas.microsoft.com/office/drawing/2014/main" val="20002"/>
                    </a:ext>
                  </a:extLst>
                </a:gridCol>
                <a:gridCol w="1167130">
                  <a:extLst>
                    <a:ext uri="{9D8B030D-6E8A-4147-A177-3AD203B41FA5}">
                      <a16:colId xmlns:a16="http://schemas.microsoft.com/office/drawing/2014/main" val="20003"/>
                    </a:ext>
                  </a:extLst>
                </a:gridCol>
                <a:gridCol w="1167130">
                  <a:extLst>
                    <a:ext uri="{9D8B030D-6E8A-4147-A177-3AD203B41FA5}">
                      <a16:colId xmlns:a16="http://schemas.microsoft.com/office/drawing/2014/main" val="20004"/>
                    </a:ext>
                  </a:extLst>
                </a:gridCol>
                <a:gridCol w="1167130">
                  <a:extLst>
                    <a:ext uri="{9D8B030D-6E8A-4147-A177-3AD203B41FA5}">
                      <a16:colId xmlns:a16="http://schemas.microsoft.com/office/drawing/2014/main" val="20005"/>
                    </a:ext>
                  </a:extLst>
                </a:gridCol>
              </a:tblGrid>
              <a:tr h="414020">
                <a:tc>
                  <a:txBody>
                    <a:bodyPr/>
                    <a:lstStyle/>
                    <a:p>
                      <a:pPr marL="0" marR="0" algn="ctr">
                        <a:spcBef>
                          <a:spcPts val="0"/>
                        </a:spcBef>
                        <a:spcAft>
                          <a:spcPts val="0"/>
                        </a:spcAft>
                      </a:pPr>
                      <a:r>
                        <a:rPr lang="en-US" sz="1600" b="1" dirty="0">
                          <a:solidFill>
                            <a:srgbClr val="FF6600"/>
                          </a:solidFill>
                          <a:latin typeface="Times"/>
                          <a:ea typeface="Times New Roman"/>
                          <a:cs typeface="Times New Roman"/>
                        </a:rPr>
                        <a:t>1</a:t>
                      </a:r>
                      <a:endParaRPr lang="en-US" sz="1200" dirty="0">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a:solidFill>
                            <a:srgbClr val="FF6600"/>
                          </a:solidFill>
                          <a:latin typeface="Times"/>
                          <a:ea typeface="Times New Roman"/>
                          <a:cs typeface="Times New Roman"/>
                        </a:rPr>
                        <a:t>1</a:t>
                      </a:r>
                      <a:endParaRPr lang="en-US" sz="1200">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a:solidFill>
                            <a:srgbClr val="FF6600"/>
                          </a:solidFill>
                          <a:latin typeface="Times"/>
                          <a:ea typeface="Times New Roman"/>
                          <a:cs typeface="Times New Roman"/>
                        </a:rPr>
                        <a:t>0</a:t>
                      </a:r>
                      <a:endParaRPr lang="en-US" sz="1200">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1">
                              <a:lumMod val="50000"/>
                            </a:schemeClr>
                          </a:solidFill>
                          <a:latin typeface="Times"/>
                          <a:ea typeface="Times New Roman"/>
                          <a:cs typeface="Times New Roman"/>
                        </a:rPr>
                        <a:t>0</a:t>
                      </a:r>
                      <a:endParaRPr lang="en-US" sz="1200" dirty="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a:solidFill>
                            <a:schemeClr val="accent1">
                              <a:lumMod val="50000"/>
                            </a:schemeClr>
                          </a:solidFill>
                          <a:latin typeface="Times"/>
                          <a:ea typeface="Times New Roman"/>
                          <a:cs typeface="Times New Roman"/>
                        </a:rPr>
                        <a:t>0</a:t>
                      </a:r>
                      <a:endParaRPr lang="en-US" sz="120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a:solidFill>
                            <a:schemeClr val="accent1">
                              <a:lumMod val="50000"/>
                            </a:schemeClr>
                          </a:solidFill>
                          <a:latin typeface="Times"/>
                          <a:ea typeface="Times New Roman"/>
                          <a:cs typeface="Times New Roman"/>
                        </a:rPr>
                        <a:t>0</a:t>
                      </a:r>
                      <a:endParaRPr lang="en-US" sz="120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14020">
                <a:tc>
                  <a:txBody>
                    <a:bodyPr/>
                    <a:lstStyle/>
                    <a:p>
                      <a:pPr marL="0" marR="0" algn="ctr">
                        <a:spcBef>
                          <a:spcPts val="0"/>
                        </a:spcBef>
                        <a:spcAft>
                          <a:spcPts val="0"/>
                        </a:spcAft>
                      </a:pPr>
                      <a:r>
                        <a:rPr lang="en-US" sz="1600" b="1" dirty="0">
                          <a:solidFill>
                            <a:schemeClr val="accent1">
                              <a:lumMod val="50000"/>
                            </a:schemeClr>
                          </a:solidFill>
                          <a:latin typeface="Times"/>
                          <a:ea typeface="Times New Roman"/>
                          <a:cs typeface="Times New Roman"/>
                        </a:rPr>
                        <a:t>0</a:t>
                      </a:r>
                      <a:endParaRPr lang="en-US" sz="1200" dirty="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1">
                              <a:lumMod val="50000"/>
                            </a:schemeClr>
                          </a:solidFill>
                          <a:latin typeface="Times"/>
                          <a:ea typeface="Times New Roman"/>
                          <a:cs typeface="Times New Roman"/>
                        </a:rPr>
                        <a:t>0</a:t>
                      </a:r>
                      <a:endParaRPr lang="en-US" sz="1200" dirty="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a:solidFill>
                            <a:srgbClr val="FF6600"/>
                          </a:solidFill>
                          <a:latin typeface="Times"/>
                          <a:ea typeface="Times New Roman"/>
                          <a:cs typeface="Times New Roman"/>
                        </a:rPr>
                        <a:t>0</a:t>
                      </a:r>
                      <a:endParaRPr lang="en-US" sz="1200">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1">
                              <a:lumMod val="50000"/>
                            </a:schemeClr>
                          </a:solidFill>
                          <a:latin typeface="Times"/>
                          <a:ea typeface="Times New Roman"/>
                          <a:cs typeface="Times New Roman"/>
                        </a:rPr>
                        <a:t>0</a:t>
                      </a:r>
                      <a:endParaRPr lang="en-US" sz="1200" dirty="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1">
                              <a:lumMod val="50000"/>
                            </a:schemeClr>
                          </a:solidFill>
                          <a:latin typeface="Times"/>
                          <a:ea typeface="Times New Roman"/>
                          <a:cs typeface="Times New Roman"/>
                        </a:rPr>
                        <a:t>0</a:t>
                      </a:r>
                      <a:endParaRPr lang="en-US" sz="1200" dirty="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1">
                              <a:lumMod val="50000"/>
                            </a:schemeClr>
                          </a:solidFill>
                          <a:latin typeface="Times"/>
                          <a:ea typeface="Times New Roman"/>
                          <a:cs typeface="Times New Roman"/>
                        </a:rPr>
                        <a:t>0</a:t>
                      </a:r>
                      <a:endParaRPr lang="en-US" sz="1200" dirty="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14020">
                <a:tc>
                  <a:txBody>
                    <a:bodyPr/>
                    <a:lstStyle/>
                    <a:p>
                      <a:pPr marL="0" marR="0" algn="ctr">
                        <a:spcBef>
                          <a:spcPts val="0"/>
                        </a:spcBef>
                        <a:spcAft>
                          <a:spcPts val="0"/>
                        </a:spcAft>
                      </a:pPr>
                      <a:r>
                        <a:rPr lang="en-US" sz="1600" b="1" dirty="0">
                          <a:solidFill>
                            <a:schemeClr val="accent1">
                              <a:lumMod val="50000"/>
                            </a:schemeClr>
                          </a:solidFill>
                          <a:latin typeface="Times"/>
                          <a:ea typeface="Times New Roman"/>
                          <a:cs typeface="Times New Roman"/>
                        </a:rPr>
                        <a:t>1</a:t>
                      </a:r>
                      <a:endParaRPr lang="en-US" sz="1200" dirty="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1">
                              <a:lumMod val="50000"/>
                            </a:schemeClr>
                          </a:solidFill>
                          <a:latin typeface="Times"/>
                          <a:ea typeface="Times New Roman"/>
                          <a:cs typeface="Times New Roman"/>
                        </a:rPr>
                        <a:t>1</a:t>
                      </a:r>
                      <a:endParaRPr lang="en-US" sz="1200" dirty="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rgbClr val="FF6600"/>
                          </a:solidFill>
                          <a:latin typeface="Times"/>
                          <a:ea typeface="Times New Roman"/>
                          <a:cs typeface="Times New Roman"/>
                        </a:rPr>
                        <a:t>1</a:t>
                      </a:r>
                      <a:endParaRPr lang="en-US" sz="1200" dirty="0">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a:solidFill>
                            <a:srgbClr val="FF6600"/>
                          </a:solidFill>
                          <a:latin typeface="Times"/>
                          <a:ea typeface="Times New Roman"/>
                          <a:cs typeface="Times New Roman"/>
                        </a:rPr>
                        <a:t>0</a:t>
                      </a:r>
                      <a:endParaRPr lang="en-US" sz="1200">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1">
                              <a:lumMod val="50000"/>
                            </a:schemeClr>
                          </a:solidFill>
                          <a:latin typeface="Times"/>
                          <a:ea typeface="Times New Roman"/>
                          <a:cs typeface="Times New Roman"/>
                        </a:rPr>
                        <a:t>0</a:t>
                      </a:r>
                      <a:endParaRPr lang="en-US" sz="1200" dirty="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a:solidFill>
                            <a:schemeClr val="accent1">
                              <a:lumMod val="50000"/>
                            </a:schemeClr>
                          </a:solidFill>
                          <a:latin typeface="Times"/>
                          <a:ea typeface="Times New Roman"/>
                          <a:cs typeface="Times New Roman"/>
                        </a:rPr>
                        <a:t>0</a:t>
                      </a:r>
                      <a:endParaRPr lang="en-US" sz="120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14020">
                <a:tc>
                  <a:txBody>
                    <a:bodyPr/>
                    <a:lstStyle/>
                    <a:p>
                      <a:pPr marL="0" marR="0" algn="ctr">
                        <a:spcBef>
                          <a:spcPts val="0"/>
                        </a:spcBef>
                        <a:spcAft>
                          <a:spcPts val="0"/>
                        </a:spcAft>
                      </a:pPr>
                      <a:r>
                        <a:rPr lang="en-US" sz="1600" b="1" dirty="0">
                          <a:solidFill>
                            <a:schemeClr val="accent1">
                              <a:lumMod val="50000"/>
                            </a:schemeClr>
                          </a:solidFill>
                          <a:latin typeface="Times"/>
                          <a:ea typeface="Times New Roman"/>
                          <a:cs typeface="Times New Roman"/>
                        </a:rPr>
                        <a:t>1</a:t>
                      </a:r>
                      <a:endParaRPr lang="en-US" sz="1200" dirty="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1">
                              <a:lumMod val="50000"/>
                            </a:schemeClr>
                          </a:solidFill>
                          <a:latin typeface="Times"/>
                          <a:ea typeface="Times New Roman"/>
                          <a:cs typeface="Times New Roman"/>
                        </a:rPr>
                        <a:t>1</a:t>
                      </a:r>
                      <a:endParaRPr lang="en-US" sz="1200" dirty="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1">
                              <a:lumMod val="50000"/>
                            </a:schemeClr>
                          </a:solidFill>
                          <a:latin typeface="Times"/>
                          <a:ea typeface="Times New Roman"/>
                          <a:cs typeface="Times New Roman"/>
                        </a:rPr>
                        <a:t>1</a:t>
                      </a:r>
                      <a:endParaRPr lang="en-US" sz="1200" dirty="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rgbClr val="FF6600"/>
                          </a:solidFill>
                          <a:latin typeface="Times"/>
                          <a:ea typeface="Times New Roman"/>
                          <a:cs typeface="Times New Roman"/>
                        </a:rPr>
                        <a:t>0</a:t>
                      </a:r>
                      <a:endParaRPr lang="en-US" sz="1200" dirty="0">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1">
                              <a:lumMod val="50000"/>
                            </a:schemeClr>
                          </a:solidFill>
                          <a:latin typeface="Times"/>
                          <a:ea typeface="Times New Roman"/>
                          <a:cs typeface="Times New Roman"/>
                        </a:rPr>
                        <a:t>0</a:t>
                      </a:r>
                      <a:endParaRPr lang="en-US" sz="1200" dirty="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1">
                              <a:lumMod val="50000"/>
                            </a:schemeClr>
                          </a:solidFill>
                          <a:latin typeface="Times"/>
                          <a:ea typeface="Times New Roman"/>
                          <a:cs typeface="Times New Roman"/>
                        </a:rPr>
                        <a:t>0</a:t>
                      </a:r>
                      <a:endParaRPr lang="en-US" sz="1200" dirty="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14020">
                <a:tc>
                  <a:txBody>
                    <a:bodyPr/>
                    <a:lstStyle/>
                    <a:p>
                      <a:pPr marL="0" marR="0" algn="ctr">
                        <a:spcBef>
                          <a:spcPts val="0"/>
                        </a:spcBef>
                        <a:spcAft>
                          <a:spcPts val="0"/>
                        </a:spcAft>
                      </a:pPr>
                      <a:r>
                        <a:rPr lang="en-US" sz="1600" b="1">
                          <a:solidFill>
                            <a:schemeClr val="accent1">
                              <a:lumMod val="50000"/>
                            </a:schemeClr>
                          </a:solidFill>
                          <a:latin typeface="Times"/>
                          <a:ea typeface="Times New Roman"/>
                          <a:cs typeface="Times New Roman"/>
                        </a:rPr>
                        <a:t>1</a:t>
                      </a:r>
                      <a:endParaRPr lang="en-US" sz="120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1">
                              <a:lumMod val="50000"/>
                            </a:schemeClr>
                          </a:solidFill>
                          <a:latin typeface="Times"/>
                          <a:ea typeface="Times New Roman"/>
                          <a:cs typeface="Times New Roman"/>
                        </a:rPr>
                        <a:t>1</a:t>
                      </a:r>
                      <a:endParaRPr lang="en-US" sz="1200" dirty="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1">
                              <a:lumMod val="50000"/>
                            </a:schemeClr>
                          </a:solidFill>
                          <a:latin typeface="Times"/>
                          <a:ea typeface="Times New Roman"/>
                          <a:cs typeface="Times New Roman"/>
                        </a:rPr>
                        <a:t>1</a:t>
                      </a:r>
                      <a:endParaRPr lang="en-US" sz="1200" dirty="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rgbClr val="FF6600"/>
                          </a:solidFill>
                          <a:latin typeface="Times"/>
                          <a:ea typeface="Times New Roman"/>
                          <a:cs typeface="Times New Roman"/>
                        </a:rPr>
                        <a:t>1</a:t>
                      </a:r>
                      <a:endParaRPr lang="en-US" sz="1200" dirty="0">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rgbClr val="FF6600"/>
                          </a:solidFill>
                          <a:latin typeface="Times"/>
                          <a:ea typeface="Times New Roman"/>
                          <a:cs typeface="Times New Roman"/>
                        </a:rPr>
                        <a:t>1</a:t>
                      </a:r>
                      <a:endParaRPr lang="en-US" sz="1200" dirty="0">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a:solidFill>
                            <a:srgbClr val="FF6600"/>
                          </a:solidFill>
                          <a:latin typeface="Times"/>
                          <a:ea typeface="Times New Roman"/>
                          <a:cs typeface="Times New Roman"/>
                        </a:rPr>
                        <a:t>0</a:t>
                      </a:r>
                      <a:endParaRPr lang="en-US" sz="1200">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14020">
                <a:tc>
                  <a:txBody>
                    <a:bodyPr/>
                    <a:lstStyle/>
                    <a:p>
                      <a:pPr marL="0" marR="0" algn="ctr">
                        <a:spcBef>
                          <a:spcPts val="0"/>
                        </a:spcBef>
                        <a:spcAft>
                          <a:spcPts val="0"/>
                        </a:spcAft>
                      </a:pPr>
                      <a:r>
                        <a:rPr lang="en-US" sz="1600" b="1" dirty="0">
                          <a:solidFill>
                            <a:schemeClr val="accent1">
                              <a:lumMod val="50000"/>
                            </a:schemeClr>
                          </a:solidFill>
                          <a:latin typeface="Times"/>
                          <a:ea typeface="Times New Roman"/>
                          <a:cs typeface="Times New Roman"/>
                        </a:rPr>
                        <a:t>1</a:t>
                      </a:r>
                      <a:endParaRPr lang="en-US" sz="1200" dirty="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1">
                              <a:lumMod val="50000"/>
                            </a:schemeClr>
                          </a:solidFill>
                          <a:latin typeface="Times"/>
                          <a:ea typeface="Times New Roman"/>
                          <a:cs typeface="Times New Roman"/>
                        </a:rPr>
                        <a:t>1</a:t>
                      </a:r>
                      <a:endParaRPr lang="en-US" sz="1200" dirty="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1">
                              <a:lumMod val="50000"/>
                            </a:schemeClr>
                          </a:solidFill>
                          <a:latin typeface="Times"/>
                          <a:ea typeface="Times New Roman"/>
                          <a:cs typeface="Times New Roman"/>
                        </a:rPr>
                        <a:t>1</a:t>
                      </a:r>
                      <a:endParaRPr lang="en-US" sz="1200" dirty="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1">
                              <a:lumMod val="50000"/>
                            </a:schemeClr>
                          </a:solidFill>
                          <a:latin typeface="Times"/>
                          <a:ea typeface="Times New Roman"/>
                          <a:cs typeface="Times New Roman"/>
                        </a:rPr>
                        <a:t>1</a:t>
                      </a:r>
                      <a:endParaRPr lang="en-US" sz="1200" dirty="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1">
                              <a:lumMod val="50000"/>
                            </a:schemeClr>
                          </a:solidFill>
                          <a:latin typeface="Times"/>
                          <a:ea typeface="Times New Roman"/>
                          <a:cs typeface="Times New Roman"/>
                        </a:rPr>
                        <a:t>0</a:t>
                      </a:r>
                      <a:endParaRPr lang="en-US" sz="1200" dirty="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rgbClr val="FF6600"/>
                          </a:solidFill>
                          <a:latin typeface="Times"/>
                          <a:ea typeface="Times New Roman"/>
                          <a:cs typeface="Times New Roman"/>
                        </a:rPr>
                        <a:t>0</a:t>
                      </a:r>
                      <a:endParaRPr lang="en-US" sz="1200" dirty="0">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03106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 calcmode="lin" valueType="num">
                                      <p:cBhvr additive="base">
                                        <p:cTn id="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anim calcmode="lin" valueType="num">
                                      <p:cBhvr additive="base">
                                        <p:cTn id="1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 calcmode="lin" valueType="num">
                                      <p:cBhvr additive="base">
                                        <p:cTn id="1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Max Number of </a:t>
            </a:r>
            <a:r>
              <a:rPr lang="en-US" dirty="0" smtClean="0"/>
              <a:t>1’s</a:t>
            </a:r>
            <a:r>
              <a:rPr lang="en-US" dirty="0">
                <a:solidFill>
                  <a:schemeClr val="accent6">
                    <a:lumMod val="75000"/>
                  </a:schemeClr>
                </a:solidFill>
              </a:rPr>
              <a:t> </a:t>
            </a:r>
            <a:r>
              <a:rPr lang="en-US" sz="3200" dirty="0">
                <a:solidFill>
                  <a:schemeClr val="accent6">
                    <a:lumMod val="75000"/>
                  </a:schemeClr>
                </a:solidFill>
              </a:rPr>
              <a:t>(Example </a:t>
            </a:r>
            <a:r>
              <a:rPr lang="en-US" sz="3200" dirty="0" smtClean="0">
                <a:solidFill>
                  <a:schemeClr val="accent6">
                    <a:lumMod val="75000"/>
                  </a:schemeClr>
                </a:solidFill>
              </a:rPr>
              <a:t>02)</a:t>
            </a:r>
            <a:endParaRPr lang="en-US" sz="4800" dirty="0"/>
          </a:p>
        </p:txBody>
      </p:sp>
      <p:sp>
        <p:nvSpPr>
          <p:cNvPr id="3" name="Content Placeholder 2"/>
          <p:cNvSpPr>
            <a:spLocks noGrp="1"/>
          </p:cNvSpPr>
          <p:nvPr>
            <p:ph idx="1"/>
          </p:nvPr>
        </p:nvSpPr>
        <p:spPr/>
        <p:txBody>
          <a:bodyPr>
            <a:normAutofit fontScale="85000" lnSpcReduction="20000"/>
          </a:bodyPr>
          <a:lstStyle/>
          <a:p>
            <a:endParaRPr lang="en-US" dirty="0" smtClean="0"/>
          </a:p>
          <a:p>
            <a:endParaRPr lang="en-US" dirty="0"/>
          </a:p>
          <a:p>
            <a:endParaRPr lang="en-US" dirty="0" smtClean="0"/>
          </a:p>
          <a:p>
            <a:endParaRPr lang="en-US" dirty="0"/>
          </a:p>
          <a:p>
            <a:endParaRPr lang="en-US" dirty="0" smtClean="0"/>
          </a:p>
          <a:p>
            <a:r>
              <a:rPr lang="en-US" dirty="0" smtClean="0"/>
              <a:t>Rows 7 &amp; Columns 8</a:t>
            </a:r>
          </a:p>
          <a:p>
            <a:r>
              <a:rPr lang="en-US" dirty="0" smtClean="0"/>
              <a:t># of comparisons 14	 </a:t>
            </a:r>
            <a:r>
              <a:rPr lang="en-US" dirty="0"/>
              <a:t>	</a:t>
            </a:r>
            <a:r>
              <a:rPr lang="en-US" dirty="0">
                <a:solidFill>
                  <a:schemeClr val="accent6">
                    <a:lumMod val="75000"/>
                  </a:schemeClr>
                </a:solidFill>
              </a:rPr>
              <a:t>(previously </a:t>
            </a:r>
            <a:r>
              <a:rPr lang="en-US" dirty="0" smtClean="0">
                <a:solidFill>
                  <a:schemeClr val="accent6">
                    <a:lumMod val="75000"/>
                  </a:schemeClr>
                </a:solidFill>
              </a:rPr>
              <a:t>30)</a:t>
            </a:r>
            <a:endParaRPr lang="en-US" dirty="0">
              <a:solidFill>
                <a:schemeClr val="accent6">
                  <a:lumMod val="75000"/>
                </a:schemeClr>
              </a:solidFill>
            </a:endParaRPr>
          </a:p>
          <a:p>
            <a:r>
              <a:rPr lang="en-US" dirty="0" smtClean="0"/>
              <a:t>Max. Number of comparisons 7 + 8 = 15</a:t>
            </a:r>
            <a:endParaRPr lang="en-US" dirty="0"/>
          </a:p>
          <a:p>
            <a:endParaRPr lang="en-US" dirty="0"/>
          </a:p>
        </p:txBody>
      </p:sp>
      <p:sp>
        <p:nvSpPr>
          <p:cNvPr id="5" name="Slide Number Placeholder 4"/>
          <p:cNvSpPr>
            <a:spLocks noGrp="1"/>
          </p:cNvSpPr>
          <p:nvPr>
            <p:ph type="sldNum" sz="quarter" idx="12"/>
          </p:nvPr>
        </p:nvSpPr>
        <p:spPr/>
        <p:txBody>
          <a:bodyPr/>
          <a:lstStyle/>
          <a:p>
            <a:fld id="{DDC76627-6CEE-4E3A-AF80-81DF9B174472}" type="slidenum">
              <a:rPr lang="en-US" smtClean="0"/>
              <a:pPr/>
              <a:t>19</a:t>
            </a:fld>
            <a:endParaRPr lang="en-US"/>
          </a:p>
        </p:txBody>
      </p:sp>
      <p:graphicFrame>
        <p:nvGraphicFramePr>
          <p:cNvPr id="11" name="Table 10"/>
          <p:cNvGraphicFramePr>
            <a:graphicFrameLocks noGrp="1"/>
          </p:cNvGraphicFramePr>
          <p:nvPr>
            <p:extLst/>
          </p:nvPr>
        </p:nvGraphicFramePr>
        <p:xfrm>
          <a:off x="1701676" y="1997922"/>
          <a:ext cx="7002784" cy="2600325"/>
        </p:xfrm>
        <a:graphic>
          <a:graphicData uri="http://schemas.openxmlformats.org/drawingml/2006/table">
            <a:tbl>
              <a:tblPr/>
              <a:tblGrid>
                <a:gridCol w="875348">
                  <a:extLst>
                    <a:ext uri="{9D8B030D-6E8A-4147-A177-3AD203B41FA5}">
                      <a16:colId xmlns:a16="http://schemas.microsoft.com/office/drawing/2014/main" val="20000"/>
                    </a:ext>
                  </a:extLst>
                </a:gridCol>
                <a:gridCol w="875348">
                  <a:extLst>
                    <a:ext uri="{9D8B030D-6E8A-4147-A177-3AD203B41FA5}">
                      <a16:colId xmlns:a16="http://schemas.microsoft.com/office/drawing/2014/main" val="20001"/>
                    </a:ext>
                  </a:extLst>
                </a:gridCol>
                <a:gridCol w="875348">
                  <a:extLst>
                    <a:ext uri="{9D8B030D-6E8A-4147-A177-3AD203B41FA5}">
                      <a16:colId xmlns:a16="http://schemas.microsoft.com/office/drawing/2014/main" val="20002"/>
                    </a:ext>
                  </a:extLst>
                </a:gridCol>
                <a:gridCol w="875348">
                  <a:extLst>
                    <a:ext uri="{9D8B030D-6E8A-4147-A177-3AD203B41FA5}">
                      <a16:colId xmlns:a16="http://schemas.microsoft.com/office/drawing/2014/main" val="20003"/>
                    </a:ext>
                  </a:extLst>
                </a:gridCol>
                <a:gridCol w="875348">
                  <a:extLst>
                    <a:ext uri="{9D8B030D-6E8A-4147-A177-3AD203B41FA5}">
                      <a16:colId xmlns:a16="http://schemas.microsoft.com/office/drawing/2014/main" val="20004"/>
                    </a:ext>
                  </a:extLst>
                </a:gridCol>
                <a:gridCol w="875348">
                  <a:extLst>
                    <a:ext uri="{9D8B030D-6E8A-4147-A177-3AD203B41FA5}">
                      <a16:colId xmlns:a16="http://schemas.microsoft.com/office/drawing/2014/main" val="20005"/>
                    </a:ext>
                  </a:extLst>
                </a:gridCol>
                <a:gridCol w="875348">
                  <a:extLst>
                    <a:ext uri="{9D8B030D-6E8A-4147-A177-3AD203B41FA5}">
                      <a16:colId xmlns:a16="http://schemas.microsoft.com/office/drawing/2014/main" val="20006"/>
                    </a:ext>
                  </a:extLst>
                </a:gridCol>
                <a:gridCol w="875348">
                  <a:extLst>
                    <a:ext uri="{9D8B030D-6E8A-4147-A177-3AD203B41FA5}">
                      <a16:colId xmlns:a16="http://schemas.microsoft.com/office/drawing/2014/main" val="20007"/>
                    </a:ext>
                  </a:extLst>
                </a:gridCol>
              </a:tblGrid>
              <a:tr h="371475">
                <a:tc>
                  <a:txBody>
                    <a:bodyPr/>
                    <a:lstStyle/>
                    <a:p>
                      <a:pPr marL="0" marR="0" algn="ctr">
                        <a:spcBef>
                          <a:spcPts val="0"/>
                        </a:spcBef>
                        <a:spcAft>
                          <a:spcPts val="0"/>
                        </a:spcAft>
                      </a:pPr>
                      <a:r>
                        <a:rPr lang="en-US" sz="1600" b="1" dirty="0">
                          <a:solidFill>
                            <a:srgbClr val="FF6600"/>
                          </a:solidFill>
                          <a:latin typeface="Times"/>
                          <a:ea typeface="Times New Roman"/>
                          <a:cs typeface="Times New Roman"/>
                        </a:rPr>
                        <a:t>0</a:t>
                      </a:r>
                      <a:endParaRPr lang="en-US" sz="1200" dirty="0">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1">
                              <a:lumMod val="50000"/>
                            </a:schemeClr>
                          </a:solidFill>
                          <a:latin typeface="Times"/>
                          <a:ea typeface="Times New Roman"/>
                          <a:cs typeface="Times New Roman"/>
                        </a:rPr>
                        <a:t>0</a:t>
                      </a:r>
                      <a:endParaRPr lang="en-US" sz="1200" dirty="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1">
                              <a:lumMod val="50000"/>
                            </a:schemeClr>
                          </a:solidFill>
                          <a:latin typeface="Times"/>
                          <a:ea typeface="Times New Roman"/>
                          <a:cs typeface="Times New Roman"/>
                        </a:rPr>
                        <a:t>0</a:t>
                      </a:r>
                      <a:endParaRPr lang="en-US" sz="1200" dirty="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1">
                              <a:lumMod val="50000"/>
                            </a:schemeClr>
                          </a:solidFill>
                          <a:latin typeface="Times"/>
                          <a:ea typeface="Times New Roman"/>
                          <a:cs typeface="Times New Roman"/>
                        </a:rPr>
                        <a:t>0</a:t>
                      </a:r>
                      <a:endParaRPr lang="en-US" sz="1200" dirty="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1">
                              <a:lumMod val="50000"/>
                            </a:schemeClr>
                          </a:solidFill>
                          <a:latin typeface="Times"/>
                          <a:ea typeface="Times New Roman"/>
                          <a:cs typeface="Times New Roman"/>
                        </a:rPr>
                        <a:t>0</a:t>
                      </a:r>
                      <a:endParaRPr lang="en-US" sz="1200" dirty="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1">
                              <a:lumMod val="50000"/>
                            </a:schemeClr>
                          </a:solidFill>
                          <a:latin typeface="Times"/>
                          <a:ea typeface="Times New Roman"/>
                          <a:cs typeface="Times New Roman"/>
                        </a:rPr>
                        <a:t>0</a:t>
                      </a:r>
                      <a:endParaRPr lang="en-US" sz="1200" dirty="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1">
                              <a:lumMod val="50000"/>
                            </a:schemeClr>
                          </a:solidFill>
                          <a:latin typeface="Times"/>
                          <a:ea typeface="Times New Roman"/>
                          <a:cs typeface="Times New Roman"/>
                        </a:rPr>
                        <a:t>0</a:t>
                      </a:r>
                      <a:endParaRPr lang="en-US" sz="1200" dirty="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1">
                              <a:lumMod val="50000"/>
                            </a:schemeClr>
                          </a:solidFill>
                          <a:latin typeface="Times"/>
                          <a:ea typeface="Times New Roman"/>
                          <a:cs typeface="Times New Roman"/>
                        </a:rPr>
                        <a:t>0</a:t>
                      </a:r>
                      <a:endParaRPr lang="en-US" sz="1200" dirty="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71475">
                <a:tc>
                  <a:txBody>
                    <a:bodyPr/>
                    <a:lstStyle/>
                    <a:p>
                      <a:pPr marL="0" marR="0" algn="ctr">
                        <a:spcBef>
                          <a:spcPts val="0"/>
                        </a:spcBef>
                        <a:spcAft>
                          <a:spcPts val="0"/>
                        </a:spcAft>
                      </a:pPr>
                      <a:r>
                        <a:rPr lang="en-US" sz="1600" b="1" dirty="0">
                          <a:solidFill>
                            <a:srgbClr val="FF6600"/>
                          </a:solidFill>
                          <a:latin typeface="Times"/>
                          <a:ea typeface="Times New Roman"/>
                          <a:cs typeface="Times New Roman"/>
                        </a:rPr>
                        <a:t>1</a:t>
                      </a:r>
                      <a:endParaRPr lang="en-US" sz="1200" dirty="0">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a:solidFill>
                            <a:srgbClr val="FF6600"/>
                          </a:solidFill>
                          <a:latin typeface="Times"/>
                          <a:ea typeface="Times New Roman"/>
                          <a:cs typeface="Times New Roman"/>
                        </a:rPr>
                        <a:t>1</a:t>
                      </a:r>
                      <a:endParaRPr lang="en-US" sz="1200">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a:solidFill>
                            <a:srgbClr val="FF6600"/>
                          </a:solidFill>
                          <a:latin typeface="Times"/>
                          <a:ea typeface="Times New Roman"/>
                          <a:cs typeface="Times New Roman"/>
                        </a:rPr>
                        <a:t>0</a:t>
                      </a:r>
                      <a:endParaRPr lang="en-US" sz="1200">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1">
                              <a:lumMod val="50000"/>
                            </a:schemeClr>
                          </a:solidFill>
                          <a:latin typeface="Times"/>
                          <a:ea typeface="Times New Roman"/>
                          <a:cs typeface="Times New Roman"/>
                        </a:rPr>
                        <a:t>0</a:t>
                      </a:r>
                      <a:endParaRPr lang="en-US" sz="1200" dirty="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a:solidFill>
                            <a:schemeClr val="accent1">
                              <a:lumMod val="50000"/>
                            </a:schemeClr>
                          </a:solidFill>
                          <a:latin typeface="Times"/>
                          <a:ea typeface="Times New Roman"/>
                          <a:cs typeface="Times New Roman"/>
                        </a:rPr>
                        <a:t>0</a:t>
                      </a:r>
                      <a:endParaRPr lang="en-US" sz="120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a:solidFill>
                            <a:schemeClr val="accent1">
                              <a:lumMod val="50000"/>
                            </a:schemeClr>
                          </a:solidFill>
                          <a:latin typeface="Times"/>
                          <a:ea typeface="Times New Roman"/>
                          <a:cs typeface="Times New Roman"/>
                        </a:rPr>
                        <a:t>0</a:t>
                      </a:r>
                      <a:endParaRPr lang="en-US" sz="120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a:solidFill>
                            <a:schemeClr val="accent1">
                              <a:lumMod val="50000"/>
                            </a:schemeClr>
                          </a:solidFill>
                          <a:latin typeface="Times"/>
                          <a:ea typeface="Times New Roman"/>
                          <a:cs typeface="Times New Roman"/>
                        </a:rPr>
                        <a:t>0</a:t>
                      </a:r>
                      <a:endParaRPr lang="en-US" sz="120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a:solidFill>
                            <a:schemeClr val="accent1">
                              <a:lumMod val="50000"/>
                            </a:schemeClr>
                          </a:solidFill>
                          <a:latin typeface="Times"/>
                          <a:ea typeface="Times New Roman"/>
                          <a:cs typeface="Times New Roman"/>
                        </a:rPr>
                        <a:t>0</a:t>
                      </a:r>
                      <a:endParaRPr lang="en-US" sz="120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71475">
                <a:tc>
                  <a:txBody>
                    <a:bodyPr/>
                    <a:lstStyle/>
                    <a:p>
                      <a:pPr marL="0" marR="0" algn="ctr">
                        <a:spcBef>
                          <a:spcPts val="0"/>
                        </a:spcBef>
                        <a:spcAft>
                          <a:spcPts val="0"/>
                        </a:spcAft>
                      </a:pPr>
                      <a:r>
                        <a:rPr lang="en-US" sz="1600" b="1" dirty="0">
                          <a:solidFill>
                            <a:schemeClr val="accent1">
                              <a:lumMod val="50000"/>
                            </a:schemeClr>
                          </a:solidFill>
                          <a:latin typeface="Times"/>
                          <a:ea typeface="Times New Roman"/>
                          <a:cs typeface="Times New Roman"/>
                        </a:rPr>
                        <a:t>1</a:t>
                      </a:r>
                      <a:endParaRPr lang="en-US" sz="1200" dirty="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1">
                              <a:lumMod val="50000"/>
                            </a:schemeClr>
                          </a:solidFill>
                          <a:latin typeface="Times"/>
                          <a:ea typeface="Times New Roman"/>
                          <a:cs typeface="Times New Roman"/>
                        </a:rPr>
                        <a:t>0</a:t>
                      </a:r>
                      <a:endParaRPr lang="en-US" sz="1200" dirty="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a:solidFill>
                            <a:srgbClr val="FF6600"/>
                          </a:solidFill>
                          <a:latin typeface="Times"/>
                          <a:ea typeface="Times New Roman"/>
                          <a:cs typeface="Times New Roman"/>
                        </a:rPr>
                        <a:t>0</a:t>
                      </a:r>
                      <a:endParaRPr lang="en-US" sz="1200">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1">
                              <a:lumMod val="50000"/>
                            </a:schemeClr>
                          </a:solidFill>
                          <a:latin typeface="Times"/>
                          <a:ea typeface="Times New Roman"/>
                          <a:cs typeface="Times New Roman"/>
                        </a:rPr>
                        <a:t>0</a:t>
                      </a:r>
                      <a:endParaRPr lang="en-US" sz="1200" dirty="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1">
                              <a:lumMod val="50000"/>
                            </a:schemeClr>
                          </a:solidFill>
                          <a:latin typeface="Times"/>
                          <a:ea typeface="Times New Roman"/>
                          <a:cs typeface="Times New Roman"/>
                        </a:rPr>
                        <a:t>0</a:t>
                      </a:r>
                      <a:endParaRPr lang="en-US" sz="1200" dirty="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1">
                              <a:lumMod val="50000"/>
                            </a:schemeClr>
                          </a:solidFill>
                          <a:latin typeface="Times"/>
                          <a:ea typeface="Times New Roman"/>
                          <a:cs typeface="Times New Roman"/>
                        </a:rPr>
                        <a:t>0</a:t>
                      </a:r>
                      <a:endParaRPr lang="en-US" sz="1200" dirty="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1">
                              <a:lumMod val="50000"/>
                            </a:schemeClr>
                          </a:solidFill>
                          <a:latin typeface="Times"/>
                          <a:ea typeface="Times New Roman"/>
                          <a:cs typeface="Times New Roman"/>
                        </a:rPr>
                        <a:t>0</a:t>
                      </a:r>
                      <a:endParaRPr lang="en-US" sz="1200" dirty="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1">
                              <a:lumMod val="50000"/>
                            </a:schemeClr>
                          </a:solidFill>
                          <a:latin typeface="Times"/>
                          <a:ea typeface="Times New Roman"/>
                          <a:cs typeface="Times New Roman"/>
                        </a:rPr>
                        <a:t>0</a:t>
                      </a:r>
                      <a:endParaRPr lang="en-US" sz="1200" dirty="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71475">
                <a:tc>
                  <a:txBody>
                    <a:bodyPr/>
                    <a:lstStyle/>
                    <a:p>
                      <a:pPr marL="0" marR="0" algn="ctr">
                        <a:spcBef>
                          <a:spcPts val="0"/>
                        </a:spcBef>
                        <a:spcAft>
                          <a:spcPts val="0"/>
                        </a:spcAft>
                      </a:pPr>
                      <a:r>
                        <a:rPr lang="en-US" sz="1600" b="1" dirty="0">
                          <a:solidFill>
                            <a:schemeClr val="accent1">
                              <a:lumMod val="50000"/>
                            </a:schemeClr>
                          </a:solidFill>
                          <a:latin typeface="Times"/>
                          <a:ea typeface="Times New Roman"/>
                          <a:cs typeface="Times New Roman"/>
                        </a:rPr>
                        <a:t>1</a:t>
                      </a:r>
                      <a:endParaRPr lang="en-US" sz="1200" dirty="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1">
                              <a:lumMod val="50000"/>
                            </a:schemeClr>
                          </a:solidFill>
                          <a:latin typeface="Times"/>
                          <a:ea typeface="Times New Roman"/>
                          <a:cs typeface="Times New Roman"/>
                        </a:rPr>
                        <a:t>1</a:t>
                      </a:r>
                      <a:endParaRPr lang="en-US" sz="1200" dirty="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rgbClr val="FF6600"/>
                          </a:solidFill>
                          <a:latin typeface="Times"/>
                          <a:ea typeface="Times New Roman"/>
                          <a:cs typeface="Times New Roman"/>
                        </a:rPr>
                        <a:t>1</a:t>
                      </a:r>
                      <a:endParaRPr lang="en-US" sz="1200" dirty="0">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a:solidFill>
                            <a:srgbClr val="FF6600"/>
                          </a:solidFill>
                          <a:latin typeface="Times"/>
                          <a:ea typeface="Times New Roman"/>
                          <a:cs typeface="Times New Roman"/>
                        </a:rPr>
                        <a:t>0</a:t>
                      </a:r>
                      <a:endParaRPr lang="en-US" sz="1200">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1">
                              <a:lumMod val="50000"/>
                            </a:schemeClr>
                          </a:solidFill>
                          <a:latin typeface="Times"/>
                          <a:ea typeface="Times New Roman"/>
                          <a:cs typeface="Times New Roman"/>
                        </a:rPr>
                        <a:t>0</a:t>
                      </a:r>
                      <a:endParaRPr lang="en-US" sz="1200" dirty="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1">
                              <a:lumMod val="50000"/>
                            </a:schemeClr>
                          </a:solidFill>
                          <a:latin typeface="Times"/>
                          <a:ea typeface="Times New Roman"/>
                          <a:cs typeface="Times New Roman"/>
                        </a:rPr>
                        <a:t>0</a:t>
                      </a:r>
                      <a:endParaRPr lang="en-US" sz="1200" dirty="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a:solidFill>
                            <a:schemeClr val="accent1">
                              <a:lumMod val="50000"/>
                            </a:schemeClr>
                          </a:solidFill>
                          <a:latin typeface="Times"/>
                          <a:ea typeface="Times New Roman"/>
                          <a:cs typeface="Times New Roman"/>
                        </a:rPr>
                        <a:t>0</a:t>
                      </a:r>
                      <a:endParaRPr lang="en-US" sz="120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a:solidFill>
                            <a:schemeClr val="accent1">
                              <a:lumMod val="50000"/>
                            </a:schemeClr>
                          </a:solidFill>
                          <a:latin typeface="Times"/>
                          <a:ea typeface="Times New Roman"/>
                          <a:cs typeface="Times New Roman"/>
                        </a:rPr>
                        <a:t>0</a:t>
                      </a:r>
                      <a:endParaRPr lang="en-US" sz="120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71475">
                <a:tc>
                  <a:txBody>
                    <a:bodyPr/>
                    <a:lstStyle/>
                    <a:p>
                      <a:pPr marL="0" marR="0" algn="ctr">
                        <a:spcBef>
                          <a:spcPts val="0"/>
                        </a:spcBef>
                        <a:spcAft>
                          <a:spcPts val="0"/>
                        </a:spcAft>
                      </a:pPr>
                      <a:r>
                        <a:rPr lang="en-US" sz="1600" b="1">
                          <a:solidFill>
                            <a:schemeClr val="accent1">
                              <a:lumMod val="50000"/>
                            </a:schemeClr>
                          </a:solidFill>
                          <a:latin typeface="Times"/>
                          <a:ea typeface="Times New Roman"/>
                          <a:cs typeface="Times New Roman"/>
                        </a:rPr>
                        <a:t>1</a:t>
                      </a:r>
                      <a:endParaRPr lang="en-US" sz="120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1">
                              <a:lumMod val="50000"/>
                            </a:schemeClr>
                          </a:solidFill>
                          <a:latin typeface="Times"/>
                          <a:ea typeface="Times New Roman"/>
                          <a:cs typeface="Times New Roman"/>
                        </a:rPr>
                        <a:t>1</a:t>
                      </a:r>
                      <a:endParaRPr lang="en-US" sz="1200" dirty="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1">
                              <a:lumMod val="50000"/>
                            </a:schemeClr>
                          </a:solidFill>
                          <a:latin typeface="Times"/>
                          <a:ea typeface="Times New Roman"/>
                          <a:cs typeface="Times New Roman"/>
                        </a:rPr>
                        <a:t>1</a:t>
                      </a:r>
                      <a:endParaRPr lang="en-US" sz="1200" dirty="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rgbClr val="FF6600"/>
                          </a:solidFill>
                          <a:latin typeface="Times"/>
                          <a:ea typeface="Times New Roman"/>
                          <a:cs typeface="Times New Roman"/>
                        </a:rPr>
                        <a:t>1</a:t>
                      </a:r>
                      <a:endParaRPr lang="en-US" sz="1200" dirty="0">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a:solidFill>
                            <a:srgbClr val="FF6600"/>
                          </a:solidFill>
                          <a:latin typeface="Times"/>
                          <a:ea typeface="Times New Roman"/>
                          <a:cs typeface="Times New Roman"/>
                        </a:rPr>
                        <a:t>0</a:t>
                      </a:r>
                      <a:endParaRPr lang="en-US" sz="1200">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1">
                              <a:lumMod val="50000"/>
                            </a:schemeClr>
                          </a:solidFill>
                          <a:latin typeface="Times"/>
                          <a:ea typeface="Times New Roman"/>
                          <a:cs typeface="Times New Roman"/>
                        </a:rPr>
                        <a:t>0</a:t>
                      </a:r>
                      <a:endParaRPr lang="en-US" sz="1200" dirty="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1">
                              <a:lumMod val="50000"/>
                            </a:schemeClr>
                          </a:solidFill>
                          <a:latin typeface="Times"/>
                          <a:ea typeface="Times New Roman"/>
                          <a:cs typeface="Times New Roman"/>
                        </a:rPr>
                        <a:t>0</a:t>
                      </a:r>
                      <a:endParaRPr lang="en-US" sz="1200" dirty="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1">
                              <a:lumMod val="50000"/>
                            </a:schemeClr>
                          </a:solidFill>
                          <a:latin typeface="Times"/>
                          <a:ea typeface="Times New Roman"/>
                          <a:cs typeface="Times New Roman"/>
                        </a:rPr>
                        <a:t>0</a:t>
                      </a:r>
                      <a:endParaRPr lang="en-US" sz="1200" dirty="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371475">
                <a:tc>
                  <a:txBody>
                    <a:bodyPr/>
                    <a:lstStyle/>
                    <a:p>
                      <a:pPr marL="0" marR="0" algn="ctr">
                        <a:spcBef>
                          <a:spcPts val="0"/>
                        </a:spcBef>
                        <a:spcAft>
                          <a:spcPts val="0"/>
                        </a:spcAft>
                      </a:pPr>
                      <a:r>
                        <a:rPr lang="en-US" sz="1600" b="1">
                          <a:solidFill>
                            <a:schemeClr val="accent1">
                              <a:lumMod val="50000"/>
                            </a:schemeClr>
                          </a:solidFill>
                          <a:latin typeface="Times"/>
                          <a:ea typeface="Times New Roman"/>
                          <a:cs typeface="Times New Roman"/>
                        </a:rPr>
                        <a:t>1</a:t>
                      </a:r>
                      <a:endParaRPr lang="en-US" sz="120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1">
                              <a:lumMod val="50000"/>
                            </a:schemeClr>
                          </a:solidFill>
                          <a:latin typeface="Times"/>
                          <a:ea typeface="Times New Roman"/>
                          <a:cs typeface="Times New Roman"/>
                        </a:rPr>
                        <a:t>1</a:t>
                      </a:r>
                      <a:endParaRPr lang="en-US" sz="1200" dirty="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1">
                              <a:lumMod val="50000"/>
                            </a:schemeClr>
                          </a:solidFill>
                          <a:latin typeface="Times"/>
                          <a:ea typeface="Times New Roman"/>
                          <a:cs typeface="Times New Roman"/>
                        </a:rPr>
                        <a:t>1</a:t>
                      </a:r>
                      <a:endParaRPr lang="en-US" sz="1200" dirty="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1">
                              <a:lumMod val="50000"/>
                            </a:schemeClr>
                          </a:solidFill>
                          <a:latin typeface="Times"/>
                          <a:ea typeface="Times New Roman"/>
                          <a:cs typeface="Times New Roman"/>
                        </a:rPr>
                        <a:t>1</a:t>
                      </a:r>
                      <a:endParaRPr lang="en-US" sz="1200" dirty="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rgbClr val="FF6600"/>
                          </a:solidFill>
                          <a:latin typeface="Times"/>
                          <a:ea typeface="Times New Roman"/>
                          <a:cs typeface="Times New Roman"/>
                        </a:rPr>
                        <a:t>1</a:t>
                      </a:r>
                      <a:endParaRPr lang="en-US" sz="1200" dirty="0">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rgbClr val="FF6600"/>
                          </a:solidFill>
                          <a:latin typeface="Times"/>
                          <a:ea typeface="Times New Roman"/>
                          <a:cs typeface="Times New Roman"/>
                        </a:rPr>
                        <a:t>1</a:t>
                      </a:r>
                      <a:endParaRPr lang="en-US" sz="1200" dirty="0">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rgbClr val="FF6600"/>
                          </a:solidFill>
                          <a:latin typeface="Times"/>
                          <a:ea typeface="Times New Roman"/>
                          <a:cs typeface="Times New Roman"/>
                        </a:rPr>
                        <a:t>0</a:t>
                      </a:r>
                      <a:endParaRPr lang="en-US" sz="1200" dirty="0">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1">
                              <a:lumMod val="50000"/>
                            </a:schemeClr>
                          </a:solidFill>
                          <a:latin typeface="Times"/>
                          <a:ea typeface="Times New Roman"/>
                          <a:cs typeface="Times New Roman"/>
                        </a:rPr>
                        <a:t>0</a:t>
                      </a:r>
                      <a:endParaRPr lang="en-US" sz="1200" dirty="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371475">
                <a:tc>
                  <a:txBody>
                    <a:bodyPr/>
                    <a:lstStyle/>
                    <a:p>
                      <a:pPr marL="0" marR="0" algn="ctr">
                        <a:spcBef>
                          <a:spcPts val="0"/>
                        </a:spcBef>
                        <a:spcAft>
                          <a:spcPts val="0"/>
                        </a:spcAft>
                      </a:pPr>
                      <a:r>
                        <a:rPr lang="en-US" sz="1600" b="1" dirty="0">
                          <a:solidFill>
                            <a:schemeClr val="accent1">
                              <a:lumMod val="50000"/>
                            </a:schemeClr>
                          </a:solidFill>
                          <a:latin typeface="Times"/>
                          <a:ea typeface="Times New Roman"/>
                          <a:cs typeface="Times New Roman"/>
                        </a:rPr>
                        <a:t>1</a:t>
                      </a:r>
                      <a:endParaRPr lang="en-US" sz="1200" dirty="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1">
                              <a:lumMod val="50000"/>
                            </a:schemeClr>
                          </a:solidFill>
                          <a:latin typeface="Times"/>
                          <a:ea typeface="Times New Roman"/>
                          <a:cs typeface="Times New Roman"/>
                        </a:rPr>
                        <a:t>1</a:t>
                      </a:r>
                      <a:endParaRPr lang="en-US" sz="1200" dirty="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1">
                              <a:lumMod val="50000"/>
                            </a:schemeClr>
                          </a:solidFill>
                          <a:latin typeface="Times"/>
                          <a:ea typeface="Times New Roman"/>
                          <a:cs typeface="Times New Roman"/>
                        </a:rPr>
                        <a:t>1</a:t>
                      </a:r>
                      <a:endParaRPr lang="en-US" sz="1200" dirty="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1">
                              <a:lumMod val="50000"/>
                            </a:schemeClr>
                          </a:solidFill>
                          <a:latin typeface="Times"/>
                          <a:ea typeface="Times New Roman"/>
                          <a:cs typeface="Times New Roman"/>
                        </a:rPr>
                        <a:t>1</a:t>
                      </a:r>
                      <a:endParaRPr lang="en-US" sz="1200" dirty="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1">
                              <a:lumMod val="50000"/>
                            </a:schemeClr>
                          </a:solidFill>
                          <a:latin typeface="Times"/>
                          <a:ea typeface="Times New Roman"/>
                          <a:cs typeface="Times New Roman"/>
                        </a:rPr>
                        <a:t>1</a:t>
                      </a:r>
                      <a:endParaRPr lang="en-US" sz="1200" dirty="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chemeClr val="accent1">
                              <a:lumMod val="50000"/>
                            </a:schemeClr>
                          </a:solidFill>
                          <a:latin typeface="Times"/>
                          <a:ea typeface="Times New Roman"/>
                          <a:cs typeface="Times New Roman"/>
                        </a:rPr>
                        <a:t>1</a:t>
                      </a:r>
                      <a:endParaRPr lang="en-US" sz="1200" dirty="0">
                        <a:solidFill>
                          <a:schemeClr val="accent1">
                            <a:lumMod val="50000"/>
                          </a:schemeClr>
                        </a:solidFill>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rgbClr val="FF6600"/>
                          </a:solidFill>
                          <a:latin typeface="Times"/>
                          <a:ea typeface="Times New Roman"/>
                          <a:cs typeface="Times New Roman"/>
                        </a:rPr>
                        <a:t>1</a:t>
                      </a:r>
                      <a:endParaRPr lang="en-US" sz="1200" dirty="0">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b="1" dirty="0">
                          <a:solidFill>
                            <a:srgbClr val="FF6600"/>
                          </a:solidFill>
                          <a:latin typeface="Times"/>
                          <a:ea typeface="Times New Roman"/>
                          <a:cs typeface="Times New Roman"/>
                        </a:rPr>
                        <a:t>0</a:t>
                      </a:r>
                      <a:endParaRPr lang="en-US" sz="1200" dirty="0">
                        <a:latin typeface="Times New Roman"/>
                        <a:ea typeface="Times New Roman"/>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063261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 calcmode="lin" valueType="num">
                                      <p:cBhvr additive="base">
                                        <p:cTn id="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anim calcmode="lin" valueType="num">
                                      <p:cBhvr additive="base">
                                        <p:cTn id="1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 calcmode="lin" valueType="num">
                                      <p:cBhvr additive="base">
                                        <p:cTn id="1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Max Number of </a:t>
            </a:r>
            <a:r>
              <a:rPr lang="en-US" dirty="0" smtClean="0"/>
              <a:t>1’s </a:t>
            </a:r>
            <a:r>
              <a:rPr lang="en-US" sz="2400" dirty="0" smtClean="0">
                <a:solidFill>
                  <a:schemeClr val="accent6">
                    <a:lumMod val="75000"/>
                  </a:schemeClr>
                </a:solidFill>
              </a:rPr>
              <a:t>(Analysis)</a:t>
            </a:r>
            <a:endParaRPr lang="en-US" dirty="0"/>
          </a:p>
        </p:txBody>
      </p:sp>
      <p:sp>
        <p:nvSpPr>
          <p:cNvPr id="3" name="Content Placeholder 2"/>
          <p:cNvSpPr>
            <a:spLocks noGrp="1"/>
          </p:cNvSpPr>
          <p:nvPr>
            <p:ph idx="1"/>
          </p:nvPr>
        </p:nvSpPr>
        <p:spPr/>
        <p:txBody>
          <a:bodyPr>
            <a:normAutofit fontScale="77500" lnSpcReduction="20000"/>
          </a:bodyPr>
          <a:lstStyle/>
          <a:p>
            <a:r>
              <a:rPr lang="en-US" sz="2900" dirty="0"/>
              <a:t>Analysis of Better Solution:</a:t>
            </a:r>
          </a:p>
          <a:p>
            <a:pPr lvl="1"/>
            <a:r>
              <a:rPr lang="en-US" sz="2500" dirty="0"/>
              <a:t>How many steps will this algorithm take, in terms of n?</a:t>
            </a:r>
          </a:p>
          <a:p>
            <a:pPr lvl="2"/>
            <a:r>
              <a:rPr lang="en-US" sz="2200" dirty="0"/>
              <a:t>Each “step” taken by the algorithm either goes to the right or down in the table.</a:t>
            </a:r>
          </a:p>
          <a:p>
            <a:pPr lvl="2"/>
            <a:r>
              <a:rPr lang="en-US" sz="2200" dirty="0"/>
              <a:t>There are a maximum of n-1 steps to the right</a:t>
            </a:r>
          </a:p>
          <a:p>
            <a:pPr lvl="2"/>
            <a:r>
              <a:rPr lang="en-US" sz="2200" dirty="0"/>
              <a:t>And a maximum of n-1 steps down that could be taken</a:t>
            </a:r>
          </a:p>
          <a:p>
            <a:pPr lvl="2"/>
            <a:r>
              <a:rPr lang="en-US" sz="2200" dirty="0"/>
              <a:t>Thus the maximum number of “steps” that can be done during this algorithm is approximately </a:t>
            </a:r>
            <a:r>
              <a:rPr lang="en-US" sz="2200" b="1" dirty="0">
                <a:solidFill>
                  <a:schemeClr val="accent6">
                    <a:lumMod val="75000"/>
                  </a:schemeClr>
                </a:solidFill>
              </a:rPr>
              <a:t>2n</a:t>
            </a:r>
          </a:p>
          <a:p>
            <a:pPr lvl="3"/>
            <a:r>
              <a:rPr lang="en-US" sz="1500" dirty="0"/>
              <a:t>And this is the worst case</a:t>
            </a:r>
          </a:p>
          <a:p>
            <a:pPr lvl="2"/>
            <a:r>
              <a:rPr lang="en-US" sz="2200" dirty="0"/>
              <a:t>So the running time of this algorithm is </a:t>
            </a:r>
            <a:r>
              <a:rPr lang="en-US" sz="2200" b="1" dirty="0">
                <a:solidFill>
                  <a:schemeClr val="accent6">
                    <a:lumMod val="75000"/>
                  </a:schemeClr>
                </a:solidFill>
              </a:rPr>
              <a:t>O(n)</a:t>
            </a:r>
          </a:p>
          <a:p>
            <a:pPr lvl="3"/>
            <a:r>
              <a:rPr lang="en-US" sz="1500" dirty="0"/>
              <a:t>An improvement of the previous algorithm</a:t>
            </a:r>
          </a:p>
          <a:p>
            <a:pPr lvl="3"/>
            <a:r>
              <a:rPr lang="en-US" sz="1500" dirty="0"/>
              <a:t>Input size of 100 for n</a:t>
            </a:r>
          </a:p>
          <a:p>
            <a:pPr lvl="3"/>
            <a:r>
              <a:rPr lang="en-US" sz="1500" dirty="0"/>
              <a:t>n</a:t>
            </a:r>
            <a:r>
              <a:rPr lang="en-US" sz="1500" baseline="30000" dirty="0"/>
              <a:t>2</a:t>
            </a:r>
            <a:r>
              <a:rPr lang="en-US" sz="1500" dirty="0"/>
              <a:t> would be 10,000 steps and 2n would be 200 </a:t>
            </a:r>
            <a:r>
              <a:rPr lang="en-US" sz="1500" dirty="0" smtClean="0"/>
              <a:t>steps</a:t>
            </a:r>
            <a:endParaRPr lang="en-US" sz="1500" dirty="0"/>
          </a:p>
        </p:txBody>
      </p:sp>
      <p:sp>
        <p:nvSpPr>
          <p:cNvPr id="5" name="Slide Number Placeholder 4"/>
          <p:cNvSpPr>
            <a:spLocks noGrp="1"/>
          </p:cNvSpPr>
          <p:nvPr>
            <p:ph type="sldNum" sz="quarter" idx="12"/>
          </p:nvPr>
        </p:nvSpPr>
        <p:spPr/>
        <p:txBody>
          <a:bodyPr/>
          <a:lstStyle/>
          <a:p>
            <a:fld id="{DDC76627-6CEE-4E3A-AF80-81DF9B174472}" type="slidenum">
              <a:rPr lang="en-US" smtClean="0"/>
              <a:pPr/>
              <a:t>20</a:t>
            </a:fld>
            <a:endParaRPr lang="en-US"/>
          </a:p>
        </p:txBody>
      </p:sp>
    </p:spTree>
    <p:extLst>
      <p:ext uri="{BB962C8B-B14F-4D97-AF65-F5344CB8AC3E}">
        <p14:creationId xmlns:p14="http://schemas.microsoft.com/office/powerpoint/2010/main" val="338659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3">
                                            <p:txEl>
                                              <p:pRg st="7" end="7"/>
                                            </p:txEl>
                                          </p:spTgt>
                                        </p:tgtEl>
                                        <p:attrNameLst>
                                          <p:attrName>style.visibility</p:attrName>
                                        </p:attrNameLst>
                                      </p:cBhvr>
                                      <p:to>
                                        <p:strVal val="visible"/>
                                      </p:to>
                                    </p:set>
                                    <p:anim calcmode="lin" valueType="num">
                                      <p:cBhvr additive="base">
                                        <p:cTn id="4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7" end="7"/>
                                            </p:txEl>
                                          </p:spTgt>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3">
                                            <p:txEl>
                                              <p:pRg st="8" end="8"/>
                                            </p:txEl>
                                          </p:spTgt>
                                        </p:tgtEl>
                                        <p:attrNameLst>
                                          <p:attrName>style.visibility</p:attrName>
                                        </p:attrNameLst>
                                      </p:cBhvr>
                                      <p:to>
                                        <p:strVal val="visible"/>
                                      </p:to>
                                    </p:set>
                                    <p:anim calcmode="lin" valueType="num">
                                      <p:cBhvr additive="base">
                                        <p:cTn id="4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3">
                                            <p:txEl>
                                              <p:pRg st="8" end="8"/>
                                            </p:txEl>
                                          </p:spTgt>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3">
                                            <p:txEl>
                                              <p:pRg st="9" end="9"/>
                                            </p:txEl>
                                          </p:spTgt>
                                        </p:tgtEl>
                                        <p:attrNameLst>
                                          <p:attrName>style.visibility</p:attrName>
                                        </p:attrNameLst>
                                      </p:cBhvr>
                                      <p:to>
                                        <p:strVal val="visible"/>
                                      </p:to>
                                    </p:set>
                                    <p:anim calcmode="lin" valueType="num">
                                      <p:cBhvr additive="base">
                                        <p:cTn id="49"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9" end="9"/>
                                            </p:txEl>
                                          </p:spTgt>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3">
                                            <p:txEl>
                                              <p:pRg st="10" end="10"/>
                                            </p:txEl>
                                          </p:spTgt>
                                        </p:tgtEl>
                                        <p:attrNameLst>
                                          <p:attrName>style.visibility</p:attrName>
                                        </p:attrNameLst>
                                      </p:cBhvr>
                                      <p:to>
                                        <p:strVal val="visible"/>
                                      </p:to>
                                    </p:set>
                                    <p:anim calcmode="lin" valueType="num">
                                      <p:cBhvr additive="base">
                                        <p:cTn id="53"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9126" y="1946943"/>
            <a:ext cx="6705600" cy="2003425"/>
          </a:xfrm>
        </p:spPr>
        <p:txBody>
          <a:bodyPr>
            <a:noAutofit/>
          </a:bodyPr>
          <a:lstStyle/>
          <a:p>
            <a:r>
              <a:rPr lang="en-US" sz="6000" b="1" dirty="0" smtClean="0">
                <a:solidFill>
                  <a:srgbClr val="00823B"/>
                </a:solidFill>
              </a:rPr>
              <a:t>Selection Sort</a:t>
            </a:r>
            <a:endParaRPr lang="en-US" sz="4800" b="1" dirty="0">
              <a:solidFill>
                <a:srgbClr val="00823B"/>
              </a:solidFill>
            </a:endParaRPr>
          </a:p>
        </p:txBody>
      </p:sp>
      <p:sp>
        <p:nvSpPr>
          <p:cNvPr id="3" name="Subtitle 2"/>
          <p:cNvSpPr>
            <a:spLocks noGrp="1"/>
          </p:cNvSpPr>
          <p:nvPr>
            <p:ph type="subTitle" idx="1"/>
          </p:nvPr>
        </p:nvSpPr>
        <p:spPr>
          <a:xfrm>
            <a:off x="762000" y="3962400"/>
            <a:ext cx="6400800" cy="1752600"/>
          </a:xfrm>
        </p:spPr>
        <p:txBody>
          <a:bodyPr/>
          <a:lstStyle/>
          <a:p>
            <a:pPr algn="r"/>
            <a:r>
              <a:rPr lang="en-US" dirty="0" smtClean="0"/>
              <a:t>Example 01</a:t>
            </a:r>
          </a:p>
          <a:p>
            <a:pPr algn="r"/>
            <a:r>
              <a:rPr lang="en-US" dirty="0" smtClean="0"/>
              <a:t>Introduction</a:t>
            </a:r>
          </a:p>
        </p:txBody>
      </p:sp>
    </p:spTree>
    <p:extLst>
      <p:ext uri="{BB962C8B-B14F-4D97-AF65-F5344CB8AC3E}">
        <p14:creationId xmlns:p14="http://schemas.microsoft.com/office/powerpoint/2010/main" val="199792959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Selection Sort </a:t>
            </a:r>
            <a:r>
              <a:rPr lang="en-US" dirty="0"/>
              <a:t>- </a:t>
            </a:r>
            <a:r>
              <a:rPr lang="en-US" sz="2800" b="1" dirty="0" smtClean="0">
                <a:solidFill>
                  <a:srgbClr val="0000FF"/>
                </a:solidFill>
              </a:rPr>
              <a:t>Introduction</a:t>
            </a:r>
            <a:endParaRPr lang="en-US" dirty="0"/>
          </a:p>
        </p:txBody>
      </p:sp>
      <p:sp>
        <p:nvSpPr>
          <p:cNvPr id="3" name="Content Placeholder 2"/>
          <p:cNvSpPr>
            <a:spLocks noGrp="1"/>
          </p:cNvSpPr>
          <p:nvPr>
            <p:ph idx="1"/>
          </p:nvPr>
        </p:nvSpPr>
        <p:spPr/>
        <p:txBody>
          <a:bodyPr>
            <a:normAutofit fontScale="70000" lnSpcReduction="20000"/>
          </a:bodyPr>
          <a:lstStyle/>
          <a:p>
            <a:pPr algn="just"/>
            <a:r>
              <a:rPr lang="en-US" dirty="0"/>
              <a:t>Scan the array to find its smallest element and swap it with the first element.  Then, starting with the second element, scan the elements to the right of it to find the smallest among them and swap it with the second elements.  Generally, on pass </a:t>
            </a:r>
            <a:r>
              <a:rPr lang="en-US" i="1" dirty="0" err="1"/>
              <a:t>i</a:t>
            </a:r>
            <a:r>
              <a:rPr lang="en-US" i="1" dirty="0"/>
              <a:t> </a:t>
            </a:r>
            <a:r>
              <a:rPr lang="en-US" dirty="0"/>
              <a:t>(0 </a:t>
            </a:r>
            <a:r>
              <a:rPr lang="en-US" dirty="0">
                <a:sym typeface="Symbol" panose="05050102010706020507" pitchFamily="18" charset="2"/>
              </a:rPr>
              <a:t> </a:t>
            </a:r>
            <a:r>
              <a:rPr lang="en-US" i="1" dirty="0" err="1">
                <a:sym typeface="Symbol" panose="05050102010706020507" pitchFamily="18" charset="2"/>
              </a:rPr>
              <a:t>i</a:t>
            </a:r>
            <a:r>
              <a:rPr lang="en-US" i="1" dirty="0">
                <a:sym typeface="Symbol" panose="05050102010706020507" pitchFamily="18" charset="2"/>
              </a:rPr>
              <a:t> </a:t>
            </a:r>
            <a:r>
              <a:rPr lang="en-US" dirty="0">
                <a:sym typeface="Symbol" panose="05050102010706020507" pitchFamily="18" charset="2"/>
              </a:rPr>
              <a:t> </a:t>
            </a:r>
            <a:r>
              <a:rPr lang="en-US" i="1" dirty="0">
                <a:sym typeface="Symbol" panose="05050102010706020507" pitchFamily="18" charset="2"/>
              </a:rPr>
              <a:t>n-</a:t>
            </a:r>
            <a:r>
              <a:rPr lang="en-US" dirty="0">
                <a:sym typeface="Symbol" panose="05050102010706020507" pitchFamily="18" charset="2"/>
              </a:rPr>
              <a:t>2), find the smallest element in </a:t>
            </a:r>
            <a:r>
              <a:rPr lang="en-US" i="1" dirty="0">
                <a:sym typeface="Symbol" panose="05050102010706020507" pitchFamily="18" charset="2"/>
              </a:rPr>
              <a:t>A</a:t>
            </a:r>
            <a:r>
              <a:rPr lang="en-US" dirty="0">
                <a:sym typeface="Symbol" panose="05050102010706020507" pitchFamily="18" charset="2"/>
              </a:rPr>
              <a:t>[</a:t>
            </a:r>
            <a:r>
              <a:rPr lang="en-US" i="1" dirty="0">
                <a:sym typeface="Symbol" panose="05050102010706020507" pitchFamily="18" charset="2"/>
              </a:rPr>
              <a:t>i..n-</a:t>
            </a:r>
            <a:r>
              <a:rPr lang="en-US" dirty="0">
                <a:sym typeface="Symbol" panose="05050102010706020507" pitchFamily="18" charset="2"/>
              </a:rPr>
              <a:t>1] and swap it with </a:t>
            </a:r>
            <a:r>
              <a:rPr lang="en-US" i="1" dirty="0">
                <a:sym typeface="Symbol" panose="05050102010706020507" pitchFamily="18" charset="2"/>
              </a:rPr>
              <a:t>A</a:t>
            </a:r>
            <a:r>
              <a:rPr lang="en-US" dirty="0">
                <a:sym typeface="Symbol" panose="05050102010706020507" pitchFamily="18" charset="2"/>
              </a:rPr>
              <a:t>[</a:t>
            </a:r>
            <a:r>
              <a:rPr lang="en-US" i="1" dirty="0" err="1">
                <a:sym typeface="Symbol" panose="05050102010706020507" pitchFamily="18" charset="2"/>
              </a:rPr>
              <a:t>i</a:t>
            </a:r>
            <a:r>
              <a:rPr lang="en-US" dirty="0" smtClean="0">
                <a:sym typeface="Symbol" panose="05050102010706020507" pitchFamily="18" charset="2"/>
              </a:rPr>
              <a:t>]:</a:t>
            </a:r>
          </a:p>
          <a:p>
            <a:pPr>
              <a:buFont typeface="Monotype Sorts" pitchFamily="2" charset="2"/>
              <a:buNone/>
            </a:pPr>
            <a:r>
              <a:rPr lang="en-US" i="1" dirty="0" smtClean="0">
                <a:sym typeface="Symbol" panose="05050102010706020507" pitchFamily="18" charset="2"/>
              </a:rPr>
              <a:t>	A</a:t>
            </a:r>
            <a:r>
              <a:rPr lang="en-US" dirty="0" smtClean="0">
                <a:sym typeface="Symbol" panose="05050102010706020507" pitchFamily="18" charset="2"/>
              </a:rPr>
              <a:t>[0</a:t>
            </a:r>
            <a:r>
              <a:rPr lang="en-US" dirty="0">
                <a:sym typeface="Symbol" panose="05050102010706020507" pitchFamily="18" charset="2"/>
              </a:rPr>
              <a:t>]     .   .   .    </a:t>
            </a:r>
            <a:r>
              <a:rPr lang="en-US" i="1" dirty="0">
                <a:sym typeface="Symbol" panose="05050102010706020507" pitchFamily="18" charset="2"/>
              </a:rPr>
              <a:t>A</a:t>
            </a:r>
            <a:r>
              <a:rPr lang="en-US" dirty="0">
                <a:sym typeface="Symbol" panose="05050102010706020507" pitchFamily="18" charset="2"/>
              </a:rPr>
              <a:t>[</a:t>
            </a:r>
            <a:r>
              <a:rPr lang="en-US" i="1" dirty="0">
                <a:sym typeface="Symbol" panose="05050102010706020507" pitchFamily="18" charset="2"/>
              </a:rPr>
              <a:t>i</a:t>
            </a:r>
            <a:r>
              <a:rPr lang="en-US" dirty="0">
                <a:sym typeface="Symbol" panose="05050102010706020507" pitchFamily="18" charset="2"/>
              </a:rPr>
              <a:t>-1]  |  </a:t>
            </a:r>
            <a:r>
              <a:rPr lang="en-US" i="1" dirty="0">
                <a:sym typeface="Symbol" panose="05050102010706020507" pitchFamily="18" charset="2"/>
              </a:rPr>
              <a:t>A</a:t>
            </a:r>
            <a:r>
              <a:rPr lang="en-US" dirty="0">
                <a:sym typeface="Symbol" panose="05050102010706020507" pitchFamily="18" charset="2"/>
              </a:rPr>
              <a:t>[</a:t>
            </a:r>
            <a:r>
              <a:rPr lang="en-US" i="1" dirty="0" err="1">
                <a:sym typeface="Symbol" panose="05050102010706020507" pitchFamily="18" charset="2"/>
              </a:rPr>
              <a:t>i</a:t>
            </a:r>
            <a:r>
              <a:rPr lang="en-US" dirty="0">
                <a:sym typeface="Symbol" panose="05050102010706020507" pitchFamily="18" charset="2"/>
              </a:rPr>
              <a:t>],  .   .   .  , </a:t>
            </a:r>
            <a:r>
              <a:rPr lang="en-US" i="1" dirty="0">
                <a:sym typeface="Symbol" panose="05050102010706020507" pitchFamily="18" charset="2"/>
              </a:rPr>
              <a:t>A</a:t>
            </a:r>
            <a:r>
              <a:rPr lang="en-US" dirty="0">
                <a:sym typeface="Symbol" panose="05050102010706020507" pitchFamily="18" charset="2"/>
              </a:rPr>
              <a:t>[</a:t>
            </a:r>
            <a:r>
              <a:rPr lang="en-US" i="1" dirty="0">
                <a:sym typeface="Symbol" panose="05050102010706020507" pitchFamily="18" charset="2"/>
              </a:rPr>
              <a:t>min</a:t>
            </a:r>
            <a:r>
              <a:rPr lang="en-US" dirty="0">
                <a:sym typeface="Symbol" panose="05050102010706020507" pitchFamily="18" charset="2"/>
              </a:rPr>
              <a:t>], .   .   ., </a:t>
            </a:r>
            <a:r>
              <a:rPr lang="en-US" i="1" dirty="0">
                <a:sym typeface="Symbol" panose="05050102010706020507" pitchFamily="18" charset="2"/>
              </a:rPr>
              <a:t>A</a:t>
            </a:r>
            <a:r>
              <a:rPr lang="en-US" dirty="0">
                <a:sym typeface="Symbol" panose="05050102010706020507" pitchFamily="18" charset="2"/>
              </a:rPr>
              <a:t>[</a:t>
            </a:r>
            <a:r>
              <a:rPr lang="en-US" i="1" dirty="0">
                <a:sym typeface="Symbol" panose="05050102010706020507" pitchFamily="18" charset="2"/>
              </a:rPr>
              <a:t>n</a:t>
            </a:r>
            <a:r>
              <a:rPr lang="en-US" dirty="0">
                <a:sym typeface="Symbol" panose="05050102010706020507" pitchFamily="18" charset="2"/>
              </a:rPr>
              <a:t>-1]        </a:t>
            </a:r>
          </a:p>
          <a:p>
            <a:pPr>
              <a:buFont typeface="Monotype Sorts" pitchFamily="2" charset="2"/>
              <a:buNone/>
            </a:pPr>
            <a:r>
              <a:rPr lang="en-US" dirty="0">
                <a:sym typeface="Symbol" panose="05050102010706020507" pitchFamily="18" charset="2"/>
              </a:rPr>
              <a:t>        </a:t>
            </a:r>
            <a:r>
              <a:rPr lang="en-US" sz="2000" dirty="0">
                <a:sym typeface="Symbol" panose="05050102010706020507" pitchFamily="18" charset="2"/>
              </a:rPr>
              <a:t>in their final positions</a:t>
            </a:r>
          </a:p>
          <a:p>
            <a:pPr>
              <a:buFont typeface="Monotype Sorts" pitchFamily="2" charset="2"/>
              <a:buNone/>
            </a:pPr>
            <a:endParaRPr lang="en-US" i="1" dirty="0">
              <a:sym typeface="Symbol" panose="05050102010706020507" pitchFamily="18" charset="2"/>
            </a:endParaRPr>
          </a:p>
          <a:p>
            <a:pPr>
              <a:buFont typeface="Monotype Sorts" pitchFamily="2" charset="2"/>
              <a:buNone/>
            </a:pPr>
            <a:r>
              <a:rPr lang="en-US" dirty="0">
                <a:sym typeface="Symbol" panose="05050102010706020507" pitchFamily="18" charset="2"/>
              </a:rPr>
              <a:t>Example: 7   3   2   5</a:t>
            </a:r>
            <a:endParaRPr lang="en-US" i="1" dirty="0">
              <a:sym typeface="Symbol" panose="05050102010706020507" pitchFamily="18" charset="2"/>
            </a:endParaRPr>
          </a:p>
          <a:p>
            <a:pPr algn="just"/>
            <a:endParaRPr lang="en-US" dirty="0"/>
          </a:p>
        </p:txBody>
      </p:sp>
      <p:sp>
        <p:nvSpPr>
          <p:cNvPr id="4" name="Slide Number Placeholder 3"/>
          <p:cNvSpPr>
            <a:spLocks noGrp="1"/>
          </p:cNvSpPr>
          <p:nvPr>
            <p:ph type="sldNum" sz="quarter" idx="12"/>
          </p:nvPr>
        </p:nvSpPr>
        <p:spPr/>
        <p:txBody>
          <a:bodyPr/>
          <a:lstStyle/>
          <a:p>
            <a:fld id="{EFBA8F76-60DD-4F65-80ED-7968AD89E013}" type="slidenum">
              <a:rPr lang="en-US" smtClean="0"/>
              <a:t>22</a:t>
            </a:fld>
            <a:endParaRPr lang="en-US"/>
          </a:p>
        </p:txBody>
      </p:sp>
      <p:grpSp>
        <p:nvGrpSpPr>
          <p:cNvPr id="5" name="Group 4"/>
          <p:cNvGrpSpPr/>
          <p:nvPr/>
        </p:nvGrpSpPr>
        <p:grpSpPr>
          <a:xfrm>
            <a:off x="3657600" y="4800600"/>
            <a:ext cx="2362200" cy="304800"/>
            <a:chOff x="3886200" y="4191000"/>
            <a:chExt cx="2819400" cy="228600"/>
          </a:xfrm>
        </p:grpSpPr>
        <p:sp>
          <p:nvSpPr>
            <p:cNvPr id="6" name="Line 4"/>
            <p:cNvSpPr>
              <a:spLocks noChangeShapeType="1"/>
            </p:cNvSpPr>
            <p:nvPr/>
          </p:nvSpPr>
          <p:spPr bwMode="auto">
            <a:xfrm>
              <a:off x="3886200" y="4419600"/>
              <a:ext cx="2819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 name="Line 5"/>
            <p:cNvSpPr>
              <a:spLocks noChangeShapeType="1"/>
            </p:cNvSpPr>
            <p:nvPr/>
          </p:nvSpPr>
          <p:spPr bwMode="auto">
            <a:xfrm flipV="1">
              <a:off x="3886200" y="4191000"/>
              <a:ext cx="0" cy="228600"/>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 name="Line 6"/>
            <p:cNvSpPr>
              <a:spLocks noChangeShapeType="1"/>
            </p:cNvSpPr>
            <p:nvPr/>
          </p:nvSpPr>
          <p:spPr bwMode="auto">
            <a:xfrm flipV="1">
              <a:off x="6705600" y="4191000"/>
              <a:ext cx="0" cy="228600"/>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Tree>
    <p:extLst>
      <p:ext uri="{BB962C8B-B14F-4D97-AF65-F5344CB8AC3E}">
        <p14:creationId xmlns:p14="http://schemas.microsoft.com/office/powerpoint/2010/main" val="42463359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9126" y="1946943"/>
            <a:ext cx="6705600" cy="2003425"/>
          </a:xfrm>
        </p:spPr>
        <p:txBody>
          <a:bodyPr>
            <a:noAutofit/>
          </a:bodyPr>
          <a:lstStyle/>
          <a:p>
            <a:r>
              <a:rPr lang="en-US" sz="6000" b="1" dirty="0" smtClean="0">
                <a:solidFill>
                  <a:srgbClr val="00823B"/>
                </a:solidFill>
              </a:rPr>
              <a:t>Selection Sort</a:t>
            </a:r>
            <a:endParaRPr lang="en-US" sz="4800" b="1" dirty="0">
              <a:solidFill>
                <a:srgbClr val="00823B"/>
              </a:solidFill>
            </a:endParaRPr>
          </a:p>
        </p:txBody>
      </p:sp>
      <p:sp>
        <p:nvSpPr>
          <p:cNvPr id="3" name="Subtitle 2"/>
          <p:cNvSpPr>
            <a:spLocks noGrp="1"/>
          </p:cNvSpPr>
          <p:nvPr>
            <p:ph type="subTitle" idx="1"/>
          </p:nvPr>
        </p:nvSpPr>
        <p:spPr>
          <a:xfrm>
            <a:off x="762000" y="3962400"/>
            <a:ext cx="6400800" cy="1752600"/>
          </a:xfrm>
        </p:spPr>
        <p:txBody>
          <a:bodyPr/>
          <a:lstStyle/>
          <a:p>
            <a:pPr algn="r"/>
            <a:r>
              <a:rPr lang="en-US" dirty="0" smtClean="0"/>
              <a:t>Example 01</a:t>
            </a:r>
          </a:p>
          <a:p>
            <a:pPr algn="r"/>
            <a:r>
              <a:rPr lang="en-US" dirty="0" smtClean="0"/>
              <a:t>Algorithm and Tracing</a:t>
            </a:r>
          </a:p>
        </p:txBody>
      </p:sp>
    </p:spTree>
    <p:extLst>
      <p:ext uri="{BB962C8B-B14F-4D97-AF65-F5344CB8AC3E}">
        <p14:creationId xmlns:p14="http://schemas.microsoft.com/office/powerpoint/2010/main" val="53159533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6"/>
          <p:cNvSpPr>
            <a:spLocks noGrp="1"/>
          </p:cNvSpPr>
          <p:nvPr>
            <p:ph type="sldNum" sz="quarter" idx="12"/>
          </p:nvPr>
        </p:nvSpPr>
        <p:spPr/>
        <p:txBody>
          <a:bodyPr/>
          <a:lstStyle/>
          <a:p>
            <a:fld id="{71A6A08C-D2F5-4F3D-8620-65C449FCB90E}" type="slidenum">
              <a:rPr lang="en-US"/>
              <a:pPr/>
              <a:t>24</a:t>
            </a:fld>
            <a:endParaRPr lang="en-US"/>
          </a:p>
        </p:txBody>
      </p:sp>
      <p:pic>
        <p:nvPicPr>
          <p:cNvPr id="283652" name="Picture 4" descr="3_1a"/>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990600" y="2133600"/>
            <a:ext cx="6090030" cy="30480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itle 1"/>
          <p:cNvSpPr>
            <a:spLocks noGrp="1"/>
          </p:cNvSpPr>
          <p:nvPr>
            <p:ph type="title"/>
          </p:nvPr>
        </p:nvSpPr>
        <p:spPr>
          <a:xfrm>
            <a:off x="914400" y="1143000"/>
            <a:ext cx="6248400" cy="914400"/>
          </a:xfrm>
        </p:spPr>
        <p:txBody>
          <a:bodyPr/>
          <a:lstStyle/>
          <a:p>
            <a:pPr algn="l"/>
            <a:r>
              <a:rPr lang="en-US" dirty="0" smtClean="0"/>
              <a:t>Selection Sort </a:t>
            </a:r>
            <a:r>
              <a:rPr lang="en-US" dirty="0"/>
              <a:t>- </a:t>
            </a:r>
            <a:r>
              <a:rPr lang="en-US" sz="2800" b="1" dirty="0" smtClean="0">
                <a:solidFill>
                  <a:srgbClr val="0000FF"/>
                </a:solidFill>
              </a:rPr>
              <a:t>Algorithm</a:t>
            </a:r>
            <a:endParaRPr lang="en-US" dirty="0"/>
          </a:p>
        </p:txBody>
      </p:sp>
    </p:spTree>
    <p:extLst>
      <p:ext uri="{BB962C8B-B14F-4D97-AF65-F5344CB8AC3E}">
        <p14:creationId xmlns:p14="http://schemas.microsoft.com/office/powerpoint/2010/main" val="57292283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9120" y="1219200"/>
            <a:ext cx="7675809" cy="623369"/>
          </a:xfrm>
        </p:spPr>
        <p:txBody>
          <a:bodyPr>
            <a:normAutofit fontScale="90000"/>
          </a:bodyPr>
          <a:lstStyle/>
          <a:p>
            <a:pPr algn="l"/>
            <a:r>
              <a:rPr lang="en-US" dirty="0"/>
              <a:t>Selection </a:t>
            </a:r>
            <a:r>
              <a:rPr lang="en-US" dirty="0" smtClean="0"/>
              <a:t>Sort – </a:t>
            </a:r>
            <a:r>
              <a:rPr lang="en-US" sz="4000" b="1" dirty="0" smtClean="0">
                <a:solidFill>
                  <a:srgbClr val="0000FF"/>
                </a:solidFill>
              </a:rPr>
              <a:t>Tracing</a:t>
            </a:r>
            <a:endParaRPr lang="en-US" sz="2400" b="1" dirty="0">
              <a:solidFill>
                <a:srgbClr val="0000FF"/>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25</a:t>
            </a:fld>
            <a:endParaRPr lang="en-US"/>
          </a:p>
        </p:txBody>
      </p:sp>
      <p:pic>
        <p:nvPicPr>
          <p:cNvPr id="5122"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b="83269"/>
          <a:stretch/>
        </p:blipFill>
        <p:spPr bwMode="auto">
          <a:xfrm>
            <a:off x="381000" y="2133601"/>
            <a:ext cx="4495800" cy="4571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9" name="Picture 4" descr="3_1a"/>
          <p:cNvPicPr>
            <a:picLocks noGrp="1" noChangeAspect="1" noChangeArrowheads="1"/>
          </p:cNvPicPr>
          <p:nvPr>
            <p:ph sz="half" idx="4294967295"/>
          </p:nvPr>
        </p:nvPicPr>
        <p:blipFill>
          <a:blip r:embed="rId3">
            <a:extLst>
              <a:ext uri="{28A0092B-C50C-407E-A947-70E740481C1C}">
                <a14:useLocalDpi xmlns:a14="http://schemas.microsoft.com/office/drawing/2010/main" val="0"/>
              </a:ext>
            </a:extLst>
          </a:blip>
          <a:srcRect/>
          <a:stretch>
            <a:fillRect/>
          </a:stretch>
        </p:blipFill>
        <p:spPr>
          <a:xfrm>
            <a:off x="5056211" y="2477021"/>
            <a:ext cx="4087789" cy="204589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7770251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9120" y="1219200"/>
            <a:ext cx="7675809" cy="623369"/>
          </a:xfrm>
        </p:spPr>
        <p:txBody>
          <a:bodyPr>
            <a:normAutofit fontScale="90000"/>
          </a:bodyPr>
          <a:lstStyle/>
          <a:p>
            <a:pPr algn="l"/>
            <a:r>
              <a:rPr lang="en-US" dirty="0"/>
              <a:t>Selection </a:t>
            </a:r>
            <a:r>
              <a:rPr lang="en-US" dirty="0" smtClean="0"/>
              <a:t>Sort – </a:t>
            </a:r>
            <a:r>
              <a:rPr lang="en-US" sz="4000" b="1" dirty="0" smtClean="0">
                <a:solidFill>
                  <a:srgbClr val="0000FF"/>
                </a:solidFill>
              </a:rPr>
              <a:t>Tracing</a:t>
            </a:r>
            <a:endParaRPr lang="en-US" sz="2400" b="1" dirty="0">
              <a:solidFill>
                <a:srgbClr val="0000FF"/>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26</a:t>
            </a:fld>
            <a:endParaRPr lang="en-US"/>
          </a:p>
        </p:txBody>
      </p:sp>
      <p:pic>
        <p:nvPicPr>
          <p:cNvPr id="5122"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b="72115"/>
          <a:stretch/>
        </p:blipFill>
        <p:spPr bwMode="auto">
          <a:xfrm>
            <a:off x="381000" y="2133601"/>
            <a:ext cx="4495800" cy="7619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9" name="Picture 4" descr="3_1a"/>
          <p:cNvPicPr>
            <a:picLocks noGrp="1" noChangeAspect="1" noChangeArrowheads="1"/>
          </p:cNvPicPr>
          <p:nvPr>
            <p:ph sz="half" idx="4294967295"/>
          </p:nvPr>
        </p:nvPicPr>
        <p:blipFill>
          <a:blip r:embed="rId3">
            <a:extLst>
              <a:ext uri="{28A0092B-C50C-407E-A947-70E740481C1C}">
                <a14:useLocalDpi xmlns:a14="http://schemas.microsoft.com/office/drawing/2010/main" val="0"/>
              </a:ext>
            </a:extLst>
          </a:blip>
          <a:srcRect/>
          <a:stretch>
            <a:fillRect/>
          </a:stretch>
        </p:blipFill>
        <p:spPr>
          <a:xfrm>
            <a:off x="5056211" y="2477021"/>
            <a:ext cx="4087789" cy="204589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8488144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9120" y="1219200"/>
            <a:ext cx="7675809" cy="623369"/>
          </a:xfrm>
        </p:spPr>
        <p:txBody>
          <a:bodyPr>
            <a:normAutofit fontScale="90000"/>
          </a:bodyPr>
          <a:lstStyle/>
          <a:p>
            <a:pPr algn="l"/>
            <a:r>
              <a:rPr lang="en-US" dirty="0"/>
              <a:t>Selection </a:t>
            </a:r>
            <a:r>
              <a:rPr lang="en-US" dirty="0" smtClean="0"/>
              <a:t>Sort – </a:t>
            </a:r>
            <a:r>
              <a:rPr lang="en-US" sz="4000" b="1" dirty="0" smtClean="0">
                <a:solidFill>
                  <a:srgbClr val="0000FF"/>
                </a:solidFill>
              </a:rPr>
              <a:t>Tracing</a:t>
            </a:r>
            <a:endParaRPr lang="en-US" sz="2400" b="1" dirty="0">
              <a:solidFill>
                <a:srgbClr val="0000FF"/>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27</a:t>
            </a:fld>
            <a:endParaRPr lang="en-US"/>
          </a:p>
        </p:txBody>
      </p:sp>
      <p:pic>
        <p:nvPicPr>
          <p:cNvPr id="5122"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b="58173"/>
          <a:stretch/>
        </p:blipFill>
        <p:spPr bwMode="auto">
          <a:xfrm>
            <a:off x="381000" y="2133601"/>
            <a:ext cx="4495800" cy="11429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9" name="Picture 4" descr="3_1a"/>
          <p:cNvPicPr>
            <a:picLocks noGrp="1" noChangeAspect="1" noChangeArrowheads="1"/>
          </p:cNvPicPr>
          <p:nvPr>
            <p:ph sz="half" idx="4294967295"/>
          </p:nvPr>
        </p:nvPicPr>
        <p:blipFill>
          <a:blip r:embed="rId3">
            <a:extLst>
              <a:ext uri="{28A0092B-C50C-407E-A947-70E740481C1C}">
                <a14:useLocalDpi xmlns:a14="http://schemas.microsoft.com/office/drawing/2010/main" val="0"/>
              </a:ext>
            </a:extLst>
          </a:blip>
          <a:srcRect/>
          <a:stretch>
            <a:fillRect/>
          </a:stretch>
        </p:blipFill>
        <p:spPr>
          <a:xfrm>
            <a:off x="5056211" y="2477021"/>
            <a:ext cx="4087789" cy="204589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7735511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9120" y="1219200"/>
            <a:ext cx="7675809" cy="623369"/>
          </a:xfrm>
        </p:spPr>
        <p:txBody>
          <a:bodyPr>
            <a:normAutofit fontScale="90000"/>
          </a:bodyPr>
          <a:lstStyle/>
          <a:p>
            <a:pPr algn="l"/>
            <a:r>
              <a:rPr lang="en-US" dirty="0"/>
              <a:t>Selection </a:t>
            </a:r>
            <a:r>
              <a:rPr lang="en-US" dirty="0" smtClean="0"/>
              <a:t>Sort – </a:t>
            </a:r>
            <a:r>
              <a:rPr lang="en-US" sz="4000" b="1" dirty="0" smtClean="0">
                <a:solidFill>
                  <a:srgbClr val="0000FF"/>
                </a:solidFill>
              </a:rPr>
              <a:t>Tracing</a:t>
            </a:r>
            <a:endParaRPr lang="en-US" sz="2400" b="1" dirty="0">
              <a:solidFill>
                <a:srgbClr val="0000FF"/>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28</a:t>
            </a:fld>
            <a:endParaRPr lang="en-US"/>
          </a:p>
        </p:txBody>
      </p:sp>
      <p:pic>
        <p:nvPicPr>
          <p:cNvPr id="5122"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b="44231"/>
          <a:stretch/>
        </p:blipFill>
        <p:spPr bwMode="auto">
          <a:xfrm>
            <a:off x="381000" y="2133601"/>
            <a:ext cx="4495800" cy="15239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9" name="Picture 4" descr="3_1a"/>
          <p:cNvPicPr>
            <a:picLocks noGrp="1" noChangeAspect="1" noChangeArrowheads="1"/>
          </p:cNvPicPr>
          <p:nvPr>
            <p:ph sz="half" idx="4294967295"/>
          </p:nvPr>
        </p:nvPicPr>
        <p:blipFill>
          <a:blip r:embed="rId3">
            <a:extLst>
              <a:ext uri="{28A0092B-C50C-407E-A947-70E740481C1C}">
                <a14:useLocalDpi xmlns:a14="http://schemas.microsoft.com/office/drawing/2010/main" val="0"/>
              </a:ext>
            </a:extLst>
          </a:blip>
          <a:srcRect/>
          <a:stretch>
            <a:fillRect/>
          </a:stretch>
        </p:blipFill>
        <p:spPr>
          <a:xfrm>
            <a:off x="5056211" y="2477021"/>
            <a:ext cx="4087789" cy="204589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4135784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9120" y="1219200"/>
            <a:ext cx="7675809" cy="623369"/>
          </a:xfrm>
        </p:spPr>
        <p:txBody>
          <a:bodyPr>
            <a:normAutofit fontScale="90000"/>
          </a:bodyPr>
          <a:lstStyle/>
          <a:p>
            <a:pPr algn="l"/>
            <a:r>
              <a:rPr lang="en-US" dirty="0"/>
              <a:t>Selection </a:t>
            </a:r>
            <a:r>
              <a:rPr lang="en-US" dirty="0" smtClean="0"/>
              <a:t>Sort – </a:t>
            </a:r>
            <a:r>
              <a:rPr lang="en-US" sz="4000" b="1" dirty="0" smtClean="0">
                <a:solidFill>
                  <a:srgbClr val="0000FF"/>
                </a:solidFill>
              </a:rPr>
              <a:t>Tracing</a:t>
            </a:r>
            <a:endParaRPr lang="en-US" sz="2400" b="1" dirty="0">
              <a:solidFill>
                <a:srgbClr val="0000FF"/>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29</a:t>
            </a:fld>
            <a:endParaRPr lang="en-US"/>
          </a:p>
        </p:txBody>
      </p:sp>
      <p:pic>
        <p:nvPicPr>
          <p:cNvPr id="5122"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b="30289"/>
          <a:stretch/>
        </p:blipFill>
        <p:spPr bwMode="auto">
          <a:xfrm>
            <a:off x="381000" y="2133601"/>
            <a:ext cx="4495800" cy="19049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9" name="Picture 4" descr="3_1a"/>
          <p:cNvPicPr>
            <a:picLocks noGrp="1" noChangeAspect="1" noChangeArrowheads="1"/>
          </p:cNvPicPr>
          <p:nvPr>
            <p:ph sz="half" idx="4294967295"/>
          </p:nvPr>
        </p:nvPicPr>
        <p:blipFill>
          <a:blip r:embed="rId3">
            <a:extLst>
              <a:ext uri="{28A0092B-C50C-407E-A947-70E740481C1C}">
                <a14:useLocalDpi xmlns:a14="http://schemas.microsoft.com/office/drawing/2010/main" val="0"/>
              </a:ext>
            </a:extLst>
          </a:blip>
          <a:srcRect/>
          <a:stretch>
            <a:fillRect/>
          </a:stretch>
        </p:blipFill>
        <p:spPr>
          <a:xfrm>
            <a:off x="5056211" y="2477021"/>
            <a:ext cx="4087789" cy="204589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4279509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9120" y="1219200"/>
            <a:ext cx="7675809" cy="623369"/>
          </a:xfrm>
        </p:spPr>
        <p:txBody>
          <a:bodyPr>
            <a:normAutofit fontScale="90000"/>
          </a:bodyPr>
          <a:lstStyle/>
          <a:p>
            <a:pPr algn="l"/>
            <a:r>
              <a:rPr lang="en-US" dirty="0"/>
              <a:t>Selection </a:t>
            </a:r>
            <a:r>
              <a:rPr lang="en-US" dirty="0" smtClean="0"/>
              <a:t>Sort – </a:t>
            </a:r>
            <a:r>
              <a:rPr lang="en-US" sz="4000" b="1" dirty="0" smtClean="0">
                <a:solidFill>
                  <a:srgbClr val="0000FF"/>
                </a:solidFill>
              </a:rPr>
              <a:t>Tracing</a:t>
            </a:r>
            <a:endParaRPr lang="en-US" sz="2400" b="1" dirty="0">
              <a:solidFill>
                <a:srgbClr val="0000FF"/>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30</a:t>
            </a:fld>
            <a:endParaRPr lang="en-US"/>
          </a:p>
        </p:txBody>
      </p:sp>
      <p:pic>
        <p:nvPicPr>
          <p:cNvPr id="5122"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b="16347"/>
          <a:stretch/>
        </p:blipFill>
        <p:spPr bwMode="auto">
          <a:xfrm>
            <a:off x="381000" y="2133601"/>
            <a:ext cx="4495800" cy="2286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9" name="Picture 4" descr="3_1a"/>
          <p:cNvPicPr>
            <a:picLocks noGrp="1" noChangeAspect="1" noChangeArrowheads="1"/>
          </p:cNvPicPr>
          <p:nvPr>
            <p:ph sz="half" idx="4294967295"/>
          </p:nvPr>
        </p:nvPicPr>
        <p:blipFill>
          <a:blip r:embed="rId3">
            <a:extLst>
              <a:ext uri="{28A0092B-C50C-407E-A947-70E740481C1C}">
                <a14:useLocalDpi xmlns:a14="http://schemas.microsoft.com/office/drawing/2010/main" val="0"/>
              </a:ext>
            </a:extLst>
          </a:blip>
          <a:srcRect/>
          <a:stretch>
            <a:fillRect/>
          </a:stretch>
        </p:blipFill>
        <p:spPr>
          <a:xfrm>
            <a:off x="5056211" y="2477021"/>
            <a:ext cx="4087789" cy="204589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3964078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9120" y="1219200"/>
            <a:ext cx="7675809" cy="623369"/>
          </a:xfrm>
        </p:spPr>
        <p:txBody>
          <a:bodyPr>
            <a:normAutofit fontScale="90000"/>
          </a:bodyPr>
          <a:lstStyle/>
          <a:p>
            <a:pPr algn="l"/>
            <a:r>
              <a:rPr lang="en-US" dirty="0"/>
              <a:t>Selection </a:t>
            </a:r>
            <a:r>
              <a:rPr lang="en-US" dirty="0" smtClean="0"/>
              <a:t>Sort – </a:t>
            </a:r>
            <a:r>
              <a:rPr lang="en-US" sz="4000" b="1" dirty="0" smtClean="0">
                <a:solidFill>
                  <a:srgbClr val="0000FF"/>
                </a:solidFill>
              </a:rPr>
              <a:t>Tracing</a:t>
            </a:r>
            <a:endParaRPr lang="en-US" sz="2400" b="1" dirty="0">
              <a:solidFill>
                <a:srgbClr val="0000FF"/>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31</a:t>
            </a:fld>
            <a:endParaRPr lang="en-US"/>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2133600"/>
            <a:ext cx="4495800" cy="27327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9" name="Picture 4" descr="3_1a"/>
          <p:cNvPicPr>
            <a:picLocks noGrp="1" noChangeAspect="1" noChangeArrowheads="1"/>
          </p:cNvPicPr>
          <p:nvPr>
            <p:ph sz="half" idx="4294967295"/>
          </p:nvPr>
        </p:nvPicPr>
        <p:blipFill>
          <a:blip r:embed="rId3">
            <a:extLst>
              <a:ext uri="{28A0092B-C50C-407E-A947-70E740481C1C}">
                <a14:useLocalDpi xmlns:a14="http://schemas.microsoft.com/office/drawing/2010/main" val="0"/>
              </a:ext>
            </a:extLst>
          </a:blip>
          <a:srcRect/>
          <a:stretch>
            <a:fillRect/>
          </a:stretch>
        </p:blipFill>
        <p:spPr>
          <a:xfrm>
            <a:off x="5056211" y="2477021"/>
            <a:ext cx="4087789" cy="204589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4540826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9126" y="1946943"/>
            <a:ext cx="6705600" cy="2003425"/>
          </a:xfrm>
        </p:spPr>
        <p:txBody>
          <a:bodyPr>
            <a:noAutofit/>
          </a:bodyPr>
          <a:lstStyle/>
          <a:p>
            <a:r>
              <a:rPr lang="en-US" sz="6000" b="1" dirty="0">
                <a:solidFill>
                  <a:srgbClr val="00823B"/>
                </a:solidFill>
              </a:rPr>
              <a:t>Selection Sort</a:t>
            </a:r>
            <a:endParaRPr lang="en-US" sz="4800" b="1" dirty="0">
              <a:solidFill>
                <a:srgbClr val="00823B"/>
              </a:solidFill>
            </a:endParaRPr>
          </a:p>
        </p:txBody>
      </p:sp>
      <p:sp>
        <p:nvSpPr>
          <p:cNvPr id="3" name="Subtitle 2"/>
          <p:cNvSpPr>
            <a:spLocks noGrp="1"/>
          </p:cNvSpPr>
          <p:nvPr>
            <p:ph type="subTitle" idx="1"/>
          </p:nvPr>
        </p:nvSpPr>
        <p:spPr>
          <a:xfrm>
            <a:off x="762000" y="3962400"/>
            <a:ext cx="6400800" cy="1752600"/>
          </a:xfrm>
        </p:spPr>
        <p:txBody>
          <a:bodyPr/>
          <a:lstStyle/>
          <a:p>
            <a:pPr algn="r"/>
            <a:r>
              <a:rPr lang="en-US" dirty="0" smtClean="0"/>
              <a:t>Example 01</a:t>
            </a:r>
          </a:p>
          <a:p>
            <a:pPr algn="r"/>
            <a:r>
              <a:rPr lang="en-US" dirty="0" smtClean="0"/>
              <a:t>Analysis</a:t>
            </a:r>
          </a:p>
        </p:txBody>
      </p:sp>
    </p:spTree>
    <p:extLst>
      <p:ext uri="{BB962C8B-B14F-4D97-AF65-F5344CB8AC3E}">
        <p14:creationId xmlns:p14="http://schemas.microsoft.com/office/powerpoint/2010/main" val="91583777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2133600"/>
            <a:ext cx="4876800" cy="4114800"/>
          </a:xfrm>
        </p:spPr>
        <p:txBody>
          <a:bodyPr/>
          <a:lstStyle/>
          <a:p>
            <a:r>
              <a:rPr lang="en-US" b="1" dirty="0" smtClean="0">
                <a:solidFill>
                  <a:srgbClr val="00823B"/>
                </a:solidFill>
              </a:rPr>
              <a:t>Basic Operation</a:t>
            </a:r>
          </a:p>
          <a:p>
            <a:pPr lvl="1"/>
            <a:r>
              <a:rPr lang="en-US" dirty="0" smtClean="0"/>
              <a:t>Number of comparisons</a:t>
            </a:r>
          </a:p>
          <a:p>
            <a:r>
              <a:rPr lang="en-US" b="1" dirty="0" smtClean="0">
                <a:solidFill>
                  <a:srgbClr val="00823B"/>
                </a:solidFill>
              </a:rPr>
              <a:t>For “n” elements</a:t>
            </a:r>
          </a:p>
          <a:p>
            <a:pPr lvl="1"/>
            <a:r>
              <a:rPr lang="en-US" dirty="0"/>
              <a:t>C</a:t>
            </a:r>
            <a:r>
              <a:rPr lang="en-US" dirty="0" smtClean="0"/>
              <a:t>(n)</a:t>
            </a:r>
          </a:p>
          <a:p>
            <a:r>
              <a:rPr lang="en-US" b="1" dirty="0" smtClean="0">
                <a:solidFill>
                  <a:srgbClr val="00823B"/>
                </a:solidFill>
              </a:rPr>
              <a:t>Polynomial Equation</a:t>
            </a:r>
          </a:p>
        </p:txBody>
      </p:sp>
      <p:sp>
        <p:nvSpPr>
          <p:cNvPr id="4" name="Slide Number Placeholder 3"/>
          <p:cNvSpPr>
            <a:spLocks noGrp="1"/>
          </p:cNvSpPr>
          <p:nvPr>
            <p:ph type="sldNum" sz="quarter" idx="12"/>
          </p:nvPr>
        </p:nvSpPr>
        <p:spPr/>
        <p:txBody>
          <a:bodyPr/>
          <a:lstStyle/>
          <a:p>
            <a:fld id="{EFBA8F76-60DD-4F65-80ED-7968AD89E013}" type="slidenum">
              <a:rPr lang="en-US" smtClean="0"/>
              <a:t>33</a:t>
            </a:fld>
            <a:endParaRPr lang="en-US"/>
          </a:p>
        </p:txBody>
      </p:sp>
      <p:sp>
        <p:nvSpPr>
          <p:cNvPr id="5" name="Rectangle 2"/>
          <p:cNvSpPr>
            <a:spLocks noGrp="1" noChangeArrowheads="1"/>
          </p:cNvSpPr>
          <p:nvPr>
            <p:ph type="title"/>
          </p:nvPr>
        </p:nvSpPr>
        <p:spPr>
          <a:xfrm>
            <a:off x="152400" y="1371600"/>
            <a:ext cx="7143750" cy="609600"/>
          </a:xfrm>
        </p:spPr>
        <p:txBody>
          <a:bodyPr>
            <a:normAutofit fontScale="90000"/>
          </a:bodyPr>
          <a:lstStyle/>
          <a:p>
            <a:pPr algn="l">
              <a:defRPr/>
            </a:pPr>
            <a:r>
              <a:rPr lang="en-US" dirty="0"/>
              <a:t>Selection </a:t>
            </a:r>
            <a:r>
              <a:rPr lang="en-US" dirty="0" smtClean="0"/>
              <a:t>Sort – </a:t>
            </a:r>
            <a:r>
              <a:rPr lang="en-US" sz="4000" b="1" dirty="0" smtClean="0">
                <a:solidFill>
                  <a:srgbClr val="0000FF"/>
                </a:solidFill>
              </a:rPr>
              <a:t>Analysis</a:t>
            </a:r>
            <a:endParaRPr lang="en-US" dirty="0" smtClean="0"/>
          </a:p>
        </p:txBody>
      </p:sp>
      <p:pic>
        <p:nvPicPr>
          <p:cNvPr id="7" name="Picture 4" descr="3_1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4800599" y="2438400"/>
            <a:ext cx="4323273" cy="216375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4876800"/>
            <a:ext cx="2762250" cy="1314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1230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7" name="Slide Number Placeholder 5"/>
          <p:cNvSpPr>
            <a:spLocks noGrp="1"/>
          </p:cNvSpPr>
          <p:nvPr>
            <p:ph type="sldNum" sz="quarter" idx="12"/>
          </p:nvPr>
        </p:nvSpPr>
        <p:spPr>
          <a:noFill/>
        </p:spPr>
        <p:txBody>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r"/>
            <a:fld id="{95A489A1-837E-4D1E-AE06-17CCA31FA2D1}" type="slidenum">
              <a:rPr lang="en-US" altLang="en-US" sz="1400">
                <a:latin typeface="Arial Narrow" panose="020B0606020202030204" pitchFamily="34" charset="0"/>
              </a:rPr>
              <a:pPr algn="r"/>
              <a:t>34</a:t>
            </a:fld>
            <a:endParaRPr lang="en-US" altLang="en-US" sz="1400">
              <a:latin typeface="Arial Narrow" panose="020B0606020202030204" pitchFamily="34" charset="0"/>
            </a:endParaRPr>
          </a:p>
        </p:txBody>
      </p:sp>
      <p:sp>
        <p:nvSpPr>
          <p:cNvPr id="311298" name="Rectangle 2"/>
          <p:cNvSpPr>
            <a:spLocks noGrp="1" noChangeArrowheads="1"/>
          </p:cNvSpPr>
          <p:nvPr>
            <p:ph type="title"/>
          </p:nvPr>
        </p:nvSpPr>
        <p:spPr>
          <a:xfrm>
            <a:off x="152400" y="1371600"/>
            <a:ext cx="7143750" cy="609600"/>
          </a:xfrm>
        </p:spPr>
        <p:txBody>
          <a:bodyPr>
            <a:normAutofit fontScale="90000"/>
          </a:bodyPr>
          <a:lstStyle/>
          <a:p>
            <a:pPr algn="l">
              <a:defRPr/>
            </a:pPr>
            <a:r>
              <a:rPr lang="en-US" dirty="0"/>
              <a:t>Selection </a:t>
            </a:r>
            <a:r>
              <a:rPr lang="en-US" dirty="0" smtClean="0"/>
              <a:t>Sort – </a:t>
            </a:r>
            <a:r>
              <a:rPr lang="en-US" sz="4000" b="1" dirty="0" smtClean="0">
                <a:solidFill>
                  <a:srgbClr val="0000FF"/>
                </a:solidFill>
              </a:rPr>
              <a:t>Analysis</a:t>
            </a:r>
            <a:endParaRPr lang="en-US" dirty="0" smtClean="0"/>
          </a:p>
        </p:txBody>
      </p:sp>
      <p:sp>
        <p:nvSpPr>
          <p:cNvPr id="67591" name="Rectangle 4"/>
          <p:cNvSpPr>
            <a:spLocks noChangeArrowheads="1"/>
          </p:cNvSpPr>
          <p:nvPr/>
        </p:nvSpPr>
        <p:spPr bwMode="auto">
          <a:xfrm>
            <a:off x="0" y="0"/>
            <a:ext cx="8839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ctr">
              <a:defRPr sz="2400">
                <a:solidFill>
                  <a:schemeClr val="tx1"/>
                </a:solidFill>
                <a:latin typeface="Times New Roman" panose="02020603050405020304" pitchFamily="18" charset="0"/>
              </a:defRPr>
            </a:lvl1pPr>
            <a:lvl2pPr marL="742950" indent="-285750" algn="ctr">
              <a:defRPr sz="2400">
                <a:solidFill>
                  <a:schemeClr val="tx1"/>
                </a:solidFill>
                <a:latin typeface="Times New Roman" panose="02020603050405020304" pitchFamily="18" charset="0"/>
              </a:defRPr>
            </a:lvl2pPr>
            <a:lvl3pPr marL="1143000" indent="-228600" algn="ctr">
              <a:defRPr sz="2400">
                <a:solidFill>
                  <a:schemeClr val="tx1"/>
                </a:solidFill>
                <a:latin typeface="Times New Roman" panose="02020603050405020304" pitchFamily="18" charset="0"/>
              </a:defRPr>
            </a:lvl3pPr>
            <a:lvl4pPr marL="1600200" indent="-228600" algn="ctr">
              <a:defRPr sz="2400">
                <a:solidFill>
                  <a:schemeClr val="tx1"/>
                </a:solidFill>
                <a:latin typeface="Times New Roman" panose="02020603050405020304" pitchFamily="18" charset="0"/>
              </a:defRPr>
            </a:lvl4pPr>
            <a:lvl5pPr marL="2057400" indent="-228600" algn="ctr">
              <a:defRPr sz="2400">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sz="2400">
                <a:solidFill>
                  <a:schemeClr val="tx1"/>
                </a:solidFill>
                <a:latin typeface="Times New Roman" panose="02020603050405020304" pitchFamily="18" charset="0"/>
              </a:defRPr>
            </a:lvl9pPr>
          </a:lstStyle>
          <a:p>
            <a:pPr algn="l"/>
            <a:endParaRPr lang="en-US" altLang="en-US"/>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2057400"/>
            <a:ext cx="2762250" cy="1314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4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3333750"/>
            <a:ext cx="3962400" cy="1238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48"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23950" y="4495800"/>
            <a:ext cx="2381250" cy="1219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 name="Picture 4" descr="3_1a"/>
          <p:cNvPicPr>
            <a:picLocks noGrp="1" noChangeAspect="1" noChangeArrowheads="1"/>
          </p:cNvPicPr>
          <p:nvPr>
            <p:ph sz="half" idx="4294967295"/>
          </p:nvPr>
        </p:nvPicPr>
        <p:blipFill>
          <a:blip r:embed="rId6">
            <a:extLst>
              <a:ext uri="{28A0092B-C50C-407E-A947-70E740481C1C}">
                <a14:useLocalDpi xmlns:a14="http://schemas.microsoft.com/office/drawing/2010/main" val="0"/>
              </a:ext>
            </a:extLst>
          </a:blip>
          <a:srcRect/>
          <a:stretch>
            <a:fillRect/>
          </a:stretch>
        </p:blipFill>
        <p:spPr>
          <a:xfrm>
            <a:off x="5056211" y="1611702"/>
            <a:ext cx="4087789" cy="204589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1"/>
          <p:cNvPicPr>
            <a:picLocks noChangeAspect="1"/>
          </p:cNvPicPr>
          <p:nvPr/>
        </p:nvPicPr>
        <p:blipFill>
          <a:blip r:embed="rId7"/>
          <a:stretch>
            <a:fillRect/>
          </a:stretch>
        </p:blipFill>
        <p:spPr>
          <a:xfrm>
            <a:off x="3886200" y="4724400"/>
            <a:ext cx="1400175" cy="762000"/>
          </a:xfrm>
          <a:prstGeom prst="rect">
            <a:avLst/>
          </a:prstGeom>
        </p:spPr>
      </p:pic>
      <p:pic>
        <p:nvPicPr>
          <p:cNvPr id="3" name="Picture 2"/>
          <p:cNvPicPr>
            <a:picLocks noChangeAspect="1"/>
          </p:cNvPicPr>
          <p:nvPr/>
        </p:nvPicPr>
        <p:blipFill>
          <a:blip r:embed="rId8"/>
          <a:stretch>
            <a:fillRect/>
          </a:stretch>
        </p:blipFill>
        <p:spPr>
          <a:xfrm>
            <a:off x="5543550" y="5043768"/>
            <a:ext cx="247650" cy="180975"/>
          </a:xfrm>
          <a:prstGeom prst="rect">
            <a:avLst/>
          </a:prstGeom>
        </p:spPr>
      </p:pic>
      <p:pic>
        <p:nvPicPr>
          <p:cNvPr id="4" name="Picture 3"/>
          <p:cNvPicPr>
            <a:picLocks noChangeAspect="1"/>
          </p:cNvPicPr>
          <p:nvPr/>
        </p:nvPicPr>
        <p:blipFill>
          <a:blip r:embed="rId9"/>
          <a:stretch>
            <a:fillRect/>
          </a:stretch>
        </p:blipFill>
        <p:spPr>
          <a:xfrm>
            <a:off x="5943600" y="4943755"/>
            <a:ext cx="742950" cy="381000"/>
          </a:xfrm>
          <a:prstGeom prst="rect">
            <a:avLst/>
          </a:prstGeom>
        </p:spPr>
      </p:pic>
    </p:spTree>
    <p:extLst>
      <p:ext uri="{BB962C8B-B14F-4D97-AF65-F5344CB8AC3E}">
        <p14:creationId xmlns:p14="http://schemas.microsoft.com/office/powerpoint/2010/main" val="1945274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4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9126" y="1946943"/>
            <a:ext cx="6705600" cy="2003425"/>
          </a:xfrm>
        </p:spPr>
        <p:txBody>
          <a:bodyPr>
            <a:noAutofit/>
          </a:bodyPr>
          <a:lstStyle/>
          <a:p>
            <a:r>
              <a:rPr lang="en-US" sz="6000" b="1" dirty="0" smtClean="0">
                <a:solidFill>
                  <a:srgbClr val="00823B"/>
                </a:solidFill>
              </a:rPr>
              <a:t>Bubble </a:t>
            </a:r>
            <a:r>
              <a:rPr lang="en-US" sz="6000" b="1" dirty="0">
                <a:solidFill>
                  <a:srgbClr val="00823B"/>
                </a:solidFill>
              </a:rPr>
              <a:t>Sort</a:t>
            </a:r>
            <a:endParaRPr lang="en-US" sz="4800" b="1" dirty="0">
              <a:solidFill>
                <a:srgbClr val="00823B"/>
              </a:solidFill>
            </a:endParaRPr>
          </a:p>
        </p:txBody>
      </p:sp>
      <p:sp>
        <p:nvSpPr>
          <p:cNvPr id="3" name="Subtitle 2"/>
          <p:cNvSpPr>
            <a:spLocks noGrp="1"/>
          </p:cNvSpPr>
          <p:nvPr>
            <p:ph type="subTitle" idx="1"/>
          </p:nvPr>
        </p:nvSpPr>
        <p:spPr>
          <a:xfrm>
            <a:off x="762000" y="3962400"/>
            <a:ext cx="6400800" cy="1752600"/>
          </a:xfrm>
        </p:spPr>
        <p:txBody>
          <a:bodyPr/>
          <a:lstStyle/>
          <a:p>
            <a:pPr algn="r"/>
            <a:r>
              <a:rPr lang="en-US" dirty="0" smtClean="0"/>
              <a:t>Example 02</a:t>
            </a:r>
          </a:p>
          <a:p>
            <a:pPr algn="r"/>
            <a:r>
              <a:rPr lang="en-US" dirty="0" smtClean="0"/>
              <a:t>Algorithm &amp; Tracing</a:t>
            </a:r>
          </a:p>
        </p:txBody>
      </p:sp>
    </p:spTree>
    <p:extLst>
      <p:ext uri="{BB962C8B-B14F-4D97-AF65-F5344CB8AC3E}">
        <p14:creationId xmlns:p14="http://schemas.microsoft.com/office/powerpoint/2010/main" val="4279981646"/>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Algorithm</a:t>
            </a:r>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EFBA8F76-60DD-4F65-80ED-7968AD89E013}" type="slidenum">
              <a:rPr lang="en-US" smtClean="0"/>
              <a:t>36</a:t>
            </a:fld>
            <a:endParaRPr lang="en-US"/>
          </a:p>
        </p:txBody>
      </p:sp>
      <p:pic>
        <p:nvPicPr>
          <p:cNvPr id="5" name="Picture 4"/>
          <p:cNvPicPr>
            <a:picLocks noChangeAspect="1"/>
          </p:cNvPicPr>
          <p:nvPr/>
        </p:nvPicPr>
        <p:blipFill>
          <a:blip r:embed="rId2"/>
          <a:stretch>
            <a:fillRect/>
          </a:stretch>
        </p:blipFill>
        <p:spPr>
          <a:xfrm>
            <a:off x="1752600" y="3276600"/>
            <a:ext cx="4645025" cy="1600200"/>
          </a:xfrm>
          <a:prstGeom prst="rect">
            <a:avLst/>
          </a:prstGeom>
        </p:spPr>
      </p:pic>
    </p:spTree>
    <p:extLst>
      <p:ext uri="{BB962C8B-B14F-4D97-AF65-F5344CB8AC3E}">
        <p14:creationId xmlns:p14="http://schemas.microsoft.com/office/powerpoint/2010/main" val="370098945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Tracing</a:t>
            </a:r>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EFBA8F76-60DD-4F65-80ED-7968AD89E013}" type="slidenum">
              <a:rPr lang="en-US" smtClean="0"/>
              <a:t>37</a:t>
            </a:fld>
            <a:endParaRPr lang="en-US"/>
          </a:p>
        </p:txBody>
      </p:sp>
      <p:pic>
        <p:nvPicPr>
          <p:cNvPr id="5" name="Picture 4"/>
          <p:cNvPicPr>
            <a:picLocks noChangeAspect="1"/>
          </p:cNvPicPr>
          <p:nvPr/>
        </p:nvPicPr>
        <p:blipFill>
          <a:blip r:embed="rId2"/>
          <a:stretch>
            <a:fillRect/>
          </a:stretch>
        </p:blipFill>
        <p:spPr>
          <a:xfrm>
            <a:off x="59459" y="3505200"/>
            <a:ext cx="3981450" cy="1371600"/>
          </a:xfrm>
          <a:prstGeom prst="rect">
            <a:avLst/>
          </a:prstGeom>
        </p:spPr>
      </p:pic>
      <p:pic>
        <p:nvPicPr>
          <p:cNvPr id="6" name="Picture 5"/>
          <p:cNvPicPr>
            <a:picLocks noChangeAspect="1"/>
          </p:cNvPicPr>
          <p:nvPr/>
        </p:nvPicPr>
        <p:blipFill rotWithShape="1">
          <a:blip r:embed="rId3"/>
          <a:srcRect b="50000"/>
          <a:stretch/>
        </p:blipFill>
        <p:spPr>
          <a:xfrm>
            <a:off x="4093900" y="3109913"/>
            <a:ext cx="3333750" cy="1233488"/>
          </a:xfrm>
          <a:prstGeom prst="rect">
            <a:avLst/>
          </a:prstGeom>
        </p:spPr>
      </p:pic>
      <p:pic>
        <p:nvPicPr>
          <p:cNvPr id="7" name="Picture 6"/>
          <p:cNvPicPr>
            <a:picLocks noChangeAspect="1"/>
          </p:cNvPicPr>
          <p:nvPr/>
        </p:nvPicPr>
        <p:blipFill>
          <a:blip r:embed="rId4"/>
          <a:stretch>
            <a:fillRect/>
          </a:stretch>
        </p:blipFill>
        <p:spPr>
          <a:xfrm>
            <a:off x="4078891" y="1790700"/>
            <a:ext cx="3314700" cy="209550"/>
          </a:xfrm>
          <a:prstGeom prst="rect">
            <a:avLst/>
          </a:prstGeom>
        </p:spPr>
      </p:pic>
    </p:spTree>
    <p:extLst>
      <p:ext uri="{BB962C8B-B14F-4D97-AF65-F5344CB8AC3E}">
        <p14:creationId xmlns:p14="http://schemas.microsoft.com/office/powerpoint/2010/main" val="1749872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Tracing</a:t>
            </a:r>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EFBA8F76-60DD-4F65-80ED-7968AD89E013}" type="slidenum">
              <a:rPr lang="en-US" smtClean="0"/>
              <a:t>38</a:t>
            </a:fld>
            <a:endParaRPr lang="en-US"/>
          </a:p>
        </p:txBody>
      </p:sp>
      <p:pic>
        <p:nvPicPr>
          <p:cNvPr id="5" name="Picture 4"/>
          <p:cNvPicPr>
            <a:picLocks noChangeAspect="1"/>
          </p:cNvPicPr>
          <p:nvPr/>
        </p:nvPicPr>
        <p:blipFill>
          <a:blip r:embed="rId2"/>
          <a:stretch>
            <a:fillRect/>
          </a:stretch>
        </p:blipFill>
        <p:spPr>
          <a:xfrm>
            <a:off x="59459" y="3505200"/>
            <a:ext cx="3981450" cy="1371600"/>
          </a:xfrm>
          <a:prstGeom prst="rect">
            <a:avLst/>
          </a:prstGeom>
        </p:spPr>
      </p:pic>
      <p:pic>
        <p:nvPicPr>
          <p:cNvPr id="6" name="Picture 5"/>
          <p:cNvPicPr>
            <a:picLocks noChangeAspect="1"/>
          </p:cNvPicPr>
          <p:nvPr/>
        </p:nvPicPr>
        <p:blipFill>
          <a:blip r:embed="rId3"/>
          <a:stretch>
            <a:fillRect/>
          </a:stretch>
        </p:blipFill>
        <p:spPr>
          <a:xfrm>
            <a:off x="4093900" y="3109912"/>
            <a:ext cx="3333750" cy="2466975"/>
          </a:xfrm>
          <a:prstGeom prst="rect">
            <a:avLst/>
          </a:prstGeom>
        </p:spPr>
      </p:pic>
      <p:pic>
        <p:nvPicPr>
          <p:cNvPr id="7" name="Picture 6"/>
          <p:cNvPicPr>
            <a:picLocks noChangeAspect="1"/>
          </p:cNvPicPr>
          <p:nvPr/>
        </p:nvPicPr>
        <p:blipFill>
          <a:blip r:embed="rId4"/>
          <a:stretch>
            <a:fillRect/>
          </a:stretch>
        </p:blipFill>
        <p:spPr>
          <a:xfrm>
            <a:off x="4078891" y="1790700"/>
            <a:ext cx="3314700" cy="209550"/>
          </a:xfrm>
          <a:prstGeom prst="rect">
            <a:avLst/>
          </a:prstGeom>
        </p:spPr>
      </p:pic>
    </p:spTree>
    <p:extLst>
      <p:ext uri="{BB962C8B-B14F-4D97-AF65-F5344CB8AC3E}">
        <p14:creationId xmlns:p14="http://schemas.microsoft.com/office/powerpoint/2010/main" val="366960196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9126" y="1946943"/>
            <a:ext cx="6705600" cy="2003425"/>
          </a:xfrm>
        </p:spPr>
        <p:txBody>
          <a:bodyPr>
            <a:noAutofit/>
          </a:bodyPr>
          <a:lstStyle/>
          <a:p>
            <a:r>
              <a:rPr lang="en-US" sz="6000" b="1" dirty="0" smtClean="0">
                <a:solidFill>
                  <a:srgbClr val="00823B"/>
                </a:solidFill>
              </a:rPr>
              <a:t>Bubble </a:t>
            </a:r>
            <a:r>
              <a:rPr lang="en-US" sz="6000" b="1" dirty="0">
                <a:solidFill>
                  <a:srgbClr val="00823B"/>
                </a:solidFill>
              </a:rPr>
              <a:t>Sort</a:t>
            </a:r>
            <a:endParaRPr lang="en-US" sz="4800" b="1" dirty="0">
              <a:solidFill>
                <a:srgbClr val="00823B"/>
              </a:solidFill>
            </a:endParaRPr>
          </a:p>
        </p:txBody>
      </p:sp>
      <p:sp>
        <p:nvSpPr>
          <p:cNvPr id="3" name="Subtitle 2"/>
          <p:cNvSpPr>
            <a:spLocks noGrp="1"/>
          </p:cNvSpPr>
          <p:nvPr>
            <p:ph type="subTitle" idx="1"/>
          </p:nvPr>
        </p:nvSpPr>
        <p:spPr>
          <a:xfrm>
            <a:off x="762000" y="3962400"/>
            <a:ext cx="6400800" cy="1752600"/>
          </a:xfrm>
        </p:spPr>
        <p:txBody>
          <a:bodyPr/>
          <a:lstStyle/>
          <a:p>
            <a:pPr algn="r"/>
            <a:r>
              <a:rPr lang="en-US" dirty="0" smtClean="0"/>
              <a:t>Example 02</a:t>
            </a:r>
          </a:p>
          <a:p>
            <a:pPr algn="r"/>
            <a:r>
              <a:rPr lang="en-US" dirty="0" smtClean="0"/>
              <a:t>Analysis</a:t>
            </a:r>
          </a:p>
        </p:txBody>
      </p:sp>
    </p:spTree>
    <p:extLst>
      <p:ext uri="{BB962C8B-B14F-4D97-AF65-F5344CB8AC3E}">
        <p14:creationId xmlns:p14="http://schemas.microsoft.com/office/powerpoint/2010/main" val="57862969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Analysis</a:t>
            </a:r>
            <a:endParaRPr lang="en-US" dirty="0"/>
          </a:p>
        </p:txBody>
      </p:sp>
      <p:sp>
        <p:nvSpPr>
          <p:cNvPr id="4" name="Slide Number Placeholder 3"/>
          <p:cNvSpPr>
            <a:spLocks noGrp="1"/>
          </p:cNvSpPr>
          <p:nvPr>
            <p:ph type="sldNum" sz="quarter" idx="12"/>
          </p:nvPr>
        </p:nvSpPr>
        <p:spPr/>
        <p:txBody>
          <a:bodyPr/>
          <a:lstStyle/>
          <a:p>
            <a:fld id="{EFBA8F76-60DD-4F65-80ED-7968AD89E013}" type="slidenum">
              <a:rPr lang="en-US" smtClean="0"/>
              <a:t>40</a:t>
            </a:fld>
            <a:endParaRPr lang="en-US"/>
          </a:p>
        </p:txBody>
      </p:sp>
      <p:pic>
        <p:nvPicPr>
          <p:cNvPr id="5" name="Picture 4"/>
          <p:cNvPicPr>
            <a:picLocks noChangeAspect="1"/>
          </p:cNvPicPr>
          <p:nvPr/>
        </p:nvPicPr>
        <p:blipFill>
          <a:blip r:embed="rId3"/>
          <a:stretch>
            <a:fillRect/>
          </a:stretch>
        </p:blipFill>
        <p:spPr>
          <a:xfrm>
            <a:off x="219151" y="2286000"/>
            <a:ext cx="5308600" cy="1828800"/>
          </a:xfrm>
          <a:prstGeom prst="rect">
            <a:avLst/>
          </a:prstGeom>
        </p:spPr>
      </p:pic>
    </p:spTree>
    <p:extLst>
      <p:ext uri="{BB962C8B-B14F-4D97-AF65-F5344CB8AC3E}">
        <p14:creationId xmlns:p14="http://schemas.microsoft.com/office/powerpoint/2010/main" val="269978821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Analysis</a:t>
            </a:r>
            <a:endParaRPr lang="en-US" dirty="0"/>
          </a:p>
        </p:txBody>
      </p:sp>
      <p:sp>
        <p:nvSpPr>
          <p:cNvPr id="4" name="Slide Number Placeholder 3"/>
          <p:cNvSpPr>
            <a:spLocks noGrp="1"/>
          </p:cNvSpPr>
          <p:nvPr>
            <p:ph type="sldNum" sz="quarter" idx="12"/>
          </p:nvPr>
        </p:nvSpPr>
        <p:spPr/>
        <p:txBody>
          <a:bodyPr/>
          <a:lstStyle/>
          <a:p>
            <a:fld id="{EFBA8F76-60DD-4F65-80ED-7968AD89E013}" type="slidenum">
              <a:rPr lang="en-US" smtClean="0"/>
              <a:t>41</a:t>
            </a:fld>
            <a:endParaRPr lang="en-US"/>
          </a:p>
        </p:txBody>
      </p:sp>
      <p:pic>
        <p:nvPicPr>
          <p:cNvPr id="5" name="Picture 4"/>
          <p:cNvPicPr>
            <a:picLocks noChangeAspect="1"/>
          </p:cNvPicPr>
          <p:nvPr/>
        </p:nvPicPr>
        <p:blipFill>
          <a:blip r:embed="rId2"/>
          <a:stretch>
            <a:fillRect/>
          </a:stretch>
        </p:blipFill>
        <p:spPr>
          <a:xfrm>
            <a:off x="219151" y="2286000"/>
            <a:ext cx="5308600" cy="1828800"/>
          </a:xfrm>
          <a:prstGeom prst="rect">
            <a:avLst/>
          </a:prstGeom>
        </p:spPr>
      </p:pic>
      <p:pic>
        <p:nvPicPr>
          <p:cNvPr id="7" name="Picture 6"/>
          <p:cNvPicPr>
            <a:picLocks noChangeAspect="1"/>
          </p:cNvPicPr>
          <p:nvPr/>
        </p:nvPicPr>
        <p:blipFill rotWithShape="1">
          <a:blip r:embed="rId3"/>
          <a:srcRect b="46667"/>
          <a:stretch/>
        </p:blipFill>
        <p:spPr>
          <a:xfrm>
            <a:off x="4081895" y="4572000"/>
            <a:ext cx="2990850" cy="609600"/>
          </a:xfrm>
          <a:prstGeom prst="rect">
            <a:avLst/>
          </a:prstGeom>
        </p:spPr>
      </p:pic>
    </p:spTree>
    <p:extLst>
      <p:ext uri="{BB962C8B-B14F-4D97-AF65-F5344CB8AC3E}">
        <p14:creationId xmlns:p14="http://schemas.microsoft.com/office/powerpoint/2010/main" val="66508957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Analysis</a:t>
            </a:r>
            <a:endParaRPr lang="en-US" dirty="0"/>
          </a:p>
        </p:txBody>
      </p:sp>
      <p:sp>
        <p:nvSpPr>
          <p:cNvPr id="4" name="Slide Number Placeholder 3"/>
          <p:cNvSpPr>
            <a:spLocks noGrp="1"/>
          </p:cNvSpPr>
          <p:nvPr>
            <p:ph type="sldNum" sz="quarter" idx="12"/>
          </p:nvPr>
        </p:nvSpPr>
        <p:spPr/>
        <p:txBody>
          <a:bodyPr/>
          <a:lstStyle/>
          <a:p>
            <a:fld id="{EFBA8F76-60DD-4F65-80ED-7968AD89E013}" type="slidenum">
              <a:rPr lang="en-US" smtClean="0"/>
              <a:t>42</a:t>
            </a:fld>
            <a:endParaRPr lang="en-US"/>
          </a:p>
        </p:txBody>
      </p:sp>
      <p:pic>
        <p:nvPicPr>
          <p:cNvPr id="5" name="Picture 4"/>
          <p:cNvPicPr>
            <a:picLocks noChangeAspect="1"/>
          </p:cNvPicPr>
          <p:nvPr/>
        </p:nvPicPr>
        <p:blipFill>
          <a:blip r:embed="rId2"/>
          <a:stretch>
            <a:fillRect/>
          </a:stretch>
        </p:blipFill>
        <p:spPr>
          <a:xfrm>
            <a:off x="219151" y="2286000"/>
            <a:ext cx="5308600" cy="1828800"/>
          </a:xfrm>
          <a:prstGeom prst="rect">
            <a:avLst/>
          </a:prstGeom>
        </p:spPr>
      </p:pic>
      <p:pic>
        <p:nvPicPr>
          <p:cNvPr id="7" name="Picture 6"/>
          <p:cNvPicPr>
            <a:picLocks noChangeAspect="1"/>
          </p:cNvPicPr>
          <p:nvPr/>
        </p:nvPicPr>
        <p:blipFill>
          <a:blip r:embed="rId3"/>
          <a:stretch>
            <a:fillRect/>
          </a:stretch>
        </p:blipFill>
        <p:spPr>
          <a:xfrm>
            <a:off x="4081895" y="4572000"/>
            <a:ext cx="2990850" cy="1143000"/>
          </a:xfrm>
          <a:prstGeom prst="rect">
            <a:avLst/>
          </a:prstGeom>
        </p:spPr>
      </p:pic>
    </p:spTree>
    <p:extLst>
      <p:ext uri="{BB962C8B-B14F-4D97-AF65-F5344CB8AC3E}">
        <p14:creationId xmlns:p14="http://schemas.microsoft.com/office/powerpoint/2010/main" val="1330639394"/>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9126" y="1946943"/>
            <a:ext cx="6705600" cy="2003425"/>
          </a:xfrm>
        </p:spPr>
        <p:txBody>
          <a:bodyPr>
            <a:noAutofit/>
          </a:bodyPr>
          <a:lstStyle/>
          <a:p>
            <a:r>
              <a:rPr lang="en-US" sz="6000" b="1" dirty="0" smtClean="0">
                <a:solidFill>
                  <a:srgbClr val="00823B"/>
                </a:solidFill>
              </a:rPr>
              <a:t>Sequential Search</a:t>
            </a:r>
            <a:endParaRPr lang="en-US" sz="4800" b="1" dirty="0">
              <a:solidFill>
                <a:srgbClr val="00823B"/>
              </a:solidFill>
            </a:endParaRPr>
          </a:p>
        </p:txBody>
      </p:sp>
      <p:sp>
        <p:nvSpPr>
          <p:cNvPr id="3" name="Subtitle 2"/>
          <p:cNvSpPr>
            <a:spLocks noGrp="1"/>
          </p:cNvSpPr>
          <p:nvPr>
            <p:ph type="subTitle" idx="1"/>
          </p:nvPr>
        </p:nvSpPr>
        <p:spPr>
          <a:xfrm>
            <a:off x="762000" y="3962400"/>
            <a:ext cx="6400800" cy="1752600"/>
          </a:xfrm>
        </p:spPr>
        <p:txBody>
          <a:bodyPr/>
          <a:lstStyle/>
          <a:p>
            <a:pPr algn="r"/>
            <a:r>
              <a:rPr lang="en-US" dirty="0" smtClean="0"/>
              <a:t>Example 03</a:t>
            </a:r>
          </a:p>
          <a:p>
            <a:pPr algn="r"/>
            <a:r>
              <a:rPr lang="en-US" dirty="0" smtClean="0"/>
              <a:t>Chapter 03 – Text Book</a:t>
            </a:r>
          </a:p>
          <a:p>
            <a:pPr algn="r"/>
            <a:r>
              <a:rPr lang="en-US" dirty="0" smtClean="0"/>
              <a:t>Section 3.1</a:t>
            </a:r>
          </a:p>
        </p:txBody>
      </p:sp>
    </p:spTree>
    <p:extLst>
      <p:ext uri="{BB962C8B-B14F-4D97-AF65-F5344CB8AC3E}">
        <p14:creationId xmlns:p14="http://schemas.microsoft.com/office/powerpoint/2010/main" val="1560100774"/>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Algorithm</a:t>
            </a:r>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EFBA8F76-60DD-4F65-80ED-7968AD89E013}" type="slidenum">
              <a:rPr lang="en-US" smtClean="0"/>
              <a:t>44</a:t>
            </a:fld>
            <a:endParaRPr lang="en-US"/>
          </a:p>
        </p:txBody>
      </p:sp>
      <p:pic>
        <p:nvPicPr>
          <p:cNvPr id="7" name="Picture 6"/>
          <p:cNvPicPr>
            <a:picLocks noChangeAspect="1"/>
          </p:cNvPicPr>
          <p:nvPr/>
        </p:nvPicPr>
        <p:blipFill>
          <a:blip r:embed="rId2"/>
          <a:stretch>
            <a:fillRect/>
          </a:stretch>
        </p:blipFill>
        <p:spPr>
          <a:xfrm>
            <a:off x="1371600" y="3200400"/>
            <a:ext cx="5600700" cy="2533650"/>
          </a:xfrm>
          <a:prstGeom prst="rect">
            <a:avLst/>
          </a:prstGeom>
        </p:spPr>
      </p:pic>
    </p:spTree>
    <p:extLst>
      <p:ext uri="{BB962C8B-B14F-4D97-AF65-F5344CB8AC3E}">
        <p14:creationId xmlns:p14="http://schemas.microsoft.com/office/powerpoint/2010/main" val="2295222860"/>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Tracing</a:t>
            </a:r>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EFBA8F76-60DD-4F65-80ED-7968AD89E013}" type="slidenum">
              <a:rPr lang="en-US" smtClean="0"/>
              <a:t>45</a:t>
            </a:fld>
            <a:endParaRPr lang="en-US"/>
          </a:p>
        </p:txBody>
      </p:sp>
      <p:pic>
        <p:nvPicPr>
          <p:cNvPr id="7" name="Picture 6"/>
          <p:cNvPicPr>
            <a:picLocks noChangeAspect="1"/>
          </p:cNvPicPr>
          <p:nvPr/>
        </p:nvPicPr>
        <p:blipFill>
          <a:blip r:embed="rId2"/>
          <a:stretch>
            <a:fillRect/>
          </a:stretch>
        </p:blipFill>
        <p:spPr>
          <a:xfrm>
            <a:off x="4078891" y="1790700"/>
            <a:ext cx="3314700" cy="209550"/>
          </a:xfrm>
          <a:prstGeom prst="rect">
            <a:avLst/>
          </a:prstGeom>
        </p:spPr>
      </p:pic>
      <p:pic>
        <p:nvPicPr>
          <p:cNvPr id="8" name="Picture 7"/>
          <p:cNvPicPr>
            <a:picLocks noChangeAspect="1"/>
          </p:cNvPicPr>
          <p:nvPr/>
        </p:nvPicPr>
        <p:blipFill>
          <a:blip r:embed="rId3"/>
          <a:stretch>
            <a:fillRect/>
          </a:stretch>
        </p:blipFill>
        <p:spPr>
          <a:xfrm>
            <a:off x="1066800" y="3076575"/>
            <a:ext cx="5600700" cy="2533650"/>
          </a:xfrm>
          <a:prstGeom prst="rect">
            <a:avLst/>
          </a:prstGeom>
        </p:spPr>
      </p:pic>
    </p:spTree>
    <p:extLst>
      <p:ext uri="{BB962C8B-B14F-4D97-AF65-F5344CB8AC3E}">
        <p14:creationId xmlns:p14="http://schemas.microsoft.com/office/powerpoint/2010/main" val="349552221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Analysis</a:t>
            </a:r>
            <a:endParaRPr lang="en-US" dirty="0"/>
          </a:p>
        </p:txBody>
      </p:sp>
      <p:sp>
        <p:nvSpPr>
          <p:cNvPr id="4" name="Slide Number Placeholder 3"/>
          <p:cNvSpPr>
            <a:spLocks noGrp="1"/>
          </p:cNvSpPr>
          <p:nvPr>
            <p:ph type="sldNum" sz="quarter" idx="12"/>
          </p:nvPr>
        </p:nvSpPr>
        <p:spPr/>
        <p:txBody>
          <a:bodyPr/>
          <a:lstStyle/>
          <a:p>
            <a:fld id="{EFBA8F76-60DD-4F65-80ED-7968AD89E013}" type="slidenum">
              <a:rPr lang="en-US" smtClean="0"/>
              <a:t>46</a:t>
            </a:fld>
            <a:endParaRPr lang="en-US"/>
          </a:p>
        </p:txBody>
      </p:sp>
      <p:pic>
        <p:nvPicPr>
          <p:cNvPr id="5" name="Picture 4"/>
          <p:cNvPicPr>
            <a:picLocks noChangeAspect="1"/>
          </p:cNvPicPr>
          <p:nvPr/>
        </p:nvPicPr>
        <p:blipFill>
          <a:blip r:embed="rId2"/>
          <a:stretch>
            <a:fillRect/>
          </a:stretch>
        </p:blipFill>
        <p:spPr>
          <a:xfrm>
            <a:off x="935182" y="2667000"/>
            <a:ext cx="5600700" cy="2533650"/>
          </a:xfrm>
          <a:prstGeom prst="rect">
            <a:avLst/>
          </a:prstGeom>
        </p:spPr>
      </p:pic>
    </p:spTree>
    <p:extLst>
      <p:ext uri="{BB962C8B-B14F-4D97-AF65-F5344CB8AC3E}">
        <p14:creationId xmlns:p14="http://schemas.microsoft.com/office/powerpoint/2010/main" val="1313202033"/>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9126" y="1946943"/>
            <a:ext cx="6705600" cy="2003425"/>
          </a:xfrm>
        </p:spPr>
        <p:txBody>
          <a:bodyPr>
            <a:noAutofit/>
          </a:bodyPr>
          <a:lstStyle/>
          <a:p>
            <a:r>
              <a:rPr lang="en-US" sz="6000" b="1" dirty="0" smtClean="0">
                <a:solidFill>
                  <a:srgbClr val="00823B"/>
                </a:solidFill>
              </a:rPr>
              <a:t>Sequential Search</a:t>
            </a:r>
            <a:endParaRPr lang="en-US" sz="4800" b="1" dirty="0">
              <a:solidFill>
                <a:srgbClr val="00823B"/>
              </a:solidFill>
            </a:endParaRPr>
          </a:p>
        </p:txBody>
      </p:sp>
      <p:sp>
        <p:nvSpPr>
          <p:cNvPr id="3" name="Subtitle 2"/>
          <p:cNvSpPr>
            <a:spLocks noGrp="1"/>
          </p:cNvSpPr>
          <p:nvPr>
            <p:ph type="subTitle" idx="1"/>
          </p:nvPr>
        </p:nvSpPr>
        <p:spPr>
          <a:xfrm>
            <a:off x="762000" y="3962400"/>
            <a:ext cx="6400800" cy="1752600"/>
          </a:xfrm>
        </p:spPr>
        <p:txBody>
          <a:bodyPr/>
          <a:lstStyle/>
          <a:p>
            <a:pPr algn="r"/>
            <a:r>
              <a:rPr lang="en-US" dirty="0"/>
              <a:t>w</a:t>
            </a:r>
            <a:r>
              <a:rPr lang="en-US" dirty="0" smtClean="0"/>
              <a:t>ith </a:t>
            </a:r>
            <a:r>
              <a:rPr lang="en-US" dirty="0"/>
              <a:t>S</a:t>
            </a:r>
            <a:r>
              <a:rPr lang="en-US" dirty="0" smtClean="0"/>
              <a:t>entinel Value</a:t>
            </a:r>
          </a:p>
        </p:txBody>
      </p:sp>
    </p:spTree>
    <p:extLst>
      <p:ext uri="{BB962C8B-B14F-4D97-AF65-F5344CB8AC3E}">
        <p14:creationId xmlns:p14="http://schemas.microsoft.com/office/powerpoint/2010/main" val="3955113451"/>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Algorithm</a:t>
            </a:r>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EFBA8F76-60DD-4F65-80ED-7968AD89E013}" type="slidenum">
              <a:rPr lang="en-US" smtClean="0"/>
              <a:t>48</a:t>
            </a:fld>
            <a:endParaRPr lang="en-US"/>
          </a:p>
        </p:txBody>
      </p:sp>
      <p:pic>
        <p:nvPicPr>
          <p:cNvPr id="6" name="Picture 5"/>
          <p:cNvPicPr>
            <a:picLocks noChangeAspect="1"/>
          </p:cNvPicPr>
          <p:nvPr/>
        </p:nvPicPr>
        <p:blipFill>
          <a:blip r:embed="rId2"/>
          <a:stretch>
            <a:fillRect/>
          </a:stretch>
        </p:blipFill>
        <p:spPr>
          <a:xfrm>
            <a:off x="1095375" y="3124200"/>
            <a:ext cx="6067425" cy="2809875"/>
          </a:xfrm>
          <a:prstGeom prst="rect">
            <a:avLst/>
          </a:prstGeom>
        </p:spPr>
      </p:pic>
    </p:spTree>
    <p:extLst>
      <p:ext uri="{BB962C8B-B14F-4D97-AF65-F5344CB8AC3E}">
        <p14:creationId xmlns:p14="http://schemas.microsoft.com/office/powerpoint/2010/main" val="832633252"/>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Tracing</a:t>
            </a:r>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EFBA8F76-60DD-4F65-80ED-7968AD89E013}" type="slidenum">
              <a:rPr lang="en-US" smtClean="0"/>
              <a:t>49</a:t>
            </a:fld>
            <a:endParaRPr lang="en-US"/>
          </a:p>
        </p:txBody>
      </p:sp>
      <p:pic>
        <p:nvPicPr>
          <p:cNvPr id="7" name="Picture 6"/>
          <p:cNvPicPr>
            <a:picLocks noChangeAspect="1"/>
          </p:cNvPicPr>
          <p:nvPr/>
        </p:nvPicPr>
        <p:blipFill>
          <a:blip r:embed="rId2"/>
          <a:stretch>
            <a:fillRect/>
          </a:stretch>
        </p:blipFill>
        <p:spPr>
          <a:xfrm>
            <a:off x="4078891" y="1790700"/>
            <a:ext cx="3314700" cy="209550"/>
          </a:xfrm>
          <a:prstGeom prst="rect">
            <a:avLst/>
          </a:prstGeom>
        </p:spPr>
      </p:pic>
      <p:pic>
        <p:nvPicPr>
          <p:cNvPr id="8" name="Picture 7"/>
          <p:cNvPicPr>
            <a:picLocks noChangeAspect="1"/>
          </p:cNvPicPr>
          <p:nvPr/>
        </p:nvPicPr>
        <p:blipFill>
          <a:blip r:embed="rId3"/>
          <a:stretch>
            <a:fillRect/>
          </a:stretch>
        </p:blipFill>
        <p:spPr>
          <a:xfrm>
            <a:off x="1095375" y="3124200"/>
            <a:ext cx="6067425" cy="2809875"/>
          </a:xfrm>
          <a:prstGeom prst="rect">
            <a:avLst/>
          </a:prstGeom>
        </p:spPr>
      </p:pic>
    </p:spTree>
    <p:extLst>
      <p:ext uri="{BB962C8B-B14F-4D97-AF65-F5344CB8AC3E}">
        <p14:creationId xmlns:p14="http://schemas.microsoft.com/office/powerpoint/2010/main" val="3887060740"/>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Analysis</a:t>
            </a:r>
            <a:endParaRPr lang="en-US" dirty="0"/>
          </a:p>
        </p:txBody>
      </p:sp>
      <p:sp>
        <p:nvSpPr>
          <p:cNvPr id="4" name="Slide Number Placeholder 3"/>
          <p:cNvSpPr>
            <a:spLocks noGrp="1"/>
          </p:cNvSpPr>
          <p:nvPr>
            <p:ph type="sldNum" sz="quarter" idx="12"/>
          </p:nvPr>
        </p:nvSpPr>
        <p:spPr/>
        <p:txBody>
          <a:bodyPr/>
          <a:lstStyle/>
          <a:p>
            <a:fld id="{EFBA8F76-60DD-4F65-80ED-7968AD89E013}" type="slidenum">
              <a:rPr lang="en-US" smtClean="0"/>
              <a:t>50</a:t>
            </a:fld>
            <a:endParaRPr lang="en-US"/>
          </a:p>
        </p:txBody>
      </p:sp>
      <p:pic>
        <p:nvPicPr>
          <p:cNvPr id="6" name="Picture 5"/>
          <p:cNvPicPr>
            <a:picLocks noChangeAspect="1"/>
          </p:cNvPicPr>
          <p:nvPr/>
        </p:nvPicPr>
        <p:blipFill>
          <a:blip r:embed="rId2"/>
          <a:stretch>
            <a:fillRect/>
          </a:stretch>
        </p:blipFill>
        <p:spPr>
          <a:xfrm>
            <a:off x="609600" y="2590800"/>
            <a:ext cx="6067425" cy="2809875"/>
          </a:xfrm>
          <a:prstGeom prst="rect">
            <a:avLst/>
          </a:prstGeom>
        </p:spPr>
      </p:pic>
    </p:spTree>
    <p:extLst>
      <p:ext uri="{BB962C8B-B14F-4D97-AF65-F5344CB8AC3E}">
        <p14:creationId xmlns:p14="http://schemas.microsoft.com/office/powerpoint/2010/main" val="1867067149"/>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Students’ Exercise</a:t>
            </a:r>
            <a:endParaRPr lang="en-US" dirty="0"/>
          </a:p>
        </p:txBody>
      </p:sp>
      <p:sp>
        <p:nvSpPr>
          <p:cNvPr id="3" name="Content Placeholder 2"/>
          <p:cNvSpPr>
            <a:spLocks noGrp="1"/>
          </p:cNvSpPr>
          <p:nvPr>
            <p:ph idx="1"/>
          </p:nvPr>
        </p:nvSpPr>
        <p:spPr/>
        <p:txBody>
          <a:bodyPr>
            <a:normAutofit fontScale="85000" lnSpcReduction="10000"/>
          </a:bodyPr>
          <a:lstStyle/>
          <a:p>
            <a:pPr algn="just"/>
            <a:r>
              <a:rPr lang="en-US" dirty="0">
                <a:solidFill>
                  <a:srgbClr val="0000FF"/>
                </a:solidFill>
              </a:rPr>
              <a:t>Another straightforward improvement can be incorporated in </a:t>
            </a:r>
            <a:r>
              <a:rPr lang="en-US" dirty="0" smtClean="0">
                <a:solidFill>
                  <a:srgbClr val="0000FF"/>
                </a:solidFill>
              </a:rPr>
              <a:t>sequential search </a:t>
            </a:r>
            <a:r>
              <a:rPr lang="en-US" dirty="0">
                <a:solidFill>
                  <a:srgbClr val="0000FF"/>
                </a:solidFill>
              </a:rPr>
              <a:t>if a given list is known to be </a:t>
            </a:r>
            <a:r>
              <a:rPr lang="en-US" dirty="0" smtClean="0">
                <a:solidFill>
                  <a:srgbClr val="0000FF"/>
                </a:solidFill>
              </a:rPr>
              <a:t>sorted</a:t>
            </a:r>
          </a:p>
          <a:p>
            <a:pPr marL="971550" lvl="1" indent="-514350" algn="just">
              <a:buFont typeface="+mj-lt"/>
              <a:buAutoNum type="arabicPeriod"/>
            </a:pPr>
            <a:r>
              <a:rPr lang="en-US" dirty="0" smtClean="0">
                <a:solidFill>
                  <a:srgbClr val="00B0F0"/>
                </a:solidFill>
              </a:rPr>
              <a:t>Design an algorithm for above said scenario.</a:t>
            </a:r>
          </a:p>
          <a:p>
            <a:pPr marL="971550" lvl="1" indent="-514350" algn="just">
              <a:buFont typeface="+mj-lt"/>
              <a:buAutoNum type="arabicPeriod"/>
            </a:pPr>
            <a:r>
              <a:rPr lang="en-US" dirty="0" smtClean="0">
                <a:solidFill>
                  <a:srgbClr val="00B0F0"/>
                </a:solidFill>
              </a:rPr>
              <a:t>Trace the algorithm for any one set of data containing 10 values</a:t>
            </a:r>
          </a:p>
          <a:p>
            <a:pPr marL="971550" lvl="1" indent="-514350" algn="just">
              <a:buFont typeface="+mj-lt"/>
              <a:buAutoNum type="arabicPeriod"/>
            </a:pPr>
            <a:r>
              <a:rPr lang="en-US" dirty="0" smtClean="0">
                <a:solidFill>
                  <a:srgbClr val="00B0F0"/>
                </a:solidFill>
              </a:rPr>
              <a:t>Find the efficiency of your proposed algorithm.</a:t>
            </a:r>
            <a:endParaRPr lang="en-US" dirty="0">
              <a:solidFill>
                <a:srgbClr val="00B0F0"/>
              </a:solidFill>
            </a:endParaRPr>
          </a:p>
        </p:txBody>
      </p:sp>
      <p:sp>
        <p:nvSpPr>
          <p:cNvPr id="4" name="Slide Number Placeholder 3"/>
          <p:cNvSpPr>
            <a:spLocks noGrp="1"/>
          </p:cNvSpPr>
          <p:nvPr>
            <p:ph type="sldNum" sz="quarter" idx="12"/>
          </p:nvPr>
        </p:nvSpPr>
        <p:spPr/>
        <p:txBody>
          <a:bodyPr/>
          <a:lstStyle/>
          <a:p>
            <a:fld id="{EFBA8F76-60DD-4F65-80ED-7968AD89E013}" type="slidenum">
              <a:rPr lang="en-US" smtClean="0"/>
              <a:t>51</a:t>
            </a:fld>
            <a:endParaRPr lang="en-US"/>
          </a:p>
        </p:txBody>
      </p:sp>
    </p:spTree>
    <p:extLst>
      <p:ext uri="{BB962C8B-B14F-4D97-AF65-F5344CB8AC3E}">
        <p14:creationId xmlns:p14="http://schemas.microsoft.com/office/powerpoint/2010/main" val="3294926216"/>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9126" y="1946943"/>
            <a:ext cx="6705600" cy="2003425"/>
          </a:xfrm>
        </p:spPr>
        <p:txBody>
          <a:bodyPr>
            <a:noAutofit/>
          </a:bodyPr>
          <a:lstStyle/>
          <a:p>
            <a:r>
              <a:rPr lang="en-US" sz="6000" b="1" dirty="0" smtClean="0">
                <a:solidFill>
                  <a:srgbClr val="00823B"/>
                </a:solidFill>
              </a:rPr>
              <a:t>String Matching</a:t>
            </a:r>
            <a:endParaRPr lang="en-US" sz="4800" b="1" dirty="0">
              <a:solidFill>
                <a:srgbClr val="00823B"/>
              </a:solidFill>
            </a:endParaRPr>
          </a:p>
        </p:txBody>
      </p:sp>
      <p:sp>
        <p:nvSpPr>
          <p:cNvPr id="3" name="Subtitle 2"/>
          <p:cNvSpPr>
            <a:spLocks noGrp="1"/>
          </p:cNvSpPr>
          <p:nvPr>
            <p:ph type="subTitle" idx="1"/>
          </p:nvPr>
        </p:nvSpPr>
        <p:spPr>
          <a:xfrm>
            <a:off x="762000" y="3962400"/>
            <a:ext cx="6400800" cy="1752600"/>
          </a:xfrm>
        </p:spPr>
        <p:txBody>
          <a:bodyPr/>
          <a:lstStyle/>
          <a:p>
            <a:pPr algn="r"/>
            <a:r>
              <a:rPr lang="en-US" dirty="0" smtClean="0"/>
              <a:t>Example 04</a:t>
            </a:r>
          </a:p>
          <a:p>
            <a:pPr algn="r"/>
            <a:r>
              <a:rPr lang="en-US" dirty="0" smtClean="0"/>
              <a:t>Introduction</a:t>
            </a:r>
          </a:p>
        </p:txBody>
      </p:sp>
    </p:spTree>
    <p:extLst>
      <p:ext uri="{BB962C8B-B14F-4D97-AF65-F5344CB8AC3E}">
        <p14:creationId xmlns:p14="http://schemas.microsoft.com/office/powerpoint/2010/main" val="971293549"/>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String Matching </a:t>
            </a:r>
            <a:r>
              <a:rPr lang="en-US" dirty="0"/>
              <a:t>- </a:t>
            </a:r>
            <a:r>
              <a:rPr lang="en-US" sz="2800" b="1" dirty="0" smtClean="0">
                <a:solidFill>
                  <a:srgbClr val="0000FF"/>
                </a:solidFill>
              </a:rPr>
              <a:t>Introduction</a:t>
            </a:r>
            <a:endParaRPr lang="en-US" dirty="0"/>
          </a:p>
        </p:txBody>
      </p:sp>
      <p:sp>
        <p:nvSpPr>
          <p:cNvPr id="3" name="Content Placeholder 2"/>
          <p:cNvSpPr>
            <a:spLocks noGrp="1"/>
          </p:cNvSpPr>
          <p:nvPr>
            <p:ph idx="1"/>
          </p:nvPr>
        </p:nvSpPr>
        <p:spPr/>
        <p:txBody>
          <a:bodyPr>
            <a:noAutofit/>
          </a:bodyPr>
          <a:lstStyle/>
          <a:p>
            <a:pPr marL="457200" indent="-457200"/>
            <a:r>
              <a:rPr lang="en-US" sz="2000" b="1" i="1" u="sng" dirty="0">
                <a:solidFill>
                  <a:srgbClr val="00823B"/>
                </a:solidFill>
              </a:rPr>
              <a:t>pattern</a:t>
            </a:r>
            <a:r>
              <a:rPr lang="en-US" sz="2000" b="1" dirty="0">
                <a:solidFill>
                  <a:srgbClr val="00823B"/>
                </a:solidFill>
              </a:rPr>
              <a:t>:</a:t>
            </a:r>
            <a:r>
              <a:rPr lang="en-US" sz="2000" dirty="0"/>
              <a:t> a string of </a:t>
            </a:r>
            <a:r>
              <a:rPr lang="en-US" sz="2000" b="1" i="1" dirty="0"/>
              <a:t>m</a:t>
            </a:r>
            <a:r>
              <a:rPr lang="en-US" sz="2000" dirty="0"/>
              <a:t> characters to search for</a:t>
            </a:r>
          </a:p>
          <a:p>
            <a:pPr marL="457200" indent="-457200"/>
            <a:r>
              <a:rPr lang="en-US" sz="2000" b="1" i="1" u="sng" dirty="0">
                <a:solidFill>
                  <a:srgbClr val="0000FF"/>
                </a:solidFill>
              </a:rPr>
              <a:t>text</a:t>
            </a:r>
            <a:r>
              <a:rPr lang="en-US" sz="2000" b="1" dirty="0">
                <a:solidFill>
                  <a:srgbClr val="0000FF"/>
                </a:solidFill>
              </a:rPr>
              <a:t>:</a:t>
            </a:r>
            <a:r>
              <a:rPr lang="en-US" sz="2000" dirty="0"/>
              <a:t> a (longer) string of </a:t>
            </a:r>
            <a:r>
              <a:rPr lang="en-US" sz="2000" b="1" i="1" dirty="0"/>
              <a:t>n</a:t>
            </a:r>
            <a:r>
              <a:rPr lang="en-US" sz="2000" dirty="0"/>
              <a:t> characters to search in</a:t>
            </a:r>
          </a:p>
          <a:p>
            <a:pPr marL="457200" indent="-457200"/>
            <a:r>
              <a:rPr lang="en-US" sz="2000" b="1" i="1" u="sng" dirty="0">
                <a:solidFill>
                  <a:srgbClr val="FF0000"/>
                </a:solidFill>
                <a:sym typeface="Symbol" panose="05050102010706020507" pitchFamily="18" charset="2"/>
              </a:rPr>
              <a:t>problem:</a:t>
            </a:r>
            <a:r>
              <a:rPr lang="en-US" sz="2000" dirty="0">
                <a:sym typeface="Symbol" panose="05050102010706020507" pitchFamily="18" charset="2"/>
              </a:rPr>
              <a:t> find a substring in the text that matches the </a:t>
            </a:r>
            <a:r>
              <a:rPr lang="en-US" sz="2000" dirty="0" smtClean="0">
                <a:sym typeface="Symbol" panose="05050102010706020507" pitchFamily="18" charset="2"/>
              </a:rPr>
              <a:t>pattern</a:t>
            </a:r>
          </a:p>
          <a:p>
            <a:pPr marL="457200" indent="-457200">
              <a:buFont typeface="Monotype Sorts" pitchFamily="2" charset="2"/>
              <a:buNone/>
            </a:pPr>
            <a:endParaRPr lang="en-US" sz="2000" dirty="0" smtClean="0"/>
          </a:p>
          <a:p>
            <a:pPr marL="457200" indent="-457200">
              <a:buFont typeface="Monotype Sorts" pitchFamily="2" charset="2"/>
              <a:buNone/>
            </a:pPr>
            <a:r>
              <a:rPr lang="en-US" sz="2000" dirty="0" smtClean="0"/>
              <a:t>Pattern</a:t>
            </a:r>
            <a:r>
              <a:rPr lang="en-US" sz="2000" dirty="0"/>
              <a:t>:   </a:t>
            </a:r>
            <a:r>
              <a:rPr lang="en-US" sz="2000" dirty="0">
                <a:latin typeface="SimSun" panose="02010600030101010101" pitchFamily="2" charset="-122"/>
              </a:rPr>
              <a:t> </a:t>
            </a:r>
            <a:r>
              <a:rPr lang="en-US" sz="2000" b="1" dirty="0">
                <a:solidFill>
                  <a:srgbClr val="00823B"/>
                </a:solidFill>
                <a:latin typeface="SimSun" panose="02010600030101010101" pitchFamily="2" charset="-122"/>
              </a:rPr>
              <a:t>001011</a:t>
            </a:r>
          </a:p>
          <a:p>
            <a:pPr marL="457200" indent="-457200">
              <a:buFont typeface="Monotype Sorts" pitchFamily="2" charset="2"/>
              <a:buNone/>
            </a:pPr>
            <a:r>
              <a:rPr lang="en-US" sz="2000" dirty="0">
                <a:latin typeface="SimSun" panose="02010600030101010101" pitchFamily="2" charset="-122"/>
              </a:rPr>
              <a:t>T</a:t>
            </a:r>
            <a:r>
              <a:rPr lang="en-US" sz="2000" dirty="0"/>
              <a:t>ext:   </a:t>
            </a:r>
            <a:r>
              <a:rPr lang="en-US" sz="2000" b="1" dirty="0" smtClean="0">
                <a:solidFill>
                  <a:srgbClr val="0000FF"/>
                </a:solidFill>
                <a:latin typeface="SimSun" panose="02010600030101010101" pitchFamily="2" charset="-122"/>
              </a:rPr>
              <a:t>10010101101001100101111010</a:t>
            </a:r>
            <a:endParaRPr lang="en-US" sz="2000" dirty="0" smtClean="0"/>
          </a:p>
          <a:p>
            <a:pPr marL="457200" indent="-457200">
              <a:buFont typeface="Monotype Sorts" pitchFamily="2" charset="2"/>
              <a:buNone/>
            </a:pPr>
            <a:r>
              <a:rPr lang="en-US" sz="2000" dirty="0" smtClean="0"/>
              <a:t>Pattern: </a:t>
            </a:r>
            <a:r>
              <a:rPr lang="en-US" sz="2000" b="1" dirty="0" smtClean="0">
                <a:solidFill>
                  <a:srgbClr val="00823B"/>
                </a:solidFill>
                <a:latin typeface="SimSun" panose="02010600030101010101" pitchFamily="2" charset="-122"/>
              </a:rPr>
              <a:t>happy</a:t>
            </a:r>
          </a:p>
          <a:p>
            <a:pPr marL="457200" indent="-457200">
              <a:buFont typeface="Monotype Sorts" pitchFamily="2" charset="2"/>
              <a:buNone/>
            </a:pPr>
            <a:r>
              <a:rPr lang="en-US" sz="2000" dirty="0" smtClean="0"/>
              <a:t>Text</a:t>
            </a:r>
            <a:r>
              <a:rPr lang="en-US" sz="2000" dirty="0"/>
              <a:t>:      </a:t>
            </a:r>
            <a:r>
              <a:rPr lang="en-US" sz="2000" b="1" dirty="0">
                <a:solidFill>
                  <a:srgbClr val="0000FF"/>
                </a:solidFill>
                <a:latin typeface="SimSun" panose="02010600030101010101" pitchFamily="2" charset="-122"/>
              </a:rPr>
              <a:t>It is never too late to have a happy childhood</a:t>
            </a:r>
            <a:r>
              <a:rPr lang="en-US" sz="2000" b="1" dirty="0" smtClean="0">
                <a:solidFill>
                  <a:srgbClr val="0000FF"/>
                </a:solidFill>
                <a:latin typeface="SimSun" panose="02010600030101010101" pitchFamily="2" charset="-122"/>
              </a:rPr>
              <a:t>.</a:t>
            </a:r>
            <a:endParaRPr lang="en-US" sz="2000" dirty="0"/>
          </a:p>
        </p:txBody>
      </p:sp>
      <p:sp>
        <p:nvSpPr>
          <p:cNvPr id="4" name="Slide Number Placeholder 3"/>
          <p:cNvSpPr>
            <a:spLocks noGrp="1"/>
          </p:cNvSpPr>
          <p:nvPr>
            <p:ph type="sldNum" sz="quarter" idx="12"/>
          </p:nvPr>
        </p:nvSpPr>
        <p:spPr/>
        <p:txBody>
          <a:bodyPr/>
          <a:lstStyle/>
          <a:p>
            <a:fld id="{EFBA8F76-60DD-4F65-80ED-7968AD89E013}" type="slidenum">
              <a:rPr lang="en-US" smtClean="0"/>
              <a:t>53</a:t>
            </a:fld>
            <a:endParaRPr lang="en-US"/>
          </a:p>
        </p:txBody>
      </p:sp>
    </p:spTree>
    <p:extLst>
      <p:ext uri="{BB962C8B-B14F-4D97-AF65-F5344CB8AC3E}">
        <p14:creationId xmlns:p14="http://schemas.microsoft.com/office/powerpoint/2010/main" val="2856393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9126" y="1946943"/>
            <a:ext cx="6705600" cy="2003425"/>
          </a:xfrm>
        </p:spPr>
        <p:txBody>
          <a:bodyPr>
            <a:noAutofit/>
          </a:bodyPr>
          <a:lstStyle/>
          <a:p>
            <a:r>
              <a:rPr lang="en-US" sz="6000" b="1" dirty="0">
                <a:solidFill>
                  <a:srgbClr val="00823B"/>
                </a:solidFill>
              </a:rPr>
              <a:t>String Matching</a:t>
            </a:r>
            <a:endParaRPr lang="en-US" sz="4800" b="1" dirty="0">
              <a:solidFill>
                <a:srgbClr val="00823B"/>
              </a:solidFill>
            </a:endParaRPr>
          </a:p>
        </p:txBody>
      </p:sp>
      <p:sp>
        <p:nvSpPr>
          <p:cNvPr id="3" name="Subtitle 2"/>
          <p:cNvSpPr>
            <a:spLocks noGrp="1"/>
          </p:cNvSpPr>
          <p:nvPr>
            <p:ph type="subTitle" idx="1"/>
          </p:nvPr>
        </p:nvSpPr>
        <p:spPr>
          <a:xfrm>
            <a:off x="762000" y="3962400"/>
            <a:ext cx="6400800" cy="1752600"/>
          </a:xfrm>
        </p:spPr>
        <p:txBody>
          <a:bodyPr/>
          <a:lstStyle/>
          <a:p>
            <a:pPr algn="r"/>
            <a:r>
              <a:rPr lang="en-US" dirty="0" smtClean="0"/>
              <a:t>Example 04</a:t>
            </a:r>
          </a:p>
          <a:p>
            <a:pPr algn="r"/>
            <a:r>
              <a:rPr lang="en-US" dirty="0" smtClean="0"/>
              <a:t>Algorithm and Tracing</a:t>
            </a:r>
          </a:p>
        </p:txBody>
      </p:sp>
    </p:spTree>
    <p:extLst>
      <p:ext uri="{BB962C8B-B14F-4D97-AF65-F5344CB8AC3E}">
        <p14:creationId xmlns:p14="http://schemas.microsoft.com/office/powerpoint/2010/main" val="1888575665"/>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6"/>
          <p:cNvSpPr>
            <a:spLocks noGrp="1"/>
          </p:cNvSpPr>
          <p:nvPr>
            <p:ph type="sldNum" sz="quarter" idx="12"/>
          </p:nvPr>
        </p:nvSpPr>
        <p:spPr/>
        <p:txBody>
          <a:bodyPr/>
          <a:lstStyle/>
          <a:p>
            <a:fld id="{71A6A08C-D2F5-4F3D-8620-65C449FCB90E}" type="slidenum">
              <a:rPr lang="en-US"/>
              <a:pPr/>
              <a:t>55</a:t>
            </a:fld>
            <a:endParaRPr lang="en-US"/>
          </a:p>
        </p:txBody>
      </p:sp>
      <p:sp>
        <p:nvSpPr>
          <p:cNvPr id="7" name="Title 1"/>
          <p:cNvSpPr>
            <a:spLocks noGrp="1"/>
          </p:cNvSpPr>
          <p:nvPr>
            <p:ph type="title"/>
          </p:nvPr>
        </p:nvSpPr>
        <p:spPr>
          <a:xfrm>
            <a:off x="914400" y="1143000"/>
            <a:ext cx="6248400" cy="914400"/>
          </a:xfrm>
        </p:spPr>
        <p:txBody>
          <a:bodyPr/>
          <a:lstStyle/>
          <a:p>
            <a:pPr algn="l"/>
            <a:r>
              <a:rPr lang="en-US" dirty="0"/>
              <a:t>String Matching </a:t>
            </a:r>
            <a:r>
              <a:rPr lang="en-US" dirty="0" smtClean="0"/>
              <a:t>- </a:t>
            </a:r>
            <a:r>
              <a:rPr lang="en-US" sz="2800" b="1" dirty="0" smtClean="0">
                <a:solidFill>
                  <a:srgbClr val="0000FF"/>
                </a:solidFill>
              </a:rPr>
              <a:t>Algorithm</a:t>
            </a:r>
            <a:endParaRPr lang="en-US" dirty="0"/>
          </a:p>
        </p:txBody>
      </p:sp>
      <p:pic>
        <p:nvPicPr>
          <p:cNvPr id="8" name="Picture 4" descr="3_2b"/>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990599" y="2209800"/>
            <a:ext cx="6566315" cy="3352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7871673"/>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9120" y="1219200"/>
            <a:ext cx="7675809" cy="623369"/>
          </a:xfrm>
        </p:spPr>
        <p:txBody>
          <a:bodyPr>
            <a:normAutofit fontScale="90000"/>
          </a:bodyPr>
          <a:lstStyle/>
          <a:p>
            <a:pPr algn="l"/>
            <a:r>
              <a:rPr lang="en-US" dirty="0"/>
              <a:t>String </a:t>
            </a:r>
            <a:r>
              <a:rPr lang="en-US" dirty="0" smtClean="0"/>
              <a:t>Matching – </a:t>
            </a:r>
            <a:r>
              <a:rPr lang="en-US" sz="4000" b="1" dirty="0" smtClean="0">
                <a:solidFill>
                  <a:srgbClr val="0000FF"/>
                </a:solidFill>
              </a:rPr>
              <a:t>Tracing</a:t>
            </a:r>
            <a:endParaRPr lang="en-US" sz="2400" b="1" dirty="0">
              <a:solidFill>
                <a:srgbClr val="0000FF"/>
              </a:solidFill>
            </a:endParaRPr>
          </a:p>
        </p:txBody>
      </p:sp>
      <p:sp>
        <p:nvSpPr>
          <p:cNvPr id="4" name="Slide Number Placeholder 3"/>
          <p:cNvSpPr>
            <a:spLocks noGrp="1"/>
          </p:cNvSpPr>
          <p:nvPr>
            <p:ph type="sldNum" sz="quarter" idx="12"/>
          </p:nvPr>
        </p:nvSpPr>
        <p:spPr/>
        <p:txBody>
          <a:bodyPr/>
          <a:lstStyle/>
          <a:p>
            <a:fld id="{DDC76627-6CEE-4E3A-AF80-81DF9B174472}" type="slidenum">
              <a:rPr lang="en-US" smtClean="0"/>
              <a:pPr/>
              <a:t>56</a:t>
            </a:fld>
            <a:endParaRPr lang="en-US"/>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95800" y="4410075"/>
            <a:ext cx="4343400" cy="1914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 name="Picture 2"/>
          <p:cNvPicPr>
            <a:picLocks noChangeAspect="1"/>
          </p:cNvPicPr>
          <p:nvPr/>
        </p:nvPicPr>
        <p:blipFill>
          <a:blip r:embed="rId3"/>
          <a:stretch>
            <a:fillRect/>
          </a:stretch>
        </p:blipFill>
        <p:spPr>
          <a:xfrm>
            <a:off x="381000" y="1981200"/>
            <a:ext cx="6038850" cy="257175"/>
          </a:xfrm>
          <a:prstGeom prst="rect">
            <a:avLst/>
          </a:prstGeom>
        </p:spPr>
      </p:pic>
      <p:pic>
        <p:nvPicPr>
          <p:cNvPr id="5" name="Picture 4"/>
          <p:cNvPicPr>
            <a:picLocks noChangeAspect="1"/>
          </p:cNvPicPr>
          <p:nvPr/>
        </p:nvPicPr>
        <p:blipFill>
          <a:blip r:embed="rId4"/>
          <a:stretch>
            <a:fillRect/>
          </a:stretch>
        </p:blipFill>
        <p:spPr>
          <a:xfrm>
            <a:off x="415636" y="2275320"/>
            <a:ext cx="895350" cy="266700"/>
          </a:xfrm>
          <a:prstGeom prst="rect">
            <a:avLst/>
          </a:prstGeom>
        </p:spPr>
      </p:pic>
      <p:pic>
        <p:nvPicPr>
          <p:cNvPr id="6" name="Picture 5"/>
          <p:cNvPicPr>
            <a:picLocks noChangeAspect="1"/>
          </p:cNvPicPr>
          <p:nvPr/>
        </p:nvPicPr>
        <p:blipFill>
          <a:blip r:embed="rId4"/>
          <a:stretch>
            <a:fillRect/>
          </a:stretch>
        </p:blipFill>
        <p:spPr>
          <a:xfrm>
            <a:off x="762000" y="2569729"/>
            <a:ext cx="895350" cy="266700"/>
          </a:xfrm>
          <a:prstGeom prst="rect">
            <a:avLst/>
          </a:prstGeom>
        </p:spPr>
      </p:pic>
      <p:pic>
        <p:nvPicPr>
          <p:cNvPr id="7" name="Picture 6"/>
          <p:cNvPicPr>
            <a:picLocks noChangeAspect="1"/>
          </p:cNvPicPr>
          <p:nvPr/>
        </p:nvPicPr>
        <p:blipFill>
          <a:blip r:embed="rId4"/>
          <a:stretch>
            <a:fillRect/>
          </a:stretch>
        </p:blipFill>
        <p:spPr>
          <a:xfrm>
            <a:off x="1143000" y="2841047"/>
            <a:ext cx="895350" cy="266700"/>
          </a:xfrm>
          <a:prstGeom prst="rect">
            <a:avLst/>
          </a:prstGeom>
        </p:spPr>
      </p:pic>
      <p:pic>
        <p:nvPicPr>
          <p:cNvPr id="8" name="Picture 7"/>
          <p:cNvPicPr>
            <a:picLocks noChangeAspect="1"/>
          </p:cNvPicPr>
          <p:nvPr/>
        </p:nvPicPr>
        <p:blipFill>
          <a:blip r:embed="rId4"/>
          <a:stretch>
            <a:fillRect/>
          </a:stretch>
        </p:blipFill>
        <p:spPr>
          <a:xfrm>
            <a:off x="1524000" y="3179330"/>
            <a:ext cx="895350" cy="266700"/>
          </a:xfrm>
          <a:prstGeom prst="rect">
            <a:avLst/>
          </a:prstGeom>
        </p:spPr>
      </p:pic>
      <p:pic>
        <p:nvPicPr>
          <p:cNvPr id="9" name="Picture 8"/>
          <p:cNvPicPr>
            <a:picLocks noChangeAspect="1"/>
          </p:cNvPicPr>
          <p:nvPr/>
        </p:nvPicPr>
        <p:blipFill>
          <a:blip r:embed="rId4"/>
          <a:stretch>
            <a:fillRect/>
          </a:stretch>
        </p:blipFill>
        <p:spPr>
          <a:xfrm>
            <a:off x="1905000" y="3471430"/>
            <a:ext cx="895350" cy="266700"/>
          </a:xfrm>
          <a:prstGeom prst="rect">
            <a:avLst/>
          </a:prstGeom>
        </p:spPr>
      </p:pic>
      <p:pic>
        <p:nvPicPr>
          <p:cNvPr id="10" name="Picture 9"/>
          <p:cNvPicPr>
            <a:picLocks noChangeAspect="1"/>
          </p:cNvPicPr>
          <p:nvPr/>
        </p:nvPicPr>
        <p:blipFill>
          <a:blip r:embed="rId4"/>
          <a:stretch>
            <a:fillRect/>
          </a:stretch>
        </p:blipFill>
        <p:spPr>
          <a:xfrm>
            <a:off x="2286000" y="3763530"/>
            <a:ext cx="895350" cy="266700"/>
          </a:xfrm>
          <a:prstGeom prst="rect">
            <a:avLst/>
          </a:prstGeom>
        </p:spPr>
      </p:pic>
      <p:pic>
        <p:nvPicPr>
          <p:cNvPr id="11" name="Picture 10"/>
          <p:cNvPicPr>
            <a:picLocks noChangeAspect="1"/>
          </p:cNvPicPr>
          <p:nvPr/>
        </p:nvPicPr>
        <p:blipFill>
          <a:blip r:embed="rId4"/>
          <a:stretch>
            <a:fillRect/>
          </a:stretch>
        </p:blipFill>
        <p:spPr>
          <a:xfrm>
            <a:off x="2667000" y="4085937"/>
            <a:ext cx="895350" cy="266700"/>
          </a:xfrm>
          <a:prstGeom prst="rect">
            <a:avLst/>
          </a:prstGeom>
        </p:spPr>
      </p:pic>
      <p:pic>
        <p:nvPicPr>
          <p:cNvPr id="12" name="Picture 11"/>
          <p:cNvPicPr>
            <a:picLocks noChangeAspect="1"/>
          </p:cNvPicPr>
          <p:nvPr/>
        </p:nvPicPr>
        <p:blipFill>
          <a:blip r:embed="rId4"/>
          <a:stretch>
            <a:fillRect/>
          </a:stretch>
        </p:blipFill>
        <p:spPr>
          <a:xfrm>
            <a:off x="3048000" y="4408344"/>
            <a:ext cx="895350" cy="266700"/>
          </a:xfrm>
          <a:prstGeom prst="rect">
            <a:avLst/>
          </a:prstGeom>
        </p:spPr>
      </p:pic>
      <p:grpSp>
        <p:nvGrpSpPr>
          <p:cNvPr id="15" name="Group 14"/>
          <p:cNvGrpSpPr/>
          <p:nvPr/>
        </p:nvGrpSpPr>
        <p:grpSpPr>
          <a:xfrm>
            <a:off x="415636" y="1770121"/>
            <a:ext cx="6061364" cy="226580"/>
            <a:chOff x="415636" y="1770121"/>
            <a:chExt cx="6061364" cy="226580"/>
          </a:xfrm>
        </p:grpSpPr>
        <p:pic>
          <p:nvPicPr>
            <p:cNvPr id="14" name="Picture 13"/>
            <p:cNvPicPr>
              <a:picLocks noChangeAspect="1"/>
            </p:cNvPicPr>
            <p:nvPr/>
          </p:nvPicPr>
          <p:blipFill rotWithShape="1">
            <a:blip r:embed="rId5"/>
            <a:srcRect r="5363" b="11357"/>
            <a:stretch/>
          </p:blipFill>
          <p:spPr>
            <a:xfrm>
              <a:off x="762000" y="1770121"/>
              <a:ext cx="5715000" cy="211080"/>
            </a:xfrm>
            <a:prstGeom prst="rect">
              <a:avLst/>
            </a:prstGeom>
          </p:spPr>
        </p:pic>
        <p:pic>
          <p:nvPicPr>
            <p:cNvPr id="13" name="Picture 12"/>
            <p:cNvPicPr>
              <a:picLocks noChangeAspect="1"/>
            </p:cNvPicPr>
            <p:nvPr/>
          </p:nvPicPr>
          <p:blipFill>
            <a:blip r:embed="rId6"/>
            <a:stretch>
              <a:fillRect/>
            </a:stretch>
          </p:blipFill>
          <p:spPr>
            <a:xfrm>
              <a:off x="415636" y="1787151"/>
              <a:ext cx="180975" cy="209550"/>
            </a:xfrm>
            <a:prstGeom prst="rect">
              <a:avLst/>
            </a:prstGeom>
          </p:spPr>
        </p:pic>
      </p:grpSp>
    </p:spTree>
    <p:extLst>
      <p:ext uri="{BB962C8B-B14F-4D97-AF65-F5344CB8AC3E}">
        <p14:creationId xmlns:p14="http://schemas.microsoft.com/office/powerpoint/2010/main" val="152890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17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9126" y="1946943"/>
            <a:ext cx="6705600" cy="2003425"/>
          </a:xfrm>
        </p:spPr>
        <p:txBody>
          <a:bodyPr>
            <a:noAutofit/>
          </a:bodyPr>
          <a:lstStyle/>
          <a:p>
            <a:r>
              <a:rPr lang="en-US" sz="6000" b="1" dirty="0">
                <a:solidFill>
                  <a:srgbClr val="00823B"/>
                </a:solidFill>
              </a:rPr>
              <a:t>String Matching</a:t>
            </a:r>
            <a:endParaRPr lang="en-US" sz="4800" b="1" dirty="0">
              <a:solidFill>
                <a:srgbClr val="00823B"/>
              </a:solidFill>
            </a:endParaRPr>
          </a:p>
        </p:txBody>
      </p:sp>
      <p:sp>
        <p:nvSpPr>
          <p:cNvPr id="3" name="Subtitle 2"/>
          <p:cNvSpPr>
            <a:spLocks noGrp="1"/>
          </p:cNvSpPr>
          <p:nvPr>
            <p:ph type="subTitle" idx="1"/>
          </p:nvPr>
        </p:nvSpPr>
        <p:spPr>
          <a:xfrm>
            <a:off x="762000" y="3962400"/>
            <a:ext cx="6400800" cy="1752600"/>
          </a:xfrm>
        </p:spPr>
        <p:txBody>
          <a:bodyPr/>
          <a:lstStyle/>
          <a:p>
            <a:pPr algn="r"/>
            <a:r>
              <a:rPr lang="en-US" dirty="0" smtClean="0"/>
              <a:t>Example 04</a:t>
            </a:r>
          </a:p>
          <a:p>
            <a:pPr algn="r"/>
            <a:r>
              <a:rPr lang="en-US" dirty="0" smtClean="0"/>
              <a:t>Analysis</a:t>
            </a:r>
          </a:p>
        </p:txBody>
      </p:sp>
    </p:spTree>
    <p:extLst>
      <p:ext uri="{BB962C8B-B14F-4D97-AF65-F5344CB8AC3E}">
        <p14:creationId xmlns:p14="http://schemas.microsoft.com/office/powerpoint/2010/main" val="2273968011"/>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2133600"/>
            <a:ext cx="4876800" cy="4114800"/>
          </a:xfrm>
        </p:spPr>
        <p:txBody>
          <a:bodyPr/>
          <a:lstStyle/>
          <a:p>
            <a:r>
              <a:rPr lang="en-US" b="1" dirty="0" smtClean="0">
                <a:solidFill>
                  <a:srgbClr val="00823B"/>
                </a:solidFill>
              </a:rPr>
              <a:t>Basic Operation</a:t>
            </a:r>
          </a:p>
          <a:p>
            <a:pPr lvl="1"/>
            <a:r>
              <a:rPr lang="en-US" dirty="0" smtClean="0"/>
              <a:t>Number of comparisons</a:t>
            </a:r>
          </a:p>
          <a:p>
            <a:r>
              <a:rPr lang="en-US" b="1" dirty="0" smtClean="0">
                <a:solidFill>
                  <a:srgbClr val="00823B"/>
                </a:solidFill>
              </a:rPr>
              <a:t>For “m” characters</a:t>
            </a:r>
          </a:p>
          <a:p>
            <a:pPr lvl="1"/>
            <a:r>
              <a:rPr lang="en-US" dirty="0"/>
              <a:t>C</a:t>
            </a:r>
            <a:r>
              <a:rPr lang="en-US" dirty="0" smtClean="0"/>
              <a:t>(n)</a:t>
            </a:r>
          </a:p>
          <a:p>
            <a:r>
              <a:rPr lang="en-US" b="1" dirty="0" smtClean="0">
                <a:solidFill>
                  <a:srgbClr val="00823B"/>
                </a:solidFill>
              </a:rPr>
              <a:t>Max. Comparisons</a:t>
            </a:r>
          </a:p>
          <a:p>
            <a:pPr lvl="1"/>
            <a:r>
              <a:rPr lang="en-US" sz="2400" dirty="0" smtClean="0"/>
              <a:t>m </a:t>
            </a:r>
            <a:r>
              <a:rPr lang="en-US" sz="2400" dirty="0"/>
              <a:t>( </a:t>
            </a:r>
            <a:r>
              <a:rPr lang="en-US" sz="2400" dirty="0" smtClean="0"/>
              <a:t>n – m + 1 )</a:t>
            </a:r>
          </a:p>
          <a:p>
            <a:pPr lvl="1"/>
            <a:r>
              <a:rPr lang="en-US" sz="2400" dirty="0" smtClean="0"/>
              <a:t>O(n m)</a:t>
            </a:r>
            <a:endParaRPr lang="en-US" sz="2400" dirty="0"/>
          </a:p>
        </p:txBody>
      </p:sp>
      <p:sp>
        <p:nvSpPr>
          <p:cNvPr id="4" name="Slide Number Placeholder 3"/>
          <p:cNvSpPr>
            <a:spLocks noGrp="1"/>
          </p:cNvSpPr>
          <p:nvPr>
            <p:ph type="sldNum" sz="quarter" idx="12"/>
          </p:nvPr>
        </p:nvSpPr>
        <p:spPr/>
        <p:txBody>
          <a:bodyPr/>
          <a:lstStyle/>
          <a:p>
            <a:fld id="{EFBA8F76-60DD-4F65-80ED-7968AD89E013}" type="slidenum">
              <a:rPr lang="en-US" smtClean="0"/>
              <a:t>58</a:t>
            </a:fld>
            <a:endParaRPr lang="en-US"/>
          </a:p>
        </p:txBody>
      </p:sp>
      <p:sp>
        <p:nvSpPr>
          <p:cNvPr id="5" name="Rectangle 2"/>
          <p:cNvSpPr>
            <a:spLocks noGrp="1" noChangeArrowheads="1"/>
          </p:cNvSpPr>
          <p:nvPr>
            <p:ph type="title"/>
          </p:nvPr>
        </p:nvSpPr>
        <p:spPr>
          <a:xfrm>
            <a:off x="152400" y="1371600"/>
            <a:ext cx="7143750" cy="609600"/>
          </a:xfrm>
        </p:spPr>
        <p:txBody>
          <a:bodyPr>
            <a:normAutofit fontScale="90000"/>
          </a:bodyPr>
          <a:lstStyle/>
          <a:p>
            <a:pPr algn="l">
              <a:defRPr/>
            </a:pPr>
            <a:r>
              <a:rPr lang="en-US" dirty="0"/>
              <a:t>String </a:t>
            </a:r>
            <a:r>
              <a:rPr lang="en-US" dirty="0" smtClean="0"/>
              <a:t>Matching – </a:t>
            </a:r>
            <a:r>
              <a:rPr lang="en-US" sz="4000" b="1" dirty="0" smtClean="0">
                <a:solidFill>
                  <a:srgbClr val="0000FF"/>
                </a:solidFill>
              </a:rPr>
              <a:t>Analysis</a:t>
            </a:r>
            <a:endParaRPr lang="en-US" dirty="0" smtClean="0"/>
          </a:p>
        </p:txBody>
      </p:sp>
      <p:pic>
        <p:nvPicPr>
          <p:cNvPr id="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8200" y="2962275"/>
            <a:ext cx="4343400" cy="1914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57694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9126" y="1946943"/>
            <a:ext cx="6705600" cy="2003425"/>
          </a:xfrm>
        </p:spPr>
        <p:txBody>
          <a:bodyPr>
            <a:noAutofit/>
          </a:bodyPr>
          <a:lstStyle/>
          <a:p>
            <a:r>
              <a:rPr lang="en-US" sz="6000" b="1" dirty="0" smtClean="0">
                <a:solidFill>
                  <a:srgbClr val="00823B"/>
                </a:solidFill>
              </a:rPr>
              <a:t>Closest Pair Problem</a:t>
            </a:r>
            <a:endParaRPr lang="en-US" sz="4800" b="1" dirty="0">
              <a:solidFill>
                <a:srgbClr val="00823B"/>
              </a:solidFill>
            </a:endParaRPr>
          </a:p>
        </p:txBody>
      </p:sp>
      <p:sp>
        <p:nvSpPr>
          <p:cNvPr id="3" name="Subtitle 2"/>
          <p:cNvSpPr>
            <a:spLocks noGrp="1"/>
          </p:cNvSpPr>
          <p:nvPr>
            <p:ph type="subTitle" idx="1"/>
          </p:nvPr>
        </p:nvSpPr>
        <p:spPr>
          <a:xfrm>
            <a:off x="762000" y="3962400"/>
            <a:ext cx="6400800" cy="1752600"/>
          </a:xfrm>
        </p:spPr>
        <p:txBody>
          <a:bodyPr/>
          <a:lstStyle/>
          <a:p>
            <a:pPr algn="r"/>
            <a:r>
              <a:rPr lang="en-US" dirty="0" smtClean="0"/>
              <a:t>Example 05</a:t>
            </a:r>
          </a:p>
          <a:p>
            <a:pPr algn="r"/>
            <a:r>
              <a:rPr lang="en-US" dirty="0" smtClean="0"/>
              <a:t>Introduction</a:t>
            </a:r>
          </a:p>
        </p:txBody>
      </p:sp>
    </p:spTree>
    <p:extLst>
      <p:ext uri="{BB962C8B-B14F-4D97-AF65-F5344CB8AC3E}">
        <p14:creationId xmlns:p14="http://schemas.microsoft.com/office/powerpoint/2010/main" val="908578051"/>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Closest-Pair Problem</a:t>
            </a:r>
            <a:endParaRPr lang="en-US" dirty="0"/>
          </a:p>
        </p:txBody>
      </p:sp>
      <p:sp>
        <p:nvSpPr>
          <p:cNvPr id="3" name="Content Placeholder 2"/>
          <p:cNvSpPr>
            <a:spLocks noGrp="1"/>
          </p:cNvSpPr>
          <p:nvPr>
            <p:ph idx="1"/>
          </p:nvPr>
        </p:nvSpPr>
        <p:spPr/>
        <p:txBody>
          <a:bodyPr>
            <a:normAutofit/>
          </a:bodyPr>
          <a:lstStyle/>
          <a:p>
            <a:r>
              <a:rPr lang="en-US" sz="2400" dirty="0"/>
              <a:t>Find the two closest points in a set of n points (in the two-dimensional Cartesian plane</a:t>
            </a:r>
            <a:r>
              <a:rPr lang="en-US" sz="2400" dirty="0" smtClean="0"/>
              <a:t>).</a:t>
            </a:r>
          </a:p>
          <a:p>
            <a:endParaRPr lang="en-US" sz="2400" dirty="0" smtClean="0"/>
          </a:p>
        </p:txBody>
      </p:sp>
      <p:sp>
        <p:nvSpPr>
          <p:cNvPr id="4" name="Slide Number Placeholder 3"/>
          <p:cNvSpPr>
            <a:spLocks noGrp="1"/>
          </p:cNvSpPr>
          <p:nvPr>
            <p:ph type="sldNum" sz="quarter" idx="12"/>
          </p:nvPr>
        </p:nvSpPr>
        <p:spPr/>
        <p:txBody>
          <a:bodyPr/>
          <a:lstStyle/>
          <a:p>
            <a:fld id="{EFBA8F76-60DD-4F65-80ED-7968AD89E013}" type="slidenum">
              <a:rPr lang="en-US" smtClean="0"/>
              <a:t>60</a:t>
            </a:fld>
            <a:endParaRPr lang="en-US"/>
          </a:p>
        </p:txBody>
      </p:sp>
    </p:spTree>
    <p:extLst>
      <p:ext uri="{BB962C8B-B14F-4D97-AF65-F5344CB8AC3E}">
        <p14:creationId xmlns:p14="http://schemas.microsoft.com/office/powerpoint/2010/main" val="922459687"/>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Closest-Pair Problem</a:t>
            </a:r>
            <a:endParaRPr lang="en-US" dirty="0"/>
          </a:p>
        </p:txBody>
      </p:sp>
      <p:sp>
        <p:nvSpPr>
          <p:cNvPr id="3" name="Content Placeholder 2"/>
          <p:cNvSpPr>
            <a:spLocks noGrp="1"/>
          </p:cNvSpPr>
          <p:nvPr>
            <p:ph idx="1"/>
          </p:nvPr>
        </p:nvSpPr>
        <p:spPr/>
        <p:txBody>
          <a:bodyPr>
            <a:normAutofit/>
          </a:bodyPr>
          <a:lstStyle/>
          <a:p>
            <a:r>
              <a:rPr lang="en-US" sz="2400" dirty="0"/>
              <a:t>Find the two closest points in a set of n points (in the two-dimensional Cartesian plane</a:t>
            </a:r>
            <a:r>
              <a:rPr lang="en-US" sz="2400" dirty="0" smtClean="0"/>
              <a:t>).</a:t>
            </a:r>
          </a:p>
          <a:p>
            <a:endParaRPr lang="en-US" sz="2400" dirty="0" smtClean="0"/>
          </a:p>
        </p:txBody>
      </p:sp>
      <p:sp>
        <p:nvSpPr>
          <p:cNvPr id="4" name="Slide Number Placeholder 3"/>
          <p:cNvSpPr>
            <a:spLocks noGrp="1"/>
          </p:cNvSpPr>
          <p:nvPr>
            <p:ph type="sldNum" sz="quarter" idx="12"/>
          </p:nvPr>
        </p:nvSpPr>
        <p:spPr/>
        <p:txBody>
          <a:bodyPr/>
          <a:lstStyle/>
          <a:p>
            <a:fld id="{EFBA8F76-60DD-4F65-80ED-7968AD89E013}" type="slidenum">
              <a:rPr lang="en-US" smtClean="0"/>
              <a:t>61</a:t>
            </a:fld>
            <a:endParaRPr lang="en-US"/>
          </a:p>
        </p:txBody>
      </p:sp>
      <p:pic>
        <p:nvPicPr>
          <p:cNvPr id="10" name="Picture 9"/>
          <p:cNvPicPr>
            <a:picLocks noChangeAspect="1"/>
          </p:cNvPicPr>
          <p:nvPr/>
        </p:nvPicPr>
        <p:blipFill>
          <a:blip r:embed="rId2"/>
          <a:stretch>
            <a:fillRect/>
          </a:stretch>
        </p:blipFill>
        <p:spPr>
          <a:xfrm>
            <a:off x="4019550" y="3495675"/>
            <a:ext cx="3590925" cy="2752725"/>
          </a:xfrm>
          <a:prstGeom prst="rect">
            <a:avLst/>
          </a:prstGeom>
        </p:spPr>
      </p:pic>
    </p:spTree>
    <p:extLst>
      <p:ext uri="{BB962C8B-B14F-4D97-AF65-F5344CB8AC3E}">
        <p14:creationId xmlns:p14="http://schemas.microsoft.com/office/powerpoint/2010/main" val="2614023231"/>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Closest-Pair Problem</a:t>
            </a:r>
            <a:endParaRPr lang="en-US" dirty="0"/>
          </a:p>
        </p:txBody>
      </p:sp>
      <p:sp>
        <p:nvSpPr>
          <p:cNvPr id="3" name="Content Placeholder 2"/>
          <p:cNvSpPr>
            <a:spLocks noGrp="1"/>
          </p:cNvSpPr>
          <p:nvPr>
            <p:ph idx="1"/>
          </p:nvPr>
        </p:nvSpPr>
        <p:spPr/>
        <p:txBody>
          <a:bodyPr>
            <a:normAutofit/>
          </a:bodyPr>
          <a:lstStyle/>
          <a:p>
            <a:r>
              <a:rPr lang="en-US" sz="2400" dirty="0"/>
              <a:t>Find the two closest points in a set of n points (in the two-dimensional Cartesian plane</a:t>
            </a:r>
            <a:r>
              <a:rPr lang="en-US" sz="2400" dirty="0" smtClean="0"/>
              <a:t>).</a:t>
            </a:r>
          </a:p>
          <a:p>
            <a:endParaRPr lang="en-US" sz="2400" dirty="0" smtClean="0"/>
          </a:p>
          <a:p>
            <a:r>
              <a:rPr lang="en-US" sz="2400" b="1" dirty="0">
                <a:solidFill>
                  <a:srgbClr val="0000FF"/>
                </a:solidFill>
              </a:rPr>
              <a:t>Brute-force </a:t>
            </a:r>
            <a:r>
              <a:rPr lang="en-US" sz="2400" b="1" dirty="0" smtClean="0">
                <a:solidFill>
                  <a:srgbClr val="0000FF"/>
                </a:solidFill>
              </a:rPr>
              <a:t>algorithm</a:t>
            </a:r>
            <a:endParaRPr lang="en-US" sz="2400" b="1" dirty="0">
              <a:solidFill>
                <a:srgbClr val="0000FF"/>
              </a:solidFill>
            </a:endParaRPr>
          </a:p>
        </p:txBody>
      </p:sp>
      <p:sp>
        <p:nvSpPr>
          <p:cNvPr id="4" name="Slide Number Placeholder 3"/>
          <p:cNvSpPr>
            <a:spLocks noGrp="1"/>
          </p:cNvSpPr>
          <p:nvPr>
            <p:ph type="sldNum" sz="quarter" idx="12"/>
          </p:nvPr>
        </p:nvSpPr>
        <p:spPr/>
        <p:txBody>
          <a:bodyPr/>
          <a:lstStyle/>
          <a:p>
            <a:fld id="{EFBA8F76-60DD-4F65-80ED-7968AD89E013}" type="slidenum">
              <a:rPr lang="en-US" smtClean="0"/>
              <a:t>62</a:t>
            </a:fld>
            <a:endParaRPr lang="en-US"/>
          </a:p>
        </p:txBody>
      </p:sp>
      <p:pic>
        <p:nvPicPr>
          <p:cNvPr id="6" name="Picture 5"/>
          <p:cNvPicPr>
            <a:picLocks noChangeAspect="1"/>
          </p:cNvPicPr>
          <p:nvPr/>
        </p:nvPicPr>
        <p:blipFill>
          <a:blip r:embed="rId2"/>
          <a:stretch>
            <a:fillRect/>
          </a:stretch>
        </p:blipFill>
        <p:spPr>
          <a:xfrm>
            <a:off x="6553200" y="3352800"/>
            <a:ext cx="2298689" cy="1762125"/>
          </a:xfrm>
          <a:prstGeom prst="rect">
            <a:avLst/>
          </a:prstGeom>
        </p:spPr>
      </p:pic>
    </p:spTree>
    <p:extLst>
      <p:ext uri="{BB962C8B-B14F-4D97-AF65-F5344CB8AC3E}">
        <p14:creationId xmlns:p14="http://schemas.microsoft.com/office/powerpoint/2010/main" val="3475748797"/>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Closest-Pair Problem</a:t>
            </a:r>
            <a:endParaRPr lang="en-US" dirty="0"/>
          </a:p>
        </p:txBody>
      </p:sp>
      <p:sp>
        <p:nvSpPr>
          <p:cNvPr id="3" name="Content Placeholder 2"/>
          <p:cNvSpPr>
            <a:spLocks noGrp="1"/>
          </p:cNvSpPr>
          <p:nvPr>
            <p:ph idx="1"/>
          </p:nvPr>
        </p:nvSpPr>
        <p:spPr/>
        <p:txBody>
          <a:bodyPr>
            <a:normAutofit/>
          </a:bodyPr>
          <a:lstStyle/>
          <a:p>
            <a:r>
              <a:rPr lang="en-US" sz="2400" dirty="0"/>
              <a:t>Find the two closest points in a set of n points (in the two-dimensional Cartesian plane</a:t>
            </a:r>
            <a:r>
              <a:rPr lang="en-US" sz="2400" dirty="0" smtClean="0"/>
              <a:t>).</a:t>
            </a:r>
          </a:p>
          <a:p>
            <a:endParaRPr lang="en-US" sz="2400" dirty="0" smtClean="0"/>
          </a:p>
          <a:p>
            <a:r>
              <a:rPr lang="en-US" sz="2400" b="1" dirty="0">
                <a:solidFill>
                  <a:srgbClr val="0000FF"/>
                </a:solidFill>
              </a:rPr>
              <a:t>Brute-force algorithm</a:t>
            </a:r>
          </a:p>
          <a:p>
            <a:pPr lvl="1"/>
            <a:r>
              <a:rPr lang="en-US" sz="2000" dirty="0" smtClean="0"/>
              <a:t>Compute </a:t>
            </a:r>
            <a:r>
              <a:rPr lang="en-US" sz="2000" dirty="0"/>
              <a:t>the distance between every pair of distinct points</a:t>
            </a:r>
          </a:p>
          <a:p>
            <a:pPr lvl="1"/>
            <a:endParaRPr lang="en-US" sz="2000" dirty="0" smtClean="0"/>
          </a:p>
        </p:txBody>
      </p:sp>
      <p:sp>
        <p:nvSpPr>
          <p:cNvPr id="4" name="Slide Number Placeholder 3"/>
          <p:cNvSpPr>
            <a:spLocks noGrp="1"/>
          </p:cNvSpPr>
          <p:nvPr>
            <p:ph type="sldNum" sz="quarter" idx="12"/>
          </p:nvPr>
        </p:nvSpPr>
        <p:spPr/>
        <p:txBody>
          <a:bodyPr/>
          <a:lstStyle/>
          <a:p>
            <a:fld id="{EFBA8F76-60DD-4F65-80ED-7968AD89E013}" type="slidenum">
              <a:rPr lang="en-US" smtClean="0"/>
              <a:t>63</a:t>
            </a:fld>
            <a:endParaRPr lang="en-US"/>
          </a:p>
        </p:txBody>
      </p:sp>
      <p:pic>
        <p:nvPicPr>
          <p:cNvPr id="5" name="Picture 4"/>
          <p:cNvPicPr>
            <a:picLocks noChangeAspect="1"/>
          </p:cNvPicPr>
          <p:nvPr/>
        </p:nvPicPr>
        <p:blipFill>
          <a:blip r:embed="rId2"/>
          <a:stretch>
            <a:fillRect/>
          </a:stretch>
        </p:blipFill>
        <p:spPr>
          <a:xfrm>
            <a:off x="6553200" y="3352800"/>
            <a:ext cx="2298689" cy="1762125"/>
          </a:xfrm>
          <a:prstGeom prst="rect">
            <a:avLst/>
          </a:prstGeom>
        </p:spPr>
      </p:pic>
    </p:spTree>
    <p:extLst>
      <p:ext uri="{BB962C8B-B14F-4D97-AF65-F5344CB8AC3E}">
        <p14:creationId xmlns:p14="http://schemas.microsoft.com/office/powerpoint/2010/main" val="2094428480"/>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Closest-Pair Problem</a:t>
            </a:r>
            <a:endParaRPr lang="en-US" dirty="0"/>
          </a:p>
        </p:txBody>
      </p:sp>
      <p:sp>
        <p:nvSpPr>
          <p:cNvPr id="3" name="Content Placeholder 2"/>
          <p:cNvSpPr>
            <a:spLocks noGrp="1"/>
          </p:cNvSpPr>
          <p:nvPr>
            <p:ph idx="1"/>
          </p:nvPr>
        </p:nvSpPr>
        <p:spPr/>
        <p:txBody>
          <a:bodyPr>
            <a:normAutofit/>
          </a:bodyPr>
          <a:lstStyle/>
          <a:p>
            <a:r>
              <a:rPr lang="en-US" sz="2400" dirty="0"/>
              <a:t>Find the two closest points in a set of n points (in the two-dimensional Cartesian plane</a:t>
            </a:r>
            <a:r>
              <a:rPr lang="en-US" sz="2400" dirty="0" smtClean="0"/>
              <a:t>).</a:t>
            </a:r>
          </a:p>
          <a:p>
            <a:endParaRPr lang="en-US" sz="2400" dirty="0" smtClean="0"/>
          </a:p>
          <a:p>
            <a:r>
              <a:rPr lang="en-US" sz="2400" b="1" dirty="0">
                <a:solidFill>
                  <a:srgbClr val="0000FF"/>
                </a:solidFill>
              </a:rPr>
              <a:t>Brute-force algorithm</a:t>
            </a:r>
          </a:p>
          <a:p>
            <a:pPr lvl="1"/>
            <a:r>
              <a:rPr lang="en-US" sz="2000" dirty="0" smtClean="0"/>
              <a:t>Compute </a:t>
            </a:r>
            <a:r>
              <a:rPr lang="en-US" sz="2000" dirty="0"/>
              <a:t>the distance between every pair of distinct points</a:t>
            </a:r>
          </a:p>
          <a:p>
            <a:pPr lvl="1"/>
            <a:endParaRPr lang="en-US" sz="2000" dirty="0" smtClean="0"/>
          </a:p>
          <a:p>
            <a:pPr lvl="1"/>
            <a:r>
              <a:rPr lang="en-US" sz="2000" dirty="0" smtClean="0"/>
              <a:t>and </a:t>
            </a:r>
            <a:r>
              <a:rPr lang="en-US" sz="2000" dirty="0"/>
              <a:t>return the </a:t>
            </a:r>
            <a:r>
              <a:rPr lang="en-US" sz="2000" dirty="0" smtClean="0"/>
              <a:t>indices </a:t>
            </a:r>
            <a:r>
              <a:rPr lang="en-US" sz="2000" dirty="0"/>
              <a:t>of the points for which the distance is the smallest.</a:t>
            </a:r>
          </a:p>
          <a:p>
            <a:endParaRPr lang="en-US" sz="2400" dirty="0"/>
          </a:p>
        </p:txBody>
      </p:sp>
      <p:sp>
        <p:nvSpPr>
          <p:cNvPr id="4" name="Slide Number Placeholder 3"/>
          <p:cNvSpPr>
            <a:spLocks noGrp="1"/>
          </p:cNvSpPr>
          <p:nvPr>
            <p:ph type="sldNum" sz="quarter" idx="12"/>
          </p:nvPr>
        </p:nvSpPr>
        <p:spPr/>
        <p:txBody>
          <a:bodyPr/>
          <a:lstStyle/>
          <a:p>
            <a:fld id="{EFBA8F76-60DD-4F65-80ED-7968AD89E013}" type="slidenum">
              <a:rPr lang="en-US" smtClean="0"/>
              <a:t>64</a:t>
            </a:fld>
            <a:endParaRPr lang="en-US"/>
          </a:p>
        </p:txBody>
      </p:sp>
      <p:pic>
        <p:nvPicPr>
          <p:cNvPr id="5" name="Picture 4"/>
          <p:cNvPicPr>
            <a:picLocks noChangeAspect="1"/>
          </p:cNvPicPr>
          <p:nvPr/>
        </p:nvPicPr>
        <p:blipFill>
          <a:blip r:embed="rId2"/>
          <a:stretch>
            <a:fillRect/>
          </a:stretch>
        </p:blipFill>
        <p:spPr>
          <a:xfrm>
            <a:off x="6553200" y="3352800"/>
            <a:ext cx="2298689" cy="1762125"/>
          </a:xfrm>
          <a:prstGeom prst="rect">
            <a:avLst/>
          </a:prstGeom>
        </p:spPr>
      </p:pic>
    </p:spTree>
    <p:extLst>
      <p:ext uri="{BB962C8B-B14F-4D97-AF65-F5344CB8AC3E}">
        <p14:creationId xmlns:p14="http://schemas.microsoft.com/office/powerpoint/2010/main" val="867107603"/>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Closest-Pair Problem</a:t>
            </a:r>
            <a:endParaRPr lang="en-US" dirty="0"/>
          </a:p>
        </p:txBody>
      </p:sp>
      <p:sp>
        <p:nvSpPr>
          <p:cNvPr id="3" name="Content Placeholder 2"/>
          <p:cNvSpPr>
            <a:spLocks noGrp="1"/>
          </p:cNvSpPr>
          <p:nvPr>
            <p:ph idx="1"/>
          </p:nvPr>
        </p:nvSpPr>
        <p:spPr/>
        <p:txBody>
          <a:bodyPr>
            <a:normAutofit/>
          </a:bodyPr>
          <a:lstStyle/>
          <a:p>
            <a:r>
              <a:rPr lang="en-US" sz="2800" b="1" dirty="0" smtClean="0">
                <a:solidFill>
                  <a:srgbClr val="00823B"/>
                </a:solidFill>
              </a:rPr>
              <a:t>Distance Formula</a:t>
            </a:r>
          </a:p>
        </p:txBody>
      </p:sp>
      <p:sp>
        <p:nvSpPr>
          <p:cNvPr id="4" name="Slide Number Placeholder 3"/>
          <p:cNvSpPr>
            <a:spLocks noGrp="1"/>
          </p:cNvSpPr>
          <p:nvPr>
            <p:ph type="sldNum" sz="quarter" idx="12"/>
          </p:nvPr>
        </p:nvSpPr>
        <p:spPr/>
        <p:txBody>
          <a:bodyPr/>
          <a:lstStyle/>
          <a:p>
            <a:fld id="{EFBA8F76-60DD-4F65-80ED-7968AD89E013}" type="slidenum">
              <a:rPr lang="en-US" smtClean="0"/>
              <a:t>65</a:t>
            </a:fld>
            <a:endParaRPr lang="en-US"/>
          </a:p>
        </p:txBody>
      </p:sp>
    </p:spTree>
    <p:extLst>
      <p:ext uri="{BB962C8B-B14F-4D97-AF65-F5344CB8AC3E}">
        <p14:creationId xmlns:p14="http://schemas.microsoft.com/office/powerpoint/2010/main" val="2523443747"/>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Closest-Pair Problem</a:t>
            </a:r>
            <a:endParaRPr lang="en-US" dirty="0"/>
          </a:p>
        </p:txBody>
      </p:sp>
      <p:sp>
        <p:nvSpPr>
          <p:cNvPr id="3" name="Content Placeholder 2"/>
          <p:cNvSpPr>
            <a:spLocks noGrp="1"/>
          </p:cNvSpPr>
          <p:nvPr>
            <p:ph idx="1"/>
          </p:nvPr>
        </p:nvSpPr>
        <p:spPr/>
        <p:txBody>
          <a:bodyPr>
            <a:normAutofit/>
          </a:bodyPr>
          <a:lstStyle/>
          <a:p>
            <a:r>
              <a:rPr lang="en-US" sz="2800" b="1" dirty="0" smtClean="0">
                <a:solidFill>
                  <a:srgbClr val="00823B"/>
                </a:solidFill>
              </a:rPr>
              <a:t>Distance Formula</a:t>
            </a:r>
          </a:p>
          <a:p>
            <a:pPr lvl="1"/>
            <a:r>
              <a:rPr lang="en-US" sz="2000" dirty="0" smtClean="0"/>
              <a:t>That </a:t>
            </a:r>
            <a:r>
              <a:rPr lang="en-US" sz="2000" dirty="0"/>
              <a:t>the distance between two points </a:t>
            </a:r>
            <a:r>
              <a:rPr lang="en-US" sz="2000" dirty="0" smtClean="0">
                <a:solidFill>
                  <a:srgbClr val="0000FF"/>
                </a:solidFill>
              </a:rPr>
              <a:t>pi (xi, </a:t>
            </a:r>
            <a:r>
              <a:rPr lang="en-US" sz="2000" dirty="0" err="1" smtClean="0">
                <a:solidFill>
                  <a:srgbClr val="0000FF"/>
                </a:solidFill>
              </a:rPr>
              <a:t>yi</a:t>
            </a:r>
            <a:r>
              <a:rPr lang="en-US" sz="2000" dirty="0">
                <a:solidFill>
                  <a:srgbClr val="0000FF"/>
                </a:solidFill>
              </a:rPr>
              <a:t>) </a:t>
            </a:r>
            <a:r>
              <a:rPr lang="en-US" sz="2000" dirty="0"/>
              <a:t>and </a:t>
            </a:r>
            <a:r>
              <a:rPr lang="en-US" sz="2000" dirty="0" smtClean="0">
                <a:solidFill>
                  <a:srgbClr val="0000FF"/>
                </a:solidFill>
              </a:rPr>
              <a:t>pj (</a:t>
            </a:r>
            <a:r>
              <a:rPr lang="en-US" sz="2000" dirty="0" err="1">
                <a:solidFill>
                  <a:srgbClr val="0000FF"/>
                </a:solidFill>
              </a:rPr>
              <a:t>xj</a:t>
            </a:r>
            <a:r>
              <a:rPr lang="en-US" sz="2000" dirty="0">
                <a:solidFill>
                  <a:srgbClr val="0000FF"/>
                </a:solidFill>
              </a:rPr>
              <a:t>, </a:t>
            </a:r>
            <a:r>
              <a:rPr lang="en-US" sz="2000" dirty="0" err="1">
                <a:solidFill>
                  <a:srgbClr val="0000FF"/>
                </a:solidFill>
              </a:rPr>
              <a:t>yj</a:t>
            </a:r>
            <a:r>
              <a:rPr lang="en-US" sz="2000" dirty="0">
                <a:solidFill>
                  <a:srgbClr val="0000FF"/>
                </a:solidFill>
              </a:rPr>
              <a:t> )</a:t>
            </a:r>
            <a:r>
              <a:rPr lang="en-US" sz="2000" dirty="0"/>
              <a:t> is the standard </a:t>
            </a:r>
            <a:r>
              <a:rPr lang="en-US" sz="2000" b="1" dirty="0">
                <a:solidFill>
                  <a:srgbClr val="0000FF"/>
                </a:solidFill>
              </a:rPr>
              <a:t>Euclidean distance</a:t>
            </a:r>
          </a:p>
          <a:p>
            <a:pPr lvl="1"/>
            <a:endParaRPr lang="en-US" sz="2000" dirty="0" smtClean="0"/>
          </a:p>
          <a:p>
            <a:endParaRPr lang="en-US" sz="2400" dirty="0"/>
          </a:p>
        </p:txBody>
      </p:sp>
      <p:sp>
        <p:nvSpPr>
          <p:cNvPr id="4" name="Slide Number Placeholder 3"/>
          <p:cNvSpPr>
            <a:spLocks noGrp="1"/>
          </p:cNvSpPr>
          <p:nvPr>
            <p:ph type="sldNum" sz="quarter" idx="12"/>
          </p:nvPr>
        </p:nvSpPr>
        <p:spPr/>
        <p:txBody>
          <a:bodyPr/>
          <a:lstStyle/>
          <a:p>
            <a:fld id="{EFBA8F76-60DD-4F65-80ED-7968AD89E013}" type="slidenum">
              <a:rPr lang="en-US" smtClean="0"/>
              <a:t>66</a:t>
            </a:fld>
            <a:endParaRPr lang="en-US"/>
          </a:p>
        </p:txBody>
      </p:sp>
    </p:spTree>
    <p:extLst>
      <p:ext uri="{BB962C8B-B14F-4D97-AF65-F5344CB8AC3E}">
        <p14:creationId xmlns:p14="http://schemas.microsoft.com/office/powerpoint/2010/main" val="788887766"/>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Closest-Pair Problem</a:t>
            </a:r>
            <a:endParaRPr lang="en-US" dirty="0"/>
          </a:p>
        </p:txBody>
      </p:sp>
      <p:sp>
        <p:nvSpPr>
          <p:cNvPr id="3" name="Content Placeholder 2"/>
          <p:cNvSpPr>
            <a:spLocks noGrp="1"/>
          </p:cNvSpPr>
          <p:nvPr>
            <p:ph idx="1"/>
          </p:nvPr>
        </p:nvSpPr>
        <p:spPr/>
        <p:txBody>
          <a:bodyPr>
            <a:normAutofit/>
          </a:bodyPr>
          <a:lstStyle/>
          <a:p>
            <a:r>
              <a:rPr lang="en-US" sz="2800" b="1" dirty="0" smtClean="0">
                <a:solidFill>
                  <a:srgbClr val="00823B"/>
                </a:solidFill>
              </a:rPr>
              <a:t>Distance Formula</a:t>
            </a:r>
          </a:p>
          <a:p>
            <a:pPr lvl="1"/>
            <a:r>
              <a:rPr lang="en-US" sz="2000" dirty="0" smtClean="0"/>
              <a:t>That </a:t>
            </a:r>
            <a:r>
              <a:rPr lang="en-US" sz="2000" dirty="0"/>
              <a:t>the distance between two points </a:t>
            </a:r>
            <a:r>
              <a:rPr lang="en-US" sz="2000" dirty="0" smtClean="0">
                <a:solidFill>
                  <a:srgbClr val="0000FF"/>
                </a:solidFill>
              </a:rPr>
              <a:t>pi (xi, </a:t>
            </a:r>
            <a:r>
              <a:rPr lang="en-US" sz="2000" dirty="0" err="1" smtClean="0">
                <a:solidFill>
                  <a:srgbClr val="0000FF"/>
                </a:solidFill>
              </a:rPr>
              <a:t>yi</a:t>
            </a:r>
            <a:r>
              <a:rPr lang="en-US" sz="2000" dirty="0">
                <a:solidFill>
                  <a:srgbClr val="0000FF"/>
                </a:solidFill>
              </a:rPr>
              <a:t>) </a:t>
            </a:r>
            <a:r>
              <a:rPr lang="en-US" sz="2000" dirty="0"/>
              <a:t>and </a:t>
            </a:r>
            <a:r>
              <a:rPr lang="en-US" sz="2000" dirty="0" smtClean="0">
                <a:solidFill>
                  <a:srgbClr val="0000FF"/>
                </a:solidFill>
              </a:rPr>
              <a:t>pj (</a:t>
            </a:r>
            <a:r>
              <a:rPr lang="en-US" sz="2000" dirty="0" err="1">
                <a:solidFill>
                  <a:srgbClr val="0000FF"/>
                </a:solidFill>
              </a:rPr>
              <a:t>xj</a:t>
            </a:r>
            <a:r>
              <a:rPr lang="en-US" sz="2000" dirty="0">
                <a:solidFill>
                  <a:srgbClr val="0000FF"/>
                </a:solidFill>
              </a:rPr>
              <a:t>, </a:t>
            </a:r>
            <a:r>
              <a:rPr lang="en-US" sz="2000" dirty="0" err="1">
                <a:solidFill>
                  <a:srgbClr val="0000FF"/>
                </a:solidFill>
              </a:rPr>
              <a:t>yj</a:t>
            </a:r>
            <a:r>
              <a:rPr lang="en-US" sz="2000" dirty="0">
                <a:solidFill>
                  <a:srgbClr val="0000FF"/>
                </a:solidFill>
              </a:rPr>
              <a:t> )</a:t>
            </a:r>
            <a:r>
              <a:rPr lang="en-US" sz="2000" dirty="0"/>
              <a:t> is the standard </a:t>
            </a:r>
            <a:r>
              <a:rPr lang="en-US" sz="2000" b="1" dirty="0">
                <a:solidFill>
                  <a:srgbClr val="0000FF"/>
                </a:solidFill>
              </a:rPr>
              <a:t>Euclidean distance</a:t>
            </a:r>
          </a:p>
          <a:p>
            <a:pPr lvl="1"/>
            <a:endParaRPr lang="en-US" sz="2000" dirty="0" smtClean="0"/>
          </a:p>
          <a:p>
            <a:endParaRPr lang="en-US" sz="2400" dirty="0"/>
          </a:p>
        </p:txBody>
      </p:sp>
      <p:sp>
        <p:nvSpPr>
          <p:cNvPr id="4" name="Slide Number Placeholder 3"/>
          <p:cNvSpPr>
            <a:spLocks noGrp="1"/>
          </p:cNvSpPr>
          <p:nvPr>
            <p:ph type="sldNum" sz="quarter" idx="12"/>
          </p:nvPr>
        </p:nvSpPr>
        <p:spPr/>
        <p:txBody>
          <a:bodyPr/>
          <a:lstStyle/>
          <a:p>
            <a:fld id="{EFBA8F76-60DD-4F65-80ED-7968AD89E013}" type="slidenum">
              <a:rPr lang="en-US" smtClean="0"/>
              <a:t>67</a:t>
            </a:fld>
            <a:endParaRPr lang="en-US"/>
          </a:p>
        </p:txBody>
      </p:sp>
      <p:pic>
        <p:nvPicPr>
          <p:cNvPr id="5" name="Picture 4"/>
          <p:cNvPicPr>
            <a:picLocks noChangeAspect="1"/>
          </p:cNvPicPr>
          <p:nvPr/>
        </p:nvPicPr>
        <p:blipFill>
          <a:blip r:embed="rId2"/>
          <a:stretch>
            <a:fillRect/>
          </a:stretch>
        </p:blipFill>
        <p:spPr>
          <a:xfrm>
            <a:off x="1494725" y="4038600"/>
            <a:ext cx="5087749" cy="896216"/>
          </a:xfrm>
          <a:prstGeom prst="rect">
            <a:avLst/>
          </a:prstGeom>
        </p:spPr>
      </p:pic>
    </p:spTree>
    <p:extLst>
      <p:ext uri="{BB962C8B-B14F-4D97-AF65-F5344CB8AC3E}">
        <p14:creationId xmlns:p14="http://schemas.microsoft.com/office/powerpoint/2010/main" val="3661019321"/>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9126" y="1946943"/>
            <a:ext cx="6705600" cy="2003425"/>
          </a:xfrm>
        </p:spPr>
        <p:txBody>
          <a:bodyPr>
            <a:noAutofit/>
          </a:bodyPr>
          <a:lstStyle/>
          <a:p>
            <a:r>
              <a:rPr lang="en-US" sz="6000" b="1" dirty="0" smtClean="0">
                <a:solidFill>
                  <a:srgbClr val="00823B"/>
                </a:solidFill>
              </a:rPr>
              <a:t>Closest Pair Problem</a:t>
            </a:r>
            <a:endParaRPr lang="en-US" sz="4800" b="1" dirty="0">
              <a:solidFill>
                <a:srgbClr val="00823B"/>
              </a:solidFill>
            </a:endParaRPr>
          </a:p>
        </p:txBody>
      </p:sp>
      <p:sp>
        <p:nvSpPr>
          <p:cNvPr id="3" name="Subtitle 2"/>
          <p:cNvSpPr>
            <a:spLocks noGrp="1"/>
          </p:cNvSpPr>
          <p:nvPr>
            <p:ph type="subTitle" idx="1"/>
          </p:nvPr>
        </p:nvSpPr>
        <p:spPr>
          <a:xfrm>
            <a:off x="762000" y="3962400"/>
            <a:ext cx="6400800" cy="1752600"/>
          </a:xfrm>
        </p:spPr>
        <p:txBody>
          <a:bodyPr/>
          <a:lstStyle/>
          <a:p>
            <a:pPr algn="r"/>
            <a:r>
              <a:rPr lang="en-US" dirty="0" smtClean="0"/>
              <a:t>Example 05</a:t>
            </a:r>
          </a:p>
          <a:p>
            <a:pPr algn="r"/>
            <a:r>
              <a:rPr lang="en-US" dirty="0" smtClean="0"/>
              <a:t>Algorithm</a:t>
            </a:r>
          </a:p>
        </p:txBody>
      </p:sp>
    </p:spTree>
    <p:extLst>
      <p:ext uri="{BB962C8B-B14F-4D97-AF65-F5344CB8AC3E}">
        <p14:creationId xmlns:p14="http://schemas.microsoft.com/office/powerpoint/2010/main" val="3163244225"/>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Closest-Pair Algorithm</a:t>
            </a:r>
            <a:endParaRPr lang="en-US" dirty="0"/>
          </a:p>
        </p:txBody>
      </p:sp>
      <p:pic>
        <p:nvPicPr>
          <p:cNvPr id="8" name="Content Placeholder 7"/>
          <p:cNvPicPr>
            <a:picLocks noGrp="1" noChangeAspect="1"/>
          </p:cNvPicPr>
          <p:nvPr>
            <p:ph idx="1"/>
          </p:nvPr>
        </p:nvPicPr>
        <p:blipFill>
          <a:blip r:embed="rId2"/>
          <a:stretch>
            <a:fillRect/>
          </a:stretch>
        </p:blipFill>
        <p:spPr>
          <a:xfrm>
            <a:off x="914400" y="3335482"/>
            <a:ext cx="2019300" cy="266700"/>
          </a:xfrm>
          <a:prstGeom prst="rect">
            <a:avLst/>
          </a:prstGeom>
        </p:spPr>
      </p:pic>
      <p:sp>
        <p:nvSpPr>
          <p:cNvPr id="4" name="Slide Number Placeholder 3"/>
          <p:cNvSpPr>
            <a:spLocks noGrp="1"/>
          </p:cNvSpPr>
          <p:nvPr>
            <p:ph type="sldNum" sz="quarter" idx="12"/>
          </p:nvPr>
        </p:nvSpPr>
        <p:spPr/>
        <p:txBody>
          <a:bodyPr/>
          <a:lstStyle/>
          <a:p>
            <a:fld id="{EFBA8F76-60DD-4F65-80ED-7968AD89E013}" type="slidenum">
              <a:rPr lang="en-US" smtClean="0"/>
              <a:t>69</a:t>
            </a:fld>
            <a:endParaRPr lang="en-US"/>
          </a:p>
        </p:txBody>
      </p:sp>
      <p:pic>
        <p:nvPicPr>
          <p:cNvPr id="6" name="Picture 5"/>
          <p:cNvPicPr>
            <a:picLocks noChangeAspect="1"/>
          </p:cNvPicPr>
          <p:nvPr/>
        </p:nvPicPr>
        <p:blipFill>
          <a:blip r:embed="rId3"/>
          <a:stretch>
            <a:fillRect/>
          </a:stretch>
        </p:blipFill>
        <p:spPr>
          <a:xfrm>
            <a:off x="914400" y="2535382"/>
            <a:ext cx="4010025" cy="342900"/>
          </a:xfrm>
          <a:prstGeom prst="rect">
            <a:avLst/>
          </a:prstGeom>
        </p:spPr>
      </p:pic>
      <p:pic>
        <p:nvPicPr>
          <p:cNvPr id="7" name="Picture 6"/>
          <p:cNvPicPr>
            <a:picLocks noChangeAspect="1"/>
          </p:cNvPicPr>
          <p:nvPr/>
        </p:nvPicPr>
        <p:blipFill>
          <a:blip r:embed="rId4"/>
          <a:stretch>
            <a:fillRect/>
          </a:stretch>
        </p:blipFill>
        <p:spPr>
          <a:xfrm>
            <a:off x="942109" y="3030682"/>
            <a:ext cx="781050" cy="285750"/>
          </a:xfrm>
          <a:prstGeom prst="rect">
            <a:avLst/>
          </a:prstGeom>
        </p:spPr>
      </p:pic>
      <p:pic>
        <p:nvPicPr>
          <p:cNvPr id="9" name="Picture 8"/>
          <p:cNvPicPr>
            <a:picLocks noChangeAspect="1"/>
          </p:cNvPicPr>
          <p:nvPr/>
        </p:nvPicPr>
        <p:blipFill>
          <a:blip r:embed="rId5"/>
          <a:stretch>
            <a:fillRect/>
          </a:stretch>
        </p:blipFill>
        <p:spPr>
          <a:xfrm>
            <a:off x="1332634" y="3770169"/>
            <a:ext cx="2009775" cy="247650"/>
          </a:xfrm>
          <a:prstGeom prst="rect">
            <a:avLst/>
          </a:prstGeom>
        </p:spPr>
      </p:pic>
      <p:pic>
        <p:nvPicPr>
          <p:cNvPr id="10" name="Picture 9"/>
          <p:cNvPicPr>
            <a:picLocks noChangeAspect="1"/>
          </p:cNvPicPr>
          <p:nvPr/>
        </p:nvPicPr>
        <p:blipFill>
          <a:blip r:embed="rId6"/>
          <a:stretch>
            <a:fillRect/>
          </a:stretch>
        </p:blipFill>
        <p:spPr>
          <a:xfrm>
            <a:off x="1716232" y="4208319"/>
            <a:ext cx="3895725" cy="314325"/>
          </a:xfrm>
          <a:prstGeom prst="rect">
            <a:avLst/>
          </a:prstGeom>
        </p:spPr>
      </p:pic>
      <p:pic>
        <p:nvPicPr>
          <p:cNvPr id="11" name="Picture 10"/>
          <p:cNvPicPr>
            <a:picLocks noChangeAspect="1"/>
          </p:cNvPicPr>
          <p:nvPr/>
        </p:nvPicPr>
        <p:blipFill>
          <a:blip r:embed="rId7"/>
          <a:stretch>
            <a:fillRect/>
          </a:stretch>
        </p:blipFill>
        <p:spPr>
          <a:xfrm>
            <a:off x="942109" y="4595813"/>
            <a:ext cx="857250" cy="257175"/>
          </a:xfrm>
          <a:prstGeom prst="rect">
            <a:avLst/>
          </a:prstGeom>
        </p:spPr>
      </p:pic>
    </p:spTree>
    <p:extLst>
      <p:ext uri="{BB962C8B-B14F-4D97-AF65-F5344CB8AC3E}">
        <p14:creationId xmlns:p14="http://schemas.microsoft.com/office/powerpoint/2010/main" val="3396083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500" fill="hold"/>
                                        <p:tgtEl>
                                          <p:spTgt spid="11"/>
                                        </p:tgtEl>
                                        <p:attrNameLst>
                                          <p:attrName>ppt_x</p:attrName>
                                        </p:attrNameLst>
                                      </p:cBhvr>
                                      <p:tavLst>
                                        <p:tav tm="0">
                                          <p:val>
                                            <p:strVal val="#ppt_x"/>
                                          </p:val>
                                        </p:tav>
                                        <p:tav tm="100000">
                                          <p:val>
                                            <p:strVal val="#ppt_x"/>
                                          </p:val>
                                        </p:tav>
                                      </p:tavLst>
                                    </p:anim>
                                    <p:anim calcmode="lin" valueType="num">
                                      <p:cBhvr additive="base">
                                        <p:cTn id="3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9126" y="1946943"/>
            <a:ext cx="6705600" cy="2003425"/>
          </a:xfrm>
        </p:spPr>
        <p:txBody>
          <a:bodyPr>
            <a:noAutofit/>
          </a:bodyPr>
          <a:lstStyle/>
          <a:p>
            <a:r>
              <a:rPr lang="en-US" sz="6000" b="1" dirty="0" smtClean="0">
                <a:solidFill>
                  <a:srgbClr val="00823B"/>
                </a:solidFill>
              </a:rPr>
              <a:t>Closest Pair Problem</a:t>
            </a:r>
            <a:endParaRPr lang="en-US" sz="4800" b="1" dirty="0">
              <a:solidFill>
                <a:srgbClr val="00823B"/>
              </a:solidFill>
            </a:endParaRPr>
          </a:p>
        </p:txBody>
      </p:sp>
      <p:sp>
        <p:nvSpPr>
          <p:cNvPr id="3" name="Subtitle 2"/>
          <p:cNvSpPr>
            <a:spLocks noGrp="1"/>
          </p:cNvSpPr>
          <p:nvPr>
            <p:ph type="subTitle" idx="1"/>
          </p:nvPr>
        </p:nvSpPr>
        <p:spPr>
          <a:xfrm>
            <a:off x="762000" y="3962400"/>
            <a:ext cx="6400800" cy="1752600"/>
          </a:xfrm>
        </p:spPr>
        <p:txBody>
          <a:bodyPr/>
          <a:lstStyle/>
          <a:p>
            <a:pPr algn="r"/>
            <a:r>
              <a:rPr lang="en-US" dirty="0" smtClean="0"/>
              <a:t>Example 05</a:t>
            </a:r>
          </a:p>
          <a:p>
            <a:pPr algn="r"/>
            <a:r>
              <a:rPr lang="en-US" dirty="0" smtClean="0"/>
              <a:t>Analysis</a:t>
            </a:r>
          </a:p>
        </p:txBody>
      </p:sp>
    </p:spTree>
    <p:extLst>
      <p:ext uri="{BB962C8B-B14F-4D97-AF65-F5344CB8AC3E}">
        <p14:creationId xmlns:p14="http://schemas.microsoft.com/office/powerpoint/2010/main" val="4013042650"/>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219200"/>
            <a:ext cx="6248400" cy="457200"/>
          </a:xfrm>
        </p:spPr>
        <p:txBody>
          <a:bodyPr>
            <a:normAutofit fontScale="90000"/>
          </a:bodyPr>
          <a:lstStyle/>
          <a:p>
            <a:r>
              <a:rPr lang="en-US" dirty="0" smtClean="0"/>
              <a:t>Closest-Pair Algorithm </a:t>
            </a:r>
            <a:r>
              <a:rPr lang="en-US" sz="2700" b="1" dirty="0" smtClean="0">
                <a:solidFill>
                  <a:srgbClr val="00823B"/>
                </a:solidFill>
              </a:rPr>
              <a:t>(Analysis)</a:t>
            </a:r>
            <a:endParaRPr lang="en-US" sz="2700" b="1" dirty="0">
              <a:solidFill>
                <a:srgbClr val="00823B"/>
              </a:solidFill>
            </a:endParaRPr>
          </a:p>
        </p:txBody>
      </p:sp>
      <p:sp>
        <p:nvSpPr>
          <p:cNvPr id="4" name="Slide Number Placeholder 3"/>
          <p:cNvSpPr>
            <a:spLocks noGrp="1"/>
          </p:cNvSpPr>
          <p:nvPr>
            <p:ph type="sldNum" sz="quarter" idx="12"/>
          </p:nvPr>
        </p:nvSpPr>
        <p:spPr/>
        <p:txBody>
          <a:bodyPr/>
          <a:lstStyle/>
          <a:p>
            <a:fld id="{EFBA8F76-60DD-4F65-80ED-7968AD89E013}" type="slidenum">
              <a:rPr lang="en-US" smtClean="0"/>
              <a:t>71</a:t>
            </a:fld>
            <a:endParaRPr lang="en-US"/>
          </a:p>
        </p:txBody>
      </p:sp>
      <p:sp>
        <p:nvSpPr>
          <p:cNvPr id="3" name="Content Placeholder 2"/>
          <p:cNvSpPr>
            <a:spLocks noGrp="1"/>
          </p:cNvSpPr>
          <p:nvPr>
            <p:ph idx="1"/>
          </p:nvPr>
        </p:nvSpPr>
        <p:spPr>
          <a:xfrm>
            <a:off x="304800" y="4352924"/>
            <a:ext cx="7315200" cy="1819275"/>
          </a:xfrm>
        </p:spPr>
        <p:txBody>
          <a:bodyPr/>
          <a:lstStyle/>
          <a:p>
            <a:r>
              <a:rPr lang="en-US" dirty="0" smtClean="0"/>
              <a:t>Basic Operation</a:t>
            </a:r>
          </a:p>
          <a:p>
            <a:pPr lvl="1"/>
            <a:r>
              <a:rPr lang="en-US" dirty="0" smtClean="0"/>
              <a:t>Square root may be ignored</a:t>
            </a:r>
          </a:p>
          <a:p>
            <a:pPr lvl="1"/>
            <a:r>
              <a:rPr lang="en-US" dirty="0" smtClean="0"/>
              <a:t>Taking Square of value</a:t>
            </a:r>
            <a:endParaRPr lang="en-US" dirty="0"/>
          </a:p>
        </p:txBody>
      </p:sp>
      <p:pic>
        <p:nvPicPr>
          <p:cNvPr id="5" name="Picture 4"/>
          <p:cNvPicPr>
            <a:picLocks noChangeAspect="1"/>
          </p:cNvPicPr>
          <p:nvPr/>
        </p:nvPicPr>
        <p:blipFill>
          <a:blip r:embed="rId2"/>
          <a:stretch>
            <a:fillRect/>
          </a:stretch>
        </p:blipFill>
        <p:spPr>
          <a:xfrm>
            <a:off x="304800" y="1876425"/>
            <a:ext cx="4724400" cy="2276475"/>
          </a:xfrm>
          <a:prstGeom prst="rect">
            <a:avLst/>
          </a:prstGeom>
        </p:spPr>
      </p:pic>
    </p:spTree>
    <p:extLst>
      <p:ext uri="{BB962C8B-B14F-4D97-AF65-F5344CB8AC3E}">
        <p14:creationId xmlns:p14="http://schemas.microsoft.com/office/powerpoint/2010/main" val="1286390136"/>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219200"/>
            <a:ext cx="6248400" cy="457200"/>
          </a:xfrm>
        </p:spPr>
        <p:txBody>
          <a:bodyPr>
            <a:normAutofit fontScale="90000"/>
          </a:bodyPr>
          <a:lstStyle/>
          <a:p>
            <a:r>
              <a:rPr lang="en-US" dirty="0" smtClean="0"/>
              <a:t>Closest-Pair Algorithm </a:t>
            </a:r>
            <a:r>
              <a:rPr lang="en-US" sz="2700" b="1" dirty="0" smtClean="0">
                <a:solidFill>
                  <a:srgbClr val="00823B"/>
                </a:solidFill>
              </a:rPr>
              <a:t>(Analysis)</a:t>
            </a:r>
            <a:endParaRPr lang="en-US" sz="2700" b="1" dirty="0">
              <a:solidFill>
                <a:srgbClr val="00823B"/>
              </a:solidFill>
            </a:endParaRPr>
          </a:p>
        </p:txBody>
      </p:sp>
      <p:sp>
        <p:nvSpPr>
          <p:cNvPr id="4" name="Slide Number Placeholder 3"/>
          <p:cNvSpPr>
            <a:spLocks noGrp="1"/>
          </p:cNvSpPr>
          <p:nvPr>
            <p:ph type="sldNum" sz="quarter" idx="12"/>
          </p:nvPr>
        </p:nvSpPr>
        <p:spPr/>
        <p:txBody>
          <a:bodyPr/>
          <a:lstStyle/>
          <a:p>
            <a:fld id="{EFBA8F76-60DD-4F65-80ED-7968AD89E013}" type="slidenum">
              <a:rPr lang="en-US" smtClean="0"/>
              <a:t>72</a:t>
            </a:fld>
            <a:endParaRPr lang="en-US"/>
          </a:p>
        </p:txBody>
      </p:sp>
      <p:pic>
        <p:nvPicPr>
          <p:cNvPr id="5" name="Picture 4"/>
          <p:cNvPicPr>
            <a:picLocks noChangeAspect="1"/>
          </p:cNvPicPr>
          <p:nvPr/>
        </p:nvPicPr>
        <p:blipFill>
          <a:blip r:embed="rId2"/>
          <a:stretch>
            <a:fillRect/>
          </a:stretch>
        </p:blipFill>
        <p:spPr>
          <a:xfrm>
            <a:off x="304800" y="2590800"/>
            <a:ext cx="3962400" cy="1909302"/>
          </a:xfrm>
          <a:prstGeom prst="rect">
            <a:avLst/>
          </a:prstGeom>
        </p:spPr>
      </p:pic>
      <p:pic>
        <p:nvPicPr>
          <p:cNvPr id="7" name="Picture 6"/>
          <p:cNvPicPr>
            <a:picLocks noChangeAspect="1"/>
          </p:cNvPicPr>
          <p:nvPr/>
        </p:nvPicPr>
        <p:blipFill>
          <a:blip r:embed="rId3"/>
          <a:stretch>
            <a:fillRect/>
          </a:stretch>
        </p:blipFill>
        <p:spPr>
          <a:xfrm>
            <a:off x="4149630" y="2083095"/>
            <a:ext cx="485775" cy="342900"/>
          </a:xfrm>
          <a:prstGeom prst="rect">
            <a:avLst/>
          </a:prstGeom>
        </p:spPr>
      </p:pic>
      <p:pic>
        <p:nvPicPr>
          <p:cNvPr id="8" name="Picture 7"/>
          <p:cNvPicPr>
            <a:picLocks noChangeAspect="1"/>
          </p:cNvPicPr>
          <p:nvPr/>
        </p:nvPicPr>
        <p:blipFill>
          <a:blip r:embed="rId4"/>
          <a:stretch>
            <a:fillRect/>
          </a:stretch>
        </p:blipFill>
        <p:spPr>
          <a:xfrm>
            <a:off x="4635405" y="2159295"/>
            <a:ext cx="219075" cy="190500"/>
          </a:xfrm>
          <a:prstGeom prst="rect">
            <a:avLst/>
          </a:prstGeom>
        </p:spPr>
      </p:pic>
      <p:pic>
        <p:nvPicPr>
          <p:cNvPr id="9" name="Picture 8"/>
          <p:cNvPicPr>
            <a:picLocks noChangeAspect="1"/>
          </p:cNvPicPr>
          <p:nvPr/>
        </p:nvPicPr>
        <p:blipFill>
          <a:blip r:embed="rId5"/>
          <a:stretch>
            <a:fillRect/>
          </a:stretch>
        </p:blipFill>
        <p:spPr>
          <a:xfrm>
            <a:off x="4876089" y="1883070"/>
            <a:ext cx="381000" cy="742950"/>
          </a:xfrm>
          <a:prstGeom prst="rect">
            <a:avLst/>
          </a:prstGeom>
        </p:spPr>
      </p:pic>
      <p:pic>
        <p:nvPicPr>
          <p:cNvPr id="10" name="Picture 9"/>
          <p:cNvPicPr>
            <a:picLocks noChangeAspect="1"/>
          </p:cNvPicPr>
          <p:nvPr/>
        </p:nvPicPr>
        <p:blipFill>
          <a:blip r:embed="rId6"/>
          <a:stretch>
            <a:fillRect/>
          </a:stretch>
        </p:blipFill>
        <p:spPr>
          <a:xfrm>
            <a:off x="5257089" y="1919464"/>
            <a:ext cx="552450" cy="714375"/>
          </a:xfrm>
          <a:prstGeom prst="rect">
            <a:avLst/>
          </a:prstGeom>
        </p:spPr>
      </p:pic>
      <p:pic>
        <p:nvPicPr>
          <p:cNvPr id="11" name="Picture 10"/>
          <p:cNvPicPr>
            <a:picLocks noChangeAspect="1"/>
          </p:cNvPicPr>
          <p:nvPr/>
        </p:nvPicPr>
        <p:blipFill>
          <a:blip r:embed="rId7"/>
          <a:stretch>
            <a:fillRect/>
          </a:stretch>
        </p:blipFill>
        <p:spPr>
          <a:xfrm>
            <a:off x="5809539" y="2083095"/>
            <a:ext cx="180975" cy="266700"/>
          </a:xfrm>
          <a:prstGeom prst="rect">
            <a:avLst/>
          </a:prstGeom>
        </p:spPr>
      </p:pic>
      <p:pic>
        <p:nvPicPr>
          <p:cNvPr id="12" name="Picture 11"/>
          <p:cNvPicPr>
            <a:picLocks noChangeAspect="1"/>
          </p:cNvPicPr>
          <p:nvPr/>
        </p:nvPicPr>
        <p:blipFill>
          <a:blip r:embed="rId8"/>
          <a:stretch>
            <a:fillRect/>
          </a:stretch>
        </p:blipFill>
        <p:spPr>
          <a:xfrm>
            <a:off x="4618914" y="2787945"/>
            <a:ext cx="1371600" cy="733425"/>
          </a:xfrm>
          <a:prstGeom prst="rect">
            <a:avLst/>
          </a:prstGeom>
        </p:spPr>
      </p:pic>
      <p:pic>
        <p:nvPicPr>
          <p:cNvPr id="13" name="Picture 12"/>
          <p:cNvPicPr>
            <a:picLocks noChangeAspect="1"/>
          </p:cNvPicPr>
          <p:nvPr/>
        </p:nvPicPr>
        <p:blipFill>
          <a:blip r:embed="rId9"/>
          <a:stretch>
            <a:fillRect/>
          </a:stretch>
        </p:blipFill>
        <p:spPr>
          <a:xfrm>
            <a:off x="4629150" y="3568995"/>
            <a:ext cx="2990850" cy="314325"/>
          </a:xfrm>
          <a:prstGeom prst="rect">
            <a:avLst/>
          </a:prstGeom>
        </p:spPr>
      </p:pic>
      <p:pic>
        <p:nvPicPr>
          <p:cNvPr id="14" name="Picture 13"/>
          <p:cNvPicPr>
            <a:picLocks noChangeAspect="1"/>
          </p:cNvPicPr>
          <p:nvPr/>
        </p:nvPicPr>
        <p:blipFill>
          <a:blip r:embed="rId10"/>
          <a:stretch>
            <a:fillRect/>
          </a:stretch>
        </p:blipFill>
        <p:spPr>
          <a:xfrm>
            <a:off x="4629150" y="4197645"/>
            <a:ext cx="1038225" cy="285750"/>
          </a:xfrm>
          <a:prstGeom prst="rect">
            <a:avLst/>
          </a:prstGeom>
        </p:spPr>
      </p:pic>
      <p:pic>
        <p:nvPicPr>
          <p:cNvPr id="15" name="Picture 14"/>
          <p:cNvPicPr>
            <a:picLocks noChangeAspect="1"/>
          </p:cNvPicPr>
          <p:nvPr/>
        </p:nvPicPr>
        <p:blipFill>
          <a:blip r:embed="rId4"/>
          <a:stretch>
            <a:fillRect/>
          </a:stretch>
        </p:blipFill>
        <p:spPr>
          <a:xfrm>
            <a:off x="4657014" y="4702470"/>
            <a:ext cx="219075" cy="190500"/>
          </a:xfrm>
          <a:prstGeom prst="rect">
            <a:avLst/>
          </a:prstGeom>
        </p:spPr>
      </p:pic>
      <p:pic>
        <p:nvPicPr>
          <p:cNvPr id="16" name="Picture 15"/>
          <p:cNvPicPr>
            <a:picLocks noChangeAspect="1"/>
          </p:cNvPicPr>
          <p:nvPr/>
        </p:nvPicPr>
        <p:blipFill>
          <a:blip r:embed="rId11"/>
          <a:stretch>
            <a:fillRect/>
          </a:stretch>
        </p:blipFill>
        <p:spPr>
          <a:xfrm>
            <a:off x="4961814" y="4600575"/>
            <a:ext cx="571500" cy="352425"/>
          </a:xfrm>
          <a:prstGeom prst="rect">
            <a:avLst/>
          </a:prstGeom>
        </p:spPr>
      </p:pic>
    </p:spTree>
    <p:extLst>
      <p:ext uri="{BB962C8B-B14F-4D97-AF65-F5344CB8AC3E}">
        <p14:creationId xmlns:p14="http://schemas.microsoft.com/office/powerpoint/2010/main" val="3236369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ppt_x"/>
                                          </p:val>
                                        </p:tav>
                                        <p:tav tm="100000">
                                          <p:val>
                                            <p:strVal val="#ppt_x"/>
                                          </p:val>
                                        </p:tav>
                                      </p:tavLst>
                                    </p:anim>
                                    <p:anim calcmode="lin" valueType="num">
                                      <p:cBhvr additive="base">
                                        <p:cTn id="3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2"/>
                                        </p:tgtEl>
                                        <p:attrNameLst>
                                          <p:attrName>style.visibility</p:attrName>
                                        </p:attrNameLst>
                                      </p:cBhvr>
                                      <p:to>
                                        <p:strVal val="visible"/>
                                      </p:to>
                                    </p:set>
                                    <p:anim calcmode="lin" valueType="num">
                                      <p:cBhvr additive="base">
                                        <p:cTn id="37" dur="500" fill="hold"/>
                                        <p:tgtEl>
                                          <p:spTgt spid="12"/>
                                        </p:tgtEl>
                                        <p:attrNameLst>
                                          <p:attrName>ppt_x</p:attrName>
                                        </p:attrNameLst>
                                      </p:cBhvr>
                                      <p:tavLst>
                                        <p:tav tm="0">
                                          <p:val>
                                            <p:strVal val="#ppt_x"/>
                                          </p:val>
                                        </p:tav>
                                        <p:tav tm="100000">
                                          <p:val>
                                            <p:strVal val="#ppt_x"/>
                                          </p:val>
                                        </p:tav>
                                      </p:tavLst>
                                    </p:anim>
                                    <p:anim calcmode="lin" valueType="num">
                                      <p:cBhvr additive="base">
                                        <p:cTn id="3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3"/>
                                        </p:tgtEl>
                                        <p:attrNameLst>
                                          <p:attrName>style.visibility</p:attrName>
                                        </p:attrNameLst>
                                      </p:cBhvr>
                                      <p:to>
                                        <p:strVal val="visible"/>
                                      </p:to>
                                    </p:set>
                                    <p:anim calcmode="lin" valueType="num">
                                      <p:cBhvr additive="base">
                                        <p:cTn id="43" dur="500" fill="hold"/>
                                        <p:tgtEl>
                                          <p:spTgt spid="13"/>
                                        </p:tgtEl>
                                        <p:attrNameLst>
                                          <p:attrName>ppt_x</p:attrName>
                                        </p:attrNameLst>
                                      </p:cBhvr>
                                      <p:tavLst>
                                        <p:tav tm="0">
                                          <p:val>
                                            <p:strVal val="#ppt_x"/>
                                          </p:val>
                                        </p:tav>
                                        <p:tav tm="100000">
                                          <p:val>
                                            <p:strVal val="#ppt_x"/>
                                          </p:val>
                                        </p:tav>
                                      </p:tavLst>
                                    </p:anim>
                                    <p:anim calcmode="lin" valueType="num">
                                      <p:cBhvr additive="base">
                                        <p:cTn id="4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14"/>
                                        </p:tgtEl>
                                        <p:attrNameLst>
                                          <p:attrName>style.visibility</p:attrName>
                                        </p:attrNameLst>
                                      </p:cBhvr>
                                      <p:to>
                                        <p:strVal val="visible"/>
                                      </p:to>
                                    </p:set>
                                    <p:anim calcmode="lin" valueType="num">
                                      <p:cBhvr additive="base">
                                        <p:cTn id="49" dur="500" fill="hold"/>
                                        <p:tgtEl>
                                          <p:spTgt spid="14"/>
                                        </p:tgtEl>
                                        <p:attrNameLst>
                                          <p:attrName>ppt_x</p:attrName>
                                        </p:attrNameLst>
                                      </p:cBhvr>
                                      <p:tavLst>
                                        <p:tav tm="0">
                                          <p:val>
                                            <p:strVal val="#ppt_x"/>
                                          </p:val>
                                        </p:tav>
                                        <p:tav tm="100000">
                                          <p:val>
                                            <p:strVal val="#ppt_x"/>
                                          </p:val>
                                        </p:tav>
                                      </p:tavLst>
                                    </p:anim>
                                    <p:anim calcmode="lin" valueType="num">
                                      <p:cBhvr additive="base">
                                        <p:cTn id="50"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15"/>
                                        </p:tgtEl>
                                        <p:attrNameLst>
                                          <p:attrName>style.visibility</p:attrName>
                                        </p:attrNameLst>
                                      </p:cBhvr>
                                      <p:to>
                                        <p:strVal val="visible"/>
                                      </p:to>
                                    </p:set>
                                    <p:anim calcmode="lin" valueType="num">
                                      <p:cBhvr additive="base">
                                        <p:cTn id="55" dur="500" fill="hold"/>
                                        <p:tgtEl>
                                          <p:spTgt spid="15"/>
                                        </p:tgtEl>
                                        <p:attrNameLst>
                                          <p:attrName>ppt_x</p:attrName>
                                        </p:attrNameLst>
                                      </p:cBhvr>
                                      <p:tavLst>
                                        <p:tav tm="0">
                                          <p:val>
                                            <p:strVal val="#ppt_x"/>
                                          </p:val>
                                        </p:tav>
                                        <p:tav tm="100000">
                                          <p:val>
                                            <p:strVal val="#ppt_x"/>
                                          </p:val>
                                        </p:tav>
                                      </p:tavLst>
                                    </p:anim>
                                    <p:anim calcmode="lin" valueType="num">
                                      <p:cBhvr additive="base">
                                        <p:cTn id="56" dur="500" fill="hold"/>
                                        <p:tgtEl>
                                          <p:spTgt spid="15"/>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16"/>
                                        </p:tgtEl>
                                        <p:attrNameLst>
                                          <p:attrName>style.visibility</p:attrName>
                                        </p:attrNameLst>
                                      </p:cBhvr>
                                      <p:to>
                                        <p:strVal val="visible"/>
                                      </p:to>
                                    </p:set>
                                    <p:anim calcmode="lin" valueType="num">
                                      <p:cBhvr additive="base">
                                        <p:cTn id="59" dur="500" fill="hold"/>
                                        <p:tgtEl>
                                          <p:spTgt spid="16"/>
                                        </p:tgtEl>
                                        <p:attrNameLst>
                                          <p:attrName>ppt_x</p:attrName>
                                        </p:attrNameLst>
                                      </p:cBhvr>
                                      <p:tavLst>
                                        <p:tav tm="0">
                                          <p:val>
                                            <p:strVal val="#ppt_x"/>
                                          </p:val>
                                        </p:tav>
                                        <p:tav tm="100000">
                                          <p:val>
                                            <p:strVal val="#ppt_x"/>
                                          </p:val>
                                        </p:tav>
                                      </p:tavLst>
                                    </p:anim>
                                    <p:anim calcmode="lin" valueType="num">
                                      <p:cBhvr additive="base">
                                        <p:cTn id="60"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9126" y="1946943"/>
            <a:ext cx="6705600" cy="2003425"/>
          </a:xfrm>
        </p:spPr>
        <p:txBody>
          <a:bodyPr>
            <a:noAutofit/>
          </a:bodyPr>
          <a:lstStyle/>
          <a:p>
            <a:r>
              <a:rPr lang="en-US" sz="6000" b="1" dirty="0" smtClean="0">
                <a:solidFill>
                  <a:srgbClr val="00823B"/>
                </a:solidFill>
              </a:rPr>
              <a:t>Convex Hull Problem</a:t>
            </a:r>
            <a:endParaRPr lang="en-US" sz="4800" b="1" dirty="0">
              <a:solidFill>
                <a:srgbClr val="00823B"/>
              </a:solidFill>
            </a:endParaRPr>
          </a:p>
        </p:txBody>
      </p:sp>
      <p:sp>
        <p:nvSpPr>
          <p:cNvPr id="3" name="Subtitle 2"/>
          <p:cNvSpPr>
            <a:spLocks noGrp="1"/>
          </p:cNvSpPr>
          <p:nvPr>
            <p:ph type="subTitle" idx="1"/>
          </p:nvPr>
        </p:nvSpPr>
        <p:spPr>
          <a:xfrm>
            <a:off x="762000" y="3962400"/>
            <a:ext cx="6400800" cy="1752600"/>
          </a:xfrm>
        </p:spPr>
        <p:txBody>
          <a:bodyPr/>
          <a:lstStyle/>
          <a:p>
            <a:pPr algn="r"/>
            <a:r>
              <a:rPr lang="en-US" dirty="0" smtClean="0"/>
              <a:t>Example 06</a:t>
            </a:r>
          </a:p>
          <a:p>
            <a:pPr algn="r"/>
            <a:r>
              <a:rPr lang="en-US" dirty="0" smtClean="0"/>
              <a:t>Introduction</a:t>
            </a:r>
          </a:p>
        </p:txBody>
      </p:sp>
    </p:spTree>
    <p:extLst>
      <p:ext uri="{BB962C8B-B14F-4D97-AF65-F5344CB8AC3E}">
        <p14:creationId xmlns:p14="http://schemas.microsoft.com/office/powerpoint/2010/main" val="808496864"/>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219200"/>
            <a:ext cx="6248400" cy="457200"/>
          </a:xfrm>
        </p:spPr>
        <p:txBody>
          <a:bodyPr>
            <a:normAutofit fontScale="90000"/>
          </a:bodyPr>
          <a:lstStyle/>
          <a:p>
            <a:r>
              <a:rPr lang="en-US" dirty="0" smtClean="0"/>
              <a:t>Convex</a:t>
            </a:r>
            <a:endParaRPr lang="en-US" dirty="0"/>
          </a:p>
        </p:txBody>
      </p:sp>
      <p:sp>
        <p:nvSpPr>
          <p:cNvPr id="4" name="Slide Number Placeholder 3"/>
          <p:cNvSpPr>
            <a:spLocks noGrp="1"/>
          </p:cNvSpPr>
          <p:nvPr>
            <p:ph type="sldNum" sz="quarter" idx="12"/>
          </p:nvPr>
        </p:nvSpPr>
        <p:spPr/>
        <p:txBody>
          <a:bodyPr/>
          <a:lstStyle/>
          <a:p>
            <a:fld id="{EFBA8F76-60DD-4F65-80ED-7968AD89E013}" type="slidenum">
              <a:rPr lang="en-US" smtClean="0"/>
              <a:t>74</a:t>
            </a:fld>
            <a:endParaRPr lang="en-US"/>
          </a:p>
        </p:txBody>
      </p:sp>
      <p:pic>
        <p:nvPicPr>
          <p:cNvPr id="5" name="Picture 4"/>
          <p:cNvPicPr>
            <a:picLocks noChangeAspect="1"/>
          </p:cNvPicPr>
          <p:nvPr/>
        </p:nvPicPr>
        <p:blipFill>
          <a:blip r:embed="rId2"/>
          <a:stretch>
            <a:fillRect/>
          </a:stretch>
        </p:blipFill>
        <p:spPr>
          <a:xfrm>
            <a:off x="37531" y="1828800"/>
            <a:ext cx="7734300" cy="819150"/>
          </a:xfrm>
          <a:prstGeom prst="rect">
            <a:avLst/>
          </a:prstGeom>
        </p:spPr>
      </p:pic>
      <p:pic>
        <p:nvPicPr>
          <p:cNvPr id="6" name="Picture 5"/>
          <p:cNvPicPr>
            <a:picLocks noChangeAspect="1"/>
          </p:cNvPicPr>
          <p:nvPr/>
        </p:nvPicPr>
        <p:blipFill>
          <a:blip r:embed="rId3"/>
          <a:stretch>
            <a:fillRect/>
          </a:stretch>
        </p:blipFill>
        <p:spPr>
          <a:xfrm>
            <a:off x="5715000" y="2800350"/>
            <a:ext cx="1676400" cy="1428750"/>
          </a:xfrm>
          <a:prstGeom prst="rect">
            <a:avLst/>
          </a:prstGeom>
        </p:spPr>
      </p:pic>
      <p:pic>
        <p:nvPicPr>
          <p:cNvPr id="7" name="Picture 6"/>
          <p:cNvPicPr>
            <a:picLocks noChangeAspect="1"/>
          </p:cNvPicPr>
          <p:nvPr/>
        </p:nvPicPr>
        <p:blipFill>
          <a:blip r:embed="rId4"/>
          <a:stretch>
            <a:fillRect/>
          </a:stretch>
        </p:blipFill>
        <p:spPr>
          <a:xfrm>
            <a:off x="609600" y="2800350"/>
            <a:ext cx="1428750" cy="1609725"/>
          </a:xfrm>
          <a:prstGeom prst="rect">
            <a:avLst/>
          </a:prstGeom>
        </p:spPr>
      </p:pic>
      <p:pic>
        <p:nvPicPr>
          <p:cNvPr id="8" name="Picture 7"/>
          <p:cNvPicPr>
            <a:picLocks noChangeAspect="1"/>
          </p:cNvPicPr>
          <p:nvPr/>
        </p:nvPicPr>
        <p:blipFill>
          <a:blip r:embed="rId5"/>
          <a:stretch>
            <a:fillRect/>
          </a:stretch>
        </p:blipFill>
        <p:spPr>
          <a:xfrm>
            <a:off x="3037480" y="2535498"/>
            <a:ext cx="1619250" cy="1895475"/>
          </a:xfrm>
          <a:prstGeom prst="rect">
            <a:avLst/>
          </a:prstGeom>
        </p:spPr>
      </p:pic>
      <p:pic>
        <p:nvPicPr>
          <p:cNvPr id="9" name="Picture 8"/>
          <p:cNvPicPr>
            <a:picLocks noChangeAspect="1"/>
          </p:cNvPicPr>
          <p:nvPr/>
        </p:nvPicPr>
        <p:blipFill>
          <a:blip r:embed="rId6"/>
          <a:stretch>
            <a:fillRect/>
          </a:stretch>
        </p:blipFill>
        <p:spPr>
          <a:xfrm>
            <a:off x="838200" y="4611687"/>
            <a:ext cx="971550" cy="1895475"/>
          </a:xfrm>
          <a:prstGeom prst="rect">
            <a:avLst/>
          </a:prstGeom>
        </p:spPr>
      </p:pic>
      <p:pic>
        <p:nvPicPr>
          <p:cNvPr id="10" name="Picture 9"/>
          <p:cNvPicPr>
            <a:picLocks noChangeAspect="1"/>
          </p:cNvPicPr>
          <p:nvPr/>
        </p:nvPicPr>
        <p:blipFill>
          <a:blip r:embed="rId7"/>
          <a:stretch>
            <a:fillRect/>
          </a:stretch>
        </p:blipFill>
        <p:spPr>
          <a:xfrm>
            <a:off x="2927942" y="4926011"/>
            <a:ext cx="1838325" cy="1266825"/>
          </a:xfrm>
          <a:prstGeom prst="rect">
            <a:avLst/>
          </a:prstGeom>
        </p:spPr>
      </p:pic>
      <p:pic>
        <p:nvPicPr>
          <p:cNvPr id="11" name="Picture 10"/>
          <p:cNvPicPr>
            <a:picLocks noChangeAspect="1"/>
          </p:cNvPicPr>
          <p:nvPr/>
        </p:nvPicPr>
        <p:blipFill>
          <a:blip r:embed="rId8"/>
          <a:stretch>
            <a:fillRect/>
          </a:stretch>
        </p:blipFill>
        <p:spPr>
          <a:xfrm>
            <a:off x="6167437" y="4381500"/>
            <a:ext cx="771525" cy="1895475"/>
          </a:xfrm>
          <a:prstGeom prst="rect">
            <a:avLst/>
          </a:prstGeom>
        </p:spPr>
      </p:pic>
      <p:sp>
        <p:nvSpPr>
          <p:cNvPr id="13" name="Smiley Face 12"/>
          <p:cNvSpPr/>
          <p:nvPr/>
        </p:nvSpPr>
        <p:spPr>
          <a:xfrm>
            <a:off x="6243638" y="3244057"/>
            <a:ext cx="614362" cy="565943"/>
          </a:xfrm>
          <a:prstGeom prst="smileyFac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quot;No&quot; Symbol 13"/>
          <p:cNvSpPr/>
          <p:nvPr/>
        </p:nvSpPr>
        <p:spPr>
          <a:xfrm>
            <a:off x="939954" y="3228977"/>
            <a:ext cx="609600" cy="565943"/>
          </a:xfrm>
          <a:prstGeom prst="noSmoking">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5" name="Smiley Face 14"/>
          <p:cNvSpPr/>
          <p:nvPr/>
        </p:nvSpPr>
        <p:spPr>
          <a:xfrm>
            <a:off x="3539923" y="5276451"/>
            <a:ext cx="614362" cy="565943"/>
          </a:xfrm>
          <a:prstGeom prst="smileyFac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Smiley Face 15"/>
          <p:cNvSpPr/>
          <p:nvPr/>
        </p:nvSpPr>
        <p:spPr>
          <a:xfrm>
            <a:off x="1016794" y="5758657"/>
            <a:ext cx="614362" cy="565943"/>
          </a:xfrm>
          <a:prstGeom prst="smileyFac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quot;No&quot; Symbol 16"/>
          <p:cNvSpPr/>
          <p:nvPr/>
        </p:nvSpPr>
        <p:spPr>
          <a:xfrm>
            <a:off x="3544685" y="3244057"/>
            <a:ext cx="609600" cy="565943"/>
          </a:xfrm>
          <a:prstGeom prst="noSmoking">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 name="&quot;No&quot; Symbol 17"/>
          <p:cNvSpPr/>
          <p:nvPr/>
        </p:nvSpPr>
        <p:spPr>
          <a:xfrm>
            <a:off x="6343613" y="5046265"/>
            <a:ext cx="609600" cy="565943"/>
          </a:xfrm>
          <a:prstGeom prst="noSmoking">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742555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fill="hold"/>
                                        <p:tgtEl>
                                          <p:spTgt spid="7"/>
                                        </p:tgtEl>
                                        <p:attrNameLst>
                                          <p:attrName>ppt_x</p:attrName>
                                        </p:attrNameLst>
                                      </p:cBhvr>
                                      <p:tavLst>
                                        <p:tav tm="0">
                                          <p:val>
                                            <p:strVal val="#ppt_x"/>
                                          </p:val>
                                        </p:tav>
                                        <p:tav tm="100000">
                                          <p:val>
                                            <p:strVal val="#ppt_x"/>
                                          </p:val>
                                        </p:tav>
                                      </p:tavLst>
                                    </p:anim>
                                    <p:anim calcmode="lin" valueType="num">
                                      <p:cBhvr additive="base">
                                        <p:cTn id="2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ppt_x"/>
                                          </p:val>
                                        </p:tav>
                                        <p:tav tm="100000">
                                          <p:val>
                                            <p:strVal val="#ppt_x"/>
                                          </p:val>
                                        </p:tav>
                                      </p:tavLst>
                                    </p:anim>
                                    <p:anim calcmode="lin" valueType="num">
                                      <p:cBhvr additive="base">
                                        <p:cTn id="3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9"/>
                                        </p:tgtEl>
                                        <p:attrNameLst>
                                          <p:attrName>style.visibility</p:attrName>
                                        </p:attrNameLst>
                                      </p:cBhvr>
                                      <p:to>
                                        <p:strVal val="visible"/>
                                      </p:to>
                                    </p:set>
                                    <p:anim calcmode="lin" valueType="num">
                                      <p:cBhvr additive="base">
                                        <p:cTn id="41" dur="500" fill="hold"/>
                                        <p:tgtEl>
                                          <p:spTgt spid="9"/>
                                        </p:tgtEl>
                                        <p:attrNameLst>
                                          <p:attrName>ppt_x</p:attrName>
                                        </p:attrNameLst>
                                      </p:cBhvr>
                                      <p:tavLst>
                                        <p:tav tm="0">
                                          <p:val>
                                            <p:strVal val="#ppt_x"/>
                                          </p:val>
                                        </p:tav>
                                        <p:tav tm="100000">
                                          <p:val>
                                            <p:strVal val="#ppt_x"/>
                                          </p:val>
                                        </p:tav>
                                      </p:tavLst>
                                    </p:anim>
                                    <p:anim calcmode="lin" valueType="num">
                                      <p:cBhvr additive="base">
                                        <p:cTn id="4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8"/>
                                        </p:tgtEl>
                                        <p:attrNameLst>
                                          <p:attrName>style.visibility</p:attrName>
                                        </p:attrNameLst>
                                      </p:cBhvr>
                                      <p:to>
                                        <p:strVal val="visible"/>
                                      </p:to>
                                    </p:set>
                                    <p:anim calcmode="lin" valueType="num">
                                      <p:cBhvr additive="base">
                                        <p:cTn id="51" dur="500" fill="hold"/>
                                        <p:tgtEl>
                                          <p:spTgt spid="8"/>
                                        </p:tgtEl>
                                        <p:attrNameLst>
                                          <p:attrName>ppt_x</p:attrName>
                                        </p:attrNameLst>
                                      </p:cBhvr>
                                      <p:tavLst>
                                        <p:tav tm="0">
                                          <p:val>
                                            <p:strVal val="#ppt_x"/>
                                          </p:val>
                                        </p:tav>
                                        <p:tav tm="100000">
                                          <p:val>
                                            <p:strVal val="#ppt_x"/>
                                          </p:val>
                                        </p:tav>
                                      </p:tavLst>
                                    </p:anim>
                                    <p:anim calcmode="lin" valueType="num">
                                      <p:cBhvr additive="base">
                                        <p:cTn id="5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7"/>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11"/>
                                        </p:tgtEl>
                                        <p:attrNameLst>
                                          <p:attrName>style.visibility</p:attrName>
                                        </p:attrNameLst>
                                      </p:cBhvr>
                                      <p:to>
                                        <p:strVal val="visible"/>
                                      </p:to>
                                    </p:set>
                                    <p:anim calcmode="lin" valueType="num">
                                      <p:cBhvr additive="base">
                                        <p:cTn id="61" dur="500" fill="hold"/>
                                        <p:tgtEl>
                                          <p:spTgt spid="11"/>
                                        </p:tgtEl>
                                        <p:attrNameLst>
                                          <p:attrName>ppt_x</p:attrName>
                                        </p:attrNameLst>
                                      </p:cBhvr>
                                      <p:tavLst>
                                        <p:tav tm="0">
                                          <p:val>
                                            <p:strVal val="#ppt_x"/>
                                          </p:val>
                                        </p:tav>
                                        <p:tav tm="100000">
                                          <p:val>
                                            <p:strVal val="#ppt_x"/>
                                          </p:val>
                                        </p:tav>
                                      </p:tavLst>
                                    </p:anim>
                                    <p:anim calcmode="lin" valueType="num">
                                      <p:cBhvr additive="base">
                                        <p:cTn id="6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18"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219200"/>
            <a:ext cx="6248400" cy="457200"/>
          </a:xfrm>
        </p:spPr>
        <p:txBody>
          <a:bodyPr>
            <a:normAutofit fontScale="90000"/>
          </a:bodyPr>
          <a:lstStyle/>
          <a:p>
            <a:r>
              <a:rPr lang="en-US" dirty="0" smtClean="0"/>
              <a:t>Convex-Hull</a:t>
            </a:r>
            <a:endParaRPr lang="en-US" dirty="0"/>
          </a:p>
        </p:txBody>
      </p:sp>
      <p:sp>
        <p:nvSpPr>
          <p:cNvPr id="4" name="Slide Number Placeholder 3"/>
          <p:cNvSpPr>
            <a:spLocks noGrp="1"/>
          </p:cNvSpPr>
          <p:nvPr>
            <p:ph type="sldNum" sz="quarter" idx="12"/>
          </p:nvPr>
        </p:nvSpPr>
        <p:spPr/>
        <p:txBody>
          <a:bodyPr/>
          <a:lstStyle/>
          <a:p>
            <a:fld id="{EFBA8F76-60DD-4F65-80ED-7968AD89E013}" type="slidenum">
              <a:rPr lang="en-US" smtClean="0"/>
              <a:t>75</a:t>
            </a:fld>
            <a:endParaRPr lang="en-US"/>
          </a:p>
        </p:txBody>
      </p:sp>
      <p:pic>
        <p:nvPicPr>
          <p:cNvPr id="3" name="Picture 2"/>
          <p:cNvPicPr>
            <a:picLocks noChangeAspect="1"/>
          </p:cNvPicPr>
          <p:nvPr/>
        </p:nvPicPr>
        <p:blipFill>
          <a:blip r:embed="rId2"/>
          <a:stretch>
            <a:fillRect/>
          </a:stretch>
        </p:blipFill>
        <p:spPr>
          <a:xfrm>
            <a:off x="35257" y="1828800"/>
            <a:ext cx="7639050" cy="819150"/>
          </a:xfrm>
          <a:prstGeom prst="rect">
            <a:avLst/>
          </a:prstGeom>
        </p:spPr>
      </p:pic>
      <p:pic>
        <p:nvPicPr>
          <p:cNvPr id="12" name="Picture 11"/>
          <p:cNvPicPr>
            <a:picLocks noChangeAspect="1"/>
          </p:cNvPicPr>
          <p:nvPr/>
        </p:nvPicPr>
        <p:blipFill>
          <a:blip r:embed="rId3"/>
          <a:stretch>
            <a:fillRect/>
          </a:stretch>
        </p:blipFill>
        <p:spPr>
          <a:xfrm>
            <a:off x="1381457" y="2829920"/>
            <a:ext cx="4946649" cy="2895600"/>
          </a:xfrm>
          <a:prstGeom prst="rect">
            <a:avLst/>
          </a:prstGeom>
        </p:spPr>
      </p:pic>
    </p:spTree>
    <p:extLst>
      <p:ext uri="{BB962C8B-B14F-4D97-AF65-F5344CB8AC3E}">
        <p14:creationId xmlns:p14="http://schemas.microsoft.com/office/powerpoint/2010/main" val="1596397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9126" y="1946943"/>
            <a:ext cx="6705600" cy="2003425"/>
          </a:xfrm>
        </p:spPr>
        <p:txBody>
          <a:bodyPr>
            <a:noAutofit/>
          </a:bodyPr>
          <a:lstStyle/>
          <a:p>
            <a:r>
              <a:rPr lang="en-US" sz="6000" b="1" dirty="0" smtClean="0">
                <a:solidFill>
                  <a:srgbClr val="00823B"/>
                </a:solidFill>
              </a:rPr>
              <a:t>Convex Hull Problem</a:t>
            </a:r>
            <a:endParaRPr lang="en-US" sz="4800" b="1" dirty="0">
              <a:solidFill>
                <a:srgbClr val="00823B"/>
              </a:solidFill>
            </a:endParaRPr>
          </a:p>
        </p:txBody>
      </p:sp>
      <p:sp>
        <p:nvSpPr>
          <p:cNvPr id="3" name="Subtitle 2"/>
          <p:cNvSpPr>
            <a:spLocks noGrp="1"/>
          </p:cNvSpPr>
          <p:nvPr>
            <p:ph type="subTitle" idx="1"/>
          </p:nvPr>
        </p:nvSpPr>
        <p:spPr>
          <a:xfrm>
            <a:off x="762000" y="3962400"/>
            <a:ext cx="6400800" cy="1752600"/>
          </a:xfrm>
        </p:spPr>
        <p:txBody>
          <a:bodyPr/>
          <a:lstStyle/>
          <a:p>
            <a:pPr algn="r"/>
            <a:r>
              <a:rPr lang="en-US" dirty="0" smtClean="0"/>
              <a:t>Example 06</a:t>
            </a:r>
          </a:p>
          <a:p>
            <a:pPr algn="r"/>
            <a:r>
              <a:rPr lang="en-US" dirty="0" smtClean="0"/>
              <a:t>Algorithm</a:t>
            </a:r>
          </a:p>
        </p:txBody>
      </p:sp>
    </p:spTree>
    <p:extLst>
      <p:ext uri="{BB962C8B-B14F-4D97-AF65-F5344CB8AC3E}">
        <p14:creationId xmlns:p14="http://schemas.microsoft.com/office/powerpoint/2010/main" val="3081526254"/>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219200"/>
            <a:ext cx="6248400" cy="533400"/>
          </a:xfrm>
        </p:spPr>
        <p:txBody>
          <a:bodyPr>
            <a:normAutofit fontScale="90000"/>
          </a:bodyPr>
          <a:lstStyle/>
          <a:p>
            <a:r>
              <a:rPr lang="en-US" dirty="0" smtClean="0"/>
              <a:t>Convex-Hull Problem</a:t>
            </a:r>
            <a:endParaRPr lang="en-US" dirty="0"/>
          </a:p>
        </p:txBody>
      </p:sp>
      <p:sp>
        <p:nvSpPr>
          <p:cNvPr id="3" name="Content Placeholder 2"/>
          <p:cNvSpPr>
            <a:spLocks noGrp="1"/>
          </p:cNvSpPr>
          <p:nvPr>
            <p:ph idx="1"/>
          </p:nvPr>
        </p:nvSpPr>
        <p:spPr>
          <a:xfrm>
            <a:off x="914400" y="2057400"/>
            <a:ext cx="6248400" cy="3810000"/>
          </a:xfrm>
        </p:spPr>
        <p:txBody>
          <a:bodyPr>
            <a:normAutofit/>
          </a:bodyPr>
          <a:lstStyle/>
          <a:p>
            <a:r>
              <a:rPr lang="en-US" b="1" dirty="0" smtClean="0">
                <a:solidFill>
                  <a:srgbClr val="00823B"/>
                </a:solidFill>
              </a:rPr>
              <a:t>Brute Force Solution</a:t>
            </a:r>
          </a:p>
        </p:txBody>
      </p:sp>
      <p:sp>
        <p:nvSpPr>
          <p:cNvPr id="4" name="Slide Number Placeholder 3"/>
          <p:cNvSpPr>
            <a:spLocks noGrp="1"/>
          </p:cNvSpPr>
          <p:nvPr>
            <p:ph type="sldNum" sz="quarter" idx="12"/>
          </p:nvPr>
        </p:nvSpPr>
        <p:spPr/>
        <p:txBody>
          <a:bodyPr/>
          <a:lstStyle/>
          <a:p>
            <a:fld id="{EFBA8F76-60DD-4F65-80ED-7968AD89E013}" type="slidenum">
              <a:rPr lang="en-US" smtClean="0"/>
              <a:t>77</a:t>
            </a:fld>
            <a:endParaRPr lang="en-US"/>
          </a:p>
        </p:txBody>
      </p:sp>
    </p:spTree>
    <p:extLst>
      <p:ext uri="{BB962C8B-B14F-4D97-AF65-F5344CB8AC3E}">
        <p14:creationId xmlns:p14="http://schemas.microsoft.com/office/powerpoint/2010/main" val="1893126343"/>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219200"/>
            <a:ext cx="6248400" cy="533400"/>
          </a:xfrm>
        </p:spPr>
        <p:txBody>
          <a:bodyPr>
            <a:normAutofit fontScale="90000"/>
          </a:bodyPr>
          <a:lstStyle/>
          <a:p>
            <a:r>
              <a:rPr lang="en-US" dirty="0" smtClean="0"/>
              <a:t>Convex-Hull Problem</a:t>
            </a:r>
            <a:endParaRPr lang="en-US" dirty="0"/>
          </a:p>
        </p:txBody>
      </p:sp>
      <p:sp>
        <p:nvSpPr>
          <p:cNvPr id="3" name="Content Placeholder 2"/>
          <p:cNvSpPr>
            <a:spLocks noGrp="1"/>
          </p:cNvSpPr>
          <p:nvPr>
            <p:ph idx="1"/>
          </p:nvPr>
        </p:nvSpPr>
        <p:spPr>
          <a:xfrm>
            <a:off x="914400" y="2057400"/>
            <a:ext cx="6248400" cy="3810000"/>
          </a:xfrm>
        </p:spPr>
        <p:txBody>
          <a:bodyPr>
            <a:normAutofit/>
          </a:bodyPr>
          <a:lstStyle/>
          <a:p>
            <a:r>
              <a:rPr lang="en-US" b="1" dirty="0" smtClean="0">
                <a:solidFill>
                  <a:srgbClr val="00823B"/>
                </a:solidFill>
              </a:rPr>
              <a:t>Brute Force Solution</a:t>
            </a:r>
          </a:p>
          <a:p>
            <a:pPr lvl="1"/>
            <a:r>
              <a:rPr lang="en-US" dirty="0" smtClean="0"/>
              <a:t>Draw </a:t>
            </a:r>
            <a:r>
              <a:rPr lang="en-US" dirty="0" smtClean="0">
                <a:solidFill>
                  <a:srgbClr val="0000FF"/>
                </a:solidFill>
              </a:rPr>
              <a:t>line </a:t>
            </a:r>
            <a:r>
              <a:rPr lang="en-US" dirty="0">
                <a:solidFill>
                  <a:srgbClr val="0000FF"/>
                </a:solidFill>
              </a:rPr>
              <a:t>segments </a:t>
            </a:r>
            <a:r>
              <a:rPr lang="en-US" dirty="0"/>
              <a:t>making up the </a:t>
            </a:r>
            <a:r>
              <a:rPr lang="en-US" dirty="0">
                <a:solidFill>
                  <a:srgbClr val="0000FF"/>
                </a:solidFill>
              </a:rPr>
              <a:t>boundary</a:t>
            </a:r>
            <a:r>
              <a:rPr lang="en-US" dirty="0"/>
              <a:t> of a convex </a:t>
            </a:r>
            <a:r>
              <a:rPr lang="en-US" dirty="0" smtClean="0"/>
              <a:t>hull</a:t>
            </a:r>
          </a:p>
        </p:txBody>
      </p:sp>
      <p:sp>
        <p:nvSpPr>
          <p:cNvPr id="4" name="Slide Number Placeholder 3"/>
          <p:cNvSpPr>
            <a:spLocks noGrp="1"/>
          </p:cNvSpPr>
          <p:nvPr>
            <p:ph type="sldNum" sz="quarter" idx="12"/>
          </p:nvPr>
        </p:nvSpPr>
        <p:spPr/>
        <p:txBody>
          <a:bodyPr/>
          <a:lstStyle/>
          <a:p>
            <a:fld id="{EFBA8F76-60DD-4F65-80ED-7968AD89E013}" type="slidenum">
              <a:rPr lang="en-US" smtClean="0"/>
              <a:t>78</a:t>
            </a:fld>
            <a:endParaRPr lang="en-US"/>
          </a:p>
        </p:txBody>
      </p:sp>
    </p:spTree>
    <p:extLst>
      <p:ext uri="{BB962C8B-B14F-4D97-AF65-F5344CB8AC3E}">
        <p14:creationId xmlns:p14="http://schemas.microsoft.com/office/powerpoint/2010/main" val="2883832942"/>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219200"/>
            <a:ext cx="6248400" cy="533400"/>
          </a:xfrm>
        </p:spPr>
        <p:txBody>
          <a:bodyPr>
            <a:normAutofit fontScale="90000"/>
          </a:bodyPr>
          <a:lstStyle/>
          <a:p>
            <a:r>
              <a:rPr lang="en-US" dirty="0" smtClean="0"/>
              <a:t>Convex-Hull Problem</a:t>
            </a:r>
            <a:endParaRPr lang="en-US" dirty="0"/>
          </a:p>
        </p:txBody>
      </p:sp>
      <p:sp>
        <p:nvSpPr>
          <p:cNvPr id="3" name="Content Placeholder 2"/>
          <p:cNvSpPr>
            <a:spLocks noGrp="1"/>
          </p:cNvSpPr>
          <p:nvPr>
            <p:ph idx="1"/>
          </p:nvPr>
        </p:nvSpPr>
        <p:spPr>
          <a:xfrm>
            <a:off x="914400" y="2057400"/>
            <a:ext cx="6248400" cy="3810000"/>
          </a:xfrm>
        </p:spPr>
        <p:txBody>
          <a:bodyPr>
            <a:normAutofit/>
          </a:bodyPr>
          <a:lstStyle/>
          <a:p>
            <a:r>
              <a:rPr lang="en-US" b="1" dirty="0" smtClean="0">
                <a:solidFill>
                  <a:srgbClr val="00823B"/>
                </a:solidFill>
              </a:rPr>
              <a:t>Brute Force Solution</a:t>
            </a:r>
          </a:p>
          <a:p>
            <a:pPr lvl="1"/>
            <a:r>
              <a:rPr lang="en-US" dirty="0" smtClean="0"/>
              <a:t>Draw </a:t>
            </a:r>
            <a:r>
              <a:rPr lang="en-US" dirty="0" smtClean="0">
                <a:solidFill>
                  <a:srgbClr val="0000FF"/>
                </a:solidFill>
              </a:rPr>
              <a:t>line </a:t>
            </a:r>
            <a:r>
              <a:rPr lang="en-US" dirty="0">
                <a:solidFill>
                  <a:srgbClr val="0000FF"/>
                </a:solidFill>
              </a:rPr>
              <a:t>segments </a:t>
            </a:r>
            <a:r>
              <a:rPr lang="en-US" dirty="0"/>
              <a:t>making up the </a:t>
            </a:r>
            <a:r>
              <a:rPr lang="en-US" dirty="0">
                <a:solidFill>
                  <a:srgbClr val="0000FF"/>
                </a:solidFill>
              </a:rPr>
              <a:t>boundary</a:t>
            </a:r>
            <a:r>
              <a:rPr lang="en-US" dirty="0"/>
              <a:t> of a convex </a:t>
            </a:r>
            <a:r>
              <a:rPr lang="en-US" dirty="0" smtClean="0"/>
              <a:t>hull</a:t>
            </a:r>
          </a:p>
          <a:p>
            <a:pPr lvl="2" algn="just"/>
            <a:r>
              <a:rPr lang="en-US" dirty="0"/>
              <a:t>a line segment </a:t>
            </a:r>
            <a:r>
              <a:rPr lang="en-US" dirty="0" smtClean="0"/>
              <a:t>connecting two </a:t>
            </a:r>
            <a:r>
              <a:rPr lang="en-US" dirty="0"/>
              <a:t>points </a:t>
            </a:r>
            <a:r>
              <a:rPr lang="en-US" b="1" dirty="0">
                <a:solidFill>
                  <a:srgbClr val="0000FF"/>
                </a:solidFill>
              </a:rPr>
              <a:t>p</a:t>
            </a:r>
            <a:r>
              <a:rPr lang="en-US" b="1" baseline="-25000" dirty="0">
                <a:solidFill>
                  <a:srgbClr val="0000FF"/>
                </a:solidFill>
              </a:rPr>
              <a:t>i</a:t>
            </a:r>
            <a:r>
              <a:rPr lang="en-US" dirty="0"/>
              <a:t> and </a:t>
            </a:r>
            <a:r>
              <a:rPr lang="en-US" b="1" dirty="0">
                <a:solidFill>
                  <a:srgbClr val="0000FF"/>
                </a:solidFill>
              </a:rPr>
              <a:t>p</a:t>
            </a:r>
            <a:r>
              <a:rPr lang="en-US" b="1" baseline="-25000" dirty="0">
                <a:solidFill>
                  <a:srgbClr val="0000FF"/>
                </a:solidFill>
              </a:rPr>
              <a:t>j</a:t>
            </a:r>
            <a:r>
              <a:rPr lang="en-US" dirty="0"/>
              <a:t> of a set of n points is a part of the convex hull’s boundary </a:t>
            </a:r>
            <a:r>
              <a:rPr lang="en-US" b="1" dirty="0">
                <a:solidFill>
                  <a:srgbClr val="0000FF"/>
                </a:solidFill>
              </a:rPr>
              <a:t>if and only if </a:t>
            </a:r>
            <a:r>
              <a:rPr lang="en-US" dirty="0"/>
              <a:t>all the other points of the set lie on the </a:t>
            </a:r>
            <a:r>
              <a:rPr lang="en-US" b="1" dirty="0">
                <a:solidFill>
                  <a:srgbClr val="0000FF"/>
                </a:solidFill>
              </a:rPr>
              <a:t>same side of the straight line </a:t>
            </a:r>
            <a:r>
              <a:rPr lang="en-US" dirty="0" smtClean="0"/>
              <a:t>through these </a:t>
            </a:r>
            <a:r>
              <a:rPr lang="en-US" dirty="0"/>
              <a:t>two points</a:t>
            </a:r>
          </a:p>
        </p:txBody>
      </p:sp>
      <p:sp>
        <p:nvSpPr>
          <p:cNvPr id="4" name="Slide Number Placeholder 3"/>
          <p:cNvSpPr>
            <a:spLocks noGrp="1"/>
          </p:cNvSpPr>
          <p:nvPr>
            <p:ph type="sldNum" sz="quarter" idx="12"/>
          </p:nvPr>
        </p:nvSpPr>
        <p:spPr/>
        <p:txBody>
          <a:bodyPr/>
          <a:lstStyle/>
          <a:p>
            <a:fld id="{EFBA8F76-60DD-4F65-80ED-7968AD89E013}" type="slidenum">
              <a:rPr lang="en-US" smtClean="0"/>
              <a:t>79</a:t>
            </a:fld>
            <a:endParaRPr lang="en-US"/>
          </a:p>
        </p:txBody>
      </p:sp>
    </p:spTree>
    <p:extLst>
      <p:ext uri="{BB962C8B-B14F-4D97-AF65-F5344CB8AC3E}">
        <p14:creationId xmlns:p14="http://schemas.microsoft.com/office/powerpoint/2010/main" val="2531231000"/>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Convex-Hull Problem</a:t>
            </a:r>
            <a:endParaRPr lang="en-US" dirty="0"/>
          </a:p>
        </p:txBody>
      </p:sp>
      <p:sp>
        <p:nvSpPr>
          <p:cNvPr id="3" name="Content Placeholder 2"/>
          <p:cNvSpPr>
            <a:spLocks noGrp="1"/>
          </p:cNvSpPr>
          <p:nvPr>
            <p:ph idx="1"/>
          </p:nvPr>
        </p:nvSpPr>
        <p:spPr>
          <a:xfrm>
            <a:off x="914400" y="2514600"/>
            <a:ext cx="6248400" cy="3810000"/>
          </a:xfrm>
        </p:spPr>
        <p:txBody>
          <a:bodyPr>
            <a:normAutofit/>
          </a:bodyPr>
          <a:lstStyle/>
          <a:p>
            <a:r>
              <a:rPr lang="en-US" b="1" dirty="0" smtClean="0"/>
              <a:t>Construct </a:t>
            </a:r>
            <a:r>
              <a:rPr lang="en-US" b="1" dirty="0"/>
              <a:t>the </a:t>
            </a:r>
            <a:r>
              <a:rPr lang="en-US" b="1" dirty="0">
                <a:solidFill>
                  <a:srgbClr val="0000FF"/>
                </a:solidFill>
              </a:rPr>
              <a:t>convex hull </a:t>
            </a:r>
            <a:r>
              <a:rPr lang="en-US" b="1" dirty="0" smtClean="0"/>
              <a:t>for a </a:t>
            </a:r>
            <a:r>
              <a:rPr lang="en-US" b="1" dirty="0"/>
              <a:t>given set S of n points</a:t>
            </a:r>
          </a:p>
        </p:txBody>
      </p:sp>
      <p:sp>
        <p:nvSpPr>
          <p:cNvPr id="4" name="Slide Number Placeholder 3"/>
          <p:cNvSpPr>
            <a:spLocks noGrp="1"/>
          </p:cNvSpPr>
          <p:nvPr>
            <p:ph type="sldNum" sz="quarter" idx="12"/>
          </p:nvPr>
        </p:nvSpPr>
        <p:spPr/>
        <p:txBody>
          <a:bodyPr/>
          <a:lstStyle/>
          <a:p>
            <a:fld id="{EFBA8F76-60DD-4F65-80ED-7968AD89E013}" type="slidenum">
              <a:rPr lang="en-US" smtClean="0"/>
              <a:t>80</a:t>
            </a:fld>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8900" y="3810000"/>
            <a:ext cx="3390900" cy="2400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84691858"/>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Convex-Hull Problem</a:t>
            </a:r>
            <a:endParaRPr lang="en-US" dirty="0"/>
          </a:p>
        </p:txBody>
      </p:sp>
      <p:sp>
        <p:nvSpPr>
          <p:cNvPr id="3" name="Content Placeholder 2"/>
          <p:cNvSpPr>
            <a:spLocks noGrp="1"/>
          </p:cNvSpPr>
          <p:nvPr>
            <p:ph idx="1"/>
          </p:nvPr>
        </p:nvSpPr>
        <p:spPr>
          <a:xfrm>
            <a:off x="914400" y="2514600"/>
            <a:ext cx="6248400" cy="3810000"/>
          </a:xfrm>
        </p:spPr>
        <p:txBody>
          <a:bodyPr>
            <a:normAutofit/>
          </a:bodyPr>
          <a:lstStyle/>
          <a:p>
            <a:r>
              <a:rPr lang="en-US" b="1" dirty="0" smtClean="0"/>
              <a:t>Construct </a:t>
            </a:r>
            <a:r>
              <a:rPr lang="en-US" b="1" dirty="0"/>
              <a:t>the </a:t>
            </a:r>
            <a:r>
              <a:rPr lang="en-US" b="1" dirty="0">
                <a:solidFill>
                  <a:srgbClr val="0000FF"/>
                </a:solidFill>
              </a:rPr>
              <a:t>convex hull </a:t>
            </a:r>
            <a:r>
              <a:rPr lang="en-US" b="1" dirty="0" smtClean="0"/>
              <a:t>for a </a:t>
            </a:r>
            <a:r>
              <a:rPr lang="en-US" b="1" dirty="0"/>
              <a:t>given set S of n points</a:t>
            </a:r>
          </a:p>
        </p:txBody>
      </p:sp>
      <p:sp>
        <p:nvSpPr>
          <p:cNvPr id="4" name="Slide Number Placeholder 3"/>
          <p:cNvSpPr>
            <a:spLocks noGrp="1"/>
          </p:cNvSpPr>
          <p:nvPr>
            <p:ph type="sldNum" sz="quarter" idx="12"/>
          </p:nvPr>
        </p:nvSpPr>
        <p:spPr/>
        <p:txBody>
          <a:bodyPr/>
          <a:lstStyle/>
          <a:p>
            <a:fld id="{EFBA8F76-60DD-4F65-80ED-7968AD89E013}" type="slidenum">
              <a:rPr lang="en-US" smtClean="0"/>
              <a:t>81</a:t>
            </a:fld>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0800" y="3829050"/>
            <a:ext cx="3409950" cy="2495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15509019"/>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Convex-Hull Problem</a:t>
            </a:r>
            <a:endParaRPr lang="en-US" dirty="0"/>
          </a:p>
        </p:txBody>
      </p:sp>
      <p:sp>
        <p:nvSpPr>
          <p:cNvPr id="3" name="Content Placeholder 2"/>
          <p:cNvSpPr>
            <a:spLocks noGrp="1"/>
          </p:cNvSpPr>
          <p:nvPr>
            <p:ph idx="1"/>
          </p:nvPr>
        </p:nvSpPr>
        <p:spPr>
          <a:xfrm>
            <a:off x="914400" y="2514600"/>
            <a:ext cx="6248400" cy="3810000"/>
          </a:xfrm>
        </p:spPr>
        <p:txBody>
          <a:bodyPr>
            <a:normAutofit/>
          </a:bodyPr>
          <a:lstStyle/>
          <a:p>
            <a:r>
              <a:rPr lang="en-US" b="1" dirty="0" smtClean="0"/>
              <a:t>Construct </a:t>
            </a:r>
            <a:r>
              <a:rPr lang="en-US" b="1" dirty="0"/>
              <a:t>the </a:t>
            </a:r>
            <a:r>
              <a:rPr lang="en-US" b="1" dirty="0">
                <a:solidFill>
                  <a:srgbClr val="0000FF"/>
                </a:solidFill>
              </a:rPr>
              <a:t>convex hull </a:t>
            </a:r>
            <a:r>
              <a:rPr lang="en-US" b="1" dirty="0" smtClean="0"/>
              <a:t>for a </a:t>
            </a:r>
            <a:r>
              <a:rPr lang="en-US" b="1" dirty="0"/>
              <a:t>given set S of n points</a:t>
            </a:r>
          </a:p>
        </p:txBody>
      </p:sp>
      <p:sp>
        <p:nvSpPr>
          <p:cNvPr id="4" name="Slide Number Placeholder 3"/>
          <p:cNvSpPr>
            <a:spLocks noGrp="1"/>
          </p:cNvSpPr>
          <p:nvPr>
            <p:ph type="sldNum" sz="quarter" idx="12"/>
          </p:nvPr>
        </p:nvSpPr>
        <p:spPr/>
        <p:txBody>
          <a:bodyPr/>
          <a:lstStyle/>
          <a:p>
            <a:fld id="{EFBA8F76-60DD-4F65-80ED-7968AD89E013}" type="slidenum">
              <a:rPr lang="en-US" smtClean="0"/>
              <a:t>82</a:t>
            </a:fld>
            <a:endParaRPr 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0800" y="3810000"/>
            <a:ext cx="3333750" cy="2447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42373884"/>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Convex-Hull Problem</a:t>
            </a:r>
            <a:endParaRPr lang="en-US" dirty="0"/>
          </a:p>
        </p:txBody>
      </p:sp>
      <p:sp>
        <p:nvSpPr>
          <p:cNvPr id="3" name="Content Placeholder 2"/>
          <p:cNvSpPr>
            <a:spLocks noGrp="1"/>
          </p:cNvSpPr>
          <p:nvPr>
            <p:ph idx="1"/>
          </p:nvPr>
        </p:nvSpPr>
        <p:spPr>
          <a:xfrm>
            <a:off x="914400" y="2514600"/>
            <a:ext cx="6248400" cy="3810000"/>
          </a:xfrm>
        </p:spPr>
        <p:txBody>
          <a:bodyPr>
            <a:normAutofit/>
          </a:bodyPr>
          <a:lstStyle/>
          <a:p>
            <a:r>
              <a:rPr lang="en-US" b="1" dirty="0" smtClean="0"/>
              <a:t>Construct </a:t>
            </a:r>
            <a:r>
              <a:rPr lang="en-US" b="1" dirty="0"/>
              <a:t>the </a:t>
            </a:r>
            <a:r>
              <a:rPr lang="en-US" b="1" dirty="0">
                <a:solidFill>
                  <a:srgbClr val="0000FF"/>
                </a:solidFill>
              </a:rPr>
              <a:t>convex hull </a:t>
            </a:r>
            <a:r>
              <a:rPr lang="en-US" b="1" dirty="0" smtClean="0"/>
              <a:t>for a </a:t>
            </a:r>
            <a:r>
              <a:rPr lang="en-US" b="1" dirty="0"/>
              <a:t>given set S of n points</a:t>
            </a:r>
          </a:p>
        </p:txBody>
      </p:sp>
      <p:sp>
        <p:nvSpPr>
          <p:cNvPr id="4" name="Slide Number Placeholder 3"/>
          <p:cNvSpPr>
            <a:spLocks noGrp="1"/>
          </p:cNvSpPr>
          <p:nvPr>
            <p:ph type="sldNum" sz="quarter" idx="12"/>
          </p:nvPr>
        </p:nvSpPr>
        <p:spPr/>
        <p:txBody>
          <a:bodyPr/>
          <a:lstStyle/>
          <a:p>
            <a:fld id="{EFBA8F76-60DD-4F65-80ED-7968AD89E013}" type="slidenum">
              <a:rPr lang="en-US" smtClean="0"/>
              <a:t>83</a:t>
            </a:fld>
            <a:endParaRPr lang="en-US"/>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09850" y="3810000"/>
            <a:ext cx="3333750" cy="2438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35788946"/>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Convex-Hull Problem</a:t>
            </a:r>
            <a:endParaRPr lang="en-US" dirty="0"/>
          </a:p>
        </p:txBody>
      </p:sp>
      <p:sp>
        <p:nvSpPr>
          <p:cNvPr id="3" name="Content Placeholder 2"/>
          <p:cNvSpPr>
            <a:spLocks noGrp="1"/>
          </p:cNvSpPr>
          <p:nvPr>
            <p:ph idx="1"/>
          </p:nvPr>
        </p:nvSpPr>
        <p:spPr>
          <a:xfrm>
            <a:off x="914400" y="2514600"/>
            <a:ext cx="6248400" cy="3810000"/>
          </a:xfrm>
        </p:spPr>
        <p:txBody>
          <a:bodyPr>
            <a:normAutofit/>
          </a:bodyPr>
          <a:lstStyle/>
          <a:p>
            <a:r>
              <a:rPr lang="en-US" b="1" dirty="0" smtClean="0"/>
              <a:t>Construct </a:t>
            </a:r>
            <a:r>
              <a:rPr lang="en-US" b="1" dirty="0"/>
              <a:t>the </a:t>
            </a:r>
            <a:r>
              <a:rPr lang="en-US" b="1" dirty="0">
                <a:solidFill>
                  <a:srgbClr val="0000FF"/>
                </a:solidFill>
              </a:rPr>
              <a:t>convex hull </a:t>
            </a:r>
            <a:r>
              <a:rPr lang="en-US" b="1" dirty="0" smtClean="0"/>
              <a:t>for a </a:t>
            </a:r>
            <a:r>
              <a:rPr lang="en-US" b="1" dirty="0"/>
              <a:t>given set S of n points</a:t>
            </a:r>
          </a:p>
        </p:txBody>
      </p:sp>
      <p:sp>
        <p:nvSpPr>
          <p:cNvPr id="4" name="Slide Number Placeholder 3"/>
          <p:cNvSpPr>
            <a:spLocks noGrp="1"/>
          </p:cNvSpPr>
          <p:nvPr>
            <p:ph type="sldNum" sz="quarter" idx="12"/>
          </p:nvPr>
        </p:nvSpPr>
        <p:spPr/>
        <p:txBody>
          <a:bodyPr/>
          <a:lstStyle/>
          <a:p>
            <a:fld id="{EFBA8F76-60DD-4F65-80ED-7968AD89E013}" type="slidenum">
              <a:rPr lang="en-US" smtClean="0"/>
              <a:t>84</a:t>
            </a:fld>
            <a:endParaRPr lang="en-US"/>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57475" y="3867150"/>
            <a:ext cx="3286125" cy="2381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24426714"/>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Convex-Hull Problem</a:t>
            </a:r>
            <a:endParaRPr lang="en-US" dirty="0"/>
          </a:p>
        </p:txBody>
      </p:sp>
      <p:sp>
        <p:nvSpPr>
          <p:cNvPr id="3" name="Content Placeholder 2"/>
          <p:cNvSpPr>
            <a:spLocks noGrp="1"/>
          </p:cNvSpPr>
          <p:nvPr>
            <p:ph idx="1"/>
          </p:nvPr>
        </p:nvSpPr>
        <p:spPr>
          <a:xfrm>
            <a:off x="914400" y="2514600"/>
            <a:ext cx="6248400" cy="3810000"/>
          </a:xfrm>
        </p:spPr>
        <p:txBody>
          <a:bodyPr>
            <a:normAutofit/>
          </a:bodyPr>
          <a:lstStyle/>
          <a:p>
            <a:r>
              <a:rPr lang="en-US" b="1" dirty="0" smtClean="0"/>
              <a:t>Construct </a:t>
            </a:r>
            <a:r>
              <a:rPr lang="en-US" b="1" dirty="0"/>
              <a:t>the </a:t>
            </a:r>
            <a:r>
              <a:rPr lang="en-US" b="1" dirty="0">
                <a:solidFill>
                  <a:srgbClr val="0000FF"/>
                </a:solidFill>
              </a:rPr>
              <a:t>convex hull </a:t>
            </a:r>
            <a:r>
              <a:rPr lang="en-US" b="1" dirty="0" smtClean="0"/>
              <a:t>for a </a:t>
            </a:r>
            <a:r>
              <a:rPr lang="en-US" b="1" dirty="0"/>
              <a:t>given set S of n points</a:t>
            </a:r>
          </a:p>
        </p:txBody>
      </p:sp>
      <p:sp>
        <p:nvSpPr>
          <p:cNvPr id="4" name="Slide Number Placeholder 3"/>
          <p:cNvSpPr>
            <a:spLocks noGrp="1"/>
          </p:cNvSpPr>
          <p:nvPr>
            <p:ph type="sldNum" sz="quarter" idx="12"/>
          </p:nvPr>
        </p:nvSpPr>
        <p:spPr/>
        <p:txBody>
          <a:bodyPr/>
          <a:lstStyle/>
          <a:p>
            <a:fld id="{EFBA8F76-60DD-4F65-80ED-7968AD89E013}" type="slidenum">
              <a:rPr lang="en-US" smtClean="0"/>
              <a:t>85</a:t>
            </a:fld>
            <a:endParaRPr lang="en-US"/>
          </a:p>
        </p:txBody>
      </p:sp>
      <p:pic>
        <p:nvPicPr>
          <p:cNvPr id="5" name="Picture 4"/>
          <p:cNvPicPr>
            <a:picLocks noChangeAspect="1"/>
          </p:cNvPicPr>
          <p:nvPr/>
        </p:nvPicPr>
        <p:blipFill>
          <a:blip r:embed="rId2"/>
          <a:stretch>
            <a:fillRect/>
          </a:stretch>
        </p:blipFill>
        <p:spPr>
          <a:xfrm>
            <a:off x="2590800" y="3657600"/>
            <a:ext cx="3257550" cy="2389885"/>
          </a:xfrm>
          <a:prstGeom prst="rect">
            <a:avLst/>
          </a:prstGeom>
        </p:spPr>
      </p:pic>
    </p:spTree>
    <p:extLst>
      <p:ext uri="{BB962C8B-B14F-4D97-AF65-F5344CB8AC3E}">
        <p14:creationId xmlns:p14="http://schemas.microsoft.com/office/powerpoint/2010/main" val="860963998"/>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219200"/>
            <a:ext cx="6248400" cy="533400"/>
          </a:xfrm>
        </p:spPr>
        <p:txBody>
          <a:bodyPr>
            <a:normAutofit fontScale="90000"/>
          </a:bodyPr>
          <a:lstStyle/>
          <a:p>
            <a:r>
              <a:rPr lang="en-US" dirty="0" smtClean="0"/>
              <a:t>Convex-Hull Problem</a:t>
            </a:r>
            <a:endParaRPr lang="en-US" dirty="0"/>
          </a:p>
        </p:txBody>
      </p:sp>
      <p:sp>
        <p:nvSpPr>
          <p:cNvPr id="3" name="Content Placeholder 2"/>
          <p:cNvSpPr>
            <a:spLocks noGrp="1"/>
          </p:cNvSpPr>
          <p:nvPr>
            <p:ph idx="1"/>
          </p:nvPr>
        </p:nvSpPr>
        <p:spPr>
          <a:xfrm>
            <a:off x="914400" y="2057400"/>
            <a:ext cx="6248400" cy="3810000"/>
          </a:xfrm>
        </p:spPr>
        <p:txBody>
          <a:bodyPr>
            <a:normAutofit/>
          </a:bodyPr>
          <a:lstStyle/>
          <a:p>
            <a:r>
              <a:rPr lang="en-US" b="1" dirty="0" smtClean="0">
                <a:solidFill>
                  <a:srgbClr val="00823B"/>
                </a:solidFill>
              </a:rPr>
              <a:t>Line Equation</a:t>
            </a:r>
          </a:p>
          <a:p>
            <a:endParaRPr lang="en-US" b="1" dirty="0">
              <a:solidFill>
                <a:srgbClr val="00823B"/>
              </a:solidFill>
            </a:endParaRPr>
          </a:p>
          <a:p>
            <a:endParaRPr lang="en-US" b="1" dirty="0" smtClean="0">
              <a:solidFill>
                <a:srgbClr val="00823B"/>
              </a:solidFill>
            </a:endParaRPr>
          </a:p>
          <a:p>
            <a:endParaRPr lang="en-US" b="1" dirty="0">
              <a:solidFill>
                <a:srgbClr val="00823B"/>
              </a:solidFill>
            </a:endParaRPr>
          </a:p>
          <a:p>
            <a:endParaRPr lang="en-US" b="1" dirty="0" smtClean="0">
              <a:solidFill>
                <a:srgbClr val="00823B"/>
              </a:solidFill>
            </a:endParaRPr>
          </a:p>
          <a:p>
            <a:endParaRPr lang="en-US" b="1" dirty="0">
              <a:solidFill>
                <a:srgbClr val="00823B"/>
              </a:solidFill>
            </a:endParaRPr>
          </a:p>
          <a:p>
            <a:pPr marL="457200" lvl="1" indent="0">
              <a:buNone/>
            </a:pPr>
            <a:endParaRPr lang="en-US" sz="2400" b="1" dirty="0" smtClean="0"/>
          </a:p>
        </p:txBody>
      </p:sp>
      <p:sp>
        <p:nvSpPr>
          <p:cNvPr id="4" name="Slide Number Placeholder 3"/>
          <p:cNvSpPr>
            <a:spLocks noGrp="1"/>
          </p:cNvSpPr>
          <p:nvPr>
            <p:ph type="sldNum" sz="quarter" idx="12"/>
          </p:nvPr>
        </p:nvSpPr>
        <p:spPr/>
        <p:txBody>
          <a:bodyPr/>
          <a:lstStyle/>
          <a:p>
            <a:fld id="{EFBA8F76-60DD-4F65-80ED-7968AD89E013}" type="slidenum">
              <a:rPr lang="en-US" smtClean="0"/>
              <a:t>86</a:t>
            </a:fld>
            <a:endParaRPr lang="en-US"/>
          </a:p>
        </p:txBody>
      </p:sp>
      <p:pic>
        <p:nvPicPr>
          <p:cNvPr id="5" name="Picture 4"/>
          <p:cNvPicPr>
            <a:picLocks noChangeAspect="1"/>
          </p:cNvPicPr>
          <p:nvPr/>
        </p:nvPicPr>
        <p:blipFill>
          <a:blip r:embed="rId2"/>
          <a:stretch>
            <a:fillRect/>
          </a:stretch>
        </p:blipFill>
        <p:spPr>
          <a:xfrm>
            <a:off x="2590800" y="2743200"/>
            <a:ext cx="2627584" cy="595312"/>
          </a:xfrm>
          <a:prstGeom prst="rect">
            <a:avLst/>
          </a:prstGeom>
        </p:spPr>
      </p:pic>
      <p:pic>
        <p:nvPicPr>
          <p:cNvPr id="6" name="Picture 5"/>
          <p:cNvPicPr>
            <a:picLocks noChangeAspect="1"/>
          </p:cNvPicPr>
          <p:nvPr/>
        </p:nvPicPr>
        <p:blipFill>
          <a:blip r:embed="rId3"/>
          <a:stretch>
            <a:fillRect/>
          </a:stretch>
        </p:blipFill>
        <p:spPr>
          <a:xfrm>
            <a:off x="1371600" y="3581400"/>
            <a:ext cx="1725830" cy="442912"/>
          </a:xfrm>
          <a:prstGeom prst="rect">
            <a:avLst/>
          </a:prstGeom>
        </p:spPr>
      </p:pic>
      <p:pic>
        <p:nvPicPr>
          <p:cNvPr id="7" name="Picture 6"/>
          <p:cNvPicPr>
            <a:picLocks noChangeAspect="1"/>
          </p:cNvPicPr>
          <p:nvPr/>
        </p:nvPicPr>
        <p:blipFill>
          <a:blip r:embed="rId4"/>
          <a:stretch>
            <a:fillRect/>
          </a:stretch>
        </p:blipFill>
        <p:spPr>
          <a:xfrm>
            <a:off x="1371600" y="4110036"/>
            <a:ext cx="1740061" cy="461963"/>
          </a:xfrm>
          <a:prstGeom prst="rect">
            <a:avLst/>
          </a:prstGeom>
        </p:spPr>
      </p:pic>
      <p:pic>
        <p:nvPicPr>
          <p:cNvPr id="8" name="Picture 7"/>
          <p:cNvPicPr>
            <a:picLocks noChangeAspect="1"/>
          </p:cNvPicPr>
          <p:nvPr/>
        </p:nvPicPr>
        <p:blipFill>
          <a:blip r:embed="rId5"/>
          <a:stretch>
            <a:fillRect/>
          </a:stretch>
        </p:blipFill>
        <p:spPr>
          <a:xfrm>
            <a:off x="1371600" y="4662272"/>
            <a:ext cx="2625804" cy="429053"/>
          </a:xfrm>
          <a:prstGeom prst="rect">
            <a:avLst/>
          </a:prstGeom>
        </p:spPr>
      </p:pic>
    </p:spTree>
    <p:extLst>
      <p:ext uri="{BB962C8B-B14F-4D97-AF65-F5344CB8AC3E}">
        <p14:creationId xmlns:p14="http://schemas.microsoft.com/office/powerpoint/2010/main" val="1820749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0-#ppt_w/2"/>
                                          </p:val>
                                        </p:tav>
                                        <p:tav tm="100000">
                                          <p:val>
                                            <p:strVal val="#ppt_x"/>
                                          </p:val>
                                        </p:tav>
                                      </p:tavLst>
                                    </p:anim>
                                    <p:anim calcmode="lin" valueType="num">
                                      <p:cBhvr additive="base">
                                        <p:cTn id="14"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0-#ppt_w/2"/>
                                          </p:val>
                                        </p:tav>
                                        <p:tav tm="100000">
                                          <p:val>
                                            <p:strVal val="#ppt_x"/>
                                          </p:val>
                                        </p:tav>
                                      </p:tavLst>
                                    </p:anim>
                                    <p:anim calcmode="lin" valueType="num">
                                      <p:cBhvr additive="base">
                                        <p:cTn id="20"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0-#ppt_w/2"/>
                                          </p:val>
                                        </p:tav>
                                        <p:tav tm="100000">
                                          <p:val>
                                            <p:strVal val="#ppt_x"/>
                                          </p:val>
                                        </p:tav>
                                      </p:tavLst>
                                    </p:anim>
                                    <p:anim calcmode="lin" valueType="num">
                                      <p:cBhvr additive="base">
                                        <p:cTn id="26"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9126" y="1946943"/>
            <a:ext cx="6705600" cy="2003425"/>
          </a:xfrm>
        </p:spPr>
        <p:txBody>
          <a:bodyPr>
            <a:noAutofit/>
          </a:bodyPr>
          <a:lstStyle/>
          <a:p>
            <a:r>
              <a:rPr lang="en-US" sz="6000" b="1" dirty="0" smtClean="0">
                <a:solidFill>
                  <a:srgbClr val="00823B"/>
                </a:solidFill>
              </a:rPr>
              <a:t>Convex Hull Problem</a:t>
            </a:r>
            <a:endParaRPr lang="en-US" sz="4800" b="1" dirty="0">
              <a:solidFill>
                <a:srgbClr val="00823B"/>
              </a:solidFill>
            </a:endParaRPr>
          </a:p>
        </p:txBody>
      </p:sp>
      <p:sp>
        <p:nvSpPr>
          <p:cNvPr id="3" name="Subtitle 2"/>
          <p:cNvSpPr>
            <a:spLocks noGrp="1"/>
          </p:cNvSpPr>
          <p:nvPr>
            <p:ph type="subTitle" idx="1"/>
          </p:nvPr>
        </p:nvSpPr>
        <p:spPr>
          <a:xfrm>
            <a:off x="762000" y="3962400"/>
            <a:ext cx="6400800" cy="1752600"/>
          </a:xfrm>
        </p:spPr>
        <p:txBody>
          <a:bodyPr/>
          <a:lstStyle/>
          <a:p>
            <a:pPr algn="r"/>
            <a:r>
              <a:rPr lang="en-US" dirty="0" smtClean="0"/>
              <a:t>Example 06</a:t>
            </a:r>
          </a:p>
          <a:p>
            <a:pPr algn="r"/>
            <a:r>
              <a:rPr lang="en-US" dirty="0" smtClean="0"/>
              <a:t>Analysis</a:t>
            </a:r>
          </a:p>
        </p:txBody>
      </p:sp>
    </p:spTree>
    <p:extLst>
      <p:ext uri="{BB962C8B-B14F-4D97-AF65-F5344CB8AC3E}">
        <p14:creationId xmlns:p14="http://schemas.microsoft.com/office/powerpoint/2010/main" val="1483293839"/>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219200"/>
            <a:ext cx="6248400" cy="533400"/>
          </a:xfrm>
        </p:spPr>
        <p:txBody>
          <a:bodyPr>
            <a:normAutofit fontScale="90000"/>
          </a:bodyPr>
          <a:lstStyle/>
          <a:p>
            <a:r>
              <a:rPr lang="en-US" dirty="0" smtClean="0"/>
              <a:t>Convex-Hull Problem</a:t>
            </a:r>
            <a:endParaRPr lang="en-US" dirty="0"/>
          </a:p>
        </p:txBody>
      </p:sp>
      <p:sp>
        <p:nvSpPr>
          <p:cNvPr id="3" name="Content Placeholder 2"/>
          <p:cNvSpPr>
            <a:spLocks noGrp="1"/>
          </p:cNvSpPr>
          <p:nvPr>
            <p:ph idx="1"/>
          </p:nvPr>
        </p:nvSpPr>
        <p:spPr>
          <a:xfrm>
            <a:off x="914400" y="2057400"/>
            <a:ext cx="6248400" cy="3810000"/>
          </a:xfrm>
        </p:spPr>
        <p:txBody>
          <a:bodyPr>
            <a:normAutofit/>
          </a:bodyPr>
          <a:lstStyle/>
          <a:p>
            <a:r>
              <a:rPr lang="en-US" b="1" dirty="0" smtClean="0">
                <a:solidFill>
                  <a:srgbClr val="00823B"/>
                </a:solidFill>
              </a:rPr>
              <a:t>Analysis</a:t>
            </a:r>
          </a:p>
        </p:txBody>
      </p:sp>
      <p:sp>
        <p:nvSpPr>
          <p:cNvPr id="4" name="Slide Number Placeholder 3"/>
          <p:cNvSpPr>
            <a:spLocks noGrp="1"/>
          </p:cNvSpPr>
          <p:nvPr>
            <p:ph type="sldNum" sz="quarter" idx="12"/>
          </p:nvPr>
        </p:nvSpPr>
        <p:spPr/>
        <p:txBody>
          <a:bodyPr/>
          <a:lstStyle/>
          <a:p>
            <a:fld id="{EFBA8F76-60DD-4F65-80ED-7968AD89E013}" type="slidenum">
              <a:rPr lang="en-US" smtClean="0"/>
              <a:t>88</a:t>
            </a:fld>
            <a:endParaRPr lang="en-US"/>
          </a:p>
        </p:txBody>
      </p:sp>
    </p:spTree>
    <p:extLst>
      <p:ext uri="{BB962C8B-B14F-4D97-AF65-F5344CB8AC3E}">
        <p14:creationId xmlns:p14="http://schemas.microsoft.com/office/powerpoint/2010/main" val="1698600389"/>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219200"/>
            <a:ext cx="6248400" cy="533400"/>
          </a:xfrm>
        </p:spPr>
        <p:txBody>
          <a:bodyPr>
            <a:normAutofit fontScale="90000"/>
          </a:bodyPr>
          <a:lstStyle/>
          <a:p>
            <a:r>
              <a:rPr lang="en-US" dirty="0" smtClean="0"/>
              <a:t>Convex-Hull Problem</a:t>
            </a:r>
            <a:endParaRPr lang="en-US" dirty="0"/>
          </a:p>
        </p:txBody>
      </p:sp>
      <p:sp>
        <p:nvSpPr>
          <p:cNvPr id="3" name="Content Placeholder 2"/>
          <p:cNvSpPr>
            <a:spLocks noGrp="1"/>
          </p:cNvSpPr>
          <p:nvPr>
            <p:ph idx="1"/>
          </p:nvPr>
        </p:nvSpPr>
        <p:spPr>
          <a:xfrm>
            <a:off x="914400" y="2057400"/>
            <a:ext cx="6248400" cy="3810000"/>
          </a:xfrm>
        </p:spPr>
        <p:txBody>
          <a:bodyPr>
            <a:normAutofit/>
          </a:bodyPr>
          <a:lstStyle/>
          <a:p>
            <a:r>
              <a:rPr lang="en-US" b="1" dirty="0" smtClean="0">
                <a:solidFill>
                  <a:srgbClr val="00823B"/>
                </a:solidFill>
              </a:rPr>
              <a:t>Analysis</a:t>
            </a:r>
          </a:p>
          <a:p>
            <a:pPr lvl="1"/>
            <a:r>
              <a:rPr lang="en-US" b="1" dirty="0" smtClean="0">
                <a:solidFill>
                  <a:srgbClr val="0000FF"/>
                </a:solidFill>
              </a:rPr>
              <a:t># of distinct pairs of points</a:t>
            </a:r>
          </a:p>
          <a:p>
            <a:pPr lvl="2"/>
            <a:r>
              <a:rPr lang="en-US" b="1" dirty="0" smtClean="0"/>
              <a:t>n(n-1) / 2</a:t>
            </a:r>
            <a:endParaRPr lang="en-US" b="1" dirty="0"/>
          </a:p>
          <a:p>
            <a:pPr lvl="1"/>
            <a:r>
              <a:rPr lang="en-US" b="1" dirty="0" smtClean="0">
                <a:solidFill>
                  <a:srgbClr val="0000FF"/>
                </a:solidFill>
              </a:rPr>
              <a:t># of points to process</a:t>
            </a:r>
          </a:p>
          <a:p>
            <a:pPr lvl="2"/>
            <a:r>
              <a:rPr lang="en-US" b="1" dirty="0"/>
              <a:t>n</a:t>
            </a:r>
            <a:r>
              <a:rPr lang="en-US" b="1" dirty="0" smtClean="0"/>
              <a:t> - 2</a:t>
            </a:r>
          </a:p>
          <a:p>
            <a:r>
              <a:rPr lang="en-US" b="1" dirty="0" smtClean="0">
                <a:solidFill>
                  <a:srgbClr val="00823B"/>
                </a:solidFill>
              </a:rPr>
              <a:t>O(n</a:t>
            </a:r>
            <a:r>
              <a:rPr lang="en-US" b="1" baseline="30000" dirty="0" smtClean="0">
                <a:solidFill>
                  <a:srgbClr val="00823B"/>
                </a:solidFill>
              </a:rPr>
              <a:t>3</a:t>
            </a:r>
            <a:r>
              <a:rPr lang="en-US" b="1" dirty="0" smtClean="0">
                <a:solidFill>
                  <a:srgbClr val="00823B"/>
                </a:solidFill>
              </a:rPr>
              <a:t>)</a:t>
            </a:r>
          </a:p>
          <a:p>
            <a:pPr marL="457200" lvl="1" indent="0">
              <a:buNone/>
            </a:pPr>
            <a:endParaRPr lang="en-US" sz="2400" b="1" dirty="0" smtClean="0"/>
          </a:p>
        </p:txBody>
      </p:sp>
      <p:sp>
        <p:nvSpPr>
          <p:cNvPr id="4" name="Slide Number Placeholder 3"/>
          <p:cNvSpPr>
            <a:spLocks noGrp="1"/>
          </p:cNvSpPr>
          <p:nvPr>
            <p:ph type="sldNum" sz="quarter" idx="12"/>
          </p:nvPr>
        </p:nvSpPr>
        <p:spPr/>
        <p:txBody>
          <a:bodyPr/>
          <a:lstStyle/>
          <a:p>
            <a:fld id="{EFBA8F76-60DD-4F65-80ED-7968AD89E013}" type="slidenum">
              <a:rPr lang="en-US" smtClean="0"/>
              <a:t>89</a:t>
            </a:fld>
            <a:endParaRPr lang="en-US"/>
          </a:p>
        </p:txBody>
      </p:sp>
    </p:spTree>
    <p:extLst>
      <p:ext uri="{BB962C8B-B14F-4D97-AF65-F5344CB8AC3E}">
        <p14:creationId xmlns:p14="http://schemas.microsoft.com/office/powerpoint/2010/main" val="1725940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calcmode="lin" valueType="num">
                                      <p:cBhvr additive="base">
                                        <p:cTn id="1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 calcmode="lin" valueType="num">
                                      <p:cBhvr additive="base">
                                        <p:cTn id="2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 calcmode="lin" valueType="num">
                                      <p:cBhvr additive="base">
                                        <p:cTn id="2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Brute Force Algorithms</a:t>
            </a:r>
            <a:endParaRPr lang="en-US" dirty="0"/>
          </a:p>
        </p:txBody>
      </p:sp>
      <p:sp>
        <p:nvSpPr>
          <p:cNvPr id="3" name="Content Placeholder 2"/>
          <p:cNvSpPr>
            <a:spLocks noGrp="1"/>
          </p:cNvSpPr>
          <p:nvPr>
            <p:ph idx="1"/>
          </p:nvPr>
        </p:nvSpPr>
        <p:spPr/>
        <p:txBody>
          <a:bodyPr>
            <a:normAutofit/>
          </a:bodyPr>
          <a:lstStyle/>
          <a:p>
            <a:r>
              <a:rPr lang="en-US" b="1" dirty="0" smtClean="0">
                <a:solidFill>
                  <a:srgbClr val="00823B"/>
                </a:solidFill>
              </a:rPr>
              <a:t>Strengths</a:t>
            </a:r>
            <a:endParaRPr lang="en-US" b="1" dirty="0">
              <a:solidFill>
                <a:srgbClr val="00823B"/>
              </a:solidFill>
            </a:endParaRPr>
          </a:p>
        </p:txBody>
      </p:sp>
      <p:sp>
        <p:nvSpPr>
          <p:cNvPr id="4" name="Slide Number Placeholder 3"/>
          <p:cNvSpPr>
            <a:spLocks noGrp="1"/>
          </p:cNvSpPr>
          <p:nvPr>
            <p:ph type="sldNum" sz="quarter" idx="12"/>
          </p:nvPr>
        </p:nvSpPr>
        <p:spPr/>
        <p:txBody>
          <a:bodyPr/>
          <a:lstStyle/>
          <a:p>
            <a:fld id="{EFBA8F76-60DD-4F65-80ED-7968AD89E013}" type="slidenum">
              <a:rPr lang="en-US" smtClean="0"/>
              <a:t>90</a:t>
            </a:fld>
            <a:endParaRPr lang="en-US"/>
          </a:p>
        </p:txBody>
      </p:sp>
    </p:spTree>
    <p:extLst>
      <p:ext uri="{BB962C8B-B14F-4D97-AF65-F5344CB8AC3E}">
        <p14:creationId xmlns:p14="http://schemas.microsoft.com/office/powerpoint/2010/main" val="2297119772"/>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Brute Force Algorithms</a:t>
            </a:r>
            <a:endParaRPr lang="en-US" dirty="0"/>
          </a:p>
        </p:txBody>
      </p:sp>
      <p:sp>
        <p:nvSpPr>
          <p:cNvPr id="3" name="Content Placeholder 2"/>
          <p:cNvSpPr>
            <a:spLocks noGrp="1"/>
          </p:cNvSpPr>
          <p:nvPr>
            <p:ph idx="1"/>
          </p:nvPr>
        </p:nvSpPr>
        <p:spPr/>
        <p:txBody>
          <a:bodyPr>
            <a:normAutofit/>
          </a:bodyPr>
          <a:lstStyle/>
          <a:p>
            <a:r>
              <a:rPr lang="en-US" b="1" dirty="0">
                <a:solidFill>
                  <a:srgbClr val="00823B"/>
                </a:solidFill>
              </a:rPr>
              <a:t>Strengths</a:t>
            </a:r>
          </a:p>
          <a:p>
            <a:pPr lvl="1"/>
            <a:r>
              <a:rPr lang="en-US" dirty="0"/>
              <a:t>wide </a:t>
            </a:r>
            <a:r>
              <a:rPr lang="en-US" dirty="0" smtClean="0"/>
              <a:t>applicability</a:t>
            </a:r>
            <a:endParaRPr lang="en-US" dirty="0"/>
          </a:p>
        </p:txBody>
      </p:sp>
      <p:sp>
        <p:nvSpPr>
          <p:cNvPr id="4" name="Slide Number Placeholder 3"/>
          <p:cNvSpPr>
            <a:spLocks noGrp="1"/>
          </p:cNvSpPr>
          <p:nvPr>
            <p:ph type="sldNum" sz="quarter" idx="12"/>
          </p:nvPr>
        </p:nvSpPr>
        <p:spPr/>
        <p:txBody>
          <a:bodyPr/>
          <a:lstStyle/>
          <a:p>
            <a:fld id="{EFBA8F76-60DD-4F65-80ED-7968AD89E013}" type="slidenum">
              <a:rPr lang="en-US" smtClean="0"/>
              <a:t>91</a:t>
            </a:fld>
            <a:endParaRPr lang="en-US"/>
          </a:p>
        </p:txBody>
      </p:sp>
    </p:spTree>
    <p:extLst>
      <p:ext uri="{BB962C8B-B14F-4D97-AF65-F5344CB8AC3E}">
        <p14:creationId xmlns:p14="http://schemas.microsoft.com/office/powerpoint/2010/main" val="3930933685"/>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Brute Force Algorithms</a:t>
            </a:r>
            <a:endParaRPr lang="en-US" dirty="0"/>
          </a:p>
        </p:txBody>
      </p:sp>
      <p:sp>
        <p:nvSpPr>
          <p:cNvPr id="3" name="Content Placeholder 2"/>
          <p:cNvSpPr>
            <a:spLocks noGrp="1"/>
          </p:cNvSpPr>
          <p:nvPr>
            <p:ph idx="1"/>
          </p:nvPr>
        </p:nvSpPr>
        <p:spPr/>
        <p:txBody>
          <a:bodyPr>
            <a:normAutofit/>
          </a:bodyPr>
          <a:lstStyle/>
          <a:p>
            <a:r>
              <a:rPr lang="en-US" b="1" dirty="0">
                <a:solidFill>
                  <a:srgbClr val="00823B"/>
                </a:solidFill>
              </a:rPr>
              <a:t>Strengths</a:t>
            </a:r>
          </a:p>
          <a:p>
            <a:pPr lvl="1"/>
            <a:r>
              <a:rPr lang="en-US" dirty="0"/>
              <a:t>wide applicability</a:t>
            </a:r>
          </a:p>
          <a:p>
            <a:pPr lvl="1"/>
            <a:r>
              <a:rPr lang="en-US" dirty="0" smtClean="0"/>
              <a:t>simplicity</a:t>
            </a:r>
            <a:endParaRPr lang="en-US" dirty="0"/>
          </a:p>
        </p:txBody>
      </p:sp>
      <p:sp>
        <p:nvSpPr>
          <p:cNvPr id="4" name="Slide Number Placeholder 3"/>
          <p:cNvSpPr>
            <a:spLocks noGrp="1"/>
          </p:cNvSpPr>
          <p:nvPr>
            <p:ph type="sldNum" sz="quarter" idx="12"/>
          </p:nvPr>
        </p:nvSpPr>
        <p:spPr/>
        <p:txBody>
          <a:bodyPr/>
          <a:lstStyle/>
          <a:p>
            <a:fld id="{EFBA8F76-60DD-4F65-80ED-7968AD89E013}" type="slidenum">
              <a:rPr lang="en-US" smtClean="0"/>
              <a:t>92</a:t>
            </a:fld>
            <a:endParaRPr lang="en-US"/>
          </a:p>
        </p:txBody>
      </p:sp>
    </p:spTree>
    <p:extLst>
      <p:ext uri="{BB962C8B-B14F-4D97-AF65-F5344CB8AC3E}">
        <p14:creationId xmlns:p14="http://schemas.microsoft.com/office/powerpoint/2010/main" val="4186066300"/>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Brute Force Algorithms</a:t>
            </a:r>
            <a:endParaRPr lang="en-US" dirty="0"/>
          </a:p>
        </p:txBody>
      </p:sp>
      <p:sp>
        <p:nvSpPr>
          <p:cNvPr id="3" name="Content Placeholder 2"/>
          <p:cNvSpPr>
            <a:spLocks noGrp="1"/>
          </p:cNvSpPr>
          <p:nvPr>
            <p:ph idx="1"/>
          </p:nvPr>
        </p:nvSpPr>
        <p:spPr/>
        <p:txBody>
          <a:bodyPr>
            <a:normAutofit/>
          </a:bodyPr>
          <a:lstStyle/>
          <a:p>
            <a:r>
              <a:rPr lang="en-US" b="1" dirty="0">
                <a:solidFill>
                  <a:srgbClr val="00823B"/>
                </a:solidFill>
              </a:rPr>
              <a:t>Strengths</a:t>
            </a:r>
          </a:p>
          <a:p>
            <a:pPr lvl="1"/>
            <a:r>
              <a:rPr lang="en-US" dirty="0"/>
              <a:t>wide applicability</a:t>
            </a:r>
          </a:p>
          <a:p>
            <a:pPr lvl="1"/>
            <a:r>
              <a:rPr lang="en-US" dirty="0"/>
              <a:t>simplicity</a:t>
            </a:r>
          </a:p>
          <a:p>
            <a:pPr lvl="1"/>
            <a:r>
              <a:rPr lang="en-US" dirty="0"/>
              <a:t>yields reasonable algorithms for some important problems</a:t>
            </a:r>
            <a:br>
              <a:rPr lang="en-US" dirty="0"/>
            </a:br>
            <a:r>
              <a:rPr lang="en-US" dirty="0"/>
              <a:t>(e.g., matrix multiplication, sorting, searching, string matching</a:t>
            </a:r>
            <a:r>
              <a:rPr lang="en-US" dirty="0" smtClean="0"/>
              <a:t>)</a:t>
            </a:r>
            <a:endParaRPr lang="en-US" dirty="0"/>
          </a:p>
        </p:txBody>
      </p:sp>
      <p:sp>
        <p:nvSpPr>
          <p:cNvPr id="4" name="Slide Number Placeholder 3"/>
          <p:cNvSpPr>
            <a:spLocks noGrp="1"/>
          </p:cNvSpPr>
          <p:nvPr>
            <p:ph type="sldNum" sz="quarter" idx="12"/>
          </p:nvPr>
        </p:nvSpPr>
        <p:spPr/>
        <p:txBody>
          <a:bodyPr/>
          <a:lstStyle/>
          <a:p>
            <a:fld id="{EFBA8F76-60DD-4F65-80ED-7968AD89E013}" type="slidenum">
              <a:rPr lang="en-US" smtClean="0"/>
              <a:t>93</a:t>
            </a:fld>
            <a:endParaRPr lang="en-US"/>
          </a:p>
        </p:txBody>
      </p:sp>
    </p:spTree>
    <p:extLst>
      <p:ext uri="{BB962C8B-B14F-4D97-AF65-F5344CB8AC3E}">
        <p14:creationId xmlns:p14="http://schemas.microsoft.com/office/powerpoint/2010/main" val="457956964"/>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Brute Force Algorithms</a:t>
            </a:r>
          </a:p>
        </p:txBody>
      </p:sp>
      <p:sp>
        <p:nvSpPr>
          <p:cNvPr id="3" name="Content Placeholder 2"/>
          <p:cNvSpPr>
            <a:spLocks noGrp="1"/>
          </p:cNvSpPr>
          <p:nvPr>
            <p:ph idx="1"/>
          </p:nvPr>
        </p:nvSpPr>
        <p:spPr/>
        <p:txBody>
          <a:bodyPr>
            <a:normAutofit/>
          </a:bodyPr>
          <a:lstStyle/>
          <a:p>
            <a:r>
              <a:rPr lang="en-US" b="1" smtClean="0">
                <a:solidFill>
                  <a:srgbClr val="00823B"/>
                </a:solidFill>
              </a:rPr>
              <a:t>Weaknesses</a:t>
            </a:r>
            <a:endParaRPr lang="en-US" b="1" dirty="0">
              <a:solidFill>
                <a:srgbClr val="00823B"/>
              </a:solidFill>
            </a:endParaRPr>
          </a:p>
        </p:txBody>
      </p:sp>
      <p:sp>
        <p:nvSpPr>
          <p:cNvPr id="4" name="Slide Number Placeholder 3"/>
          <p:cNvSpPr>
            <a:spLocks noGrp="1"/>
          </p:cNvSpPr>
          <p:nvPr>
            <p:ph type="sldNum" sz="quarter" idx="12"/>
          </p:nvPr>
        </p:nvSpPr>
        <p:spPr/>
        <p:txBody>
          <a:bodyPr/>
          <a:lstStyle/>
          <a:p>
            <a:fld id="{EFBA8F76-60DD-4F65-80ED-7968AD89E013}" type="slidenum">
              <a:rPr lang="en-US" smtClean="0"/>
              <a:t>94</a:t>
            </a:fld>
            <a:endParaRPr lang="en-US"/>
          </a:p>
        </p:txBody>
      </p:sp>
    </p:spTree>
    <p:extLst>
      <p:ext uri="{BB962C8B-B14F-4D97-AF65-F5344CB8AC3E}">
        <p14:creationId xmlns:p14="http://schemas.microsoft.com/office/powerpoint/2010/main" val="1372478491"/>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Brute Force Algorithms</a:t>
            </a:r>
          </a:p>
        </p:txBody>
      </p:sp>
      <p:sp>
        <p:nvSpPr>
          <p:cNvPr id="3" name="Content Placeholder 2"/>
          <p:cNvSpPr>
            <a:spLocks noGrp="1"/>
          </p:cNvSpPr>
          <p:nvPr>
            <p:ph idx="1"/>
          </p:nvPr>
        </p:nvSpPr>
        <p:spPr/>
        <p:txBody>
          <a:bodyPr>
            <a:normAutofit/>
          </a:bodyPr>
          <a:lstStyle/>
          <a:p>
            <a:r>
              <a:rPr lang="en-US" b="1" dirty="0" smtClean="0">
                <a:solidFill>
                  <a:srgbClr val="00823B"/>
                </a:solidFill>
              </a:rPr>
              <a:t>Weaknesses</a:t>
            </a:r>
            <a:endParaRPr lang="en-US" b="1" dirty="0">
              <a:solidFill>
                <a:srgbClr val="00823B"/>
              </a:solidFill>
            </a:endParaRPr>
          </a:p>
          <a:p>
            <a:pPr lvl="1"/>
            <a:r>
              <a:rPr lang="en-US" dirty="0"/>
              <a:t>rarely yields efficient algorithms </a:t>
            </a:r>
          </a:p>
        </p:txBody>
      </p:sp>
      <p:sp>
        <p:nvSpPr>
          <p:cNvPr id="4" name="Slide Number Placeholder 3"/>
          <p:cNvSpPr>
            <a:spLocks noGrp="1"/>
          </p:cNvSpPr>
          <p:nvPr>
            <p:ph type="sldNum" sz="quarter" idx="12"/>
          </p:nvPr>
        </p:nvSpPr>
        <p:spPr/>
        <p:txBody>
          <a:bodyPr/>
          <a:lstStyle/>
          <a:p>
            <a:fld id="{EFBA8F76-60DD-4F65-80ED-7968AD89E013}" type="slidenum">
              <a:rPr lang="en-US" smtClean="0"/>
              <a:t>95</a:t>
            </a:fld>
            <a:endParaRPr lang="en-US"/>
          </a:p>
        </p:txBody>
      </p:sp>
    </p:spTree>
    <p:extLst>
      <p:ext uri="{BB962C8B-B14F-4D97-AF65-F5344CB8AC3E}">
        <p14:creationId xmlns:p14="http://schemas.microsoft.com/office/powerpoint/2010/main" val="752404760"/>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Brute Force Algorithms</a:t>
            </a:r>
          </a:p>
        </p:txBody>
      </p:sp>
      <p:sp>
        <p:nvSpPr>
          <p:cNvPr id="3" name="Content Placeholder 2"/>
          <p:cNvSpPr>
            <a:spLocks noGrp="1"/>
          </p:cNvSpPr>
          <p:nvPr>
            <p:ph idx="1"/>
          </p:nvPr>
        </p:nvSpPr>
        <p:spPr/>
        <p:txBody>
          <a:bodyPr>
            <a:normAutofit/>
          </a:bodyPr>
          <a:lstStyle/>
          <a:p>
            <a:r>
              <a:rPr lang="en-US" b="1" dirty="0" smtClean="0">
                <a:solidFill>
                  <a:srgbClr val="00823B"/>
                </a:solidFill>
              </a:rPr>
              <a:t>Weaknesses</a:t>
            </a:r>
            <a:endParaRPr lang="en-US" b="1" dirty="0">
              <a:solidFill>
                <a:srgbClr val="00823B"/>
              </a:solidFill>
            </a:endParaRPr>
          </a:p>
          <a:p>
            <a:pPr lvl="1"/>
            <a:r>
              <a:rPr lang="en-US" dirty="0"/>
              <a:t>rarely yields efficient algorithms </a:t>
            </a:r>
          </a:p>
          <a:p>
            <a:pPr lvl="1"/>
            <a:r>
              <a:rPr lang="en-US" dirty="0"/>
              <a:t>some brute-force algorithms are unacceptably slow </a:t>
            </a:r>
          </a:p>
        </p:txBody>
      </p:sp>
      <p:sp>
        <p:nvSpPr>
          <p:cNvPr id="4" name="Slide Number Placeholder 3"/>
          <p:cNvSpPr>
            <a:spLocks noGrp="1"/>
          </p:cNvSpPr>
          <p:nvPr>
            <p:ph type="sldNum" sz="quarter" idx="12"/>
          </p:nvPr>
        </p:nvSpPr>
        <p:spPr/>
        <p:txBody>
          <a:bodyPr/>
          <a:lstStyle/>
          <a:p>
            <a:fld id="{EFBA8F76-60DD-4F65-80ED-7968AD89E013}" type="slidenum">
              <a:rPr lang="en-US" smtClean="0"/>
              <a:t>96</a:t>
            </a:fld>
            <a:endParaRPr lang="en-US"/>
          </a:p>
        </p:txBody>
      </p:sp>
    </p:spTree>
    <p:extLst>
      <p:ext uri="{BB962C8B-B14F-4D97-AF65-F5344CB8AC3E}">
        <p14:creationId xmlns:p14="http://schemas.microsoft.com/office/powerpoint/2010/main" val="3775506103"/>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Brute Force Algorithms</a:t>
            </a:r>
          </a:p>
        </p:txBody>
      </p:sp>
      <p:sp>
        <p:nvSpPr>
          <p:cNvPr id="3" name="Content Placeholder 2"/>
          <p:cNvSpPr>
            <a:spLocks noGrp="1"/>
          </p:cNvSpPr>
          <p:nvPr>
            <p:ph idx="1"/>
          </p:nvPr>
        </p:nvSpPr>
        <p:spPr/>
        <p:txBody>
          <a:bodyPr>
            <a:normAutofit/>
          </a:bodyPr>
          <a:lstStyle/>
          <a:p>
            <a:r>
              <a:rPr lang="en-US" b="1" dirty="0" smtClean="0">
                <a:solidFill>
                  <a:srgbClr val="00823B"/>
                </a:solidFill>
              </a:rPr>
              <a:t>Weaknesses</a:t>
            </a:r>
            <a:endParaRPr lang="en-US" b="1" dirty="0">
              <a:solidFill>
                <a:srgbClr val="00823B"/>
              </a:solidFill>
            </a:endParaRPr>
          </a:p>
          <a:p>
            <a:pPr lvl="1"/>
            <a:r>
              <a:rPr lang="en-US" dirty="0"/>
              <a:t>rarely yields efficient algorithms </a:t>
            </a:r>
          </a:p>
          <a:p>
            <a:pPr lvl="1"/>
            <a:r>
              <a:rPr lang="en-US" dirty="0"/>
              <a:t>some brute-force algorithms are unacceptably slow </a:t>
            </a:r>
          </a:p>
          <a:p>
            <a:pPr lvl="1"/>
            <a:r>
              <a:rPr lang="en-US" dirty="0"/>
              <a:t>not as constructive as some other design techniques</a:t>
            </a:r>
          </a:p>
        </p:txBody>
      </p:sp>
      <p:sp>
        <p:nvSpPr>
          <p:cNvPr id="4" name="Slide Number Placeholder 3"/>
          <p:cNvSpPr>
            <a:spLocks noGrp="1"/>
          </p:cNvSpPr>
          <p:nvPr>
            <p:ph type="sldNum" sz="quarter" idx="12"/>
          </p:nvPr>
        </p:nvSpPr>
        <p:spPr/>
        <p:txBody>
          <a:bodyPr/>
          <a:lstStyle/>
          <a:p>
            <a:fld id="{EFBA8F76-60DD-4F65-80ED-7968AD89E013}" type="slidenum">
              <a:rPr lang="en-US" smtClean="0"/>
              <a:t>97</a:t>
            </a:fld>
            <a:endParaRPr lang="en-US"/>
          </a:p>
        </p:txBody>
      </p:sp>
    </p:spTree>
    <p:extLst>
      <p:ext uri="{BB962C8B-B14F-4D97-AF65-F5344CB8AC3E}">
        <p14:creationId xmlns:p14="http://schemas.microsoft.com/office/powerpoint/2010/main" val="4091059393"/>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p:cNvGrpSpPr/>
          <p:nvPr/>
        </p:nvGrpSpPr>
        <p:grpSpPr>
          <a:xfrm>
            <a:off x="918075" y="4539129"/>
            <a:ext cx="6420832" cy="1785471"/>
            <a:chOff x="613275" y="0"/>
            <a:chExt cx="6420832" cy="1785471"/>
          </a:xfrm>
        </p:grpSpPr>
        <p:sp>
          <p:nvSpPr>
            <p:cNvPr id="13" name="Pentagon 12"/>
            <p:cNvSpPr/>
            <p:nvPr/>
          </p:nvSpPr>
          <p:spPr>
            <a:xfrm rot="10800000">
              <a:off x="613275" y="0"/>
              <a:ext cx="6420832" cy="1785471"/>
            </a:xfrm>
            <a:prstGeom prst="homePlate">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4" name="Pentagon 4"/>
            <p:cNvSpPr/>
            <p:nvPr/>
          </p:nvSpPr>
          <p:spPr>
            <a:xfrm rot="21600000">
              <a:off x="1059643" y="0"/>
              <a:ext cx="5974464" cy="178547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87343" tIns="76200" rIns="142240" bIns="76200" numCol="1" spcCol="1270" anchor="ctr" anchorCtr="0">
              <a:noAutofit/>
            </a:bodyPr>
            <a:lstStyle/>
            <a:p>
              <a:pPr lvl="0"/>
              <a:r>
                <a:rPr lang="en-US" sz="2000" dirty="0"/>
                <a:t>Allah (Alone) is Sufficient for us, and He is the Best Disposer of affairs (for us).</a:t>
              </a:r>
              <a:r>
                <a:rPr lang="en-US" sz="1400" b="1" dirty="0">
                  <a:solidFill>
                    <a:srgbClr val="FFFF00"/>
                  </a:solidFill>
                </a:rPr>
                <a:t>(Quran 3 : 173)</a:t>
              </a:r>
              <a:endParaRPr lang="en-US" sz="2000" b="1" dirty="0">
                <a:solidFill>
                  <a:srgbClr val="FFFF00"/>
                </a:solidFill>
              </a:endParaRPr>
            </a:p>
          </p:txBody>
        </p:sp>
      </p:grpSp>
      <p:sp>
        <p:nvSpPr>
          <p:cNvPr id="12" name="Oval 11"/>
          <p:cNvSpPr/>
          <p:nvPr/>
        </p:nvSpPr>
        <p:spPr>
          <a:xfrm>
            <a:off x="304800" y="4539129"/>
            <a:ext cx="1785471" cy="1785471"/>
          </a:xfrm>
          <a:prstGeom prst="ellipse">
            <a:avLst/>
          </a:prstGeom>
          <a:blipFill>
            <a:blip r:embed="rId3">
              <a:extLst>
                <a:ext uri="{28A0092B-C50C-407E-A947-70E740481C1C}">
                  <a14:useLocalDpi xmlns:a14="http://schemas.microsoft.com/office/drawing/2010/main" val="0"/>
                </a:ext>
              </a:extLst>
            </a:blip>
            <a:srcRect/>
            <a:stretch>
              <a:fillRect l="-39000" r="-39000"/>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pic>
        <p:nvPicPr>
          <p:cNvPr id="7" name="Content Placeholder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62000" y="1143000"/>
            <a:ext cx="6420213" cy="3213773"/>
          </a:xfrm>
          <a:prstGeom prst="rect">
            <a:avLst/>
          </a:prstGeom>
        </p:spPr>
      </p:pic>
    </p:spTree>
    <p:extLst>
      <p:ext uri="{BB962C8B-B14F-4D97-AF65-F5344CB8AC3E}">
        <p14:creationId xmlns:p14="http://schemas.microsoft.com/office/powerpoint/2010/main" val="440900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Elemental</Template>
  <TotalTime>1095</TotalTime>
  <Words>1995</Words>
  <Application>Microsoft Office PowerPoint</Application>
  <PresentationFormat>On-screen Show (4:3)</PresentationFormat>
  <Paragraphs>684</Paragraphs>
  <Slides>98</Slides>
  <Notes>28</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98</vt:i4>
      </vt:variant>
    </vt:vector>
  </HeadingPairs>
  <TitlesOfParts>
    <vt:vector size="108" baseType="lpstr">
      <vt:lpstr>SimSun</vt:lpstr>
      <vt:lpstr>Arial</vt:lpstr>
      <vt:lpstr>Arial Narrow</vt:lpstr>
      <vt:lpstr>Calibri</vt:lpstr>
      <vt:lpstr>Monotype Sorts</vt:lpstr>
      <vt:lpstr>Symbol</vt:lpstr>
      <vt:lpstr>Times</vt:lpstr>
      <vt:lpstr>Times New Roman</vt:lpstr>
      <vt:lpstr>Wingdings</vt:lpstr>
      <vt:lpstr>Office Theme</vt:lpstr>
      <vt:lpstr>PowerPoint Presentation</vt:lpstr>
      <vt:lpstr>Algorithm Design</vt:lpstr>
      <vt:lpstr>Main Issues Related to Algorithms</vt:lpstr>
      <vt:lpstr>Important Problem Types</vt:lpstr>
      <vt:lpstr>Algorithm  Design Techniques/Strategies</vt:lpstr>
      <vt:lpstr>Algorithm  Design Techniques/Strategies</vt:lpstr>
      <vt:lpstr>Brute Force Algorithms</vt:lpstr>
      <vt:lpstr>Introduction</vt:lpstr>
      <vt:lpstr>Introduction</vt:lpstr>
      <vt:lpstr>Introduction</vt:lpstr>
      <vt:lpstr>Max Number of 1’s</vt:lpstr>
      <vt:lpstr>Max Number of 1’s (Basic Solution)</vt:lpstr>
      <vt:lpstr>Max Number of 1’s (Example 01)</vt:lpstr>
      <vt:lpstr>Max Number of 1’s (Example 01)</vt:lpstr>
      <vt:lpstr>Max Number of 1’s (Example 02)</vt:lpstr>
      <vt:lpstr>Max Number of 1’s (Analysis)</vt:lpstr>
      <vt:lpstr>Max Number of 1’s (Optimal Solution)</vt:lpstr>
      <vt:lpstr>Max Number of 1’s (Example 01)</vt:lpstr>
      <vt:lpstr>Max Number of 1’s (Example 02)</vt:lpstr>
      <vt:lpstr>Max Number of 1’s (Analysis)</vt:lpstr>
      <vt:lpstr>Selection Sort</vt:lpstr>
      <vt:lpstr>Selection Sort - Introduction</vt:lpstr>
      <vt:lpstr>Selection Sort</vt:lpstr>
      <vt:lpstr>Selection Sort - Algorithm</vt:lpstr>
      <vt:lpstr>Selection Sort – Tracing</vt:lpstr>
      <vt:lpstr>Selection Sort – Tracing</vt:lpstr>
      <vt:lpstr>Selection Sort – Tracing</vt:lpstr>
      <vt:lpstr>Selection Sort – Tracing</vt:lpstr>
      <vt:lpstr>Selection Sort – Tracing</vt:lpstr>
      <vt:lpstr>Selection Sort – Tracing</vt:lpstr>
      <vt:lpstr>Selection Sort – Tracing</vt:lpstr>
      <vt:lpstr>Selection Sort</vt:lpstr>
      <vt:lpstr>Selection Sort – Analysis</vt:lpstr>
      <vt:lpstr>Selection Sort – Analysis</vt:lpstr>
      <vt:lpstr>Bubble Sort</vt:lpstr>
      <vt:lpstr>Algorithm</vt:lpstr>
      <vt:lpstr>Tracing</vt:lpstr>
      <vt:lpstr>Tracing</vt:lpstr>
      <vt:lpstr>Bubble Sort</vt:lpstr>
      <vt:lpstr>Analysis</vt:lpstr>
      <vt:lpstr>Analysis</vt:lpstr>
      <vt:lpstr>Analysis</vt:lpstr>
      <vt:lpstr>Sequential Search</vt:lpstr>
      <vt:lpstr>Algorithm</vt:lpstr>
      <vt:lpstr>Tracing</vt:lpstr>
      <vt:lpstr>Analysis</vt:lpstr>
      <vt:lpstr>Sequential Search</vt:lpstr>
      <vt:lpstr>Algorithm</vt:lpstr>
      <vt:lpstr>Tracing</vt:lpstr>
      <vt:lpstr>Analysis</vt:lpstr>
      <vt:lpstr>Students’ Exercise</vt:lpstr>
      <vt:lpstr>String Matching</vt:lpstr>
      <vt:lpstr>String Matching - Introduction</vt:lpstr>
      <vt:lpstr>String Matching</vt:lpstr>
      <vt:lpstr>String Matching - Algorithm</vt:lpstr>
      <vt:lpstr>String Matching – Tracing</vt:lpstr>
      <vt:lpstr>String Matching</vt:lpstr>
      <vt:lpstr>String Matching – Analysis</vt:lpstr>
      <vt:lpstr>Closest Pair Problem</vt:lpstr>
      <vt:lpstr>Closest-Pair Problem</vt:lpstr>
      <vt:lpstr>Closest-Pair Problem</vt:lpstr>
      <vt:lpstr>Closest-Pair Problem</vt:lpstr>
      <vt:lpstr>Closest-Pair Problem</vt:lpstr>
      <vt:lpstr>Closest-Pair Problem</vt:lpstr>
      <vt:lpstr>Closest-Pair Problem</vt:lpstr>
      <vt:lpstr>Closest-Pair Problem</vt:lpstr>
      <vt:lpstr>Closest-Pair Problem</vt:lpstr>
      <vt:lpstr>Closest Pair Problem</vt:lpstr>
      <vt:lpstr>Closest-Pair Algorithm</vt:lpstr>
      <vt:lpstr>Closest Pair Problem</vt:lpstr>
      <vt:lpstr>Closest-Pair Algorithm (Analysis)</vt:lpstr>
      <vt:lpstr>Closest-Pair Algorithm (Analysis)</vt:lpstr>
      <vt:lpstr>Convex Hull Problem</vt:lpstr>
      <vt:lpstr>Convex</vt:lpstr>
      <vt:lpstr>Convex-Hull</vt:lpstr>
      <vt:lpstr>Convex Hull Problem</vt:lpstr>
      <vt:lpstr>Convex-Hull Problem</vt:lpstr>
      <vt:lpstr>Convex-Hull Problem</vt:lpstr>
      <vt:lpstr>Convex-Hull Problem</vt:lpstr>
      <vt:lpstr>Convex-Hull Problem</vt:lpstr>
      <vt:lpstr>Convex-Hull Problem</vt:lpstr>
      <vt:lpstr>Convex-Hull Problem</vt:lpstr>
      <vt:lpstr>Convex-Hull Problem</vt:lpstr>
      <vt:lpstr>Convex-Hull Problem</vt:lpstr>
      <vt:lpstr>Convex-Hull Problem</vt:lpstr>
      <vt:lpstr>Convex-Hull Problem</vt:lpstr>
      <vt:lpstr>Convex Hull Problem</vt:lpstr>
      <vt:lpstr>Convex-Hull Problem</vt:lpstr>
      <vt:lpstr>Convex-Hull Problem</vt:lpstr>
      <vt:lpstr>Brute Force Algorithms</vt:lpstr>
      <vt:lpstr>Brute Force Algorithms</vt:lpstr>
      <vt:lpstr>Brute Force Algorithms</vt:lpstr>
      <vt:lpstr>Brute Force Algorithms</vt:lpstr>
      <vt:lpstr>Brute Force Algorithms</vt:lpstr>
      <vt:lpstr>Brute Force Algorithms</vt:lpstr>
      <vt:lpstr>Brute Force Algorithms</vt:lpstr>
      <vt:lpstr>Brute Force Algorithms</vt:lpstr>
      <vt:lpstr>PowerPoint Presentation</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pc</dc:creator>
  <cp:lastModifiedBy>Windows User</cp:lastModifiedBy>
  <cp:revision>196</cp:revision>
  <cp:lastPrinted>2023-09-25T08:12:32Z</cp:lastPrinted>
  <dcterms:created xsi:type="dcterms:W3CDTF">2018-06-20T09:11:51Z</dcterms:created>
  <dcterms:modified xsi:type="dcterms:W3CDTF">2025-02-12T11:48:48Z</dcterms:modified>
</cp:coreProperties>
</file>