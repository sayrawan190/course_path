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2"/>
  </p:notesMasterIdLst>
  <p:handoutMasterIdLst>
    <p:handoutMasterId r:id="rId133"/>
  </p:handoutMasterIdLst>
  <p:sldIdLst>
    <p:sldId id="308" r:id="rId2"/>
    <p:sldId id="320" r:id="rId3"/>
    <p:sldId id="4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470" r:id="rId19"/>
    <p:sldId id="475" r:id="rId20"/>
    <p:sldId id="273" r:id="rId21"/>
    <p:sldId id="274" r:id="rId22"/>
    <p:sldId id="471" r:id="rId23"/>
    <p:sldId id="472" r:id="rId24"/>
    <p:sldId id="473" r:id="rId25"/>
    <p:sldId id="278" r:id="rId26"/>
    <p:sldId id="476" r:id="rId27"/>
    <p:sldId id="474" r:id="rId28"/>
    <p:sldId id="279" r:id="rId29"/>
    <p:sldId id="280" r:id="rId30"/>
    <p:sldId id="281" r:id="rId31"/>
    <p:sldId id="282" r:id="rId32"/>
    <p:sldId id="283" r:id="rId33"/>
    <p:sldId id="285" r:id="rId34"/>
    <p:sldId id="468" r:id="rId35"/>
    <p:sldId id="286" r:id="rId36"/>
    <p:sldId id="287" r:id="rId37"/>
    <p:sldId id="478" r:id="rId38"/>
    <p:sldId id="479" r:id="rId39"/>
    <p:sldId id="480" r:id="rId40"/>
    <p:sldId id="481" r:id="rId41"/>
    <p:sldId id="482" r:id="rId42"/>
    <p:sldId id="483" r:id="rId43"/>
    <p:sldId id="291" r:id="rId44"/>
    <p:sldId id="292" r:id="rId45"/>
    <p:sldId id="321" r:id="rId46"/>
    <p:sldId id="293" r:id="rId47"/>
    <p:sldId id="295" r:id="rId48"/>
    <p:sldId id="296" r:id="rId49"/>
    <p:sldId id="322" r:id="rId50"/>
    <p:sldId id="297" r:id="rId51"/>
    <p:sldId id="298" r:id="rId52"/>
    <p:sldId id="299" r:id="rId53"/>
    <p:sldId id="300" r:id="rId54"/>
    <p:sldId id="301" r:id="rId55"/>
    <p:sldId id="347" r:id="rId56"/>
    <p:sldId id="348" r:id="rId57"/>
    <p:sldId id="302" r:id="rId58"/>
    <p:sldId id="303" r:id="rId59"/>
    <p:sldId id="304" r:id="rId60"/>
    <p:sldId id="305" r:id="rId61"/>
    <p:sldId id="306" r:id="rId62"/>
    <p:sldId id="307" r:id="rId63"/>
    <p:sldId id="484" r:id="rId64"/>
    <p:sldId id="485" r:id="rId65"/>
    <p:sldId id="486" r:id="rId66"/>
    <p:sldId id="487" r:id="rId67"/>
    <p:sldId id="488" r:id="rId68"/>
    <p:sldId id="489" r:id="rId69"/>
    <p:sldId id="490" r:id="rId70"/>
    <p:sldId id="491" r:id="rId71"/>
    <p:sldId id="382" r:id="rId72"/>
    <p:sldId id="383" r:id="rId73"/>
    <p:sldId id="384" r:id="rId74"/>
    <p:sldId id="385" r:id="rId75"/>
    <p:sldId id="386" r:id="rId76"/>
    <p:sldId id="387" r:id="rId77"/>
    <p:sldId id="388" r:id="rId78"/>
    <p:sldId id="389" r:id="rId79"/>
    <p:sldId id="390" r:id="rId80"/>
    <p:sldId id="391" r:id="rId81"/>
    <p:sldId id="392" r:id="rId82"/>
    <p:sldId id="393" r:id="rId83"/>
    <p:sldId id="394" r:id="rId84"/>
    <p:sldId id="395" r:id="rId85"/>
    <p:sldId id="396" r:id="rId86"/>
    <p:sldId id="397" r:id="rId87"/>
    <p:sldId id="398" r:id="rId88"/>
    <p:sldId id="399" r:id="rId89"/>
    <p:sldId id="400" r:id="rId90"/>
    <p:sldId id="401" r:id="rId91"/>
    <p:sldId id="402" r:id="rId92"/>
    <p:sldId id="403" r:id="rId93"/>
    <p:sldId id="404" r:id="rId94"/>
    <p:sldId id="405" r:id="rId95"/>
    <p:sldId id="406" r:id="rId96"/>
    <p:sldId id="407" r:id="rId97"/>
    <p:sldId id="408" r:id="rId98"/>
    <p:sldId id="409" r:id="rId99"/>
    <p:sldId id="410" r:id="rId100"/>
    <p:sldId id="411" r:id="rId101"/>
    <p:sldId id="412" r:id="rId102"/>
    <p:sldId id="413" r:id="rId103"/>
    <p:sldId id="414" r:id="rId104"/>
    <p:sldId id="441" r:id="rId105"/>
    <p:sldId id="442" r:id="rId106"/>
    <p:sldId id="443" r:id="rId107"/>
    <p:sldId id="444" r:id="rId108"/>
    <p:sldId id="445" r:id="rId109"/>
    <p:sldId id="446" r:id="rId110"/>
    <p:sldId id="447" r:id="rId111"/>
    <p:sldId id="448" r:id="rId112"/>
    <p:sldId id="449" r:id="rId113"/>
    <p:sldId id="450" r:id="rId114"/>
    <p:sldId id="451" r:id="rId115"/>
    <p:sldId id="452" r:id="rId116"/>
    <p:sldId id="453" r:id="rId117"/>
    <p:sldId id="454" r:id="rId118"/>
    <p:sldId id="455" r:id="rId119"/>
    <p:sldId id="456" r:id="rId120"/>
    <p:sldId id="457" r:id="rId121"/>
    <p:sldId id="458" r:id="rId122"/>
    <p:sldId id="459" r:id="rId123"/>
    <p:sldId id="460" r:id="rId124"/>
    <p:sldId id="461" r:id="rId125"/>
    <p:sldId id="462" r:id="rId126"/>
    <p:sldId id="463" r:id="rId127"/>
    <p:sldId id="464" r:id="rId128"/>
    <p:sldId id="465" r:id="rId129"/>
    <p:sldId id="466" r:id="rId130"/>
    <p:sldId id="467" r:id="rId1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48" y="9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6C78C8-E966-4B7E-8D03-C3617DCE2AE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0298CF-D651-4443-B55A-DF5768370C12}">
      <dgm:prSet custT="1"/>
      <dgm:spPr/>
      <dgm:t>
        <a:bodyPr/>
        <a:lstStyle/>
        <a:p>
          <a:pPr rtl="0"/>
          <a:r>
            <a:rPr lang="en-US" sz="2800" b="0" i="0" dirty="0" smtClean="0"/>
            <a:t>Allah (Alone) is Sufficient for us, and He is the Best Disposer of affairs (for us).</a:t>
          </a:r>
          <a:r>
            <a:rPr lang="en-US" sz="1800" b="1" i="0" dirty="0" smtClean="0">
              <a:solidFill>
                <a:srgbClr val="FFFF00"/>
              </a:solidFill>
            </a:rPr>
            <a:t>(Quran 3 : 173)</a:t>
          </a:r>
          <a:endParaRPr lang="en-US" sz="2800" b="1" dirty="0">
            <a:solidFill>
              <a:srgbClr val="FFFF00"/>
            </a:solidFill>
          </a:endParaRPr>
        </a:p>
      </dgm:t>
    </dgm:pt>
    <dgm:pt modelId="{94D4A7AF-7DD5-4972-8AFE-63E5241EBC78}" type="parTrans" cxnId="{035C481D-78C9-4B0B-AFBB-5159B2FBB74E}">
      <dgm:prSet/>
      <dgm:spPr/>
      <dgm:t>
        <a:bodyPr/>
        <a:lstStyle/>
        <a:p>
          <a:endParaRPr lang="en-US"/>
        </a:p>
      </dgm:t>
    </dgm:pt>
    <dgm:pt modelId="{49F4A85F-A4DA-4A47-A43A-2382483BB2DD}" type="sibTrans" cxnId="{035C481D-78C9-4B0B-AFBB-5159B2FBB74E}">
      <dgm:prSet/>
      <dgm:spPr/>
      <dgm:t>
        <a:bodyPr/>
        <a:lstStyle/>
        <a:p>
          <a:endParaRPr lang="en-US"/>
        </a:p>
      </dgm:t>
    </dgm:pt>
    <dgm:pt modelId="{E8A93B39-86E4-4E2D-ADB5-63BB251ED922}" type="pres">
      <dgm:prSet presAssocID="{816C78C8-E966-4B7E-8D03-C3617DCE2AE7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D7346C7-6971-492F-9741-DB24D68F8AC9}" type="pres">
      <dgm:prSet presAssocID="{160298CF-D651-4443-B55A-DF5768370C12}" presName="composite" presStyleCnt="0"/>
      <dgm:spPr/>
    </dgm:pt>
    <dgm:pt modelId="{CDEFADC2-8A87-4F86-99C7-5152EDF32688}" type="pres">
      <dgm:prSet presAssocID="{160298CF-D651-4443-B55A-DF5768370C12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D2C15A2E-F265-4E83-96D0-995A90E88EBF}" type="pres">
      <dgm:prSet presAssocID="{160298CF-D651-4443-B55A-DF5768370C12}" presName="txShp" presStyleLbl="node1" presStyleIdx="0" presStyleCnt="1" custLinFactNeighborX="26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35C481D-78C9-4B0B-AFBB-5159B2FBB74E}" srcId="{816C78C8-E966-4B7E-8D03-C3617DCE2AE7}" destId="{160298CF-D651-4443-B55A-DF5768370C12}" srcOrd="0" destOrd="0" parTransId="{94D4A7AF-7DD5-4972-8AFE-63E5241EBC78}" sibTransId="{49F4A85F-A4DA-4A47-A43A-2382483BB2DD}"/>
    <dgm:cxn modelId="{A0F22FF6-FF08-4639-AD20-5467EC4F0D1C}" type="presOf" srcId="{160298CF-D651-4443-B55A-DF5768370C12}" destId="{D2C15A2E-F265-4E83-96D0-995A90E88EBF}" srcOrd="0" destOrd="0" presId="urn:microsoft.com/office/officeart/2005/8/layout/vList3"/>
    <dgm:cxn modelId="{3427F590-6DEA-4DD1-A81D-A53337155CB3}" type="presOf" srcId="{816C78C8-E966-4B7E-8D03-C3617DCE2AE7}" destId="{E8A93B39-86E4-4E2D-ADB5-63BB251ED922}" srcOrd="0" destOrd="0" presId="urn:microsoft.com/office/officeart/2005/8/layout/vList3"/>
    <dgm:cxn modelId="{047BC2B9-1628-431A-9227-41EC884D4CC9}" type="presParOf" srcId="{E8A93B39-86E4-4E2D-ADB5-63BB251ED922}" destId="{BD7346C7-6971-492F-9741-DB24D68F8AC9}" srcOrd="0" destOrd="0" presId="urn:microsoft.com/office/officeart/2005/8/layout/vList3"/>
    <dgm:cxn modelId="{A0A2B569-CD52-4CEA-A802-79D4D9E90FCD}" type="presParOf" srcId="{BD7346C7-6971-492F-9741-DB24D68F8AC9}" destId="{CDEFADC2-8A87-4F86-99C7-5152EDF32688}" srcOrd="0" destOrd="0" presId="urn:microsoft.com/office/officeart/2005/8/layout/vList3"/>
    <dgm:cxn modelId="{147783F4-461D-4962-B766-2541044D8B18}" type="presParOf" srcId="{BD7346C7-6971-492F-9741-DB24D68F8AC9}" destId="{D2C15A2E-F265-4E83-96D0-995A90E88EB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15A2E-F265-4E83-96D0-995A90E88EBF}">
      <dsp:nvSpPr>
        <dsp:cNvPr id="0" name=""/>
        <dsp:cNvSpPr/>
      </dsp:nvSpPr>
      <dsp:spPr>
        <a:xfrm rot="10800000">
          <a:off x="1958602" y="0"/>
          <a:ext cx="6080760" cy="16439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4940" tIns="106680" rIns="199136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i="0" kern="1200" dirty="0" smtClean="0"/>
            <a:t>Allah (Alone) is Sufficient for us, and He is the Best Disposer of affairs (for us).</a:t>
          </a:r>
          <a:r>
            <a:rPr lang="en-US" sz="1800" b="1" i="0" kern="1200" dirty="0" smtClean="0">
              <a:solidFill>
                <a:srgbClr val="FFFF00"/>
              </a:solidFill>
            </a:rPr>
            <a:t>(Quran 3 : 173)</a:t>
          </a:r>
          <a:endParaRPr lang="en-US" sz="2800" b="1" kern="1200" dirty="0">
            <a:solidFill>
              <a:srgbClr val="FFFF00"/>
            </a:solidFill>
          </a:endParaRPr>
        </a:p>
      </dsp:txBody>
      <dsp:txXfrm rot="10800000">
        <a:off x="2369592" y="0"/>
        <a:ext cx="5669770" cy="1643959"/>
      </dsp:txXfrm>
    </dsp:sp>
    <dsp:sp modelId="{CDEFADC2-8A87-4F86-99C7-5152EDF32688}">
      <dsp:nvSpPr>
        <dsp:cNvPr id="0" name=""/>
        <dsp:cNvSpPr/>
      </dsp:nvSpPr>
      <dsp:spPr>
        <a:xfrm>
          <a:off x="1120630" y="0"/>
          <a:ext cx="1643959" cy="164395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44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22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05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31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88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55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63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D3409A-6F14-44A0-8ED2-043F2C535F54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Euclid’s algorithm is good for introducing the notion of an algorithm because it </a:t>
            </a:r>
          </a:p>
          <a:p>
            <a:r>
              <a:rPr lang="en-US" altLang="en-US" dirty="0"/>
              <a:t>makes a clear separation from a program that implements the algorithm.</a:t>
            </a:r>
          </a:p>
          <a:p>
            <a:r>
              <a:rPr lang="en-US" altLang="en-US" dirty="0"/>
              <a:t>It is also one that is familiar to most students.</a:t>
            </a:r>
          </a:p>
          <a:p>
            <a:endParaRPr lang="en-US" altLang="en-US" dirty="0"/>
          </a:p>
          <a:p>
            <a:r>
              <a:rPr lang="en-US" altLang="en-US" dirty="0"/>
              <a:t>Al </a:t>
            </a:r>
            <a:r>
              <a:rPr lang="en-US" altLang="en-US" dirty="0" err="1"/>
              <a:t>Khowarizmi</a:t>
            </a:r>
            <a:r>
              <a:rPr lang="en-US" altLang="en-US" dirty="0"/>
              <a:t> (many spellings possible...) – “algorism” (originally) and then</a:t>
            </a:r>
          </a:p>
          <a:p>
            <a:r>
              <a:rPr lang="en-US" altLang="en-US" dirty="0"/>
              <a:t> later “algorithm” come from his name.</a:t>
            </a:r>
          </a:p>
        </p:txBody>
      </p:sp>
    </p:spTree>
    <p:extLst>
      <p:ext uri="{BB962C8B-B14F-4D97-AF65-F5344CB8AC3E}">
        <p14:creationId xmlns:p14="http://schemas.microsoft.com/office/powerpoint/2010/main" val="1125273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D4531B-4EB5-4379-BDDA-465981CD213E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1207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D4531B-4EB5-4379-BDDA-465981CD213E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7832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D4531B-4EB5-4379-BDDA-465981CD213E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398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D4531B-4EB5-4379-BDDA-465981CD213E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587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D3409A-6F14-44A0-8ED2-043F2C535F54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7500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D4531B-4EB5-4379-BDDA-465981CD213E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3671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93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93F14D-D511-4E54-A95C-590176A24355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7884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BE5336-5161-47BC-9955-34038F49646B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050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78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FEE0F2-5A47-45FF-947B-2EC49EF5627B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005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295444-0E35-4D8C-96E3-8186CCACFB8A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80105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02886F-46D4-478A-B29C-89EB5244A684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1733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264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7CFE62-2196-4A21-BBCD-1482BE560016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1983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8905F0-8F2B-46D6-BB07-3277233CB8B4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94371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68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403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53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5-9, 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5-9, 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5-9, 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5-9,  2016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5-9,  2016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5-9,  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5-9, 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5-9, 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5-9, 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5-9, 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58825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266825"/>
            <a:ext cx="8305800" cy="490537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June 12-16,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81200" y="6400800"/>
            <a:ext cx="53340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Dr. Muhammad Umair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2950" y="6553200"/>
            <a:ext cx="1905000" cy="304800"/>
          </a:xfrm>
        </p:spPr>
        <p:txBody>
          <a:bodyPr/>
          <a:lstStyle>
            <a:lvl1pPr>
              <a:defRPr/>
            </a:lvl1pPr>
          </a:lstStyle>
          <a:p>
            <a:fld id="{3193F17E-058F-4063-872F-7C4F20F9E7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7473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Instructor Dr. Muhammad Umair</a:t>
            </a:r>
            <a:endParaRPr lang="en-US" sz="14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smtClean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 smtClean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 smtClean="0"/>
              <a:t>CPCS 223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eve_of_Eratosthene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4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 smtClean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 smtClean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02156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Introduction to Algorithms</a:t>
            </a:r>
            <a:endParaRPr lang="en-US" sz="60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7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Algorithms</a:t>
            </a:r>
            <a:endParaRPr lang="en-US" sz="60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Problem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3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2"/>
                </a:solidFill>
              </a:rPr>
              <a:t>Problem Statement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 smtClean="0">
                <a:solidFill>
                  <a:schemeClr val="accent6"/>
                </a:solidFill>
              </a:rPr>
              <a:t>Definition</a:t>
            </a:r>
          </a:p>
          <a:p>
            <a:pPr lvl="1"/>
            <a:r>
              <a:rPr lang="en-US" dirty="0" smtClean="0"/>
              <a:t>The description of a problem</a:t>
            </a:r>
            <a:endParaRPr lang="en-US" dirty="0"/>
          </a:p>
          <a:p>
            <a:pPr lvl="1"/>
            <a:r>
              <a:rPr lang="en-US" dirty="0"/>
              <a:t>Ingredients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Input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Process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Output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6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Problem </a:t>
            </a:r>
            <a:r>
              <a:rPr lang="en-US" sz="3200" b="1" dirty="0" smtClean="0">
                <a:solidFill>
                  <a:schemeClr val="accent2"/>
                </a:solidFill>
              </a:rPr>
              <a:t>Statement</a:t>
            </a:r>
            <a:r>
              <a:rPr lang="en-US" sz="2400" b="1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– Example 01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which takes two integer values from the user and display the sum of these values after adding them.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4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>
                <a:solidFill>
                  <a:srgbClr val="00B050"/>
                </a:solidFill>
              </a:rPr>
              <a:t>takes two integer values </a:t>
            </a:r>
            <a:r>
              <a:rPr lang="en-US" dirty="0"/>
              <a:t>from the user and display the sum of these values after adding them.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Problem </a:t>
            </a:r>
            <a:r>
              <a:rPr lang="en-US" sz="3200" b="1" dirty="0" smtClean="0">
                <a:solidFill>
                  <a:schemeClr val="accent2"/>
                </a:solidFill>
              </a:rPr>
              <a:t>Statement</a:t>
            </a:r>
            <a:r>
              <a:rPr lang="en-US" sz="2400" b="1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– Example 01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974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>
                <a:solidFill>
                  <a:srgbClr val="00B050"/>
                </a:solidFill>
              </a:rPr>
              <a:t>takes two integer values </a:t>
            </a:r>
            <a:r>
              <a:rPr lang="en-US" dirty="0"/>
              <a:t>from the user and display the sum of these values after </a:t>
            </a:r>
            <a:r>
              <a:rPr lang="en-US" dirty="0">
                <a:solidFill>
                  <a:srgbClr val="0070C0"/>
                </a:solidFill>
              </a:rPr>
              <a:t>adding them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Problem </a:t>
            </a:r>
            <a:r>
              <a:rPr lang="en-US" sz="3200" b="1" dirty="0" smtClean="0">
                <a:solidFill>
                  <a:schemeClr val="accent2"/>
                </a:solidFill>
              </a:rPr>
              <a:t>Statement</a:t>
            </a:r>
            <a:r>
              <a:rPr lang="en-US" sz="2400" b="1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– Example 01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40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>
                <a:solidFill>
                  <a:srgbClr val="00B050"/>
                </a:solidFill>
              </a:rPr>
              <a:t>takes two integer values </a:t>
            </a:r>
            <a:r>
              <a:rPr lang="en-US" dirty="0"/>
              <a:t>from the user and </a:t>
            </a:r>
            <a:r>
              <a:rPr lang="en-US" dirty="0">
                <a:solidFill>
                  <a:srgbClr val="FF0000"/>
                </a:solidFill>
              </a:rPr>
              <a:t>display the sum of these values</a:t>
            </a:r>
            <a:r>
              <a:rPr lang="en-US" dirty="0"/>
              <a:t> after </a:t>
            </a:r>
            <a:r>
              <a:rPr lang="en-US" dirty="0">
                <a:solidFill>
                  <a:srgbClr val="0070C0"/>
                </a:solidFill>
              </a:rPr>
              <a:t>adding them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Problem </a:t>
            </a:r>
            <a:r>
              <a:rPr lang="en-US" sz="3200" b="1" dirty="0" smtClean="0">
                <a:solidFill>
                  <a:schemeClr val="accent2"/>
                </a:solidFill>
              </a:rPr>
              <a:t>Statement</a:t>
            </a:r>
            <a:r>
              <a:rPr lang="en-US" sz="2400" b="1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– Example 01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814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/>
              <a:t>a program which takes two integer values from the user and display the sum of these </a:t>
            </a:r>
            <a:r>
              <a:rPr lang="en-US" dirty="0" smtClean="0"/>
              <a:t>values.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Problem </a:t>
            </a:r>
            <a:r>
              <a:rPr lang="en-US" sz="3200" b="1" dirty="0" smtClean="0">
                <a:solidFill>
                  <a:schemeClr val="accent2"/>
                </a:solidFill>
              </a:rPr>
              <a:t>Statement</a:t>
            </a:r>
            <a:r>
              <a:rPr lang="en-US" sz="2400" b="1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– Example 02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531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>
                <a:solidFill>
                  <a:srgbClr val="00B050"/>
                </a:solidFill>
              </a:rPr>
              <a:t>takes two integer values </a:t>
            </a:r>
            <a:r>
              <a:rPr lang="en-US" dirty="0"/>
              <a:t>from the user and display the sum of these </a:t>
            </a:r>
            <a:r>
              <a:rPr lang="en-US" dirty="0" smtClean="0"/>
              <a:t>values.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Problem </a:t>
            </a:r>
            <a:r>
              <a:rPr lang="en-US" sz="3200" b="1" dirty="0" smtClean="0">
                <a:solidFill>
                  <a:schemeClr val="accent2"/>
                </a:solidFill>
              </a:rPr>
              <a:t>Statement</a:t>
            </a:r>
            <a:r>
              <a:rPr lang="en-US" sz="2400" b="1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– Example 02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717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>
                <a:solidFill>
                  <a:srgbClr val="00B050"/>
                </a:solidFill>
              </a:rPr>
              <a:t>takes two integer values </a:t>
            </a:r>
            <a:r>
              <a:rPr lang="en-US" dirty="0"/>
              <a:t>from the user and </a:t>
            </a:r>
            <a:r>
              <a:rPr lang="en-US" dirty="0">
                <a:solidFill>
                  <a:srgbClr val="FF0000"/>
                </a:solidFill>
              </a:rPr>
              <a:t>display the sum of these </a:t>
            </a:r>
            <a:r>
              <a:rPr lang="en-US" dirty="0" smtClean="0">
                <a:solidFill>
                  <a:srgbClr val="FF0000"/>
                </a:solidFill>
              </a:rPr>
              <a:t>values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Problem </a:t>
            </a:r>
            <a:r>
              <a:rPr lang="en-US" sz="3200" b="1" dirty="0" smtClean="0">
                <a:solidFill>
                  <a:schemeClr val="accent2"/>
                </a:solidFill>
              </a:rPr>
              <a:t>Statement</a:t>
            </a:r>
            <a:r>
              <a:rPr lang="en-US" sz="2400" b="1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– Example 02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908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 smtClean="0"/>
              <a:t>displays </a:t>
            </a:r>
            <a:r>
              <a:rPr lang="en-US" dirty="0"/>
              <a:t>the sum of </a:t>
            </a:r>
            <a:r>
              <a:rPr lang="en-US" dirty="0" smtClean="0"/>
              <a:t>two integer values.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Problem </a:t>
            </a:r>
            <a:r>
              <a:rPr lang="en-US" sz="3200" b="1" dirty="0" smtClean="0">
                <a:solidFill>
                  <a:schemeClr val="accent2"/>
                </a:solidFill>
              </a:rPr>
              <a:t>Statement</a:t>
            </a:r>
            <a:r>
              <a:rPr lang="en-US" sz="2400" b="1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– Example 03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495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 smtClean="0">
                <a:solidFill>
                  <a:srgbClr val="FF0000"/>
                </a:solidFill>
              </a:rPr>
              <a:t>displays </a:t>
            </a:r>
            <a:r>
              <a:rPr lang="en-US" dirty="0">
                <a:solidFill>
                  <a:srgbClr val="FF0000"/>
                </a:solidFill>
              </a:rPr>
              <a:t>the sum of </a:t>
            </a:r>
            <a:r>
              <a:rPr lang="en-US" dirty="0" smtClean="0">
                <a:solidFill>
                  <a:srgbClr val="FF0000"/>
                </a:solidFill>
              </a:rPr>
              <a:t>two integer values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Problem </a:t>
            </a:r>
            <a:r>
              <a:rPr lang="en-US" sz="3200" b="1" dirty="0" smtClean="0">
                <a:solidFill>
                  <a:schemeClr val="accent2"/>
                </a:solidFill>
              </a:rPr>
              <a:t>Statement</a:t>
            </a:r>
            <a:r>
              <a:rPr lang="en-US" sz="2400" b="1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– Example 03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4698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>
                <a:solidFill>
                  <a:srgbClr val="00B050"/>
                </a:solidFill>
              </a:rPr>
              <a:t>takes two integer values </a:t>
            </a:r>
            <a:r>
              <a:rPr lang="en-US" dirty="0"/>
              <a:t>from the user and </a:t>
            </a:r>
            <a:r>
              <a:rPr lang="en-US" dirty="0">
                <a:solidFill>
                  <a:srgbClr val="FF0000"/>
                </a:solidFill>
              </a:rPr>
              <a:t>display the sum of these values</a:t>
            </a:r>
            <a:r>
              <a:rPr lang="en-US" dirty="0"/>
              <a:t> after </a:t>
            </a:r>
            <a:r>
              <a:rPr lang="en-US" dirty="0">
                <a:solidFill>
                  <a:srgbClr val="0070C0"/>
                </a:solidFill>
              </a:rPr>
              <a:t>adding them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9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>
                <a:solidFill>
                  <a:srgbClr val="00B050"/>
                </a:solidFill>
              </a:rPr>
              <a:t>takes two integer values </a:t>
            </a:r>
            <a:r>
              <a:rPr lang="en-US" dirty="0"/>
              <a:t>from the user and </a:t>
            </a:r>
            <a:r>
              <a:rPr lang="en-US" dirty="0">
                <a:solidFill>
                  <a:srgbClr val="FF0000"/>
                </a:solidFill>
              </a:rPr>
              <a:t>display the sum of these </a:t>
            </a:r>
            <a:r>
              <a:rPr lang="en-US" dirty="0" smtClean="0">
                <a:solidFill>
                  <a:srgbClr val="FF0000"/>
                </a:solidFill>
              </a:rPr>
              <a:t>values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6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 smtClean="0">
                <a:solidFill>
                  <a:srgbClr val="FF0000"/>
                </a:solidFill>
              </a:rPr>
              <a:t>displays </a:t>
            </a:r>
            <a:r>
              <a:rPr lang="en-US" dirty="0">
                <a:solidFill>
                  <a:srgbClr val="FF0000"/>
                </a:solidFill>
              </a:rPr>
              <a:t>the sum of </a:t>
            </a:r>
            <a:r>
              <a:rPr lang="en-US" dirty="0" smtClean="0">
                <a:solidFill>
                  <a:srgbClr val="FF0000"/>
                </a:solidFill>
              </a:rPr>
              <a:t>two integer values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8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Definition</a:t>
            </a:r>
          </a:p>
          <a:p>
            <a:pPr lvl="1"/>
            <a:r>
              <a:rPr lang="en-US" dirty="0" smtClean="0"/>
              <a:t>“ The statement of a given problem which defines the relationship between the input and output”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17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2"/>
                </a:solidFill>
              </a:rPr>
              <a:t>Problem Statement</a:t>
            </a:r>
            <a:endParaRPr lang="en-US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1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Algorithms</a:t>
            </a:r>
            <a:endParaRPr lang="en-US" sz="60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Definition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82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2"/>
                </a:solidFill>
              </a:rPr>
              <a:t>Algorithm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74904" lvl="2" indent="0" algn="ctr">
              <a:buClr>
                <a:schemeClr val="accent3"/>
              </a:buClr>
              <a:buNone/>
            </a:pPr>
            <a:endParaRPr lang="en-US" sz="2800" dirty="0" smtClean="0"/>
          </a:p>
          <a:p>
            <a:pPr marL="374904" lvl="2" indent="0" algn="ctr">
              <a:buClr>
                <a:schemeClr val="accent3"/>
              </a:buClr>
              <a:buNone/>
            </a:pPr>
            <a:r>
              <a:rPr lang="en-US" sz="2800" b="1" dirty="0" smtClean="0">
                <a:solidFill>
                  <a:srgbClr val="0000FF"/>
                </a:solidFill>
              </a:rPr>
              <a:t>Procedure</a:t>
            </a:r>
            <a:r>
              <a:rPr lang="en-US" sz="2800" dirty="0" smtClean="0"/>
              <a:t> </a:t>
            </a:r>
            <a:r>
              <a:rPr lang="en-US" sz="2800" dirty="0"/>
              <a:t>to achieve the </a:t>
            </a:r>
            <a:r>
              <a:rPr lang="en-US" sz="2800" dirty="0" smtClean="0"/>
              <a:t>relationship between </a:t>
            </a:r>
            <a:r>
              <a:rPr lang="en-US" sz="2800" dirty="0" smtClean="0">
                <a:solidFill>
                  <a:srgbClr val="00B050"/>
                </a:solidFill>
              </a:rPr>
              <a:t>input</a:t>
            </a:r>
            <a:r>
              <a:rPr lang="en-US" sz="2800" dirty="0" smtClean="0"/>
              <a:t> and </a:t>
            </a:r>
            <a:r>
              <a:rPr lang="en-US" sz="2800" dirty="0" smtClean="0">
                <a:solidFill>
                  <a:srgbClr val="FF0000"/>
                </a:solidFill>
              </a:rPr>
              <a:t>output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US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7" y="4495800"/>
            <a:ext cx="3248025" cy="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Definition 01</a:t>
            </a:r>
          </a:p>
          <a:p>
            <a:pPr lvl="2" algn="just"/>
            <a:r>
              <a:rPr lang="en-US" sz="2200" dirty="0" smtClean="0"/>
              <a:t>A </a:t>
            </a:r>
            <a:r>
              <a:rPr lang="en-US" sz="2200" dirty="0"/>
              <a:t>sequence of computational steps which transform the input to output</a:t>
            </a:r>
          </a:p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20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2"/>
                </a:solidFill>
              </a:rPr>
              <a:t>Algorithm</a:t>
            </a:r>
            <a:endParaRPr lang="en-US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60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Definition 02</a:t>
            </a:r>
          </a:p>
          <a:p>
            <a:pPr lvl="2" algn="just"/>
            <a:r>
              <a:rPr lang="en-US" sz="2200" dirty="0" smtClean="0"/>
              <a:t>An </a:t>
            </a:r>
            <a:r>
              <a:rPr lang="en-US" sz="2200" dirty="0"/>
              <a:t>algorithm is a sequence of unambiguous (i.e. clear) instructions for solving a problem in a finite amount of time.</a:t>
            </a:r>
            <a:endParaRPr lang="en-US" sz="2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21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2"/>
                </a:solidFill>
              </a:rPr>
              <a:t>Algorithm</a:t>
            </a:r>
            <a:endParaRPr lang="en-US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55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Definition 03</a:t>
            </a:r>
          </a:p>
          <a:p>
            <a:pPr lvl="2" algn="just"/>
            <a:r>
              <a:rPr lang="en-US" sz="2200" dirty="0"/>
              <a:t>A computer algorithm is a detailed step by step method of solving a problem by using a computer.</a:t>
            </a:r>
            <a:endParaRPr lang="en-US" sz="2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22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2"/>
                </a:solidFill>
              </a:rPr>
              <a:t>Algorithm</a:t>
            </a:r>
            <a:endParaRPr lang="en-US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103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Definition 04</a:t>
            </a:r>
          </a:p>
          <a:p>
            <a:pPr lvl="2" algn="just"/>
            <a:r>
              <a:rPr lang="en-US" sz="2200" dirty="0"/>
              <a:t>An algorithm is a well-defined computational procedure that takes some values or set of values as input and produces some values or set of values as output.</a:t>
            </a:r>
            <a:endParaRPr lang="en-US" sz="2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23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2"/>
                </a:solidFill>
              </a:rPr>
              <a:t>Algorithm</a:t>
            </a:r>
            <a:endParaRPr lang="en-US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64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Algorithms</a:t>
            </a:r>
            <a:endParaRPr lang="en-US" sz="60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Characteristics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0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2"/>
                </a:solidFill>
              </a:rPr>
              <a:t>Characteristics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2"/>
            <a:r>
              <a:rPr lang="en-US" dirty="0" smtClean="0"/>
              <a:t>It </a:t>
            </a:r>
            <a:r>
              <a:rPr lang="en-US" dirty="0"/>
              <a:t>accepts one or more </a:t>
            </a:r>
            <a:r>
              <a:rPr lang="en-US" b="1" dirty="0">
                <a:solidFill>
                  <a:srgbClr val="00B050"/>
                </a:solidFill>
              </a:rPr>
              <a:t>inputs</a:t>
            </a:r>
            <a:endParaRPr lang="en-US" sz="2000" b="1" dirty="0">
              <a:solidFill>
                <a:srgbClr val="00B050"/>
              </a:solidFill>
            </a:endParaRPr>
          </a:p>
          <a:p>
            <a:pPr lvl="2"/>
            <a:r>
              <a:rPr lang="en-US" dirty="0"/>
              <a:t>It returns at least one </a:t>
            </a:r>
            <a:r>
              <a:rPr lang="en-US" b="1" dirty="0">
                <a:solidFill>
                  <a:srgbClr val="FF0000"/>
                </a:solidFill>
              </a:rPr>
              <a:t>output</a:t>
            </a:r>
            <a:endParaRPr lang="en-US" sz="2000" b="1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It terminates after </a:t>
            </a:r>
            <a:r>
              <a:rPr lang="en-US" b="1" dirty="0">
                <a:solidFill>
                  <a:srgbClr val="0000FF"/>
                </a:solidFill>
              </a:rPr>
              <a:t>finite steps</a:t>
            </a:r>
            <a:endParaRPr lang="en-US" sz="2000" b="1" dirty="0">
              <a:solidFill>
                <a:srgbClr val="0000FF"/>
              </a:solidFill>
            </a:endParaRPr>
          </a:p>
          <a:p>
            <a:pPr lvl="2"/>
            <a:r>
              <a:rPr lang="en-US" dirty="0"/>
              <a:t>It is </a:t>
            </a:r>
            <a:r>
              <a:rPr lang="en-US" b="1" dirty="0">
                <a:solidFill>
                  <a:srgbClr val="0000FF"/>
                </a:solidFill>
              </a:rPr>
              <a:t>independent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of a specific programming </a:t>
            </a:r>
            <a:r>
              <a:rPr lang="en-US" b="1" dirty="0">
                <a:solidFill>
                  <a:srgbClr val="0000FF"/>
                </a:solidFill>
              </a:rPr>
              <a:t>language</a:t>
            </a:r>
            <a:r>
              <a:rPr lang="en-US" dirty="0"/>
              <a:t>, machine or compiler</a:t>
            </a:r>
            <a:endParaRPr lang="en-US" sz="2000" dirty="0"/>
          </a:p>
          <a:p>
            <a:pPr lvl="2"/>
            <a:r>
              <a:rPr lang="en-US" dirty="0"/>
              <a:t>Unlike the computer programs (which are for computers understanding), algorithms are </a:t>
            </a:r>
            <a:r>
              <a:rPr lang="en-US" b="1" dirty="0">
                <a:solidFill>
                  <a:srgbClr val="0000FF"/>
                </a:solidFill>
              </a:rPr>
              <a:t>understood by humans</a:t>
            </a:r>
            <a:r>
              <a:rPr lang="en-US" dirty="0" smtClean="0"/>
              <a:t>.</a:t>
            </a:r>
          </a:p>
          <a:p>
            <a:pPr lvl="2"/>
            <a:r>
              <a:rPr lang="en-US" dirty="0"/>
              <a:t>for every input it halts with </a:t>
            </a:r>
            <a:r>
              <a:rPr lang="en-US" b="1" dirty="0">
                <a:solidFill>
                  <a:srgbClr val="0000FF"/>
                </a:solidFill>
              </a:rPr>
              <a:t>correct output</a:t>
            </a:r>
          </a:p>
          <a:p>
            <a:pPr marL="411480" lvl="1" indent="0">
              <a:buNone/>
            </a:pP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1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chemeClr val="accent2"/>
                </a:solidFill>
              </a:rPr>
              <a:t>Algorithm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An </a:t>
            </a:r>
            <a:r>
              <a:rPr lang="en-US" altLang="en-US" i="1" u="sng" dirty="0"/>
              <a:t>algorithm</a:t>
            </a:r>
            <a:r>
              <a:rPr lang="en-US" altLang="en-US" dirty="0"/>
              <a:t> is a sequence of unambiguous instructions for solving a problem, i.e., for obtaining a required output for any legitimate input in a finite amount of time.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0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Algorithms</a:t>
            </a:r>
            <a:endParaRPr lang="en-US" sz="60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Specifying the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53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2"/>
                </a:solidFill>
              </a:rPr>
              <a:t>Algorithm Write-Up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r>
              <a:rPr lang="en-US" dirty="0" smtClean="0"/>
              <a:t>Natural Language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Code Segments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Pseudo Code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7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/>
              <a:t>a program which </a:t>
            </a:r>
            <a:r>
              <a:rPr lang="en-US" dirty="0">
                <a:solidFill>
                  <a:srgbClr val="00B050"/>
                </a:solidFill>
              </a:rPr>
              <a:t>takes two integer values </a:t>
            </a:r>
            <a:r>
              <a:rPr lang="en-US" dirty="0"/>
              <a:t>from the user and </a:t>
            </a:r>
            <a:r>
              <a:rPr lang="en-US" dirty="0">
                <a:solidFill>
                  <a:srgbClr val="FF0000"/>
                </a:solidFill>
              </a:rPr>
              <a:t>display the sum of these values</a:t>
            </a:r>
            <a:r>
              <a:rPr lang="en-US" dirty="0"/>
              <a:t> after </a:t>
            </a:r>
            <a:r>
              <a:rPr lang="en-US" dirty="0">
                <a:solidFill>
                  <a:srgbClr val="0070C0"/>
                </a:solidFill>
              </a:rPr>
              <a:t>adding them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29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2"/>
                </a:solidFill>
              </a:rPr>
              <a:t>Algorithm Write-Up </a:t>
            </a:r>
            <a:r>
              <a:rPr lang="en-US" sz="3200" dirty="0" smtClean="0"/>
              <a:t>– Example 01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0213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Natural Language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 smtClean="0"/>
              <a:t>Step 1: Take input an integer “a”</a:t>
            </a:r>
          </a:p>
          <a:p>
            <a:pPr lvl="1"/>
            <a:r>
              <a:rPr lang="en-US" dirty="0" smtClean="0"/>
              <a:t>Step 2: Take input an integer “b”</a:t>
            </a:r>
          </a:p>
          <a:p>
            <a:pPr lvl="1"/>
            <a:r>
              <a:rPr lang="en-US" dirty="0" smtClean="0"/>
              <a:t>Step 3: Add  “a” and “b”</a:t>
            </a:r>
          </a:p>
          <a:p>
            <a:pPr lvl="1"/>
            <a:r>
              <a:rPr lang="en-US" dirty="0" smtClean="0"/>
              <a:t>Step 4: Store result in “c”</a:t>
            </a:r>
          </a:p>
          <a:p>
            <a:pPr lvl="1"/>
            <a:r>
              <a:rPr lang="en-US" dirty="0" smtClean="0"/>
              <a:t>Step 5: Display “c”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6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Code Segment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600" dirty="0" smtClean="0"/>
              <a:t>Scanner </a:t>
            </a:r>
            <a:r>
              <a:rPr lang="en-US" sz="2600" dirty="0"/>
              <a:t>in = </a:t>
            </a:r>
            <a:r>
              <a:rPr lang="en-US" sz="2600" dirty="0" smtClean="0"/>
              <a:t>new Scanner(System.in</a:t>
            </a:r>
            <a:r>
              <a:rPr lang="en-US" sz="2600" dirty="0"/>
              <a:t>); </a:t>
            </a:r>
            <a:endParaRPr lang="en-US" sz="2600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= </a:t>
            </a:r>
            <a:r>
              <a:rPr lang="en-US" dirty="0" err="1"/>
              <a:t>in.nextInt</a:t>
            </a:r>
            <a:r>
              <a:rPr lang="en-US" dirty="0" smtClean="0"/>
              <a:t>();</a:t>
            </a:r>
          </a:p>
          <a:p>
            <a:pPr lvl="1"/>
            <a:r>
              <a:rPr lang="en-US" dirty="0" smtClean="0"/>
              <a:t>b = </a:t>
            </a:r>
            <a:r>
              <a:rPr lang="en-US" dirty="0" err="1" smtClean="0"/>
              <a:t>in.nextInt</a:t>
            </a:r>
            <a:r>
              <a:rPr lang="en-US" dirty="0" smtClean="0"/>
              <a:t>();</a:t>
            </a:r>
          </a:p>
          <a:p>
            <a:pPr lvl="1"/>
            <a:r>
              <a:rPr lang="en-US" dirty="0" smtClean="0"/>
              <a:t>c = a + b;</a:t>
            </a:r>
          </a:p>
          <a:p>
            <a:pPr lvl="1"/>
            <a:r>
              <a:rPr lang="en-US" dirty="0" err="1" smtClean="0"/>
              <a:t>System.out.println</a:t>
            </a:r>
            <a:r>
              <a:rPr lang="en-US" dirty="0" smtClean="0"/>
              <a:t>(c);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8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Pseudo Code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Take input of two values “a” and “b”</a:t>
            </a:r>
          </a:p>
          <a:p>
            <a:pPr lvl="1"/>
            <a:r>
              <a:rPr lang="en-US" dirty="0" smtClean="0"/>
              <a:t>c = a + b;</a:t>
            </a:r>
          </a:p>
          <a:p>
            <a:pPr lvl="1"/>
            <a:r>
              <a:rPr lang="en-US" dirty="0" smtClean="0"/>
              <a:t>Display the value “c”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0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Role of an algorithm</a:t>
            </a:r>
            <a:r>
              <a:rPr lang="en-US" altLang="en-US" dirty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514600"/>
            <a:ext cx="6248400" cy="3657600"/>
          </a:xfrm>
          <a:solidFill>
            <a:srgbClr val="00823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33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497799" y="3124200"/>
            <a:ext cx="5237018" cy="2438400"/>
            <a:chOff x="914400" y="3124200"/>
            <a:chExt cx="7294563" cy="2971800"/>
          </a:xfrm>
        </p:grpSpPr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3286125" y="5334000"/>
              <a:ext cx="2743200" cy="7620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>
                  <a:solidFill>
                    <a:schemeClr val="bg2"/>
                  </a:solidFill>
                </a:rPr>
                <a:t>“computer” </a:t>
              </a: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4581525" y="3657600"/>
              <a:ext cx="0" cy="6096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4581525" y="4876800"/>
              <a:ext cx="0" cy="457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2967514" y="3124200"/>
              <a:ext cx="3184133" cy="457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dirty="0" smtClean="0">
                  <a:solidFill>
                    <a:schemeClr val="bg2"/>
                  </a:solidFill>
                </a:rPr>
                <a:t>Problem Statement</a:t>
              </a:r>
              <a:endParaRPr lang="en-US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3888974" y="4267200"/>
              <a:ext cx="1523216" cy="450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dirty="0">
                  <a:solidFill>
                    <a:schemeClr val="bg2"/>
                  </a:solidFill>
                </a:rPr>
                <a:t>algorithm</a:t>
              </a: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914400" y="5486400"/>
              <a:ext cx="11985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input</a:t>
              </a:r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7010400" y="5486400"/>
              <a:ext cx="11985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output</a:t>
              </a: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2057400" y="5791200"/>
              <a:ext cx="1219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6019800" y="5791200"/>
              <a:ext cx="11430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626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Algorithms</a:t>
            </a:r>
            <a:endParaRPr lang="en-US" sz="60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7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60D6-1338-49EC-A578-351E26BF7B91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00B050"/>
                </a:solidFill>
              </a:rPr>
              <a:t>Example 01</a:t>
            </a:r>
            <a:r>
              <a:rPr lang="en-US" altLang="en-US" sz="3600" dirty="0"/>
              <a:t> - </a:t>
            </a:r>
            <a:r>
              <a:rPr lang="en-US" altLang="en-US" sz="3600" dirty="0" smtClean="0"/>
              <a:t>Euclid’s </a:t>
            </a:r>
            <a:r>
              <a:rPr lang="en-US" altLang="en-US" sz="3600" dirty="0"/>
              <a:t>Algorithm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6172200" cy="4419600"/>
          </a:xfrm>
        </p:spPr>
        <p:txBody>
          <a:bodyPr>
            <a:normAutofit fontScale="62500" lnSpcReduction="20000"/>
          </a:bodyPr>
          <a:lstStyle/>
          <a:p>
            <a:pPr>
              <a:buFont typeface="Monotype Sorts" pitchFamily="2" charset="2"/>
              <a:buNone/>
            </a:pPr>
            <a:r>
              <a:rPr lang="en-US" altLang="en-US" b="1" dirty="0" smtClean="0">
                <a:solidFill>
                  <a:srgbClr val="00B050"/>
                </a:solidFill>
              </a:rPr>
              <a:t>Problem:</a:t>
            </a:r>
            <a:endParaRPr lang="en-US" altLang="en-US" dirty="0"/>
          </a:p>
          <a:p>
            <a:pPr algn="just"/>
            <a:r>
              <a:rPr lang="en-US" altLang="en-US" dirty="0" smtClean="0"/>
              <a:t>Find </a:t>
            </a:r>
            <a:r>
              <a:rPr lang="en-US" altLang="en-US" dirty="0" err="1"/>
              <a:t>gcd</a:t>
            </a:r>
            <a:r>
              <a:rPr lang="en-US" altLang="en-US" dirty="0"/>
              <a:t>(</a:t>
            </a:r>
            <a:r>
              <a:rPr lang="en-US" altLang="en-US" i="1" dirty="0" err="1"/>
              <a:t>m,n</a:t>
            </a:r>
            <a:r>
              <a:rPr lang="en-US" altLang="en-US" dirty="0"/>
              <a:t>), the greatest common divisor </a:t>
            </a:r>
            <a:r>
              <a:rPr lang="en-US" altLang="en-US" dirty="0" smtClean="0"/>
              <a:t>of two nonnegative</a:t>
            </a:r>
            <a:r>
              <a:rPr lang="en-US" altLang="en-US" dirty="0"/>
              <a:t>, not both zero integers </a:t>
            </a:r>
            <a:r>
              <a:rPr lang="en-US" altLang="en-US" i="1" dirty="0"/>
              <a:t>m </a:t>
            </a:r>
            <a:r>
              <a:rPr lang="en-US" altLang="en-US" dirty="0"/>
              <a:t>and </a:t>
            </a:r>
            <a:r>
              <a:rPr lang="en-US" altLang="en-US" i="1" dirty="0"/>
              <a:t>n</a:t>
            </a:r>
            <a:endParaRPr lang="en-US" altLang="en-US" dirty="0"/>
          </a:p>
          <a:p>
            <a:pPr>
              <a:buFont typeface="Monotype Sorts" pitchFamily="2" charset="2"/>
              <a:buNone/>
            </a:pPr>
            <a:r>
              <a:rPr lang="en-US" altLang="en-US" b="1" dirty="0" smtClean="0">
                <a:solidFill>
                  <a:schemeClr val="accent6"/>
                </a:solidFill>
              </a:rPr>
              <a:t>Procedure:</a:t>
            </a:r>
          </a:p>
          <a:p>
            <a:r>
              <a:rPr lang="en-US" altLang="en-US" dirty="0" smtClean="0"/>
              <a:t>Euclid’s </a:t>
            </a:r>
            <a:r>
              <a:rPr lang="en-US" altLang="en-US" dirty="0"/>
              <a:t>algorithm is based on repeated application of equality</a:t>
            </a:r>
          </a:p>
          <a:p>
            <a:pPr algn="ctr">
              <a:buFont typeface="Monotype Sorts" pitchFamily="2" charset="2"/>
              <a:buNone/>
            </a:pPr>
            <a:r>
              <a:rPr lang="en-US" altLang="en-US" b="1" dirty="0" err="1">
                <a:solidFill>
                  <a:srgbClr val="FF0000"/>
                </a:solidFill>
              </a:rPr>
              <a:t>gcd</a:t>
            </a:r>
            <a:r>
              <a:rPr lang="en-US" altLang="en-US" b="1" dirty="0">
                <a:solidFill>
                  <a:srgbClr val="FF0000"/>
                </a:solidFill>
              </a:rPr>
              <a:t>(</a:t>
            </a:r>
            <a:r>
              <a:rPr lang="en-US" altLang="en-US" b="1" i="1" dirty="0" err="1">
                <a:solidFill>
                  <a:srgbClr val="FF0000"/>
                </a:solidFill>
              </a:rPr>
              <a:t>m,n</a:t>
            </a:r>
            <a:r>
              <a:rPr lang="en-US" altLang="en-US" b="1" dirty="0">
                <a:solidFill>
                  <a:srgbClr val="FF0000"/>
                </a:solidFill>
              </a:rPr>
              <a:t>) = </a:t>
            </a:r>
            <a:r>
              <a:rPr lang="en-US" altLang="en-US" b="1" dirty="0" err="1">
                <a:solidFill>
                  <a:srgbClr val="FF0000"/>
                </a:solidFill>
              </a:rPr>
              <a:t>gcd</a:t>
            </a:r>
            <a:r>
              <a:rPr lang="en-US" altLang="en-US" b="1" dirty="0">
                <a:solidFill>
                  <a:srgbClr val="FF0000"/>
                </a:solidFill>
              </a:rPr>
              <a:t>(</a:t>
            </a:r>
            <a:r>
              <a:rPr lang="en-US" altLang="en-US" b="1" i="1" dirty="0">
                <a:solidFill>
                  <a:srgbClr val="FF0000"/>
                </a:solidFill>
              </a:rPr>
              <a:t>n, m </a:t>
            </a:r>
            <a:r>
              <a:rPr lang="en-US" altLang="en-US" b="1" dirty="0">
                <a:solidFill>
                  <a:srgbClr val="FF0000"/>
                </a:solidFill>
              </a:rPr>
              <a:t>mod </a:t>
            </a:r>
            <a:r>
              <a:rPr lang="en-US" altLang="en-US" b="1" i="1" dirty="0">
                <a:solidFill>
                  <a:srgbClr val="FF0000"/>
                </a:solidFill>
              </a:rPr>
              <a:t>n</a:t>
            </a:r>
            <a:r>
              <a:rPr lang="en-US" altLang="en-US" b="1" dirty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altLang="en-US" sz="3100" dirty="0"/>
              <a:t>until the second number becomes 0, which makes the problem trivial.</a:t>
            </a:r>
          </a:p>
          <a:p>
            <a:pPr>
              <a:buFont typeface="Monotype Sorts" pitchFamily="2" charset="2"/>
              <a:buNone/>
            </a:pPr>
            <a:r>
              <a:rPr lang="en-US" altLang="en-US" b="1" dirty="0">
                <a:solidFill>
                  <a:srgbClr val="0000FF"/>
                </a:solidFill>
              </a:rPr>
              <a:t>Examples:</a:t>
            </a:r>
          </a:p>
          <a:p>
            <a:pPr algn="just"/>
            <a:r>
              <a:rPr lang="en-US" altLang="en-US" dirty="0" err="1"/>
              <a:t>gcd</a:t>
            </a:r>
            <a:r>
              <a:rPr lang="en-US" altLang="en-US" dirty="0"/>
              <a:t>(60,24) = </a:t>
            </a:r>
            <a:r>
              <a:rPr lang="en-US" altLang="en-US" dirty="0" err="1"/>
              <a:t>gcd</a:t>
            </a:r>
            <a:r>
              <a:rPr lang="en-US" altLang="en-US" dirty="0"/>
              <a:t>(24,12) = </a:t>
            </a:r>
            <a:r>
              <a:rPr lang="en-US" altLang="en-US" dirty="0" err="1"/>
              <a:t>gcd</a:t>
            </a:r>
            <a:r>
              <a:rPr lang="en-US" altLang="en-US" dirty="0"/>
              <a:t>(12,0) = 12</a:t>
            </a:r>
          </a:p>
          <a:p>
            <a:pPr lvl="1" algn="just"/>
            <a:r>
              <a:rPr lang="en-US" altLang="en-US" dirty="0" err="1" smtClean="0"/>
              <a:t>gcd</a:t>
            </a:r>
            <a:r>
              <a:rPr lang="en-US" altLang="en-US" dirty="0" smtClean="0"/>
              <a:t>(60,24</a:t>
            </a:r>
            <a:r>
              <a:rPr lang="en-US" altLang="en-US" dirty="0"/>
              <a:t>) = </a:t>
            </a:r>
            <a:r>
              <a:rPr lang="en-US" altLang="en-US" dirty="0" smtClean="0"/>
              <a:t>12</a:t>
            </a:r>
          </a:p>
          <a:p>
            <a:pPr lvl="1" algn="just"/>
            <a:r>
              <a:rPr lang="en-US" altLang="en-US" dirty="0" err="1" smtClean="0"/>
              <a:t>gcd</a:t>
            </a:r>
            <a:r>
              <a:rPr lang="en-US" altLang="en-US" dirty="0" smtClean="0"/>
              <a:t>(60,0</a:t>
            </a:r>
            <a:r>
              <a:rPr lang="en-US" altLang="en-US" dirty="0"/>
              <a:t>) = </a:t>
            </a:r>
            <a:r>
              <a:rPr lang="en-US" altLang="en-US" dirty="0" smtClean="0"/>
              <a:t>60</a:t>
            </a:r>
          </a:p>
          <a:p>
            <a:pPr lvl="1" algn="just"/>
            <a:r>
              <a:rPr lang="en-US" altLang="en-US" dirty="0" err="1" smtClean="0"/>
              <a:t>gcd</a:t>
            </a:r>
            <a:r>
              <a:rPr lang="en-US" altLang="en-US" dirty="0" smtClean="0"/>
              <a:t>(0,0</a:t>
            </a:r>
            <a:r>
              <a:rPr lang="en-US" altLang="en-US" dirty="0"/>
              <a:t>) = </a:t>
            </a:r>
            <a:r>
              <a:rPr lang="en-US" altLang="en-US" dirty="0" smtClean="0"/>
              <a:t>?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960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5FC3-930D-42CC-88DA-F6860E69AA89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219200"/>
            <a:ext cx="6553200" cy="1143000"/>
          </a:xfrm>
        </p:spPr>
        <p:txBody>
          <a:bodyPr/>
          <a:lstStyle/>
          <a:p>
            <a:pPr algn="l"/>
            <a:r>
              <a:rPr lang="en-US" altLang="en-US" sz="3200" b="1" dirty="0" smtClean="0">
                <a:solidFill>
                  <a:srgbClr val="00B050"/>
                </a:solidFill>
              </a:rPr>
              <a:t>Example 01</a:t>
            </a:r>
            <a:r>
              <a:rPr lang="en-US" altLang="en-US" sz="3200" dirty="0" smtClean="0"/>
              <a:t> - </a:t>
            </a:r>
            <a:r>
              <a:rPr lang="en-US" altLang="en-US" sz="2400" dirty="0" smtClean="0"/>
              <a:t>Euclid’s </a:t>
            </a:r>
            <a:r>
              <a:rPr lang="en-US" altLang="en-US" sz="2400" dirty="0"/>
              <a:t>algorithm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362200"/>
            <a:ext cx="6858000" cy="3962400"/>
          </a:xfrm>
        </p:spPr>
        <p:txBody>
          <a:bodyPr>
            <a:normAutofit/>
          </a:bodyPr>
          <a:lstStyle/>
          <a:p>
            <a:pPr>
              <a:buFont typeface="Monotype Sorts" pitchFamily="2" charset="2"/>
              <a:buNone/>
            </a:pPr>
            <a:r>
              <a:rPr lang="en-US" altLang="en-US" b="1" dirty="0" smtClean="0">
                <a:solidFill>
                  <a:schemeClr val="accent6"/>
                </a:solidFill>
              </a:rPr>
              <a:t>Sample 01</a:t>
            </a:r>
          </a:p>
          <a:p>
            <a:pPr lvl="1"/>
            <a:r>
              <a:rPr lang="en-US" altLang="en-US" b="1" dirty="0" smtClean="0">
                <a:solidFill>
                  <a:srgbClr val="00823B"/>
                </a:solidFill>
              </a:rPr>
              <a:t>Step </a:t>
            </a:r>
            <a:r>
              <a:rPr lang="en-US" altLang="en-US" b="1" dirty="0">
                <a:solidFill>
                  <a:srgbClr val="00823B"/>
                </a:solidFill>
              </a:rPr>
              <a:t>1</a:t>
            </a:r>
            <a:r>
              <a:rPr lang="en-US" altLang="en-US" dirty="0"/>
              <a:t>  If </a:t>
            </a:r>
            <a:r>
              <a:rPr lang="pt-BR" altLang="en-US" i="1" dirty="0"/>
              <a:t>n</a:t>
            </a:r>
            <a:r>
              <a:rPr lang="pt-BR" altLang="en-US" dirty="0"/>
              <a:t> = 0, return </a:t>
            </a:r>
            <a:r>
              <a:rPr lang="pt-BR" altLang="en-US" i="1" dirty="0"/>
              <a:t>m</a:t>
            </a:r>
            <a:r>
              <a:rPr lang="pt-BR" altLang="en-US" dirty="0"/>
              <a:t> and stop; otherwise go to Step 2</a:t>
            </a:r>
          </a:p>
          <a:p>
            <a:pPr lvl="1"/>
            <a:r>
              <a:rPr lang="en-US" altLang="en-US" b="1" dirty="0">
                <a:solidFill>
                  <a:srgbClr val="00823B"/>
                </a:solidFill>
              </a:rPr>
              <a:t>Step 2</a:t>
            </a:r>
            <a:r>
              <a:rPr lang="en-US" altLang="en-US" dirty="0"/>
              <a:t> </a:t>
            </a:r>
            <a:r>
              <a:rPr lang="pt-BR" altLang="en-US" dirty="0"/>
              <a:t> Divide </a:t>
            </a:r>
            <a:r>
              <a:rPr lang="pt-BR" altLang="en-US" i="1" dirty="0"/>
              <a:t>m</a:t>
            </a:r>
            <a:r>
              <a:rPr lang="pt-BR" altLang="en-US" dirty="0"/>
              <a:t> by </a:t>
            </a:r>
            <a:r>
              <a:rPr lang="pt-BR" altLang="en-US" i="1" dirty="0"/>
              <a:t>n </a:t>
            </a:r>
            <a:r>
              <a:rPr lang="pt-BR" altLang="en-US" dirty="0"/>
              <a:t>and assign the value </a:t>
            </a:r>
            <a:r>
              <a:rPr lang="pt-BR" altLang="en-US" dirty="0" smtClean="0"/>
              <a:t>of </a:t>
            </a:r>
            <a:r>
              <a:rPr lang="pt-BR" altLang="en-US" dirty="0"/>
              <a:t>the </a:t>
            </a:r>
            <a:r>
              <a:rPr lang="pt-BR" altLang="en-US" dirty="0" smtClean="0"/>
              <a:t>remainder </a:t>
            </a:r>
            <a:r>
              <a:rPr lang="pt-BR" altLang="en-US" dirty="0"/>
              <a:t>to</a:t>
            </a:r>
            <a:r>
              <a:rPr lang="pt-BR" altLang="en-US" i="1" dirty="0"/>
              <a:t> r</a:t>
            </a:r>
          </a:p>
          <a:p>
            <a:pPr lvl="1"/>
            <a:r>
              <a:rPr lang="en-US" altLang="en-US" b="1" dirty="0">
                <a:solidFill>
                  <a:srgbClr val="00823B"/>
                </a:solidFill>
              </a:rPr>
              <a:t>Step 3</a:t>
            </a:r>
            <a:r>
              <a:rPr lang="en-US" altLang="en-US" dirty="0"/>
              <a:t>  Assign the value of </a:t>
            </a:r>
            <a:r>
              <a:rPr lang="en-US" altLang="en-US" i="1" dirty="0"/>
              <a:t>n </a:t>
            </a:r>
            <a:r>
              <a:rPr lang="en-US" altLang="en-US" dirty="0"/>
              <a:t>to </a:t>
            </a:r>
            <a:r>
              <a:rPr lang="en-US" altLang="en-US" i="1" dirty="0"/>
              <a:t>m</a:t>
            </a:r>
            <a:r>
              <a:rPr lang="en-US" altLang="en-US" dirty="0"/>
              <a:t> and the value of </a:t>
            </a:r>
            <a:r>
              <a:rPr lang="en-US" altLang="en-US" i="1" dirty="0"/>
              <a:t>r</a:t>
            </a:r>
            <a:r>
              <a:rPr lang="en-US" altLang="en-US" dirty="0"/>
              <a:t> to </a:t>
            </a:r>
            <a:r>
              <a:rPr lang="en-US" altLang="en-US" i="1" dirty="0"/>
              <a:t>n.  </a:t>
            </a:r>
            <a:r>
              <a:rPr lang="en-US" altLang="en-US" dirty="0"/>
              <a:t>Go </a:t>
            </a:r>
            <a:r>
              <a:rPr lang="en-US" altLang="en-US" dirty="0" smtClean="0"/>
              <a:t>to </a:t>
            </a:r>
            <a:r>
              <a:rPr lang="en-US" altLang="en-US" dirty="0"/>
              <a:t>Step 1</a:t>
            </a:r>
            <a:r>
              <a:rPr lang="en-US" altLang="en-US" dirty="0" smtClean="0"/>
              <a:t>.</a:t>
            </a:r>
            <a:r>
              <a:rPr lang="en-US" altLang="en-US" dirty="0"/>
              <a:t>	   </a:t>
            </a:r>
          </a:p>
        </p:txBody>
      </p:sp>
    </p:spTree>
    <p:extLst>
      <p:ext uri="{BB962C8B-B14F-4D97-AF65-F5344CB8AC3E}">
        <p14:creationId xmlns:p14="http://schemas.microsoft.com/office/powerpoint/2010/main" val="397248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5FC3-930D-42CC-88DA-F6860E69AA89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219200"/>
            <a:ext cx="6553200" cy="1143000"/>
          </a:xfrm>
        </p:spPr>
        <p:txBody>
          <a:bodyPr/>
          <a:lstStyle/>
          <a:p>
            <a:pPr algn="l"/>
            <a:r>
              <a:rPr lang="en-US" altLang="en-US" sz="3200" b="1" dirty="0" smtClean="0">
                <a:solidFill>
                  <a:srgbClr val="00B050"/>
                </a:solidFill>
              </a:rPr>
              <a:t>Example 01</a:t>
            </a:r>
            <a:r>
              <a:rPr lang="en-US" altLang="en-US" sz="3200" dirty="0" smtClean="0"/>
              <a:t> - </a:t>
            </a:r>
            <a:r>
              <a:rPr lang="en-US" altLang="en-US" sz="2400" dirty="0" smtClean="0"/>
              <a:t>Euclid’s </a:t>
            </a:r>
            <a:r>
              <a:rPr lang="en-US" altLang="en-US" sz="2400" dirty="0"/>
              <a:t>algorithm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362200"/>
            <a:ext cx="6858000" cy="3962400"/>
          </a:xfrm>
        </p:spPr>
        <p:txBody>
          <a:bodyPr>
            <a:normAutofit/>
          </a:bodyPr>
          <a:lstStyle/>
          <a:p>
            <a:pPr>
              <a:buFont typeface="Monotype Sorts" pitchFamily="2" charset="2"/>
              <a:buNone/>
            </a:pPr>
            <a:r>
              <a:rPr lang="en-US" altLang="en-US" b="1" dirty="0" smtClean="0">
                <a:solidFill>
                  <a:schemeClr val="accent6"/>
                </a:solidFill>
              </a:rPr>
              <a:t>Sample 02</a:t>
            </a:r>
          </a:p>
          <a:p>
            <a:pPr lvl="2">
              <a:buFont typeface="Monotype Sorts" pitchFamily="2" charset="2"/>
              <a:buNone/>
            </a:pPr>
            <a:r>
              <a:rPr lang="pt-BR" altLang="en-US" sz="3600" dirty="0"/>
              <a:t>while</a:t>
            </a:r>
            <a:r>
              <a:rPr lang="pt-BR" altLang="en-US" sz="3600" i="1" dirty="0"/>
              <a:t> n</a:t>
            </a:r>
            <a:r>
              <a:rPr lang="pt-BR" altLang="en-US" sz="3600" dirty="0"/>
              <a:t> ≠ 0 do</a:t>
            </a:r>
            <a:r>
              <a:rPr lang="pt-BR" altLang="en-US" sz="3600" i="1" dirty="0"/>
              <a:t>            </a:t>
            </a:r>
          </a:p>
          <a:p>
            <a:pPr lvl="2">
              <a:buFont typeface="Monotype Sorts" pitchFamily="2" charset="2"/>
              <a:buNone/>
            </a:pPr>
            <a:r>
              <a:rPr lang="pt-BR" altLang="en-US" sz="3600" i="1" dirty="0"/>
              <a:t>	r ← m </a:t>
            </a:r>
            <a:r>
              <a:rPr lang="pt-BR" altLang="en-US" sz="3600" dirty="0"/>
              <a:t>mod </a:t>
            </a:r>
            <a:r>
              <a:rPr lang="pt-BR" altLang="en-US" sz="3600" i="1" dirty="0"/>
              <a:t>n</a:t>
            </a:r>
          </a:p>
          <a:p>
            <a:pPr lvl="2">
              <a:buFont typeface="Monotype Sorts" pitchFamily="2" charset="2"/>
              <a:buNone/>
            </a:pPr>
            <a:r>
              <a:rPr lang="pt-BR" altLang="en-US" sz="3600" i="1" dirty="0"/>
              <a:t>    m← n   </a:t>
            </a:r>
          </a:p>
          <a:p>
            <a:pPr lvl="2">
              <a:buFont typeface="Monotype Sorts" pitchFamily="2" charset="2"/>
              <a:buNone/>
            </a:pPr>
            <a:r>
              <a:rPr lang="pt-BR" altLang="en-US" sz="3600" i="1" dirty="0"/>
              <a:t>    n ← r    </a:t>
            </a:r>
          </a:p>
          <a:p>
            <a:pPr lvl="2">
              <a:buFont typeface="Monotype Sorts" pitchFamily="2" charset="2"/>
              <a:buNone/>
            </a:pPr>
            <a:r>
              <a:rPr lang="pt-BR" altLang="en-US" sz="3600" dirty="0"/>
              <a:t>return</a:t>
            </a:r>
            <a:r>
              <a:rPr lang="pt-BR" altLang="en-US" sz="3600" i="1" dirty="0"/>
              <a:t> m</a:t>
            </a:r>
            <a:endParaRPr lang="en-US" alt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9853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5FC3-930D-42CC-88DA-F6860E69AA89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219200"/>
            <a:ext cx="6553200" cy="1143000"/>
          </a:xfrm>
        </p:spPr>
        <p:txBody>
          <a:bodyPr/>
          <a:lstStyle/>
          <a:p>
            <a:pPr algn="l"/>
            <a:r>
              <a:rPr lang="en-US" altLang="en-US" sz="3200" b="1" dirty="0" smtClean="0">
                <a:solidFill>
                  <a:srgbClr val="00B050"/>
                </a:solidFill>
              </a:rPr>
              <a:t>Example 02</a:t>
            </a:r>
            <a:r>
              <a:rPr lang="en-US" altLang="en-US" sz="3200" dirty="0" smtClean="0"/>
              <a:t> </a:t>
            </a:r>
            <a:r>
              <a:rPr lang="en-US" altLang="en-US" sz="3200" dirty="0"/>
              <a:t>- </a:t>
            </a:r>
            <a:r>
              <a:rPr lang="en-US" altLang="en-US" sz="2400" dirty="0"/>
              <a:t>Consecutive integer checking 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362200"/>
            <a:ext cx="6858000" cy="3962400"/>
          </a:xfrm>
        </p:spPr>
        <p:txBody>
          <a:bodyPr>
            <a:normAutofit/>
          </a:bodyPr>
          <a:lstStyle/>
          <a:p>
            <a:pPr lvl="1"/>
            <a:r>
              <a:rPr lang="en-US" altLang="en-US" b="1" dirty="0">
                <a:solidFill>
                  <a:srgbClr val="00823B"/>
                </a:solidFill>
              </a:rPr>
              <a:t>Step 1</a:t>
            </a:r>
            <a:r>
              <a:rPr lang="en-US" altLang="en-US" dirty="0"/>
              <a:t>  Assign the value of min{</a:t>
            </a:r>
            <a:r>
              <a:rPr lang="en-US" altLang="en-US" i="1" dirty="0" err="1"/>
              <a:t>m,n</a:t>
            </a:r>
            <a:r>
              <a:rPr lang="en-US" altLang="en-US" dirty="0"/>
              <a:t>} to </a:t>
            </a:r>
            <a:r>
              <a:rPr lang="en-US" altLang="en-US" i="1" dirty="0"/>
              <a:t>t</a:t>
            </a:r>
            <a:endParaRPr lang="pt-BR" altLang="en-US" dirty="0"/>
          </a:p>
          <a:p>
            <a:pPr lvl="1"/>
            <a:r>
              <a:rPr lang="en-US" altLang="en-US" b="1" dirty="0">
                <a:solidFill>
                  <a:srgbClr val="00823B"/>
                </a:solidFill>
              </a:rPr>
              <a:t>Step 2</a:t>
            </a:r>
            <a:r>
              <a:rPr lang="en-US" altLang="en-US" dirty="0"/>
              <a:t>  </a:t>
            </a:r>
            <a:r>
              <a:rPr lang="pt-BR" altLang="en-US" dirty="0"/>
              <a:t>Divide </a:t>
            </a:r>
            <a:r>
              <a:rPr lang="pt-BR" altLang="en-US" i="1" dirty="0"/>
              <a:t>m</a:t>
            </a:r>
            <a:r>
              <a:rPr lang="pt-BR" altLang="en-US" dirty="0"/>
              <a:t> by </a:t>
            </a:r>
            <a:r>
              <a:rPr lang="pt-BR" altLang="en-US" i="1" dirty="0"/>
              <a:t>t.  </a:t>
            </a:r>
            <a:r>
              <a:rPr lang="pt-BR" altLang="en-US" dirty="0"/>
              <a:t>If the remainder is 0, go to Step 3; otherwise, go to Step 4</a:t>
            </a:r>
            <a:endParaRPr lang="pt-BR" altLang="en-US" i="1" dirty="0"/>
          </a:p>
          <a:p>
            <a:pPr lvl="1"/>
            <a:r>
              <a:rPr lang="en-US" altLang="en-US" b="1" dirty="0">
                <a:solidFill>
                  <a:srgbClr val="00823B"/>
                </a:solidFill>
              </a:rPr>
              <a:t>Step 3</a:t>
            </a:r>
            <a:r>
              <a:rPr lang="en-US" altLang="en-US" dirty="0"/>
              <a:t>  </a:t>
            </a:r>
            <a:r>
              <a:rPr lang="pt-BR" altLang="en-US" dirty="0"/>
              <a:t>Divide </a:t>
            </a:r>
            <a:r>
              <a:rPr lang="pt-BR" altLang="en-US" i="1" dirty="0"/>
              <a:t>n</a:t>
            </a:r>
            <a:r>
              <a:rPr lang="pt-BR" altLang="en-US" dirty="0"/>
              <a:t> by </a:t>
            </a:r>
            <a:r>
              <a:rPr lang="pt-BR" altLang="en-US" i="1" dirty="0"/>
              <a:t>t.  </a:t>
            </a:r>
            <a:r>
              <a:rPr lang="pt-BR" altLang="en-US" dirty="0"/>
              <a:t>If the remainder is 0, return </a:t>
            </a:r>
            <a:r>
              <a:rPr lang="pt-BR" altLang="en-US" i="1" dirty="0"/>
              <a:t>t</a:t>
            </a:r>
            <a:r>
              <a:rPr lang="pt-BR" altLang="en-US" dirty="0"/>
              <a:t> and stop;otherwise, go to Step 4</a:t>
            </a:r>
            <a:endParaRPr lang="pt-BR" altLang="en-US" i="1" dirty="0"/>
          </a:p>
          <a:p>
            <a:pPr lvl="1"/>
            <a:r>
              <a:rPr lang="en-US" altLang="en-US" b="1" dirty="0">
                <a:solidFill>
                  <a:srgbClr val="00823B"/>
                </a:solidFill>
              </a:rPr>
              <a:t>Step 4</a:t>
            </a:r>
            <a:r>
              <a:rPr lang="en-US" altLang="en-US" dirty="0"/>
              <a:t>  Decrease </a:t>
            </a:r>
            <a:r>
              <a:rPr lang="en-US" altLang="en-US" i="1" dirty="0"/>
              <a:t>t </a:t>
            </a:r>
            <a:r>
              <a:rPr lang="en-US" altLang="en-US" dirty="0"/>
              <a:t>by 1 and go to Step 2</a:t>
            </a:r>
          </a:p>
        </p:txBody>
      </p:sp>
    </p:spTree>
    <p:extLst>
      <p:ext uri="{BB962C8B-B14F-4D97-AF65-F5344CB8AC3E}">
        <p14:creationId xmlns:p14="http://schemas.microsoft.com/office/powerpoint/2010/main" val="369943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5FC3-930D-42CC-88DA-F6860E69AA89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219200"/>
            <a:ext cx="6553200" cy="1143000"/>
          </a:xfrm>
        </p:spPr>
        <p:txBody>
          <a:bodyPr/>
          <a:lstStyle/>
          <a:p>
            <a:pPr algn="l"/>
            <a:r>
              <a:rPr lang="en-US" altLang="en-US" sz="3200" b="1" dirty="0" smtClean="0">
                <a:solidFill>
                  <a:srgbClr val="00B050"/>
                </a:solidFill>
              </a:rPr>
              <a:t>Example 03</a:t>
            </a:r>
            <a:r>
              <a:rPr lang="en-US" altLang="en-US" sz="3200" dirty="0" smtClean="0"/>
              <a:t> – </a:t>
            </a:r>
            <a:r>
              <a:rPr lang="en-US" altLang="en-US" sz="2400" dirty="0" smtClean="0"/>
              <a:t>Prime Factorization</a:t>
            </a:r>
            <a:endParaRPr lang="en-US" altLang="en-US" sz="2400" dirty="0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362200"/>
            <a:ext cx="6858000" cy="3962400"/>
          </a:xfrm>
        </p:spPr>
        <p:txBody>
          <a:bodyPr>
            <a:normAutofit/>
          </a:bodyPr>
          <a:lstStyle/>
          <a:p>
            <a:pPr lvl="1"/>
            <a:r>
              <a:rPr lang="en-US" altLang="en-US" b="1" dirty="0">
                <a:solidFill>
                  <a:srgbClr val="00823B"/>
                </a:solidFill>
              </a:rPr>
              <a:t>Step 1</a:t>
            </a:r>
            <a:r>
              <a:rPr lang="en-US" altLang="en-US" dirty="0"/>
              <a:t>  Find the prime factorization of </a:t>
            </a:r>
            <a:r>
              <a:rPr lang="en-US" altLang="en-US" i="1" dirty="0"/>
              <a:t>m</a:t>
            </a:r>
            <a:endParaRPr lang="pt-BR" altLang="en-US" dirty="0"/>
          </a:p>
          <a:p>
            <a:pPr lvl="1"/>
            <a:r>
              <a:rPr lang="en-US" altLang="en-US" b="1" dirty="0">
                <a:solidFill>
                  <a:srgbClr val="00823B"/>
                </a:solidFill>
              </a:rPr>
              <a:t>Step 2</a:t>
            </a:r>
            <a:r>
              <a:rPr lang="en-US" altLang="en-US" dirty="0"/>
              <a:t>  Find the prime factorization of </a:t>
            </a:r>
            <a:r>
              <a:rPr lang="en-US" altLang="en-US" i="1" dirty="0"/>
              <a:t>n</a:t>
            </a:r>
            <a:endParaRPr lang="pt-BR" altLang="en-US" i="1" dirty="0"/>
          </a:p>
          <a:p>
            <a:pPr lvl="1"/>
            <a:r>
              <a:rPr lang="en-US" altLang="en-US" b="1" dirty="0">
                <a:solidFill>
                  <a:srgbClr val="00823B"/>
                </a:solidFill>
              </a:rPr>
              <a:t>Step 3</a:t>
            </a:r>
            <a:r>
              <a:rPr lang="en-US" altLang="en-US" dirty="0"/>
              <a:t>  Find all the common prime factors</a:t>
            </a:r>
            <a:endParaRPr lang="pt-BR" altLang="en-US" i="1" dirty="0"/>
          </a:p>
          <a:p>
            <a:pPr lvl="1"/>
            <a:r>
              <a:rPr lang="en-US" altLang="en-US" b="1" dirty="0">
                <a:solidFill>
                  <a:srgbClr val="00823B"/>
                </a:solidFill>
              </a:rPr>
              <a:t>Step 4</a:t>
            </a:r>
            <a:r>
              <a:rPr lang="en-US" altLang="en-US" dirty="0"/>
              <a:t>  Compute the product of all the  common prime factors and return it as </a:t>
            </a:r>
            <a:r>
              <a:rPr lang="en-US" altLang="en-US" dirty="0" err="1"/>
              <a:t>gcd</a:t>
            </a:r>
            <a:r>
              <a:rPr lang="en-US" altLang="en-US" i="1" dirty="0"/>
              <a:t>(</a:t>
            </a:r>
            <a:r>
              <a:rPr lang="en-US" altLang="en-US" i="1" dirty="0" err="1"/>
              <a:t>m,n</a:t>
            </a:r>
            <a:r>
              <a:rPr lang="en-US" altLang="en-US" dirty="0"/>
              <a:t>)</a:t>
            </a: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611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60D6-1338-49EC-A578-351E26BF7B91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b="1" dirty="0">
                <a:solidFill>
                  <a:srgbClr val="00B050"/>
                </a:solidFill>
              </a:rPr>
              <a:t>Example </a:t>
            </a:r>
            <a:r>
              <a:rPr lang="en-US" altLang="en-US" sz="3200" b="1" dirty="0" smtClean="0">
                <a:solidFill>
                  <a:srgbClr val="00B050"/>
                </a:solidFill>
              </a:rPr>
              <a:t>04</a:t>
            </a:r>
            <a:r>
              <a:rPr lang="en-US" altLang="en-US" sz="3200" dirty="0" smtClean="0"/>
              <a:t> </a:t>
            </a:r>
            <a:r>
              <a:rPr lang="en-US" altLang="en-US" sz="3200" dirty="0"/>
              <a:t>– </a:t>
            </a:r>
            <a:r>
              <a:rPr lang="en-US" altLang="en-US" sz="3200" dirty="0" smtClean="0"/>
              <a:t>Sieve </a:t>
            </a:r>
            <a:r>
              <a:rPr lang="en-US" altLang="en-US" sz="3200" dirty="0"/>
              <a:t>of Eratosthenes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6172200" cy="4419600"/>
          </a:xfrm>
        </p:spPr>
        <p:txBody>
          <a:bodyPr>
            <a:normAutofit fontScale="85000" lnSpcReduction="10000"/>
          </a:bodyPr>
          <a:lstStyle/>
          <a:p>
            <a:pPr>
              <a:buFont typeface="Monotype Sorts" pitchFamily="2" charset="2"/>
              <a:buNone/>
            </a:pPr>
            <a:r>
              <a:rPr lang="en-US" altLang="en-US" b="1" dirty="0" smtClean="0">
                <a:solidFill>
                  <a:srgbClr val="00B050"/>
                </a:solidFill>
              </a:rPr>
              <a:t>Problem:</a:t>
            </a:r>
            <a:endParaRPr lang="en-US" altLang="en-US" dirty="0"/>
          </a:p>
          <a:p>
            <a:r>
              <a:rPr lang="en-US" altLang="en-US" sz="2600" dirty="0"/>
              <a:t>Input: </a:t>
            </a:r>
            <a:r>
              <a:rPr lang="en-US" altLang="en-US" sz="2600" dirty="0">
                <a:cs typeface="Times New Roman" panose="02020603050405020304" pitchFamily="18" charset="0"/>
              </a:rPr>
              <a:t>Integer </a:t>
            </a:r>
            <a:r>
              <a:rPr lang="en-US" altLang="en-US" sz="2600" i="1" dirty="0">
                <a:cs typeface="Times New Roman" panose="02020603050405020304" pitchFamily="18" charset="0"/>
              </a:rPr>
              <a:t>n </a:t>
            </a:r>
            <a:r>
              <a:rPr lang="en-US" altLang="en-US" sz="2600" dirty="0">
                <a:cs typeface="Times New Roman" panose="02020603050405020304" pitchFamily="18" charset="0"/>
              </a:rPr>
              <a:t>≥ 2</a:t>
            </a:r>
          </a:p>
          <a:p>
            <a:r>
              <a:rPr lang="en-US" altLang="en-US" sz="2600" dirty="0">
                <a:cs typeface="Times New Roman" panose="02020603050405020304" pitchFamily="18" charset="0"/>
              </a:rPr>
              <a:t>Output: List of primes less than or equal to </a:t>
            </a:r>
            <a:r>
              <a:rPr lang="en-US" altLang="en-US" sz="2600" i="1" dirty="0" smtClean="0">
                <a:cs typeface="Times New Roman" panose="02020603050405020304" pitchFamily="18" charset="0"/>
              </a:rPr>
              <a:t>n</a:t>
            </a:r>
            <a:endParaRPr lang="en-US" altLang="en-US" sz="2600" dirty="0"/>
          </a:p>
          <a:p>
            <a:pPr>
              <a:buFont typeface="Monotype Sorts" pitchFamily="2" charset="2"/>
              <a:buNone/>
            </a:pPr>
            <a:r>
              <a:rPr lang="en-US" altLang="en-US" b="1" dirty="0" smtClean="0">
                <a:solidFill>
                  <a:schemeClr val="accent6"/>
                </a:solidFill>
              </a:rPr>
              <a:t>Procedure:</a:t>
            </a:r>
          </a:p>
          <a:p>
            <a:r>
              <a:rPr lang="en-US" altLang="en-US" sz="2400" dirty="0"/>
              <a:t>Start with 2 and remove all multiple less than n and then find the minimum from the remaining and do the same</a:t>
            </a:r>
          </a:p>
          <a:p>
            <a:r>
              <a:rPr lang="en-US" altLang="en-US" sz="2400" dirty="0" smtClean="0">
                <a:hlinkClick r:id="rId3"/>
              </a:rPr>
              <a:t>https</a:t>
            </a:r>
            <a:r>
              <a:rPr lang="en-US" altLang="en-US" sz="2400" dirty="0">
                <a:hlinkClick r:id="rId3"/>
              </a:rPr>
              <a:t>://</a:t>
            </a:r>
            <a:r>
              <a:rPr lang="en-US" altLang="en-US" sz="2400" dirty="0" smtClean="0">
                <a:hlinkClick r:id="rId3"/>
              </a:rPr>
              <a:t>en.wikipedia.org/wiki/Sieve_of_Eratosthenes</a:t>
            </a:r>
            <a:endParaRPr lang="en-US" altLang="en-US" sz="2400" dirty="0" smtClean="0"/>
          </a:p>
          <a:p>
            <a:pPr>
              <a:buFont typeface="Monotype Sorts" pitchFamily="2" charset="2"/>
              <a:buNone/>
            </a:pPr>
            <a:r>
              <a:rPr lang="en-US" altLang="en-US" b="1" dirty="0" smtClean="0">
                <a:solidFill>
                  <a:srgbClr val="0000FF"/>
                </a:solidFill>
              </a:rPr>
              <a:t>Examples</a:t>
            </a:r>
            <a:r>
              <a:rPr lang="en-US" altLang="en-US" b="1" dirty="0">
                <a:solidFill>
                  <a:srgbClr val="0000FF"/>
                </a:solidFill>
              </a:rPr>
              <a:t>:</a:t>
            </a:r>
          </a:p>
          <a:p>
            <a:pPr algn="just"/>
            <a:r>
              <a:rPr lang="en-US" altLang="en-US" dirty="0" smtClean="0"/>
              <a:t>n = 30</a:t>
            </a:r>
          </a:p>
          <a:p>
            <a:pPr lvl="1" algn="just"/>
            <a:r>
              <a:rPr lang="en-US" altLang="en-US" dirty="0" smtClean="0"/>
              <a:t>2, 3, 5, 7, 11, 13, 17, 19, 23, 29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186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5FC3-930D-42CC-88DA-F6860E69AA89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219200"/>
            <a:ext cx="6553200" cy="1143000"/>
          </a:xfrm>
        </p:spPr>
        <p:txBody>
          <a:bodyPr/>
          <a:lstStyle/>
          <a:p>
            <a:pPr algn="l"/>
            <a:r>
              <a:rPr lang="en-US" altLang="en-US" sz="3200" b="1" dirty="0" smtClean="0">
                <a:solidFill>
                  <a:srgbClr val="00B050"/>
                </a:solidFill>
              </a:rPr>
              <a:t>Example 04</a:t>
            </a:r>
            <a:r>
              <a:rPr lang="en-US" altLang="en-US" sz="3200" dirty="0" smtClean="0"/>
              <a:t> – </a:t>
            </a:r>
            <a:r>
              <a:rPr lang="en-US" altLang="en-US" sz="2400" dirty="0"/>
              <a:t>Sieve of Eratosthenes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362200"/>
            <a:ext cx="6858000" cy="3962400"/>
          </a:xfrm>
        </p:spPr>
        <p:txBody>
          <a:bodyPr>
            <a:normAutofit/>
          </a:bodyPr>
          <a:lstStyle/>
          <a:p>
            <a:pPr lvl="2">
              <a:buFont typeface="Monotype Sorts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for </a:t>
            </a:r>
            <a:r>
              <a:rPr lang="en-US" altLang="en-US" sz="2800" i="1" dirty="0">
                <a:cs typeface="Times New Roman" panose="02020603050405020304" pitchFamily="18" charset="0"/>
              </a:rPr>
              <a:t>p </a:t>
            </a:r>
            <a:r>
              <a:rPr lang="pt-BR" altLang="en-US" sz="2800" dirty="0"/>
              <a:t>← 2 to </a:t>
            </a:r>
            <a:r>
              <a:rPr lang="pt-BR" altLang="en-US" sz="2800" i="1" dirty="0"/>
              <a:t>n</a:t>
            </a:r>
            <a:r>
              <a:rPr lang="pt-BR" altLang="en-US" sz="2800" dirty="0"/>
              <a:t> do  </a:t>
            </a:r>
            <a:r>
              <a:rPr lang="pt-BR" altLang="en-US" sz="2800" i="1" dirty="0"/>
              <a:t>A</a:t>
            </a:r>
            <a:r>
              <a:rPr lang="pt-BR" altLang="en-US" sz="2800" dirty="0"/>
              <a:t>[</a:t>
            </a:r>
            <a:r>
              <a:rPr lang="pt-BR" altLang="en-US" sz="2800" i="1" dirty="0"/>
              <a:t>p</a:t>
            </a:r>
            <a:r>
              <a:rPr lang="pt-BR" altLang="en-US" sz="2800" dirty="0"/>
              <a:t>] ← </a:t>
            </a:r>
            <a:r>
              <a:rPr lang="pt-BR" altLang="en-US" sz="2800" i="1" dirty="0"/>
              <a:t>p</a:t>
            </a:r>
          </a:p>
          <a:p>
            <a:pPr lvl="2">
              <a:buFont typeface="Monotype Sorts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for </a:t>
            </a:r>
            <a:r>
              <a:rPr lang="en-US" altLang="en-US" sz="2800" i="1" dirty="0">
                <a:cs typeface="Times New Roman" panose="02020603050405020304" pitchFamily="18" charset="0"/>
              </a:rPr>
              <a:t>p </a:t>
            </a:r>
            <a:r>
              <a:rPr lang="pt-BR" altLang="en-US" sz="2800" dirty="0"/>
              <a:t>← 2 to </a:t>
            </a:r>
            <a:r>
              <a:rPr lang="pt-BR" altLang="en-US" sz="2800" dirty="0">
                <a:sym typeface="Symbol" panose="05050102010706020507" pitchFamily="18" charset="2"/>
              </a:rPr>
              <a:t></a:t>
            </a:r>
            <a:r>
              <a:rPr lang="pt-BR" altLang="en-US" sz="2800" i="1" dirty="0"/>
              <a:t>n</a:t>
            </a:r>
            <a:r>
              <a:rPr lang="pt-BR" altLang="en-US" sz="2800" dirty="0">
                <a:sym typeface="Symbol" panose="05050102010706020507" pitchFamily="18" charset="2"/>
              </a:rPr>
              <a:t></a:t>
            </a:r>
            <a:r>
              <a:rPr lang="pt-BR" altLang="en-US" sz="2800" dirty="0"/>
              <a:t> do</a:t>
            </a:r>
            <a:r>
              <a:rPr lang="pt-BR" altLang="en-US" dirty="0"/>
              <a:t>  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lvl="2">
              <a:buFont typeface="Monotype Sorts" pitchFamily="2" charset="2"/>
              <a:buNone/>
            </a:pPr>
            <a:r>
              <a:rPr lang="en-US" altLang="en-US" sz="2800" dirty="0"/>
              <a:t>	  if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/>
              <a:t>p</a:t>
            </a:r>
            <a:r>
              <a:rPr lang="en-US" altLang="en-US" sz="2800" dirty="0"/>
              <a:t>] </a:t>
            </a:r>
            <a:r>
              <a:rPr lang="en-US" altLang="en-US" sz="2800" dirty="0">
                <a:sym typeface="Symbol" panose="05050102010706020507" pitchFamily="18" charset="2"/>
              </a:rPr>
              <a:t> 0  </a:t>
            </a:r>
            <a:r>
              <a:rPr lang="en-US" altLang="en-US" sz="1400" dirty="0">
                <a:sym typeface="Symbol" panose="05050102010706020507" pitchFamily="18" charset="2"/>
              </a:rPr>
              <a:t>//</a:t>
            </a:r>
            <a:r>
              <a:rPr lang="en-US" altLang="en-US" sz="1400" i="1" dirty="0">
                <a:sym typeface="Symbol" panose="05050102010706020507" pitchFamily="18" charset="2"/>
              </a:rPr>
              <a:t>p </a:t>
            </a:r>
            <a:r>
              <a:rPr lang="en-US" altLang="en-US" sz="1400" dirty="0">
                <a:sym typeface="Symbol" panose="05050102010706020507" pitchFamily="18" charset="2"/>
              </a:rPr>
              <a:t>hasn’t been previously eliminated from the list</a:t>
            </a: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2800" dirty="0">
                <a:sym typeface="Symbol" panose="05050102010706020507" pitchFamily="18" charset="2"/>
              </a:rPr>
              <a:t>      </a:t>
            </a:r>
            <a:r>
              <a:rPr lang="en-US" altLang="en-US" sz="2800" i="1" dirty="0">
                <a:sym typeface="Symbol" panose="05050102010706020507" pitchFamily="18" charset="2"/>
              </a:rPr>
              <a:t>j </a:t>
            </a:r>
            <a:r>
              <a:rPr lang="pt-BR" altLang="en-US" dirty="0"/>
              <a:t>← </a:t>
            </a:r>
            <a:r>
              <a:rPr lang="pt-BR" altLang="en-US" i="1" dirty="0"/>
              <a:t>p</a:t>
            </a:r>
            <a:r>
              <a:rPr lang="en-US" altLang="en-US" i="1" baseline="-2000" dirty="0">
                <a:cs typeface="Times New Roman" panose="02020603050405020304" pitchFamily="18" charset="0"/>
              </a:rPr>
              <a:t>*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i="1" dirty="0">
                <a:sym typeface="Symbol" panose="05050102010706020507" pitchFamily="18" charset="2"/>
              </a:rPr>
              <a:t>p</a:t>
            </a:r>
          </a:p>
          <a:p>
            <a:pPr lvl="2">
              <a:buFont typeface="Monotype Sorts" pitchFamily="2" charset="2"/>
              <a:buNone/>
            </a:pPr>
            <a:r>
              <a:rPr lang="en-US" altLang="en-US" sz="2800" i="1" dirty="0">
                <a:sym typeface="Symbol" panose="05050102010706020507" pitchFamily="18" charset="2"/>
              </a:rPr>
              <a:t>          </a:t>
            </a:r>
            <a:r>
              <a:rPr lang="en-US" altLang="en-US" sz="2800" dirty="0">
                <a:sym typeface="Symbol" panose="05050102010706020507" pitchFamily="18" charset="2"/>
              </a:rPr>
              <a:t>while </a:t>
            </a:r>
            <a:r>
              <a:rPr lang="en-US" altLang="en-US" sz="2800" i="1" dirty="0">
                <a:sym typeface="Symbol" panose="05050102010706020507" pitchFamily="18" charset="2"/>
              </a:rPr>
              <a:t>j 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≤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n </a:t>
            </a:r>
            <a:r>
              <a:rPr lang="en-US" altLang="en-US" sz="2800" i="1" dirty="0"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do</a:t>
            </a:r>
          </a:p>
          <a:p>
            <a:pPr lvl="2">
              <a:buFont typeface="Monotype Sorts" pitchFamily="2" charset="2"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                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/>
              <a:t>j</a:t>
            </a:r>
            <a:r>
              <a:rPr lang="en-US" altLang="en-US" sz="2800" dirty="0"/>
              <a:t>] </a:t>
            </a:r>
            <a:r>
              <a:rPr lang="pt-BR" altLang="en-US" dirty="0"/>
              <a:t>← 0  </a:t>
            </a:r>
            <a:r>
              <a:rPr lang="pt-BR" altLang="en-US" sz="1400" dirty="0"/>
              <a:t>//mark element as eliminated </a:t>
            </a:r>
            <a:r>
              <a:rPr lang="en-US" altLang="en-US" sz="1600" dirty="0"/>
              <a:t>	</a:t>
            </a:r>
          </a:p>
          <a:p>
            <a:pPr lvl="2">
              <a:buFont typeface="Monotype Sorts" pitchFamily="2" charset="2"/>
              <a:buNone/>
            </a:pPr>
            <a:r>
              <a:rPr lang="en-US" altLang="en-US" sz="2800" dirty="0"/>
              <a:t>                 </a:t>
            </a:r>
            <a:r>
              <a:rPr lang="en-US" altLang="en-US" sz="2800" i="1" dirty="0">
                <a:sym typeface="Symbol" panose="05050102010706020507" pitchFamily="18" charset="2"/>
              </a:rPr>
              <a:t>j </a:t>
            </a:r>
            <a:r>
              <a:rPr lang="pt-BR" altLang="en-US" dirty="0"/>
              <a:t>← </a:t>
            </a:r>
            <a:r>
              <a:rPr lang="en-US" altLang="en-US" sz="2800" i="1" dirty="0">
                <a:sym typeface="Symbol" panose="05050102010706020507" pitchFamily="18" charset="2"/>
              </a:rPr>
              <a:t>j</a:t>
            </a:r>
            <a:r>
              <a:rPr lang="pt-BR" altLang="en-US" dirty="0"/>
              <a:t> </a:t>
            </a:r>
            <a:r>
              <a:rPr lang="pt-BR" altLang="en-US" i="1" dirty="0"/>
              <a:t>+ p</a:t>
            </a:r>
          </a:p>
        </p:txBody>
      </p:sp>
    </p:spTree>
    <p:extLst>
      <p:ext uri="{BB962C8B-B14F-4D97-AF65-F5344CB8AC3E}">
        <p14:creationId xmlns:p14="http://schemas.microsoft.com/office/powerpoint/2010/main" val="125840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Algorithms</a:t>
            </a:r>
            <a:endParaRPr lang="en-US" sz="60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altLang="en-US" dirty="0"/>
              <a:t>Why study algorithms?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9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82DA2-31CC-425D-BE9A-A879F5C60B5E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sz="3200" b="1" dirty="0" smtClean="0">
                <a:solidFill>
                  <a:schemeClr val="accent2"/>
                </a:solidFill>
              </a:rPr>
              <a:t>Importance</a:t>
            </a:r>
            <a:endParaRPr lang="en-US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b="1" dirty="0">
                <a:solidFill>
                  <a:srgbClr val="00B050"/>
                </a:solidFill>
              </a:rPr>
              <a:t>Theoretical </a:t>
            </a:r>
            <a:r>
              <a:rPr lang="en-US" altLang="en-US" dirty="0" smtClean="0"/>
              <a:t>Importance</a:t>
            </a:r>
            <a:endParaRPr lang="en-US" altLang="en-US" dirty="0"/>
          </a:p>
          <a:p>
            <a:endParaRPr lang="en-US" altLang="en-US" dirty="0"/>
          </a:p>
          <a:p>
            <a:pPr lvl="1"/>
            <a:r>
              <a:rPr lang="en-US" altLang="en-US" sz="2400" dirty="0"/>
              <a:t>the core of computer science</a:t>
            </a:r>
          </a:p>
          <a:p>
            <a:pPr lvl="1"/>
            <a:endParaRPr lang="en-US" altLang="en-US" dirty="0"/>
          </a:p>
          <a:p>
            <a:r>
              <a:rPr lang="en-US" altLang="en-US" b="1" dirty="0">
                <a:solidFill>
                  <a:srgbClr val="00B0F0"/>
                </a:solidFill>
              </a:rPr>
              <a:t>Practical</a:t>
            </a:r>
            <a:r>
              <a:rPr lang="en-US" altLang="en-US" dirty="0"/>
              <a:t> </a:t>
            </a:r>
            <a:r>
              <a:rPr lang="en-US" altLang="en-US" dirty="0" smtClean="0"/>
              <a:t>Importance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lang="en-US" altLang="en-US" sz="2400" dirty="0"/>
              <a:t>A practitioner’s toolkit of known algorithms</a:t>
            </a:r>
          </a:p>
          <a:p>
            <a:pPr lvl="1"/>
            <a:endParaRPr lang="en-US" altLang="en-US" sz="2400" dirty="0"/>
          </a:p>
          <a:p>
            <a:pPr lvl="1"/>
            <a:r>
              <a:rPr lang="en-US" altLang="en-US" sz="2400" dirty="0"/>
              <a:t>Framework for designing and analyzing algorithms for new problems</a:t>
            </a:r>
          </a:p>
          <a:p>
            <a:pPr lvl="1"/>
            <a:endParaRPr lang="en-US" altLang="en-US" sz="2400" dirty="0"/>
          </a:p>
          <a:p>
            <a:pPr lvl="1"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8277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7C811-C279-48A3-ADE4-99DD34C362D1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sz="3200" b="1" dirty="0" smtClean="0">
                <a:solidFill>
                  <a:schemeClr val="accent2"/>
                </a:solidFill>
              </a:rPr>
              <a:t>Main Issues</a:t>
            </a:r>
            <a:endParaRPr lang="en-US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How to </a:t>
            </a:r>
            <a:r>
              <a:rPr lang="en-US" altLang="en-US" sz="2800" b="1" dirty="0">
                <a:solidFill>
                  <a:srgbClr val="00B050"/>
                </a:solidFill>
              </a:rPr>
              <a:t>design</a:t>
            </a:r>
            <a:r>
              <a:rPr lang="en-US" altLang="en-US" sz="2800" dirty="0"/>
              <a:t> algorithms</a:t>
            </a:r>
          </a:p>
          <a:p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How to </a:t>
            </a:r>
            <a:r>
              <a:rPr lang="en-US" altLang="en-US" sz="2800" b="1" dirty="0">
                <a:solidFill>
                  <a:srgbClr val="00B0F0"/>
                </a:solidFill>
              </a:rPr>
              <a:t>analyze</a:t>
            </a:r>
            <a:r>
              <a:rPr lang="en-US" altLang="en-US" sz="2800" dirty="0"/>
              <a:t> algorithm efficiency</a:t>
            </a: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360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00823B"/>
                </a:solidFill>
              </a:rPr>
              <a:t>Designing of Algorithms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04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E2B53-9FB8-4CBD-9785-72D6D796CAC3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00"/>
            <a:ext cx="8094518" cy="685800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b="1" dirty="0" smtClean="0">
                <a:solidFill>
                  <a:schemeClr val="accent2"/>
                </a:solidFill>
              </a:rPr>
              <a:t>Techniques / strategies</a:t>
            </a:r>
            <a:endParaRPr lang="en-US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88818" y="2389909"/>
            <a:ext cx="3810000" cy="3962400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Brute force</a:t>
            </a:r>
          </a:p>
          <a:p>
            <a:endParaRPr lang="en-US" altLang="en-US" dirty="0"/>
          </a:p>
          <a:p>
            <a:r>
              <a:rPr lang="en-US" altLang="en-US" dirty="0"/>
              <a:t>Divide and conquer</a:t>
            </a:r>
          </a:p>
          <a:p>
            <a:endParaRPr lang="en-US" altLang="en-US" dirty="0"/>
          </a:p>
          <a:p>
            <a:r>
              <a:rPr lang="en-US" altLang="en-US" dirty="0"/>
              <a:t>Decrease and conquer</a:t>
            </a:r>
          </a:p>
          <a:p>
            <a:endParaRPr lang="en-US" altLang="en-US" dirty="0"/>
          </a:p>
          <a:p>
            <a:r>
              <a:rPr lang="en-US" altLang="en-US" dirty="0"/>
              <a:t>Transform and conquer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dirty="0"/>
          </a:p>
          <a:p>
            <a:endParaRPr lang="en-US" altLang="en-US" sz="20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191000" y="2389909"/>
            <a:ext cx="3810000" cy="3962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/>
              <a:t>Greedy Approach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Dynamic Programming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Iterative Improvement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Backtracking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Branch and bound</a:t>
            </a:r>
          </a:p>
          <a:p>
            <a:endParaRPr lang="en-US" altLang="en-US" dirty="0" smtClean="0"/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8760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B9030-B296-4C28-AB91-0AA9A1B46524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057400"/>
            <a:ext cx="6553200" cy="4191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sorting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searching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string processing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graph problems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 smtClean="0"/>
              <a:t>geometric </a:t>
            </a:r>
            <a:r>
              <a:rPr lang="en-US" altLang="en-US" dirty="0"/>
              <a:t>problems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/>
              <a:t>numerical </a:t>
            </a:r>
            <a:r>
              <a:rPr lang="en-US" altLang="en-US" dirty="0" smtClean="0"/>
              <a:t>problems ………..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7200" y="1143000"/>
            <a:ext cx="809451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 smtClean="0">
                <a:solidFill>
                  <a:schemeClr val="accent2"/>
                </a:solidFill>
              </a:rPr>
              <a:t>Important Problem Types</a:t>
            </a:r>
            <a:endParaRPr lang="en-US" altLang="en-US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28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5FAB4-84F8-4D65-8FAE-E1A123BEF141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9894" y="2209800"/>
            <a:ext cx="4267200" cy="3962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en-US" sz="2800" dirty="0"/>
              <a:t> list</a:t>
            </a:r>
          </a:p>
          <a:p>
            <a:pPr lvl="1">
              <a:lnSpc>
                <a:spcPct val="130000"/>
              </a:lnSpc>
            </a:pPr>
            <a:r>
              <a:rPr lang="en-US" altLang="en-US" sz="2800" dirty="0"/>
              <a:t>array</a:t>
            </a:r>
          </a:p>
          <a:p>
            <a:pPr lvl="1">
              <a:lnSpc>
                <a:spcPct val="130000"/>
              </a:lnSpc>
            </a:pPr>
            <a:r>
              <a:rPr lang="en-US" altLang="en-US" sz="2800" dirty="0"/>
              <a:t>linked list</a:t>
            </a:r>
          </a:p>
          <a:p>
            <a:pPr lvl="1">
              <a:lnSpc>
                <a:spcPct val="130000"/>
              </a:lnSpc>
            </a:pPr>
            <a:r>
              <a:rPr lang="en-US" altLang="en-US" sz="2800" dirty="0"/>
              <a:t>string </a:t>
            </a:r>
          </a:p>
          <a:p>
            <a:pPr>
              <a:lnSpc>
                <a:spcPct val="130000"/>
              </a:lnSpc>
            </a:pPr>
            <a:r>
              <a:rPr lang="en-US" altLang="en-US" sz="2800" dirty="0"/>
              <a:t> stack</a:t>
            </a:r>
          </a:p>
          <a:p>
            <a:pPr>
              <a:lnSpc>
                <a:spcPct val="130000"/>
              </a:lnSpc>
            </a:pPr>
            <a:r>
              <a:rPr lang="en-US" altLang="en-US" sz="2800" dirty="0"/>
              <a:t> queue</a:t>
            </a:r>
          </a:p>
          <a:p>
            <a:pPr>
              <a:lnSpc>
                <a:spcPct val="130000"/>
              </a:lnSpc>
            </a:pPr>
            <a:r>
              <a:rPr lang="en-US" altLang="en-US" sz="2800" dirty="0"/>
              <a:t> priority queue</a:t>
            </a:r>
          </a:p>
          <a:p>
            <a:pPr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endParaRPr lang="en-US" altLang="en-US" sz="12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267201" y="2209800"/>
            <a:ext cx="32766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 dirty="0" smtClean="0"/>
              <a:t> Graph</a:t>
            </a:r>
            <a:endParaRPr lang="en-US" altLang="en-US" sz="2800" dirty="0" smtClean="0"/>
          </a:p>
          <a:p>
            <a:pPr>
              <a:lnSpc>
                <a:spcPct val="130000"/>
              </a:lnSpc>
            </a:pPr>
            <a:r>
              <a:rPr lang="en-US" altLang="en-US" dirty="0" smtClean="0"/>
              <a:t>Tree</a:t>
            </a:r>
          </a:p>
          <a:p>
            <a:pPr>
              <a:lnSpc>
                <a:spcPct val="130000"/>
              </a:lnSpc>
            </a:pPr>
            <a:r>
              <a:rPr lang="en-US" altLang="en-US" dirty="0" smtClean="0"/>
              <a:t> Set and Dictionary</a:t>
            </a:r>
          </a:p>
          <a:p>
            <a:pPr>
              <a:lnSpc>
                <a:spcPct val="90000"/>
              </a:lnSpc>
            </a:pPr>
            <a:endParaRPr lang="en-US" altLang="en-US" sz="1200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00"/>
            <a:ext cx="8094518" cy="685800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b="1" dirty="0" smtClean="0">
                <a:solidFill>
                  <a:schemeClr val="accent2"/>
                </a:solidFill>
              </a:rPr>
              <a:t>Fundamental Data Structures</a:t>
            </a:r>
            <a:endParaRPr lang="en-US" altLang="en-US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54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00823B"/>
                </a:solidFill>
              </a:rPr>
              <a:t>Analysis of Algorithms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68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Algorithm Analysis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Speed</a:t>
            </a:r>
          </a:p>
          <a:p>
            <a:pPr lvl="1"/>
            <a:r>
              <a:rPr lang="en-US" dirty="0" smtClean="0"/>
              <a:t>Memory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3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Algorithm Analysis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Speed</a:t>
            </a:r>
          </a:p>
          <a:p>
            <a:pPr lvl="2"/>
            <a:r>
              <a:rPr lang="en-US" dirty="0"/>
              <a:t>to determine the performance of the algorithm in terms of </a:t>
            </a:r>
            <a:r>
              <a:rPr lang="en-US" b="1" i="1" dirty="0"/>
              <a:t>time </a:t>
            </a:r>
            <a:r>
              <a:rPr lang="en-US" b="1" i="1" dirty="0" smtClean="0"/>
              <a:t>taken </a:t>
            </a:r>
            <a:r>
              <a:rPr lang="en-US" sz="1600" b="1" dirty="0" smtClean="0">
                <a:solidFill>
                  <a:srgbClr val="00B050"/>
                </a:solidFill>
              </a:rPr>
              <a:t>(Time Efficiency)</a:t>
            </a:r>
            <a:endParaRPr lang="en-US" sz="1600" dirty="0" smtClean="0">
              <a:solidFill>
                <a:srgbClr val="00B050"/>
              </a:solidFill>
            </a:endParaRPr>
          </a:p>
          <a:p>
            <a:pPr lvl="1"/>
            <a:r>
              <a:rPr lang="en-US" dirty="0" smtClean="0"/>
              <a:t>Memory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3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Algorithm Analysis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Speed</a:t>
            </a:r>
          </a:p>
          <a:p>
            <a:pPr lvl="1"/>
            <a:r>
              <a:rPr lang="en-US" dirty="0" smtClean="0"/>
              <a:t>Memory</a:t>
            </a:r>
          </a:p>
          <a:p>
            <a:pPr lvl="2"/>
            <a:r>
              <a:rPr lang="en-US" dirty="0"/>
              <a:t>to determine the performance of the algorithm in terms of </a:t>
            </a:r>
            <a:r>
              <a:rPr lang="en-US" b="1" i="1" dirty="0" smtClean="0"/>
              <a:t>storage requirements </a:t>
            </a:r>
            <a:r>
              <a:rPr lang="en-US" sz="1600" b="1" dirty="0" smtClean="0">
                <a:solidFill>
                  <a:srgbClr val="00B050"/>
                </a:solidFill>
              </a:rPr>
              <a:t>(Space </a:t>
            </a:r>
            <a:r>
              <a:rPr lang="en-US" sz="1600" b="1" dirty="0">
                <a:solidFill>
                  <a:srgbClr val="00B050"/>
                </a:solidFill>
              </a:rPr>
              <a:t>Efficiency)</a:t>
            </a:r>
            <a:endParaRPr lang="en-US" sz="1600" dirty="0">
              <a:solidFill>
                <a:srgbClr val="00B050"/>
              </a:solidFill>
            </a:endParaRP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6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9800"/>
            <a:ext cx="6324600" cy="4114800"/>
          </a:xfrm>
        </p:spPr>
        <p:txBody>
          <a:bodyPr>
            <a:normAutofit fontScale="40000" lnSpcReduction="20000"/>
          </a:bodyPr>
          <a:lstStyle/>
          <a:p>
            <a:r>
              <a:rPr lang="en-US" sz="4500" b="1" dirty="0" smtClean="0"/>
              <a:t>Algorithm Analysis</a:t>
            </a:r>
          </a:p>
          <a:p>
            <a:pPr lvl="1"/>
            <a:r>
              <a:rPr lang="en-US" sz="4500" b="1" dirty="0" smtClean="0"/>
              <a:t>Space Efficiency</a:t>
            </a:r>
          </a:p>
          <a:p>
            <a:pPr lvl="2"/>
            <a:endParaRPr lang="en-US" sz="2500" dirty="0" smtClean="0"/>
          </a:p>
          <a:p>
            <a:r>
              <a:rPr lang="en-US" sz="4000" dirty="0" smtClean="0"/>
              <a:t>The </a:t>
            </a:r>
            <a:r>
              <a:rPr lang="en-US" sz="4000" dirty="0"/>
              <a:t>space efficiency determines </a:t>
            </a:r>
            <a:r>
              <a:rPr lang="en-US" sz="4000" b="1" dirty="0">
                <a:solidFill>
                  <a:srgbClr val="00B0F0"/>
                </a:solidFill>
              </a:rPr>
              <a:t>total memory requirement </a:t>
            </a:r>
            <a:r>
              <a:rPr lang="en-US" sz="4000" dirty="0"/>
              <a:t>of RAM and disk storage to run an algorithm with given input.</a:t>
            </a:r>
          </a:p>
          <a:p>
            <a:r>
              <a:rPr lang="en-US" sz="4000" dirty="0" smtClean="0"/>
              <a:t>The </a:t>
            </a:r>
            <a:r>
              <a:rPr lang="en-US" sz="4000" dirty="0"/>
              <a:t>space requirement consists of the amount of </a:t>
            </a:r>
            <a:r>
              <a:rPr lang="en-US" sz="4000" b="1" dirty="0">
                <a:solidFill>
                  <a:srgbClr val="00B0F0"/>
                </a:solidFill>
              </a:rPr>
              <a:t>real storage </a:t>
            </a:r>
            <a:r>
              <a:rPr lang="en-US" sz="4000" dirty="0"/>
              <a:t>needed to execute the algorithm code and the storage to hold </a:t>
            </a:r>
            <a:r>
              <a:rPr lang="en-US" sz="4000" b="1" dirty="0">
                <a:solidFill>
                  <a:srgbClr val="00B0F0"/>
                </a:solidFill>
              </a:rPr>
              <a:t>the application data</a:t>
            </a:r>
            <a:r>
              <a:rPr lang="en-US" sz="4000" dirty="0"/>
              <a:t>. </a:t>
            </a:r>
          </a:p>
          <a:p>
            <a:r>
              <a:rPr lang="en-US" sz="4000" dirty="0" smtClean="0"/>
              <a:t>The </a:t>
            </a:r>
            <a:r>
              <a:rPr lang="en-US" sz="4000" b="1" dirty="0">
                <a:solidFill>
                  <a:srgbClr val="00B0F0"/>
                </a:solidFill>
              </a:rPr>
              <a:t>algorithm code </a:t>
            </a:r>
            <a:r>
              <a:rPr lang="en-US" sz="4000" dirty="0"/>
              <a:t>occupies a </a:t>
            </a:r>
            <a:r>
              <a:rPr lang="en-US" sz="4000" b="1" dirty="0">
                <a:solidFill>
                  <a:srgbClr val="00B0F0"/>
                </a:solidFill>
              </a:rPr>
              <a:t>fixed amount </a:t>
            </a:r>
            <a:r>
              <a:rPr lang="en-US" sz="4000" dirty="0"/>
              <a:t>of space, which is independent of the input size.</a:t>
            </a:r>
          </a:p>
          <a:p>
            <a:r>
              <a:rPr lang="en-US" sz="4000" dirty="0" smtClean="0"/>
              <a:t>The </a:t>
            </a:r>
            <a:r>
              <a:rPr lang="en-US" sz="4000" dirty="0"/>
              <a:t>storage requirement for the application depends on the </a:t>
            </a:r>
            <a:r>
              <a:rPr lang="en-US" sz="4000" b="1" dirty="0">
                <a:solidFill>
                  <a:srgbClr val="00B0F0"/>
                </a:solidFill>
              </a:rPr>
              <a:t>nature of data structure</a:t>
            </a:r>
            <a:r>
              <a:rPr lang="en-US" sz="4000" dirty="0"/>
              <a:t> used to provide faster and flexible access to stored information.</a:t>
            </a:r>
          </a:p>
          <a:p>
            <a:pPr lvl="1"/>
            <a:r>
              <a:rPr lang="en-US" sz="3600" dirty="0" smtClean="0"/>
              <a:t>For </a:t>
            </a:r>
            <a:r>
              <a:rPr lang="en-US" sz="3600" dirty="0"/>
              <a:t>an </a:t>
            </a:r>
            <a:r>
              <a:rPr lang="en-US" sz="3600" b="1" dirty="0">
                <a:solidFill>
                  <a:srgbClr val="0000FF"/>
                </a:solidFill>
              </a:rPr>
              <a:t>arrays </a:t>
            </a:r>
            <a:r>
              <a:rPr lang="en-US" sz="3600" dirty="0"/>
              <a:t>and </a:t>
            </a:r>
            <a:r>
              <a:rPr lang="en-US" sz="3600" b="1" dirty="0">
                <a:solidFill>
                  <a:srgbClr val="0000FF"/>
                </a:solidFill>
              </a:rPr>
              <a:t>linked lists</a:t>
            </a:r>
            <a:r>
              <a:rPr lang="en-US" sz="3600" dirty="0"/>
              <a:t>, for example, the space requirement is directly proportional to the input size.</a:t>
            </a:r>
          </a:p>
          <a:p>
            <a:r>
              <a:rPr lang="en-US" sz="4000" dirty="0" smtClean="0"/>
              <a:t>For </a:t>
            </a:r>
            <a:r>
              <a:rPr lang="en-US" sz="4000" dirty="0"/>
              <a:t>most algorithms, the space efficiency is </a:t>
            </a:r>
            <a:r>
              <a:rPr lang="en-US" sz="4000" b="1" dirty="0">
                <a:solidFill>
                  <a:srgbClr val="00B0F0"/>
                </a:solidFill>
              </a:rPr>
              <a:t>not of much </a:t>
            </a:r>
            <a:r>
              <a:rPr lang="en-US" sz="4000" b="1" dirty="0" smtClean="0">
                <a:solidFill>
                  <a:srgbClr val="00B0F0"/>
                </a:solidFill>
              </a:rPr>
              <a:t>concern</a:t>
            </a:r>
            <a:r>
              <a:rPr lang="en-US" sz="4000" dirty="0" smtClean="0"/>
              <a:t>. However</a:t>
            </a:r>
            <a:r>
              <a:rPr lang="en-US" sz="4000" dirty="0"/>
              <a:t>, some algorithms require extra storage to hold results of </a:t>
            </a:r>
            <a:r>
              <a:rPr lang="en-US" sz="4000" dirty="0" smtClean="0"/>
              <a:t>intermediate </a:t>
            </a:r>
            <a:r>
              <a:rPr lang="en-US" sz="4000" dirty="0"/>
              <a:t>(not final i.e. prior to final) computations.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8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810000"/>
          </a:xfrm>
        </p:spPr>
        <p:txBody>
          <a:bodyPr>
            <a:normAutofit fontScale="47500" lnSpcReduction="20000"/>
          </a:bodyPr>
          <a:lstStyle/>
          <a:p>
            <a:r>
              <a:rPr lang="en-US" sz="3800" b="1" dirty="0" smtClean="0"/>
              <a:t>Algorithm Analysis</a:t>
            </a:r>
          </a:p>
          <a:p>
            <a:pPr lvl="1"/>
            <a:r>
              <a:rPr lang="en-US" sz="3800" b="1" dirty="0" smtClean="0"/>
              <a:t>Time Efficiency</a:t>
            </a:r>
          </a:p>
          <a:p>
            <a:r>
              <a:rPr lang="en-US" sz="3400" dirty="0"/>
              <a:t>Determines </a:t>
            </a:r>
            <a:r>
              <a:rPr lang="en-US" sz="3400" b="1" dirty="0">
                <a:solidFill>
                  <a:srgbClr val="00B0F0"/>
                </a:solidFill>
              </a:rPr>
              <a:t>how fast an algorithm solves </a:t>
            </a:r>
            <a:r>
              <a:rPr lang="en-US" sz="3400" dirty="0"/>
              <a:t>a given problem.</a:t>
            </a:r>
          </a:p>
          <a:p>
            <a:r>
              <a:rPr lang="en-US" sz="3400" dirty="0"/>
              <a:t>It is the measure of time taken by the algorithm </a:t>
            </a:r>
            <a:r>
              <a:rPr lang="en-US" sz="3400" b="1" dirty="0">
                <a:solidFill>
                  <a:srgbClr val="00B0F0"/>
                </a:solidFill>
              </a:rPr>
              <a:t>to produce the output</a:t>
            </a:r>
            <a:r>
              <a:rPr lang="en-US" sz="3400" dirty="0"/>
              <a:t> with a given input.</a:t>
            </a:r>
          </a:p>
          <a:p>
            <a:r>
              <a:rPr lang="en-US" sz="3400" dirty="0"/>
              <a:t>Assuming that an algorithm takes </a:t>
            </a:r>
            <a:r>
              <a:rPr lang="en-US" sz="3400" b="1" i="1" dirty="0">
                <a:solidFill>
                  <a:srgbClr val="00B0F0"/>
                </a:solidFill>
              </a:rPr>
              <a:t>T(n) </a:t>
            </a:r>
            <a:r>
              <a:rPr lang="en-US" sz="3400" b="1" dirty="0">
                <a:solidFill>
                  <a:srgbClr val="00B0F0"/>
                </a:solidFill>
              </a:rPr>
              <a:t>time to process </a:t>
            </a:r>
            <a:r>
              <a:rPr lang="en-US" sz="3400" b="1" i="1" dirty="0">
                <a:solidFill>
                  <a:srgbClr val="00B0F0"/>
                </a:solidFill>
              </a:rPr>
              <a:t>n</a:t>
            </a:r>
            <a:r>
              <a:rPr lang="en-US" sz="3400" b="1" dirty="0">
                <a:solidFill>
                  <a:srgbClr val="00B0F0"/>
                </a:solidFill>
              </a:rPr>
              <a:t> data </a:t>
            </a:r>
            <a:r>
              <a:rPr lang="en-US" sz="3400" dirty="0"/>
              <a:t>items. The function </a:t>
            </a:r>
            <a:r>
              <a:rPr lang="en-US" sz="3400" i="1" dirty="0"/>
              <a:t>T(n)</a:t>
            </a:r>
            <a:r>
              <a:rPr lang="en-US" sz="3400" dirty="0"/>
              <a:t> is referred to as running time of the algorithm.</a:t>
            </a:r>
          </a:p>
          <a:p>
            <a:r>
              <a:rPr lang="en-US" sz="3400" dirty="0"/>
              <a:t>It is also known as </a:t>
            </a:r>
            <a:r>
              <a:rPr lang="en-US" sz="3400" b="1" dirty="0">
                <a:solidFill>
                  <a:srgbClr val="00B0F0"/>
                </a:solidFill>
              </a:rPr>
              <a:t>time complexity</a:t>
            </a:r>
            <a:r>
              <a:rPr lang="en-US" sz="3400" dirty="0"/>
              <a:t>.</a:t>
            </a:r>
          </a:p>
          <a:p>
            <a:r>
              <a:rPr lang="en-US" sz="3400" dirty="0"/>
              <a:t>The time complexity can </a:t>
            </a:r>
            <a:r>
              <a:rPr lang="en-US" sz="3400" b="1" dirty="0">
                <a:solidFill>
                  <a:srgbClr val="00B0F0"/>
                </a:solidFill>
              </a:rPr>
              <a:t>depend on more than one </a:t>
            </a:r>
            <a:r>
              <a:rPr lang="en-US" sz="3400" b="1" dirty="0" smtClean="0">
                <a:solidFill>
                  <a:srgbClr val="00B0F0"/>
                </a:solidFill>
              </a:rPr>
              <a:t>parameter</a:t>
            </a:r>
            <a:r>
              <a:rPr lang="en-US" sz="3400" dirty="0" smtClean="0"/>
              <a:t>.</a:t>
            </a:r>
          </a:p>
          <a:p>
            <a:pPr lvl="1"/>
            <a:r>
              <a:rPr lang="en-US" sz="3000" dirty="0" smtClean="0"/>
              <a:t>For </a:t>
            </a:r>
            <a:r>
              <a:rPr lang="en-US" sz="3000" dirty="0"/>
              <a:t>example, the running time of a </a:t>
            </a:r>
            <a:r>
              <a:rPr lang="en-US" sz="3000" b="1" dirty="0">
                <a:solidFill>
                  <a:srgbClr val="0000FF"/>
                </a:solidFill>
              </a:rPr>
              <a:t>graph algorithm </a:t>
            </a:r>
            <a:r>
              <a:rPr lang="en-US" sz="3000" dirty="0"/>
              <a:t>can depend on both the number of vertices and edges in the graph.</a:t>
            </a:r>
          </a:p>
          <a:p>
            <a:r>
              <a:rPr lang="en-US" sz="3400" dirty="0"/>
              <a:t>It would be seen that the time efficiency is the </a:t>
            </a:r>
            <a:r>
              <a:rPr lang="en-US" sz="3400" b="1" dirty="0">
                <a:solidFill>
                  <a:srgbClr val="00B0F0"/>
                </a:solidFill>
              </a:rPr>
              <a:t>most significant metric</a:t>
            </a:r>
            <a:r>
              <a:rPr lang="en-US" sz="3400" dirty="0"/>
              <a:t> for algorithm analysis. For this reason the main focus of an algorithm analysis would be on determining time complexity.</a:t>
            </a:r>
            <a:endParaRPr lang="en-US" sz="3400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1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1E5BA-A25A-4901-BD08-F03836CA5166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7" y="1281112"/>
            <a:ext cx="6684963" cy="5043488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Time efficiency is analyzed by determining the </a:t>
            </a:r>
            <a:r>
              <a:rPr lang="en-US" altLang="en-US" sz="2400" b="1" i="1" u="sng" dirty="0">
                <a:solidFill>
                  <a:srgbClr val="00B050"/>
                </a:solidFill>
              </a:rPr>
              <a:t>number of repetitions </a:t>
            </a:r>
            <a:r>
              <a:rPr lang="en-US" altLang="en-US" sz="2400" dirty="0"/>
              <a:t>of the </a:t>
            </a:r>
            <a:r>
              <a:rPr lang="en-US" altLang="en-US" sz="2400" b="1" i="1" u="sng" dirty="0">
                <a:solidFill>
                  <a:schemeClr val="accent6"/>
                </a:solidFill>
              </a:rPr>
              <a:t>basic operation</a:t>
            </a:r>
            <a:r>
              <a:rPr lang="en-US" altLang="en-US" sz="2400" b="1" dirty="0">
                <a:solidFill>
                  <a:schemeClr val="accent6"/>
                </a:solidFill>
              </a:rPr>
              <a:t> </a:t>
            </a:r>
            <a:r>
              <a:rPr lang="en-US" altLang="en-US" sz="2400" dirty="0"/>
              <a:t>as a function of </a:t>
            </a:r>
            <a:r>
              <a:rPr lang="en-US" altLang="en-US" sz="2400" b="1" i="1" u="sng" dirty="0">
                <a:solidFill>
                  <a:srgbClr val="0000FF"/>
                </a:solidFill>
              </a:rPr>
              <a:t>input size</a:t>
            </a:r>
          </a:p>
          <a:p>
            <a:endParaRPr lang="en-US" altLang="en-US" sz="2400" i="1" u="sng" dirty="0"/>
          </a:p>
          <a:p>
            <a:r>
              <a:rPr lang="en-US" altLang="en-US" sz="2400" b="1" i="1" u="sng" dirty="0">
                <a:solidFill>
                  <a:schemeClr val="accent6"/>
                </a:solidFill>
              </a:rPr>
              <a:t>Basic operation</a:t>
            </a:r>
            <a:r>
              <a:rPr lang="en-US" altLang="en-US" sz="2400" b="1" dirty="0">
                <a:solidFill>
                  <a:schemeClr val="accent6"/>
                </a:solidFill>
              </a:rPr>
              <a:t>: </a:t>
            </a:r>
            <a:r>
              <a:rPr lang="en-US" altLang="en-US" sz="2400" dirty="0"/>
              <a:t>the operation that contributes most towards the running time of the algorithm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 i="1" dirty="0" smtClean="0"/>
              <a:t>                 </a:t>
            </a:r>
          </a:p>
          <a:p>
            <a:pPr algn="ctr">
              <a:buFont typeface="Monotype Sorts" pitchFamily="2" charset="2"/>
              <a:buNone/>
            </a:pPr>
            <a:endParaRPr lang="en-US" altLang="en-US" sz="2800" i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886200"/>
            <a:ext cx="5042592" cy="216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0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8087-A8A2-4D83-A0BB-2078C18BA6E2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1173480"/>
            <a:ext cx="6940550" cy="685800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b="1" dirty="0" smtClean="0">
                <a:solidFill>
                  <a:schemeClr val="accent2"/>
                </a:solidFill>
              </a:rPr>
              <a:t>Basic Operation Examples</a:t>
            </a:r>
            <a:endParaRPr lang="en-US" altLang="en-US" sz="3200" b="1" dirty="0">
              <a:solidFill>
                <a:schemeClr val="accent2"/>
              </a:solidFill>
            </a:endParaRPr>
          </a:p>
        </p:txBody>
      </p:sp>
      <p:graphicFrame>
        <p:nvGraphicFramePr>
          <p:cNvPr id="266243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794802"/>
              </p:ext>
            </p:extLst>
          </p:nvPr>
        </p:nvGraphicFramePr>
        <p:xfrm>
          <a:off x="450630" y="1830611"/>
          <a:ext cx="7162801" cy="45415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65696">
                  <a:extLst>
                    <a:ext uri="{9D8B030D-6E8A-4147-A177-3AD203B41FA5}">
                      <a16:colId xmlns:a16="http://schemas.microsoft.com/office/drawing/2014/main" val="67723709"/>
                    </a:ext>
                  </a:extLst>
                </a:gridCol>
                <a:gridCol w="2628551">
                  <a:extLst>
                    <a:ext uri="{9D8B030D-6E8A-4147-A177-3AD203B41FA5}">
                      <a16:colId xmlns:a16="http://schemas.microsoft.com/office/drawing/2014/main" val="720095566"/>
                    </a:ext>
                  </a:extLst>
                </a:gridCol>
                <a:gridCol w="2168554">
                  <a:extLst>
                    <a:ext uri="{9D8B030D-6E8A-4147-A177-3AD203B41FA5}">
                      <a16:colId xmlns:a16="http://schemas.microsoft.com/office/drawing/2014/main" val="100571315"/>
                    </a:ext>
                  </a:extLst>
                </a:gridCol>
              </a:tblGrid>
              <a:tr h="74563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  <a:endParaRPr kumimoji="1" lang="en-US" altLang="en-US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size measure</a:t>
                      </a:r>
                      <a:endParaRPr kumimoji="1" lang="en-US" altLang="en-US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40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operation</a:t>
                      </a:r>
                      <a:endParaRPr kumimoji="1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05865275"/>
                  </a:ext>
                </a:extLst>
              </a:tr>
              <a:tr h="63517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Searching for key in a list of n items</a:t>
                      </a:r>
                      <a:endParaRPr kumimoji="1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list’s items,  i.e. n</a:t>
                      </a:r>
                      <a:endParaRPr kumimoji="1" lang="en-US" altLang="en-US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comparison</a:t>
                      </a: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363149055"/>
                  </a:ext>
                </a:extLst>
              </a:tr>
              <a:tr h="91133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Multiplication of two matrices</a:t>
                      </a:r>
                      <a:endParaRPr kumimoji="1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 dimensions or total number of elements</a:t>
                      </a:r>
                      <a:endParaRPr kumimoji="1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Multiplication of two numbers</a:t>
                      </a: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9751343"/>
                  </a:ext>
                </a:extLst>
              </a:tr>
              <a:tr h="91133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Checking primality of a given integer n</a:t>
                      </a:r>
                      <a:endParaRPr kumimoji="1" lang="en-US" altLang="en-US" sz="2000" b="1" i="1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n’size</a:t>
                      </a:r>
                      <a:r>
                        <a:rPr kumimoji="1" lang="en-US" altLang="en-US" sz="2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number of digits (in binary representation)</a:t>
                      </a:r>
                      <a:endParaRPr kumimoji="1" lang="en-US" altLang="en-US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Division</a:t>
                      </a: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292494658"/>
                  </a:ext>
                </a:extLst>
              </a:tr>
              <a:tr h="91133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graph problem</a:t>
                      </a:r>
                      <a:endParaRPr kumimoji="1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#vertices and/or edges</a:t>
                      </a:r>
                      <a:endParaRPr kumimoji="1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defRPr kumimoji="1" sz="20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defRPr kumimoji="1" sz="1600" b="1">
                          <a:solidFill>
                            <a:srgbClr val="FF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Visiting a vertex or traversing an edge</a:t>
                      </a:r>
                      <a:endParaRPr kumimoji="1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950043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01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Algorithm Analysis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Trade off Speed </a:t>
            </a:r>
            <a:r>
              <a:rPr lang="en-US" dirty="0" err="1" smtClean="0"/>
              <a:t>vs</a:t>
            </a:r>
            <a:r>
              <a:rPr lang="en-US" dirty="0" smtClean="0"/>
              <a:t> Memory</a:t>
            </a:r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Speed 	∞ 	1 / Memory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0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Algorithm Analysis</a:t>
            </a:r>
          </a:p>
          <a:p>
            <a:pPr lvl="1"/>
            <a:r>
              <a:rPr lang="en-US" dirty="0" smtClean="0"/>
              <a:t>Classifications</a:t>
            </a:r>
          </a:p>
          <a:p>
            <a:pPr lvl="2"/>
            <a:r>
              <a:rPr lang="en-US" dirty="0" smtClean="0"/>
              <a:t>Best Case Analysis</a:t>
            </a:r>
          </a:p>
          <a:p>
            <a:pPr lvl="2"/>
            <a:r>
              <a:rPr lang="en-US" dirty="0" smtClean="0"/>
              <a:t>Average Case Analysis</a:t>
            </a:r>
          </a:p>
          <a:p>
            <a:pPr lvl="2"/>
            <a:r>
              <a:rPr lang="en-US" dirty="0" smtClean="0"/>
              <a:t>Worst Case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5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Algorithm Analysis</a:t>
            </a:r>
          </a:p>
          <a:p>
            <a:pPr lvl="1"/>
            <a:r>
              <a:rPr lang="en-US" dirty="0" smtClean="0"/>
              <a:t>Classifications</a:t>
            </a:r>
          </a:p>
          <a:p>
            <a:pPr lvl="2"/>
            <a:r>
              <a:rPr lang="en-US" dirty="0" smtClean="0"/>
              <a:t>Best Case Analysis</a:t>
            </a:r>
          </a:p>
          <a:p>
            <a:pPr lvl="3"/>
            <a:r>
              <a:rPr lang="en-US" dirty="0" smtClean="0"/>
              <a:t>Minimum time / space</a:t>
            </a:r>
          </a:p>
          <a:p>
            <a:pPr lvl="2"/>
            <a:r>
              <a:rPr lang="en-US" dirty="0" smtClean="0"/>
              <a:t>Average Case Analysis</a:t>
            </a:r>
          </a:p>
          <a:p>
            <a:pPr lvl="2"/>
            <a:r>
              <a:rPr lang="en-US" dirty="0" smtClean="0"/>
              <a:t>Worst Case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Algorithm Analysis</a:t>
            </a:r>
          </a:p>
          <a:p>
            <a:pPr lvl="1"/>
            <a:r>
              <a:rPr lang="en-US" dirty="0" smtClean="0"/>
              <a:t>Classifications</a:t>
            </a:r>
          </a:p>
          <a:p>
            <a:pPr lvl="2"/>
            <a:r>
              <a:rPr lang="en-US" dirty="0" smtClean="0"/>
              <a:t>Best Case Analysis</a:t>
            </a:r>
          </a:p>
          <a:p>
            <a:pPr lvl="2"/>
            <a:r>
              <a:rPr lang="en-US" dirty="0" smtClean="0"/>
              <a:t>Average Case Analysis</a:t>
            </a:r>
          </a:p>
          <a:p>
            <a:pPr lvl="3"/>
            <a:r>
              <a:rPr lang="en-US" dirty="0" smtClean="0"/>
              <a:t>Average time / Space</a:t>
            </a:r>
          </a:p>
          <a:p>
            <a:pPr lvl="2"/>
            <a:r>
              <a:rPr lang="en-US" dirty="0" smtClean="0"/>
              <a:t>Worst Case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1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Algorithm Analysis</a:t>
            </a:r>
          </a:p>
          <a:p>
            <a:pPr lvl="1"/>
            <a:r>
              <a:rPr lang="en-US" dirty="0" smtClean="0"/>
              <a:t>Classifications</a:t>
            </a:r>
          </a:p>
          <a:p>
            <a:pPr lvl="2"/>
            <a:r>
              <a:rPr lang="en-US" dirty="0" smtClean="0"/>
              <a:t>Best Case Analysis</a:t>
            </a:r>
          </a:p>
          <a:p>
            <a:pPr lvl="2"/>
            <a:r>
              <a:rPr lang="en-US" dirty="0" smtClean="0"/>
              <a:t>Average Case Analysis</a:t>
            </a:r>
          </a:p>
          <a:p>
            <a:pPr lvl="2"/>
            <a:r>
              <a:rPr lang="en-US" dirty="0" smtClean="0"/>
              <a:t>Worst Case Analysis</a:t>
            </a:r>
          </a:p>
          <a:p>
            <a:pPr lvl="3"/>
            <a:r>
              <a:rPr lang="en-US" dirty="0" smtClean="0"/>
              <a:t>Maximum time/ space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Algorithm Analysis</a:t>
            </a:r>
          </a:p>
          <a:p>
            <a:pPr lvl="1"/>
            <a:r>
              <a:rPr lang="en-US" dirty="0" smtClean="0"/>
              <a:t>Classifications</a:t>
            </a:r>
          </a:p>
          <a:p>
            <a:pPr lvl="2"/>
            <a:r>
              <a:rPr lang="en-US" dirty="0" smtClean="0"/>
              <a:t>Best Case Analysis</a:t>
            </a:r>
          </a:p>
          <a:p>
            <a:pPr lvl="3"/>
            <a:r>
              <a:rPr lang="en-US" dirty="0"/>
              <a:t>Minimum time / space</a:t>
            </a:r>
          </a:p>
          <a:p>
            <a:pPr lvl="2"/>
            <a:r>
              <a:rPr lang="en-US" dirty="0" smtClean="0"/>
              <a:t>Average Case Analysis</a:t>
            </a:r>
          </a:p>
          <a:p>
            <a:pPr lvl="3"/>
            <a:r>
              <a:rPr lang="en-US" dirty="0"/>
              <a:t>Average time / Space</a:t>
            </a:r>
          </a:p>
          <a:p>
            <a:pPr lvl="2"/>
            <a:r>
              <a:rPr lang="en-US" dirty="0" smtClean="0"/>
              <a:t>Worst Case Analysis</a:t>
            </a:r>
          </a:p>
          <a:p>
            <a:pPr lvl="3"/>
            <a:r>
              <a:rPr lang="en-US" dirty="0" smtClean="0"/>
              <a:t>Maximum time/ space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F076-2CA6-4AC3-9B32-C052E723536A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3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00823B"/>
                </a:solidFill>
              </a:rPr>
              <a:t>Important Mathematical Concepts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33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Sequences &amp; 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Sequence</a:t>
            </a:r>
          </a:p>
          <a:p>
            <a:pPr lvl="1"/>
            <a:r>
              <a:rPr lang="en-US" dirty="0" smtClean="0"/>
              <a:t>1, 2, 3, 4, 5, 6, ………., n</a:t>
            </a:r>
          </a:p>
          <a:p>
            <a:pPr lvl="1"/>
            <a:r>
              <a:rPr lang="en-US" dirty="0" smtClean="0"/>
              <a:t>a</a:t>
            </a:r>
            <a:r>
              <a:rPr lang="en-US" baseline="-25000" dirty="0" smtClean="0"/>
              <a:t>1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dirty="0" smtClean="0"/>
              <a:t>, a</a:t>
            </a:r>
            <a:r>
              <a:rPr lang="en-US" baseline="-25000" dirty="0" smtClean="0"/>
              <a:t>3</a:t>
            </a:r>
            <a:r>
              <a:rPr lang="en-US" dirty="0" smtClean="0"/>
              <a:t>, a</a:t>
            </a:r>
            <a:r>
              <a:rPr lang="en-US" baseline="-25000" dirty="0" smtClean="0"/>
              <a:t>4</a:t>
            </a:r>
            <a:r>
              <a:rPr lang="en-US" dirty="0" smtClean="0"/>
              <a:t>, a</a:t>
            </a:r>
            <a:r>
              <a:rPr lang="en-US" baseline="-25000" dirty="0" smtClean="0"/>
              <a:t>5</a:t>
            </a:r>
            <a:r>
              <a:rPr lang="en-US" dirty="0" smtClean="0"/>
              <a:t>, a</a:t>
            </a:r>
            <a:r>
              <a:rPr lang="en-US" baseline="-25000" dirty="0" smtClean="0"/>
              <a:t>6</a:t>
            </a:r>
            <a:r>
              <a:rPr lang="en-US" dirty="0" smtClean="0"/>
              <a:t>, ………..</a:t>
            </a:r>
            <a:r>
              <a:rPr lang="en-US" dirty="0"/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n</a:t>
            </a:r>
            <a:endParaRPr lang="en-US" dirty="0" smtClean="0"/>
          </a:p>
          <a:p>
            <a:pPr lvl="1"/>
            <a:r>
              <a:rPr lang="en-US" dirty="0" smtClean="0"/>
              <a:t>1, 1, 2, 3, 5, 8, ………</a:t>
            </a:r>
          </a:p>
          <a:p>
            <a:r>
              <a:rPr lang="en-US" dirty="0" smtClean="0"/>
              <a:t>Series</a:t>
            </a:r>
          </a:p>
          <a:p>
            <a:pPr lvl="1"/>
            <a:r>
              <a:rPr lang="en-US" dirty="0" smtClean="0"/>
              <a:t>1+ 2+ 3+ 4+ 5+ 6+ ……….+ n</a:t>
            </a:r>
            <a:endParaRPr lang="en-US" dirty="0"/>
          </a:p>
          <a:p>
            <a:pPr lvl="1"/>
            <a:r>
              <a:rPr lang="en-US" dirty="0" smtClean="0"/>
              <a:t>a</a:t>
            </a:r>
            <a:r>
              <a:rPr lang="en-US" baseline="-25000" dirty="0" smtClean="0"/>
              <a:t>1</a:t>
            </a:r>
            <a:r>
              <a:rPr lang="en-US" dirty="0" smtClean="0"/>
              <a:t>+ a</a:t>
            </a:r>
            <a:r>
              <a:rPr lang="en-US" baseline="-25000" dirty="0" smtClean="0"/>
              <a:t>2</a:t>
            </a:r>
            <a:r>
              <a:rPr lang="en-US" dirty="0"/>
              <a:t> +</a:t>
            </a:r>
            <a:r>
              <a:rPr lang="en-US" dirty="0" smtClean="0"/>
              <a:t> a</a:t>
            </a:r>
            <a:r>
              <a:rPr lang="en-US" baseline="-25000" dirty="0" smtClean="0"/>
              <a:t>3</a:t>
            </a:r>
            <a:r>
              <a:rPr lang="en-US" dirty="0"/>
              <a:t> +</a:t>
            </a:r>
            <a:r>
              <a:rPr lang="en-US" dirty="0" smtClean="0"/>
              <a:t> a</a:t>
            </a:r>
            <a:r>
              <a:rPr lang="en-US" baseline="-25000" dirty="0" smtClean="0"/>
              <a:t>4</a:t>
            </a:r>
            <a:r>
              <a:rPr lang="en-US" dirty="0"/>
              <a:t> +</a:t>
            </a:r>
            <a:r>
              <a:rPr lang="en-US" dirty="0" smtClean="0"/>
              <a:t> a</a:t>
            </a:r>
            <a:r>
              <a:rPr lang="en-US" baseline="-25000" dirty="0" smtClean="0"/>
              <a:t>5</a:t>
            </a:r>
            <a:r>
              <a:rPr lang="en-US" dirty="0"/>
              <a:t> +</a:t>
            </a:r>
            <a:r>
              <a:rPr lang="en-US" dirty="0" smtClean="0"/>
              <a:t> a</a:t>
            </a:r>
            <a:r>
              <a:rPr lang="en-US" baseline="-25000" dirty="0" smtClean="0"/>
              <a:t>6</a:t>
            </a:r>
            <a:r>
              <a:rPr lang="en-US" dirty="0"/>
              <a:t> +</a:t>
            </a:r>
            <a:r>
              <a:rPr lang="en-US" dirty="0" smtClean="0"/>
              <a:t> ………..+</a:t>
            </a:r>
            <a:r>
              <a:rPr lang="en-US" dirty="0"/>
              <a:t>a</a:t>
            </a:r>
            <a:r>
              <a:rPr lang="en-US" baseline="-25000" dirty="0"/>
              <a:t>n</a:t>
            </a:r>
            <a:endParaRPr lang="en-US" dirty="0"/>
          </a:p>
          <a:p>
            <a:pPr lvl="1"/>
            <a:r>
              <a:rPr lang="en-US" dirty="0" smtClean="0"/>
              <a:t>1+ 1+ 2+ 3+ 5+ 8+ </a:t>
            </a:r>
            <a:r>
              <a:rPr lang="en-US" dirty="0"/>
              <a:t>………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0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Sequences &amp; 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Series</a:t>
            </a:r>
          </a:p>
          <a:p>
            <a:pPr lvl="1"/>
            <a:r>
              <a:rPr lang="en-US" dirty="0" smtClean="0"/>
              <a:t>Arithmetic</a:t>
            </a:r>
          </a:p>
          <a:p>
            <a:pPr lvl="1"/>
            <a:r>
              <a:rPr lang="en-US" dirty="0" smtClean="0"/>
              <a:t>Geometric</a:t>
            </a:r>
            <a:endParaRPr lang="en-US" dirty="0"/>
          </a:p>
          <a:p>
            <a:pPr lvl="1"/>
            <a:r>
              <a:rPr lang="en-US" dirty="0" smtClean="0"/>
              <a:t>Harmonic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124200"/>
            <a:ext cx="2066667" cy="4380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440" y="3657375"/>
            <a:ext cx="2990476" cy="4476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440" y="4131152"/>
            <a:ext cx="3085714" cy="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1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Arithmetic Series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Summation</a:t>
            </a:r>
          </a:p>
          <a:p>
            <a:pPr lvl="1"/>
            <a:r>
              <a:rPr lang="en-US" dirty="0" smtClean="0"/>
              <a:t>Arithmetic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124200"/>
            <a:ext cx="2066667" cy="4380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736" y="3471952"/>
            <a:ext cx="742857" cy="10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752905"/>
            <a:ext cx="2066667" cy="4380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084" y="3871952"/>
            <a:ext cx="285714" cy="200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391276"/>
            <a:ext cx="1447619" cy="10095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4314" y="4466283"/>
            <a:ext cx="3028571" cy="9809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2293" y="5496038"/>
            <a:ext cx="2400000" cy="800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2488" y="5328890"/>
            <a:ext cx="1409524" cy="9809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2241" y="5321290"/>
            <a:ext cx="1485714" cy="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2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Geometric 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Summation</a:t>
            </a:r>
          </a:p>
          <a:p>
            <a:pPr lvl="1"/>
            <a:r>
              <a:rPr lang="en-US" dirty="0" smtClean="0"/>
              <a:t>Geometric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124200"/>
            <a:ext cx="2990476" cy="44761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267" y="3571819"/>
            <a:ext cx="4323809" cy="9714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267" y="4543248"/>
            <a:ext cx="2276190" cy="8857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5267" y="5514677"/>
            <a:ext cx="1866667" cy="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9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Harmonic 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Summation</a:t>
            </a:r>
          </a:p>
          <a:p>
            <a:pPr lvl="1"/>
            <a:r>
              <a:rPr lang="en-US" dirty="0" smtClean="0"/>
              <a:t>Harmonic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086" y="2971800"/>
            <a:ext cx="3085714" cy="7142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631050"/>
            <a:ext cx="714286" cy="8571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094" y="3697716"/>
            <a:ext cx="3533333" cy="7238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8094" y="4708737"/>
            <a:ext cx="1866667" cy="37142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4465881"/>
            <a:ext cx="714286" cy="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00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Logarithms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log n</a:t>
            </a:r>
          </a:p>
          <a:p>
            <a:pPr lvl="1"/>
            <a:r>
              <a:rPr lang="en-US" dirty="0" smtClean="0"/>
              <a:t>Its base will be 10 i.e. </a:t>
            </a:r>
            <a:r>
              <a:rPr lang="en-US" b="1" dirty="0" smtClean="0">
                <a:solidFill>
                  <a:srgbClr val="0000FF"/>
                </a:solidFill>
              </a:rPr>
              <a:t>log</a:t>
            </a:r>
            <a:r>
              <a:rPr lang="en-US" b="1" baseline="-25000" dirty="0" smtClean="0">
                <a:solidFill>
                  <a:srgbClr val="0000FF"/>
                </a:solidFill>
              </a:rPr>
              <a:t>10</a:t>
            </a:r>
            <a:r>
              <a:rPr lang="en-US" b="1" dirty="0" smtClean="0">
                <a:solidFill>
                  <a:srgbClr val="0000FF"/>
                </a:solidFill>
              </a:rPr>
              <a:t> n</a:t>
            </a:r>
          </a:p>
          <a:p>
            <a:r>
              <a:rPr lang="en-US" dirty="0" err="1" smtClean="0"/>
              <a:t>lg</a:t>
            </a:r>
            <a:r>
              <a:rPr lang="en-US" dirty="0" smtClean="0"/>
              <a:t> n</a:t>
            </a:r>
          </a:p>
          <a:p>
            <a:pPr lvl="1"/>
            <a:r>
              <a:rPr lang="en-US" dirty="0" smtClean="0"/>
              <a:t>Its base will be 2 </a:t>
            </a:r>
            <a:r>
              <a:rPr lang="en-US" dirty="0"/>
              <a:t>i.e. </a:t>
            </a:r>
            <a:r>
              <a:rPr lang="en-US" b="1" dirty="0" smtClean="0">
                <a:solidFill>
                  <a:srgbClr val="0000FF"/>
                </a:solidFill>
              </a:rPr>
              <a:t>log</a:t>
            </a:r>
            <a:r>
              <a:rPr lang="en-US" b="1" baseline="-25000" dirty="0" smtClean="0">
                <a:solidFill>
                  <a:srgbClr val="0000FF"/>
                </a:solidFill>
              </a:rPr>
              <a:t>2</a:t>
            </a:r>
            <a:r>
              <a:rPr lang="en-US" b="1" dirty="0" smtClean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n</a:t>
            </a:r>
          </a:p>
          <a:p>
            <a:r>
              <a:rPr lang="en-US" dirty="0" err="1" smtClean="0"/>
              <a:t>ln</a:t>
            </a:r>
            <a:endParaRPr lang="en-US" dirty="0" smtClean="0"/>
          </a:p>
          <a:p>
            <a:pPr lvl="1"/>
            <a:r>
              <a:rPr lang="en-US" dirty="0"/>
              <a:t>Its base will “e” i.e. </a:t>
            </a:r>
            <a:r>
              <a:rPr lang="en-US" b="1" dirty="0">
                <a:solidFill>
                  <a:srgbClr val="0000FF"/>
                </a:solidFill>
              </a:rPr>
              <a:t>log</a:t>
            </a:r>
            <a:r>
              <a:rPr lang="en-US" b="1" baseline="-25000" dirty="0">
                <a:solidFill>
                  <a:srgbClr val="0000FF"/>
                </a:solidFill>
              </a:rPr>
              <a:t>e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  <a:endParaRPr lang="en-US" dirty="0"/>
          </a:p>
          <a:p>
            <a:pPr lvl="1"/>
            <a:r>
              <a:rPr lang="en-US" dirty="0" smtClean="0"/>
              <a:t>Value of “e” is </a:t>
            </a:r>
            <a:r>
              <a:rPr lang="en-US" b="1" dirty="0" smtClean="0">
                <a:solidFill>
                  <a:srgbClr val="0000FF"/>
                </a:solidFill>
              </a:rPr>
              <a:t>2.71828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9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Logarithms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70</a:t>
            </a:fld>
            <a:endParaRPr lang="en-US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/>
          </p:nvPr>
        </p:nvGraphicFramePr>
        <p:xfrm>
          <a:off x="900113" y="2094910"/>
          <a:ext cx="3443287" cy="4143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3" imgW="1562040" imgH="2070000" progId="Equation.3">
                  <p:embed/>
                </p:oleObj>
              </mc:Choice>
              <mc:Fallback>
                <p:oleObj name="Equation" r:id="rId3" imgW="1562040" imgH="2070000" progId="Equation.3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094910"/>
                        <a:ext cx="3443287" cy="4143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513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Review Questions</a:t>
            </a:r>
            <a:endParaRPr lang="en-US" sz="60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b="1" dirty="0" smtClean="0">
                <a:solidFill>
                  <a:srgbClr val="0000FF"/>
                </a:solidFill>
              </a:rPr>
              <a:t>Introduction to “Analysis and Design of Algorithm”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98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01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Which of the followings is the ingredient of a problem statement?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Input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Output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Process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All of Above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</a:t>
            </a:r>
            <a:r>
              <a:rPr lang="en-US" dirty="0"/>
              <a:t>of </a:t>
            </a:r>
            <a:r>
              <a:rPr lang="en-US" dirty="0" smtClean="0"/>
              <a:t>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9530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1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02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Which of the following ingredients of the “problem statement” must be mentioned explicitly.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Input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Output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Process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All </a:t>
            </a:r>
            <a:r>
              <a:rPr lang="en-US" dirty="0"/>
              <a:t>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572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9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03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What is a “Problem Statement”?</a:t>
            </a:r>
            <a:endParaRPr lang="en-US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The </a:t>
            </a:r>
            <a:r>
              <a:rPr lang="en-US" dirty="0" smtClean="0"/>
              <a:t>statement(s) which </a:t>
            </a:r>
            <a:r>
              <a:rPr lang="en-US" dirty="0"/>
              <a:t>defines the relationship between the input and output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The statement(s) which </a:t>
            </a:r>
            <a:r>
              <a:rPr lang="en-US" dirty="0" smtClean="0"/>
              <a:t>describes the procedure to achieve relationship </a:t>
            </a:r>
            <a:r>
              <a:rPr lang="en-US" dirty="0"/>
              <a:t>between the input and output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 sequence of computational steps which transform the input to output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 sequence of unambiguous (i.e. clear) instructions for solving a problem in a finite amount of time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All </a:t>
            </a:r>
            <a:r>
              <a:rPr lang="en-US" dirty="0"/>
              <a:t>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8194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9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04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What is an “Algorithm”?</a:t>
            </a:r>
          </a:p>
          <a:p>
            <a:endParaRPr lang="en-US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sz="2400" dirty="0" smtClean="0"/>
              <a:t>An algorithm </a:t>
            </a:r>
            <a:r>
              <a:rPr lang="en-US" sz="2400" dirty="0"/>
              <a:t>is a detailed step by step method of solving a problem by using a computer. </a:t>
            </a:r>
            <a:endParaRPr lang="en-US" sz="2400" dirty="0" smtClean="0"/>
          </a:p>
          <a:p>
            <a:pPr marL="971550" lvl="1" indent="-514350" algn="just">
              <a:buFont typeface="+mj-lt"/>
              <a:buAutoNum type="alphaLcParenR"/>
            </a:pPr>
            <a:r>
              <a:rPr lang="en-US" sz="2400" dirty="0" smtClean="0"/>
              <a:t>The </a:t>
            </a:r>
            <a:r>
              <a:rPr lang="en-US" sz="2400" dirty="0"/>
              <a:t>statement(s) which describes the procedure to achieve relationship between the input and output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400" dirty="0"/>
              <a:t>A sequence of computational steps which transform the input to output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400" dirty="0"/>
              <a:t>a sequence of unambiguous (i.e. clear) instructions for solving a problem in a finite amount of time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400" dirty="0"/>
              <a:t>All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257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7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05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Which of the followings is the main characteristic of an Algorithm?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100" dirty="0"/>
              <a:t>It terminates after finite steps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100" dirty="0"/>
              <a:t>Unlike the computer programs (which are for computers understanding), algorithms are understood by humans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It returns at least one output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for every input it halts with correct output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All </a:t>
            </a:r>
            <a:r>
              <a:rPr lang="en-US" dirty="0"/>
              <a:t>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5486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7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06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how many ways, we may specify an “Algorithm”?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1 </a:t>
            </a:r>
            <a:endParaRPr lang="en-US" sz="3200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2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3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4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4196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07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we may specify our “Algorithms”?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Natural Language</a:t>
            </a:r>
            <a:endParaRPr lang="en-US" sz="3200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Code Segment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Pseudo Code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All </a:t>
            </a:r>
            <a:r>
              <a:rPr lang="en-US" sz="3200" dirty="0"/>
              <a:t>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43306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2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08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What is the “Theoretical” importance of studying algorithms?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It is a core of computer science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It is framework for designing and analyzing algorithms for new problem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Both of above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35052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09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What is the “Practical” importance of studying algorithms?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It is a core of computer science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It is framework for designing and analyzing algorithms for new problem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Both of above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962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74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10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Which of the following is a designing technique/strategy for algorithms?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Divide and Conquer</a:t>
            </a:r>
            <a:endParaRPr lang="en-US" sz="3200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Dynamic Programming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Iterative Improvement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Brute Force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All </a:t>
            </a:r>
            <a:r>
              <a:rPr lang="en-US" sz="3200" dirty="0"/>
              <a:t>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4483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7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11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Which of the designing strategy  will not be covered in CPCS-223?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Brute Force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Decrease and Conquer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Transform and Conquer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Greedy Algorithm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105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1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12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An algorithm can be analyzed with respect to ----------------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Speed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Memory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Both of Above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572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3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13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To </a:t>
            </a:r>
            <a:r>
              <a:rPr lang="en-US" dirty="0"/>
              <a:t>determine the performance of the algorithm in terms of </a:t>
            </a:r>
            <a:r>
              <a:rPr lang="en-US" dirty="0" smtClean="0"/>
              <a:t>“</a:t>
            </a:r>
            <a:r>
              <a:rPr lang="en-US" b="1" i="1" dirty="0" smtClean="0"/>
              <a:t>time taken” </a:t>
            </a:r>
            <a:r>
              <a:rPr lang="en-US" dirty="0" smtClean="0"/>
              <a:t>is known as</a:t>
            </a:r>
            <a:endParaRPr lang="en-US" dirty="0"/>
          </a:p>
          <a:p>
            <a:pPr algn="just"/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Time Efficiency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Space Efficiency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495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6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14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To </a:t>
            </a:r>
            <a:r>
              <a:rPr lang="en-US" dirty="0"/>
              <a:t>determine the performance of the algorithm in terms of </a:t>
            </a:r>
            <a:r>
              <a:rPr lang="en-US" dirty="0" smtClean="0"/>
              <a:t>“</a:t>
            </a:r>
            <a:r>
              <a:rPr lang="en-US" b="1" i="1" dirty="0" smtClean="0"/>
              <a:t>storage requirements” </a:t>
            </a:r>
            <a:r>
              <a:rPr lang="en-US" dirty="0" smtClean="0"/>
              <a:t>is known as</a:t>
            </a:r>
            <a:endParaRPr lang="en-US" dirty="0"/>
          </a:p>
          <a:p>
            <a:pPr algn="just"/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Time Efficiency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Space Efficiency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334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2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15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“Space Efficiency” determines the memory requirement of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RAM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Disk Storage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Storage needed to execute the algorithm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Storage to hold the application data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All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4483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6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16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Which of the followings is not true  for “Algorithm code”?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Need fixed amount of space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Need variable amount of space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Use amount of space independent of input size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0767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7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17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The storage requirement for the application depends on the nature of data structure. </a:t>
            </a:r>
          </a:p>
          <a:p>
            <a:pPr algn="just"/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True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False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4196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1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18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“Time Efficiency” is also known as “time complexity”.</a:t>
            </a:r>
          </a:p>
          <a:p>
            <a:pPr algn="just"/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True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False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191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19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sz="4100" dirty="0"/>
              <a:t>The running time of algorithm is calculated as: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Execution time taken by basic operation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Number of times the basic operation is executed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Sum of execution time of basic operation and number of times the basic operation is executed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Product </a:t>
            </a:r>
            <a:r>
              <a:rPr lang="en-US" dirty="0"/>
              <a:t>of execution time of basic operation and number of times the basic operation is executed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5105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4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20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What is the basic operation in “searching for key in a list of n item”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Multiplication of two numbers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Division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Key comparison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Visiting a vertex or traversing an edge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495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4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21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What is the basic operation in “multiplication of two matrices”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Multiplication of two numbers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Division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Key comparison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Visiting a vertex or traversing an edge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35052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7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22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What is the basic operation in “checking </a:t>
            </a:r>
            <a:r>
              <a:rPr lang="en-US" dirty="0" err="1" smtClean="0"/>
              <a:t>primality</a:t>
            </a:r>
            <a:r>
              <a:rPr lang="en-US" dirty="0" smtClean="0"/>
              <a:t> of a given integer n”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Multiplication of two numbers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Division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Key comparison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Visiting a vertex or traversing an edge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191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2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23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What is the basic operation in “typical graph problem”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Multiplication of two numbers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Division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Key comparison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Visiting a vertex or traversing an edge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876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1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24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How “speed” and “memory” are related to each other?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They are directly proportional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They are inversely proportional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Both quantities are independent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0767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9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25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In how many cases , we may classify the analysis of an algorithm?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2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3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4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5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6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962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2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26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How we may classify our “Analysis”?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Best Case Analysis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Average Case Analysis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Worst Case Analysis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All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105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4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27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If we are determining the “minimum time / space requirement” of an algorithm, then it is referred as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Best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Average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Worst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Amortized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810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28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If we are determining the “average time / space requirement” of an algorithm, then it is referred as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Best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Average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Worst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Amortized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191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1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29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If we are determining the “maximum time / space requirement” of an algorithm, then it is referred as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Best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Average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Worst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Amortized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6482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5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30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Which type of analysis produce the similar results, most of the time?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Best Case  &amp; Worst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Best Case &amp; Average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Average Case &amp; Worst Case Analysis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All of above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495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1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31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It is known that if a solution to Problem A exists, then a solution to Problem B exists </a:t>
            </a:r>
            <a:r>
              <a:rPr lang="en-US" dirty="0" smtClean="0"/>
              <a:t>also.</a:t>
            </a:r>
            <a:r>
              <a:rPr lang="en-US" b="1" dirty="0" smtClean="0"/>
              <a:t> </a:t>
            </a:r>
            <a:r>
              <a:rPr lang="en-US" dirty="0"/>
              <a:t>Professor </a:t>
            </a:r>
            <a:r>
              <a:rPr lang="en-US" dirty="0" err="1"/>
              <a:t>Goldbach</a:t>
            </a:r>
            <a:r>
              <a:rPr lang="en-US" dirty="0"/>
              <a:t> has just produced a 1,000-page proof that Problem </a:t>
            </a:r>
            <a:r>
              <a:rPr lang="en-US" b="1" dirty="0">
                <a:solidFill>
                  <a:srgbClr val="00823B"/>
                </a:solidFill>
              </a:rPr>
              <a:t>A is unsolvable</a:t>
            </a:r>
            <a:r>
              <a:rPr lang="en-US" dirty="0"/>
              <a:t>. If his proof turns out to be valid, </a:t>
            </a:r>
            <a:r>
              <a:rPr lang="en-US" dirty="0">
                <a:solidFill>
                  <a:srgbClr val="0000FF"/>
                </a:solidFill>
              </a:rPr>
              <a:t>can we conclude that Problem B is also unsolvable?</a:t>
            </a:r>
            <a:r>
              <a:rPr lang="en-US" dirty="0"/>
              <a:t> Answer yes or no (or don’t know).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Yes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Don’t Know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257800"/>
            <a:ext cx="3810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32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It is known that if a solution to Problem A exists, then a solution to Problem B exists </a:t>
            </a:r>
            <a:r>
              <a:rPr lang="en-US" dirty="0" smtClean="0"/>
              <a:t>also.</a:t>
            </a:r>
            <a:r>
              <a:rPr lang="en-US" b="1" dirty="0" smtClean="0"/>
              <a:t> </a:t>
            </a:r>
            <a:r>
              <a:rPr lang="en-US" dirty="0"/>
              <a:t>Professor </a:t>
            </a:r>
            <a:r>
              <a:rPr lang="en-US" dirty="0" err="1"/>
              <a:t>Goldbach</a:t>
            </a:r>
            <a:r>
              <a:rPr lang="en-US" dirty="0"/>
              <a:t> has just produced a </a:t>
            </a:r>
            <a:r>
              <a:rPr lang="en-US" dirty="0" smtClean="0"/>
              <a:t>10,000-page </a:t>
            </a:r>
            <a:r>
              <a:rPr lang="en-US" dirty="0"/>
              <a:t>proof that Problem </a:t>
            </a:r>
            <a:r>
              <a:rPr lang="en-US" b="1" dirty="0" smtClean="0">
                <a:solidFill>
                  <a:srgbClr val="00823B"/>
                </a:solidFill>
              </a:rPr>
              <a:t>B </a:t>
            </a:r>
            <a:r>
              <a:rPr lang="en-US" b="1" dirty="0">
                <a:solidFill>
                  <a:srgbClr val="00823B"/>
                </a:solidFill>
              </a:rPr>
              <a:t>is unsolvable</a:t>
            </a:r>
            <a:r>
              <a:rPr lang="en-US" dirty="0"/>
              <a:t>. If his proof turns out to be valid, </a:t>
            </a:r>
            <a:r>
              <a:rPr lang="en-US" dirty="0">
                <a:solidFill>
                  <a:srgbClr val="0000FF"/>
                </a:solidFill>
              </a:rPr>
              <a:t>can we conclude that Problem </a:t>
            </a:r>
            <a:r>
              <a:rPr lang="en-US" dirty="0" smtClean="0">
                <a:solidFill>
                  <a:srgbClr val="0000FF"/>
                </a:solidFill>
              </a:rPr>
              <a:t>A </a:t>
            </a:r>
            <a:r>
              <a:rPr lang="en-US" dirty="0">
                <a:solidFill>
                  <a:srgbClr val="0000FF"/>
                </a:solidFill>
              </a:rPr>
              <a:t>is also unsolvable?</a:t>
            </a:r>
            <a:r>
              <a:rPr lang="en-US" dirty="0"/>
              <a:t> Answer yes or no (or don’t know).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Yes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Don’t Know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953000"/>
            <a:ext cx="3810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9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Review Questions</a:t>
            </a:r>
            <a:endParaRPr lang="en-US" sz="60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Important Mathematical </a:t>
            </a:r>
            <a:r>
              <a:rPr lang="en-US" b="1" dirty="0" smtClean="0">
                <a:solidFill>
                  <a:srgbClr val="0000FF"/>
                </a:solidFill>
              </a:rPr>
              <a:t>Concepts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44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33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What is a “sequence” ?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Collection of terms </a:t>
            </a:r>
            <a:endParaRPr lang="en-US" sz="3200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Collection of terms have common pattern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Writing </a:t>
            </a:r>
            <a:r>
              <a:rPr lang="en-US" sz="3200" dirty="0"/>
              <a:t>the terms with “+” between the terms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Writing </a:t>
            </a:r>
            <a:r>
              <a:rPr lang="en-US" sz="3200" dirty="0" smtClean="0"/>
              <a:t>the terms with “+” between the patterned terms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None </a:t>
            </a:r>
            <a:r>
              <a:rPr lang="en-US" sz="3200" dirty="0"/>
              <a:t>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2766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5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34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What is a “series” ?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Collection of terms </a:t>
            </a:r>
            <a:endParaRPr lang="en-US" sz="3200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Collection of terms have common pattern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Writing </a:t>
            </a:r>
            <a:r>
              <a:rPr lang="en-US" sz="3200" dirty="0"/>
              <a:t>the terms with “+” between the terms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Writing </a:t>
            </a:r>
            <a:r>
              <a:rPr lang="en-US" sz="3200" dirty="0" smtClean="0"/>
              <a:t>the terms with “+” between the patterned terms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None </a:t>
            </a:r>
            <a:r>
              <a:rPr lang="en-US" sz="3200" dirty="0"/>
              <a:t>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8006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6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35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Which of the following is not a “sequence”?</a:t>
            </a:r>
          </a:p>
          <a:p>
            <a:endParaRPr lang="en-US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 smtClean="0"/>
              <a:t>1, 4, 7, 10, 13, …………….</a:t>
            </a:r>
            <a:endParaRPr lang="en-US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 smtClean="0"/>
              <a:t>, </a:t>
            </a:r>
            <a:r>
              <a:rPr lang="en-US" dirty="0"/>
              <a:t>a</a:t>
            </a:r>
            <a:r>
              <a:rPr lang="en-US" baseline="-25000" dirty="0"/>
              <a:t>3</a:t>
            </a:r>
            <a:r>
              <a:rPr lang="en-US" dirty="0" smtClean="0"/>
              <a:t>, </a:t>
            </a:r>
            <a:r>
              <a:rPr lang="en-US" dirty="0"/>
              <a:t>a</a:t>
            </a:r>
            <a:r>
              <a:rPr lang="en-US" baseline="-25000" dirty="0"/>
              <a:t>5</a:t>
            </a:r>
            <a:r>
              <a:rPr lang="en-US" dirty="0"/>
              <a:t>, </a:t>
            </a:r>
            <a:r>
              <a:rPr lang="en-US" dirty="0" smtClean="0"/>
              <a:t>……….. a</a:t>
            </a:r>
            <a:r>
              <a:rPr lang="en-US" baseline="-25000" dirty="0" smtClean="0"/>
              <a:t>n-1</a:t>
            </a: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15, 5, 35, 65, 25, 75, 55, …………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876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36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How many types of  the “series” are there?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1 </a:t>
            </a:r>
            <a:endParaRPr lang="en-US" sz="3200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smtClean="0"/>
              <a:t>2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3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4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5720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1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37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Which of the followings, is a valid “series”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Arithmetic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Geometric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Harmonic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All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105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4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38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Which type of the “series” is this?</a:t>
            </a:r>
          </a:p>
          <a:p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Arithmetic Series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Geometric Series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Harmonic Series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None </a:t>
            </a:r>
            <a:r>
              <a:rPr lang="en-US" sz="3200" dirty="0"/>
              <a:t>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272049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362" y="2971800"/>
            <a:ext cx="2990476" cy="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5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39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Which type of the “series” is this?</a:t>
            </a:r>
          </a:p>
          <a:p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Arithmetic Series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Geometric Series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Harmonic Series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None </a:t>
            </a:r>
            <a:r>
              <a:rPr lang="en-US" sz="3200" dirty="0"/>
              <a:t>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733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266" y="3124200"/>
            <a:ext cx="2066667" cy="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8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40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Which type of the “series” is this?</a:t>
            </a:r>
          </a:p>
          <a:p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Arithmetic Series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Geometric Series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Harmonic Series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None </a:t>
            </a:r>
            <a:r>
              <a:rPr lang="en-US" sz="3200" dirty="0"/>
              <a:t>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876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743" y="3019514"/>
            <a:ext cx="3085714" cy="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7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41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n(n+1)(2n+1) / 6 is the expansion of the summation for: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  <a:r>
              <a:rPr lang="en-US" baseline="30000" dirty="0" smtClean="0"/>
              <a:t>2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  <a:r>
              <a:rPr lang="en-US" baseline="30000" dirty="0" smtClean="0"/>
              <a:t>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0767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0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42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(n+1)n/2 </a:t>
            </a:r>
            <a:r>
              <a:rPr lang="en-US" dirty="0"/>
              <a:t>is the expansion of the summation for: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  <a:r>
              <a:rPr lang="en-US" baseline="30000" dirty="0" smtClean="0"/>
              <a:t>2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  <a:r>
              <a:rPr lang="en-US" baseline="30000" dirty="0" smtClean="0"/>
              <a:t>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581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2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43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n(n+1)/4 </a:t>
            </a:r>
            <a:r>
              <a:rPr lang="en-US" dirty="0"/>
              <a:t>is the expansion of the summation for: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  <a:r>
              <a:rPr lang="en-US" baseline="30000" dirty="0" smtClean="0"/>
              <a:t>2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  <a:r>
              <a:rPr lang="en-US" baseline="30000" dirty="0" smtClean="0"/>
              <a:t>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105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3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44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n</a:t>
            </a:r>
            <a:r>
              <a:rPr lang="en-US" baseline="30000" dirty="0" smtClean="0"/>
              <a:t>2</a:t>
            </a:r>
            <a:r>
              <a:rPr lang="en-US" dirty="0" smtClean="0"/>
              <a:t>(n+1)</a:t>
            </a:r>
            <a:r>
              <a:rPr lang="en-US" baseline="30000" dirty="0" smtClean="0"/>
              <a:t>2</a:t>
            </a:r>
            <a:r>
              <a:rPr lang="en-US" dirty="0" smtClean="0"/>
              <a:t>/4 </a:t>
            </a:r>
            <a:r>
              <a:rPr lang="en-US" dirty="0"/>
              <a:t>is the expansion of the summation for: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  <a:r>
              <a:rPr lang="en-US" baseline="30000" dirty="0" smtClean="0"/>
              <a:t>2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K</a:t>
            </a:r>
            <a:r>
              <a:rPr lang="en-US" baseline="30000" dirty="0" smtClean="0"/>
              <a:t>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6482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0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45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 </a:t>
            </a:r>
            <a:r>
              <a:rPr lang="en-US" dirty="0" smtClean="0"/>
              <a:t>              is </a:t>
            </a:r>
            <a:r>
              <a:rPr lang="en-US" dirty="0"/>
              <a:t>the expansion of the summation for</a:t>
            </a:r>
            <a:r>
              <a:rPr lang="en-US" dirty="0" smtClean="0"/>
              <a:t>: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           for |x| &gt; 1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           for </a:t>
            </a:r>
            <a:r>
              <a:rPr lang="en-US" dirty="0" smtClean="0"/>
              <a:t>all “x”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 </a:t>
            </a:r>
            <a:r>
              <a:rPr lang="en-US" dirty="0" smtClean="0"/>
              <a:t>          </a:t>
            </a:r>
            <a:r>
              <a:rPr lang="en-US" dirty="0"/>
              <a:t>for |x| &gt; 1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          for |x| </a:t>
            </a:r>
            <a:r>
              <a:rPr lang="en-US" dirty="0" smtClean="0"/>
              <a:t>&lt; </a:t>
            </a:r>
            <a:r>
              <a:rPr lang="en-US" dirty="0"/>
              <a:t>1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037902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57424"/>
            <a:ext cx="1085850" cy="714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902" y="3228975"/>
            <a:ext cx="576898" cy="657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441" y="4695825"/>
            <a:ext cx="628650" cy="7119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440" y="3962400"/>
            <a:ext cx="576898" cy="6572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688" y="5536435"/>
            <a:ext cx="628650" cy="71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3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46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 </a:t>
            </a:r>
            <a:r>
              <a:rPr lang="en-US" dirty="0" smtClean="0"/>
              <a:t>              is </a:t>
            </a:r>
            <a:r>
              <a:rPr lang="en-US" dirty="0"/>
              <a:t>the expansion of the summation for</a:t>
            </a:r>
            <a:r>
              <a:rPr lang="en-US" dirty="0" smtClean="0"/>
              <a:t>: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           for |x| &gt; 1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           for </a:t>
            </a:r>
            <a:r>
              <a:rPr lang="en-US" dirty="0" smtClean="0"/>
              <a:t>all “x”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           </a:t>
            </a:r>
            <a:r>
              <a:rPr lang="en-US" dirty="0"/>
              <a:t>for |x| &gt; 1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          </a:t>
            </a:r>
            <a:r>
              <a:rPr lang="en-US" dirty="0"/>
              <a:t>for |x| </a:t>
            </a:r>
            <a:r>
              <a:rPr lang="en-US" dirty="0" smtClean="0"/>
              <a:t>&lt; </a:t>
            </a:r>
            <a:r>
              <a:rPr lang="en-US" dirty="0"/>
              <a:t>1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599" y="5638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02" y="3228975"/>
            <a:ext cx="576898" cy="657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441" y="4695825"/>
            <a:ext cx="628650" cy="7119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440" y="3962400"/>
            <a:ext cx="576898" cy="6572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688" y="5536435"/>
            <a:ext cx="628650" cy="7119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662" y="2342106"/>
            <a:ext cx="6762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0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47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               has value:</a:t>
            </a:r>
          </a:p>
          <a:p>
            <a:pPr algn="just"/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log n + O(1)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err="1" smtClean="0"/>
              <a:t>lg</a:t>
            </a:r>
            <a:r>
              <a:rPr lang="en-US" dirty="0" smtClean="0"/>
              <a:t> n + O(1)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err="1" smtClean="0"/>
              <a:t>ln</a:t>
            </a:r>
            <a:r>
              <a:rPr lang="en-US" dirty="0" smtClean="0"/>
              <a:t> </a:t>
            </a:r>
            <a:r>
              <a:rPr lang="en-US" dirty="0"/>
              <a:t>n + O(1)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724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145" y="2409986"/>
            <a:ext cx="714286" cy="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48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number of k-permutation of an n-set </a:t>
            </a:r>
            <a:r>
              <a:rPr lang="en-US" dirty="0" smtClean="0"/>
              <a:t>is: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n! / (n-k)!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(n-k)! </a:t>
            </a:r>
            <a:r>
              <a:rPr lang="en-US" dirty="0"/>
              <a:t>/ </a:t>
            </a:r>
            <a:r>
              <a:rPr lang="en-US" dirty="0" smtClean="0"/>
              <a:t>n!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n! / (n-k</a:t>
            </a:r>
            <a:r>
              <a:rPr lang="en-US" dirty="0" smtClean="0"/>
              <a:t>)! * k!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(n-k)! / n</a:t>
            </a:r>
            <a:r>
              <a:rPr lang="en-US" dirty="0" smtClean="0"/>
              <a:t>! </a:t>
            </a:r>
            <a:r>
              <a:rPr lang="en-US" dirty="0"/>
              <a:t>* k!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3581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7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49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number of </a:t>
            </a:r>
            <a:r>
              <a:rPr lang="en-US" dirty="0" smtClean="0"/>
              <a:t>k-combination </a:t>
            </a:r>
            <a:r>
              <a:rPr lang="en-US" dirty="0"/>
              <a:t>of an n-set </a:t>
            </a:r>
            <a:r>
              <a:rPr lang="en-US" dirty="0" smtClean="0"/>
              <a:t>is: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n! / (n-k)!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(n-k)! </a:t>
            </a:r>
            <a:r>
              <a:rPr lang="en-US" dirty="0"/>
              <a:t>/ </a:t>
            </a:r>
            <a:r>
              <a:rPr lang="en-US" dirty="0" smtClean="0"/>
              <a:t>n!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n! / (n-k</a:t>
            </a:r>
            <a:r>
              <a:rPr lang="en-US" dirty="0" smtClean="0"/>
              <a:t>)! * k!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(n-k)! / n</a:t>
            </a:r>
            <a:r>
              <a:rPr lang="en-US" dirty="0" smtClean="0"/>
              <a:t>! </a:t>
            </a:r>
            <a:r>
              <a:rPr lang="en-US" dirty="0"/>
              <a:t>* k!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572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50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For </a:t>
            </a:r>
            <a:r>
              <a:rPr lang="en-US" baseline="-25000" dirty="0"/>
              <a:t>K=1</a:t>
            </a:r>
            <a:r>
              <a:rPr lang="en-US" dirty="0"/>
              <a:t>Σ</a:t>
            </a:r>
            <a:r>
              <a:rPr lang="en-US" baseline="30000" dirty="0"/>
              <a:t>n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k</a:t>
            </a:r>
            <a:r>
              <a:rPr lang="en-US" dirty="0"/>
              <a:t> if n = 1 then the value of the summation will be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Zero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One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Undetermined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a</a:t>
            </a:r>
            <a:r>
              <a:rPr lang="en-US" baseline="-25000" dirty="0" smtClean="0"/>
              <a:t>1</a:t>
            </a:r>
            <a:endParaRPr lang="en-US" baseline="-25000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105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4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51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      3</a:t>
            </a:r>
            <a:r>
              <a:rPr lang="en-US" b="1" dirty="0"/>
              <a:t>= </a:t>
            </a:r>
            <a:r>
              <a:rPr lang="en-US" b="1" dirty="0" smtClean="0"/>
              <a:t>------------------------?</a:t>
            </a:r>
          </a:p>
          <a:p>
            <a:pPr algn="just"/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3n + 3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</a:t>
            </a:r>
            <a:r>
              <a:rPr lang="en-US" baseline="30000" dirty="0" smtClean="0"/>
              <a:t>3</a:t>
            </a:r>
            <a:endParaRPr lang="en-US" baseline="30000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 + 3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3n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504507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11631"/>
            <a:ext cx="4572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9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52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      k - 1= ------------------------?</a:t>
            </a:r>
          </a:p>
          <a:p>
            <a:pPr algn="just"/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 (n+1) - 1</a:t>
            </a: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</a:t>
            </a:r>
            <a:r>
              <a:rPr lang="en-US" baseline="30000" dirty="0"/>
              <a:t>2</a:t>
            </a:r>
            <a:r>
              <a:rPr lang="en-US" dirty="0"/>
              <a:t> + n -1</a:t>
            </a: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 + n -1) / 2</a:t>
            </a: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 + n </a:t>
            </a:r>
            <a:r>
              <a:rPr lang="en-US" dirty="0" smtClean="0"/>
              <a:t>-2) </a:t>
            </a:r>
            <a:r>
              <a:rPr lang="en-US" dirty="0"/>
              <a:t>/ 2</a:t>
            </a: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35578" y="4953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11631"/>
            <a:ext cx="4572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9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53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   k  -      k= ------------------------?</a:t>
            </a:r>
          </a:p>
          <a:p>
            <a:pPr algn="just"/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-3 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 + 3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 /3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 - 3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2 - 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45276" y="54483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26" y="2369127"/>
            <a:ext cx="438150" cy="771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362200"/>
            <a:ext cx="4762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5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54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-       k  -       k= ------------------------?</a:t>
            </a:r>
          </a:p>
          <a:p>
            <a:pPr algn="just"/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-2 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- n</a:t>
            </a:r>
            <a:r>
              <a:rPr lang="en-US" baseline="30000" dirty="0" smtClean="0"/>
              <a:t>2</a:t>
            </a:r>
            <a:r>
              <a:rPr lang="en-US" dirty="0" smtClean="0"/>
              <a:t> -2n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 + 2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 /2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 - 2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43890" y="40386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490" y="2378825"/>
            <a:ext cx="438150" cy="771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931" y="2378825"/>
            <a:ext cx="4762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6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55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If we want to find the logarithmic value with base 10; for “n”, it can be represented as: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log </a:t>
            </a:r>
            <a:r>
              <a:rPr lang="en-US" dirty="0"/>
              <a:t>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 smtClean="0"/>
              <a:t>lg</a:t>
            </a:r>
            <a:r>
              <a:rPr lang="en-US" dirty="0" smtClean="0"/>
              <a:t> </a:t>
            </a:r>
            <a:r>
              <a:rPr lang="en-US" dirty="0"/>
              <a:t>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 smtClean="0"/>
              <a:t>ln</a:t>
            </a:r>
            <a:r>
              <a:rPr lang="en-US" dirty="0" smtClean="0"/>
              <a:t> </a:t>
            </a:r>
            <a:r>
              <a:rPr lang="en-US" dirty="0"/>
              <a:t>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0767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4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56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If we want to find the logarithmic value with base 2; for “n”, it can be represented as: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log </a:t>
            </a:r>
            <a:r>
              <a:rPr lang="en-US" dirty="0"/>
              <a:t>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 smtClean="0"/>
              <a:t>lg</a:t>
            </a:r>
            <a:r>
              <a:rPr lang="en-US" dirty="0" smtClean="0"/>
              <a:t> </a:t>
            </a:r>
            <a:r>
              <a:rPr lang="en-US" dirty="0"/>
              <a:t>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 smtClean="0"/>
              <a:t>ln</a:t>
            </a:r>
            <a:r>
              <a:rPr lang="en-US" dirty="0" smtClean="0"/>
              <a:t> </a:t>
            </a:r>
            <a:r>
              <a:rPr lang="en-US" dirty="0"/>
              <a:t>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572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rgbClr val="00823B"/>
                </a:solidFill>
              </a:rPr>
              <a:t>57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If we want to find the logarithmic value with base e; for “n”, it can be represented as: 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log </a:t>
            </a:r>
            <a:r>
              <a:rPr lang="en-US" dirty="0"/>
              <a:t>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 smtClean="0"/>
              <a:t>lg</a:t>
            </a:r>
            <a:r>
              <a:rPr lang="en-US" dirty="0" smtClean="0"/>
              <a:t> </a:t>
            </a:r>
            <a:r>
              <a:rPr lang="en-US" dirty="0"/>
              <a:t>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 smtClean="0"/>
              <a:t>ln</a:t>
            </a:r>
            <a:r>
              <a:rPr lang="en-US" dirty="0" smtClean="0"/>
              <a:t> </a:t>
            </a:r>
            <a:r>
              <a:rPr lang="en-US" dirty="0"/>
              <a:t>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None of above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5105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3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130</a:t>
            </a:fld>
            <a:endParaRPr lang="en-US"/>
          </a:p>
        </p:txBody>
      </p:sp>
      <p:graphicFrame>
        <p:nvGraphicFramePr>
          <p:cNvPr id="3" name="Diagram 2"/>
          <p:cNvGraphicFramePr/>
          <p:nvPr>
            <p:extLst/>
          </p:nvPr>
        </p:nvGraphicFramePr>
        <p:xfrm>
          <a:off x="-914400" y="4648199"/>
          <a:ext cx="9144000" cy="1643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95400"/>
            <a:ext cx="7391400" cy="2449366"/>
          </a:xfrm>
        </p:spPr>
      </p:pic>
    </p:spTree>
    <p:extLst>
      <p:ext uri="{BB962C8B-B14F-4D97-AF65-F5344CB8AC3E}">
        <p14:creationId xmlns:p14="http://schemas.microsoft.com/office/powerpoint/2010/main" val="102106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614</TotalTime>
  <Words>3891</Words>
  <Application>Microsoft Office PowerPoint</Application>
  <PresentationFormat>On-screen Show (4:3)</PresentationFormat>
  <Paragraphs>880</Paragraphs>
  <Slides>130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37" baseType="lpstr">
      <vt:lpstr>Arial</vt:lpstr>
      <vt:lpstr>Calibri</vt:lpstr>
      <vt:lpstr>Monotype Sorts</vt:lpstr>
      <vt:lpstr>Symbol</vt:lpstr>
      <vt:lpstr>Times New Roman</vt:lpstr>
      <vt:lpstr>Office Theme</vt:lpstr>
      <vt:lpstr>Equation</vt:lpstr>
      <vt:lpstr>PowerPoint Presentation</vt:lpstr>
      <vt:lpstr>Introduction to Algorithms</vt:lpstr>
      <vt:lpstr>Algorithms</vt:lpstr>
      <vt:lpstr>Problem Statement</vt:lpstr>
      <vt:lpstr>Problem Statement – Example 01</vt:lpstr>
      <vt:lpstr>Problem Statement – Example 01</vt:lpstr>
      <vt:lpstr>Problem Statement – Example 01</vt:lpstr>
      <vt:lpstr>Problem Statement – Example 01</vt:lpstr>
      <vt:lpstr>Problem Statement – Example 02</vt:lpstr>
      <vt:lpstr>Problem Statement – Example 02</vt:lpstr>
      <vt:lpstr>Problem Statement – Example 02</vt:lpstr>
      <vt:lpstr>Problem Statement – Example 03</vt:lpstr>
      <vt:lpstr>Problem Statement – Example 03</vt:lpstr>
      <vt:lpstr>Example 01</vt:lpstr>
      <vt:lpstr>Example 02</vt:lpstr>
      <vt:lpstr>Example 03</vt:lpstr>
      <vt:lpstr>Problem Statement</vt:lpstr>
      <vt:lpstr>Algorithms</vt:lpstr>
      <vt:lpstr>Algorithm</vt:lpstr>
      <vt:lpstr>Algorithm</vt:lpstr>
      <vt:lpstr>Algorithm</vt:lpstr>
      <vt:lpstr>Algorithm</vt:lpstr>
      <vt:lpstr>Algorithm</vt:lpstr>
      <vt:lpstr>Algorithms</vt:lpstr>
      <vt:lpstr>Characteristics</vt:lpstr>
      <vt:lpstr>Algorithm</vt:lpstr>
      <vt:lpstr>Algorithms</vt:lpstr>
      <vt:lpstr>Algorithm Write-Up</vt:lpstr>
      <vt:lpstr>Algorithm Write-Up – Example 01</vt:lpstr>
      <vt:lpstr>Natural Language</vt:lpstr>
      <vt:lpstr>Code Segment</vt:lpstr>
      <vt:lpstr>Pseudo Code</vt:lpstr>
      <vt:lpstr>Role of an algorithm?</vt:lpstr>
      <vt:lpstr>Algorithms</vt:lpstr>
      <vt:lpstr>Example 01 - Euclid’s Algorithm</vt:lpstr>
      <vt:lpstr>Example 01 - Euclid’s algorithm</vt:lpstr>
      <vt:lpstr>Example 01 - Euclid’s algorithm</vt:lpstr>
      <vt:lpstr>Example 02 - Consecutive integer checking </vt:lpstr>
      <vt:lpstr>Example 03 – Prime Factorization</vt:lpstr>
      <vt:lpstr>Example 04 – Sieve of Eratosthenes</vt:lpstr>
      <vt:lpstr>Example 04 – Sieve of Eratosthenes</vt:lpstr>
      <vt:lpstr>Algorithms</vt:lpstr>
      <vt:lpstr>Importance</vt:lpstr>
      <vt:lpstr>Main Issues</vt:lpstr>
      <vt:lpstr>Designing of Algorithms</vt:lpstr>
      <vt:lpstr>Techniques / strategies</vt:lpstr>
      <vt:lpstr>PowerPoint Presentation</vt:lpstr>
      <vt:lpstr>Fundamental Data Structures</vt:lpstr>
      <vt:lpstr>Analysis of Algorithms</vt:lpstr>
      <vt:lpstr>Introduction</vt:lpstr>
      <vt:lpstr>Introduction</vt:lpstr>
      <vt:lpstr>Introduction</vt:lpstr>
      <vt:lpstr>Introduction</vt:lpstr>
      <vt:lpstr>Introduction</vt:lpstr>
      <vt:lpstr>PowerPoint Presentation</vt:lpstr>
      <vt:lpstr>Basic Operation Examples</vt:lpstr>
      <vt:lpstr>Introduction</vt:lpstr>
      <vt:lpstr>Introduction</vt:lpstr>
      <vt:lpstr>Introduction</vt:lpstr>
      <vt:lpstr>Introduction</vt:lpstr>
      <vt:lpstr>Introduction</vt:lpstr>
      <vt:lpstr>Introduction</vt:lpstr>
      <vt:lpstr>Important Mathematical Concepts</vt:lpstr>
      <vt:lpstr>Sequences &amp; Series</vt:lpstr>
      <vt:lpstr>Sequences &amp; Series</vt:lpstr>
      <vt:lpstr>Arithmetic Series </vt:lpstr>
      <vt:lpstr>Geometric Series</vt:lpstr>
      <vt:lpstr>Harmonic Series</vt:lpstr>
      <vt:lpstr>Logarithms</vt:lpstr>
      <vt:lpstr>Logarithms</vt:lpstr>
      <vt:lpstr>Review Questions</vt:lpstr>
      <vt:lpstr>01</vt:lpstr>
      <vt:lpstr>02</vt:lpstr>
      <vt:lpstr>03</vt:lpstr>
      <vt:lpstr>04</vt:lpstr>
      <vt:lpstr>05</vt:lpstr>
      <vt:lpstr>06</vt:lpstr>
      <vt:lpstr>07</vt:lpstr>
      <vt:lpstr>08</vt:lpstr>
      <vt:lpstr>09</vt:lpstr>
      <vt:lpstr>10</vt:lpstr>
      <vt:lpstr>11</vt:lpstr>
      <vt:lpstr>12</vt:lpstr>
      <vt:lpstr>13</vt:lpstr>
      <vt:lpstr>14</vt:lpstr>
      <vt:lpstr>15</vt:lpstr>
      <vt:lpstr>16</vt:lpstr>
      <vt:lpstr>17</vt:lpstr>
      <vt:lpstr>18</vt:lpstr>
      <vt:lpstr>19</vt:lpstr>
      <vt:lpstr>20</vt:lpstr>
      <vt:lpstr>21</vt:lpstr>
      <vt:lpstr>22</vt:lpstr>
      <vt:lpstr>23</vt:lpstr>
      <vt:lpstr>24</vt:lpstr>
      <vt:lpstr>25</vt:lpstr>
      <vt:lpstr>26</vt:lpstr>
      <vt:lpstr>27</vt:lpstr>
      <vt:lpstr>28</vt:lpstr>
      <vt:lpstr>29</vt:lpstr>
      <vt:lpstr>30</vt:lpstr>
      <vt:lpstr>31</vt:lpstr>
      <vt:lpstr>32</vt:lpstr>
      <vt:lpstr>Review Questions</vt:lpstr>
      <vt:lpstr>33</vt:lpstr>
      <vt:lpstr>34</vt:lpstr>
      <vt:lpstr>35</vt:lpstr>
      <vt:lpstr>36</vt:lpstr>
      <vt:lpstr>37</vt:lpstr>
      <vt:lpstr>38</vt:lpstr>
      <vt:lpstr>39</vt:lpstr>
      <vt:lpstr>40</vt:lpstr>
      <vt:lpstr>41</vt:lpstr>
      <vt:lpstr>42</vt:lpstr>
      <vt:lpstr>43</vt:lpstr>
      <vt:lpstr>44</vt:lpstr>
      <vt:lpstr>45</vt:lpstr>
      <vt:lpstr>46</vt:lpstr>
      <vt:lpstr>47</vt:lpstr>
      <vt:lpstr>48</vt:lpstr>
      <vt:lpstr>49</vt:lpstr>
      <vt:lpstr>50</vt:lpstr>
      <vt:lpstr>51</vt:lpstr>
      <vt:lpstr>52</vt:lpstr>
      <vt:lpstr>53</vt:lpstr>
      <vt:lpstr>54</vt:lpstr>
      <vt:lpstr>55</vt:lpstr>
      <vt:lpstr>56</vt:lpstr>
      <vt:lpstr>57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Windows User</cp:lastModifiedBy>
  <cp:revision>140</cp:revision>
  <dcterms:created xsi:type="dcterms:W3CDTF">2018-06-20T09:11:51Z</dcterms:created>
  <dcterms:modified xsi:type="dcterms:W3CDTF">2025-01-15T05:29:13Z</dcterms:modified>
</cp:coreProperties>
</file>