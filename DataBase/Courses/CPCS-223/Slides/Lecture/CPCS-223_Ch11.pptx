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349" r:id="rId2"/>
    <p:sldId id="350" r:id="rId3"/>
    <p:sldId id="351" r:id="rId4"/>
    <p:sldId id="352" r:id="rId5"/>
    <p:sldId id="353" r:id="rId6"/>
    <p:sldId id="354" r:id="rId7"/>
    <p:sldId id="382" r:id="rId8"/>
    <p:sldId id="356" r:id="rId9"/>
    <p:sldId id="357" r:id="rId10"/>
    <p:sldId id="358" r:id="rId11"/>
    <p:sldId id="418" r:id="rId12"/>
    <p:sldId id="417" r:id="rId13"/>
    <p:sldId id="416" r:id="rId14"/>
    <p:sldId id="415" r:id="rId15"/>
    <p:sldId id="414" r:id="rId16"/>
    <p:sldId id="413" r:id="rId17"/>
    <p:sldId id="412" r:id="rId18"/>
    <p:sldId id="411" r:id="rId19"/>
    <p:sldId id="410" r:id="rId20"/>
    <p:sldId id="409" r:id="rId21"/>
    <p:sldId id="408" r:id="rId22"/>
    <p:sldId id="407" r:id="rId23"/>
    <p:sldId id="406" r:id="rId24"/>
    <p:sldId id="405" r:id="rId25"/>
    <p:sldId id="404" r:id="rId26"/>
    <p:sldId id="403" r:id="rId27"/>
    <p:sldId id="402" r:id="rId28"/>
    <p:sldId id="360" r:id="rId29"/>
    <p:sldId id="399" r:id="rId30"/>
    <p:sldId id="401" r:id="rId31"/>
    <p:sldId id="396" r:id="rId32"/>
    <p:sldId id="363" r:id="rId33"/>
    <p:sldId id="364" r:id="rId34"/>
    <p:sldId id="365" r:id="rId35"/>
    <p:sldId id="366" r:id="rId36"/>
    <p:sldId id="367" r:id="rId37"/>
    <p:sldId id="400" r:id="rId38"/>
    <p:sldId id="368" r:id="rId39"/>
    <p:sldId id="376" r:id="rId40"/>
    <p:sldId id="369" r:id="rId41"/>
    <p:sldId id="370" r:id="rId42"/>
    <p:sldId id="371" r:id="rId43"/>
    <p:sldId id="372" r:id="rId44"/>
    <p:sldId id="373" r:id="rId45"/>
    <p:sldId id="374" r:id="rId46"/>
    <p:sldId id="348" r:id="rId4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F00A867-0D2F-4317-B9F6-942331555E07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C49CE24-AB9C-43CD-AB59-1170152E142C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4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98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16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35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5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77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46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Instructor Dr. Muhammad Umair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223</a:t>
            </a:r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45.png"/><Relationship Id="rId21" Type="http://schemas.openxmlformats.org/officeDocument/2006/relationships/image" Target="../media/image43.png"/><Relationship Id="rId7" Type="http://schemas.openxmlformats.org/officeDocument/2006/relationships/image" Target="../media/image4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4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33.png"/><Relationship Id="rId5" Type="http://schemas.openxmlformats.org/officeDocument/2006/relationships/image" Target="../media/image4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53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2" Type="http://schemas.openxmlformats.org/officeDocument/2006/relationships/image" Target="../media/image52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6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9.png"/><Relationship Id="rId7" Type="http://schemas.openxmlformats.org/officeDocument/2006/relationships/image" Target="../media/image43.png"/><Relationship Id="rId12" Type="http://schemas.openxmlformats.org/officeDocument/2006/relationships/image" Target="../media/image87.png"/><Relationship Id="rId2" Type="http://schemas.openxmlformats.org/officeDocument/2006/relationships/image" Target="../media/image78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6.png"/><Relationship Id="rId5" Type="http://schemas.openxmlformats.org/officeDocument/2006/relationships/image" Target="../media/image81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9.png"/><Relationship Id="rId7" Type="http://schemas.openxmlformats.org/officeDocument/2006/relationships/image" Target="../media/image43.png"/><Relationship Id="rId12" Type="http://schemas.openxmlformats.org/officeDocument/2006/relationships/image" Target="../media/image87.png"/><Relationship Id="rId17" Type="http://schemas.openxmlformats.org/officeDocument/2006/relationships/image" Target="../media/image52.png"/><Relationship Id="rId2" Type="http://schemas.openxmlformats.org/officeDocument/2006/relationships/image" Target="../media/image78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6.png"/><Relationship Id="rId5" Type="http://schemas.openxmlformats.org/officeDocument/2006/relationships/image" Target="../media/image81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076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Exhaustive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en-US" sz="6000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9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Exhaustive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sz="3800" b="1" dirty="0"/>
              <a:t>A brute force solution to a problem involving search for an element with a special property, usually among combinatorial objects such as permutations, combinations, or subsets of a set.</a:t>
            </a:r>
          </a:p>
          <a:p>
            <a:endParaRPr lang="en-US" dirty="0"/>
          </a:p>
          <a:p>
            <a:r>
              <a:rPr lang="en-US" sz="4500" b="1" dirty="0">
                <a:solidFill>
                  <a:srgbClr val="00823B"/>
                </a:solidFill>
              </a:rPr>
              <a:t>Method: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generate a list </a:t>
            </a:r>
            <a:r>
              <a:rPr lang="en-US" dirty="0"/>
              <a:t>of all potential solutions to the problem in a systematic manner </a:t>
            </a:r>
          </a:p>
          <a:p>
            <a:pPr lvl="1"/>
            <a:r>
              <a:rPr lang="en-US" dirty="0"/>
              <a:t>evaluate potential solutions one by one, </a:t>
            </a:r>
            <a:r>
              <a:rPr lang="en-US" b="1" dirty="0">
                <a:solidFill>
                  <a:srgbClr val="0000FF"/>
                </a:solidFill>
              </a:rPr>
              <a:t>disqualifying infeasible ones </a:t>
            </a:r>
            <a:r>
              <a:rPr lang="en-US" dirty="0"/>
              <a:t>and, for an optimization problem, keeping track of the best one found so far</a:t>
            </a:r>
          </a:p>
          <a:p>
            <a:pPr lvl="1"/>
            <a:r>
              <a:rPr lang="en-US" dirty="0"/>
              <a:t>when search ends, </a:t>
            </a:r>
            <a:r>
              <a:rPr lang="en-US" b="1" dirty="0">
                <a:solidFill>
                  <a:srgbClr val="0000FF"/>
                </a:solidFill>
              </a:rPr>
              <a:t>announce the solution(s) </a:t>
            </a:r>
            <a:r>
              <a:rPr lang="en-US" dirty="0"/>
              <a:t>found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5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/>
          <a:lstStyle/>
          <a:p>
            <a:r>
              <a:rPr lang="en-US" b="1" dirty="0">
                <a:solidFill>
                  <a:srgbClr val="00823B"/>
                </a:solidFill>
              </a:rPr>
              <a:t>Exhaustive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/>
              <a:t>Travelling Salesman Problem (TSP)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Travelling Salesman Problem (TSP)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Given n cities with known distances between each pair, find the shortest tour that passes through all the cities exactly once before returning to the starting city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74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Travelling Salesman Problem (TSP)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Find shortest </a:t>
            </a:r>
            <a:r>
              <a:rPr lang="en-US" altLang="en-US" i="1" dirty="0"/>
              <a:t>Hamiltonian circuit</a:t>
            </a:r>
            <a:r>
              <a:rPr lang="en-US" altLang="en-US" dirty="0"/>
              <a:t>  in a weighted connected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962275" y="3733800"/>
            <a:ext cx="2151063" cy="2149475"/>
            <a:chOff x="1866" y="2335"/>
            <a:chExt cx="1355" cy="1354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872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880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1872" y="331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>
                  <a:solidFill>
                    <a:schemeClr val="bg2"/>
                  </a:solidFill>
                </a:rPr>
                <a:t>c</a:t>
              </a: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2880" y="331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>
                  <a:solidFill>
                    <a:schemeClr val="bg2"/>
                  </a:solidFill>
                </a:rPr>
                <a:t>d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2208" y="2592"/>
              <a:ext cx="67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016" y="2784"/>
              <a:ext cx="0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208" y="3456"/>
              <a:ext cx="67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3024" y="2784"/>
              <a:ext cx="0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2160" y="2736"/>
              <a:ext cx="720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2160" y="2688"/>
              <a:ext cx="72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1866" y="2887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392" y="2335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2392" y="3439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248" y="2719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2536" y="2719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3016" y="2863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Arial" panose="020B0604020202020204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902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19200"/>
            <a:ext cx="9906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1657350" cy="161862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828488"/>
            <a:ext cx="2076450" cy="2476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" y="2381250"/>
            <a:ext cx="1990725" cy="2095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37" y="2990850"/>
            <a:ext cx="2038350" cy="20955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20" y="3676650"/>
            <a:ext cx="2009775" cy="20955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466" y="4314825"/>
            <a:ext cx="2009775" cy="18097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703" y="4943475"/>
            <a:ext cx="2019300" cy="16192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0" y="1802330"/>
            <a:ext cx="1600200" cy="27432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7612" y="2376700"/>
            <a:ext cx="1776549" cy="27432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4199" y="2990849"/>
            <a:ext cx="1855694" cy="2286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4199" y="3672100"/>
            <a:ext cx="1828800" cy="2286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6002" y="4314825"/>
            <a:ext cx="1865376" cy="27432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24199" y="4943474"/>
            <a:ext cx="1802674" cy="27432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1200" y="5550005"/>
            <a:ext cx="1676400" cy="63817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362200" y="1828488"/>
            <a:ext cx="228600" cy="247650"/>
          </a:xfrm>
          <a:prstGeom prst="ellipse">
            <a:avLst/>
          </a:prstGeom>
          <a:solidFill>
            <a:srgbClr val="0082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8" name="Oval 37"/>
          <p:cNvSpPr/>
          <p:nvPr/>
        </p:nvSpPr>
        <p:spPr>
          <a:xfrm>
            <a:off x="2362200" y="4896858"/>
            <a:ext cx="228600" cy="247650"/>
          </a:xfrm>
          <a:prstGeom prst="ellipse">
            <a:avLst/>
          </a:prstGeom>
          <a:solidFill>
            <a:srgbClr val="0082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/>
          <p:cNvSpPr/>
          <p:nvPr/>
        </p:nvSpPr>
        <p:spPr>
          <a:xfrm>
            <a:off x="2362200" y="2376700"/>
            <a:ext cx="228600" cy="2476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Oval 39"/>
          <p:cNvSpPr/>
          <p:nvPr/>
        </p:nvSpPr>
        <p:spPr>
          <a:xfrm>
            <a:off x="2362200" y="3678555"/>
            <a:ext cx="228600" cy="2476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2362200" y="2997168"/>
            <a:ext cx="228600" cy="24765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2" name="Oval 41"/>
          <p:cNvSpPr/>
          <p:nvPr/>
        </p:nvSpPr>
        <p:spPr>
          <a:xfrm>
            <a:off x="2362200" y="4316661"/>
            <a:ext cx="228600" cy="24765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251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/>
          <a:lstStyle/>
          <a:p>
            <a:r>
              <a:rPr lang="en-US" b="1" dirty="0">
                <a:solidFill>
                  <a:srgbClr val="00823B"/>
                </a:solidFill>
              </a:rPr>
              <a:t>Exhaustive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/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16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Given n items of known weights w1, w2, . . . , </a:t>
            </a:r>
            <a:r>
              <a:rPr lang="en-US" dirty="0" err="1"/>
              <a:t>wn</a:t>
            </a:r>
            <a:r>
              <a:rPr lang="en-US" dirty="0"/>
              <a:t> and values v1, v2, . . . , </a:t>
            </a:r>
            <a:r>
              <a:rPr lang="en-US" dirty="0" err="1"/>
              <a:t>vn</a:t>
            </a:r>
            <a:r>
              <a:rPr lang="en-US" dirty="0"/>
              <a:t> and a knapsack of capacity W, find the most valuable subset of the items that fit into the knapsack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21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057400"/>
            <a:ext cx="619125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74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74648"/>
          <a:stretch/>
        </p:blipFill>
        <p:spPr>
          <a:xfrm>
            <a:off x="609600" y="2438400"/>
            <a:ext cx="685800" cy="9239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01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38028"/>
          <a:stretch/>
        </p:blipFill>
        <p:spPr>
          <a:xfrm>
            <a:off x="609600" y="2438400"/>
            <a:ext cx="1676400" cy="9239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50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16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19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r="71461"/>
          <a:stretch/>
        </p:blipFill>
        <p:spPr>
          <a:xfrm>
            <a:off x="4284544" y="2438400"/>
            <a:ext cx="897056" cy="1447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8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r="42370"/>
          <a:stretch/>
        </p:blipFill>
        <p:spPr>
          <a:xfrm>
            <a:off x="4284544" y="2438400"/>
            <a:ext cx="1811456" cy="1447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91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2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62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r="70771"/>
          <a:stretch/>
        </p:blipFill>
        <p:spPr>
          <a:xfrm>
            <a:off x="357187" y="4191000"/>
            <a:ext cx="938213" cy="952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24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r="37537"/>
          <a:stretch/>
        </p:blipFill>
        <p:spPr>
          <a:xfrm>
            <a:off x="357187" y="4191000"/>
            <a:ext cx="2005013" cy="952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98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" y="4191000"/>
            <a:ext cx="3209925" cy="952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38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" y="4191000"/>
            <a:ext cx="3209925" cy="952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44" y="4170527"/>
            <a:ext cx="3524250" cy="5048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25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" y="4191000"/>
            <a:ext cx="3209925" cy="952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44" y="4170527"/>
            <a:ext cx="3524250" cy="504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/>
          <a:srcRect r="68369" b="-11782"/>
          <a:stretch/>
        </p:blipFill>
        <p:spPr>
          <a:xfrm>
            <a:off x="4227394" y="4959678"/>
            <a:ext cx="1030406" cy="29812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40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" y="4191000"/>
            <a:ext cx="3209925" cy="952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44" y="4170527"/>
            <a:ext cx="3524250" cy="504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/>
          <a:srcRect r="47316" b="-11782"/>
          <a:stretch/>
        </p:blipFill>
        <p:spPr>
          <a:xfrm>
            <a:off x="4227394" y="4959678"/>
            <a:ext cx="1716206" cy="29812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70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" y="4191000"/>
            <a:ext cx="3209925" cy="952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44" y="4170527"/>
            <a:ext cx="3524250" cy="504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7394" y="4959679"/>
            <a:ext cx="3257550" cy="2667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3563772"/>
            <a:ext cx="421401" cy="42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1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39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32128"/>
            <a:ext cx="3524250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660" y="1732127"/>
            <a:ext cx="3524250" cy="5048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38400"/>
            <a:ext cx="2705100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544" y="2438400"/>
            <a:ext cx="3143250" cy="1447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" y="4191000"/>
            <a:ext cx="3209925" cy="952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2" y="3563772"/>
            <a:ext cx="3524250" cy="5048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44" y="4170527"/>
            <a:ext cx="3524250" cy="504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7394" y="4959679"/>
            <a:ext cx="3257550" cy="2667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4755" y="5556200"/>
            <a:ext cx="1244600" cy="6000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075" y="76199"/>
            <a:ext cx="2905125" cy="160452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3563772"/>
            <a:ext cx="421401" cy="42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00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Assignment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1" dirty="0">
                <a:solidFill>
                  <a:srgbClr val="00823B"/>
                </a:solidFill>
              </a:rPr>
              <a:t>Input</a:t>
            </a:r>
            <a:r>
              <a:rPr lang="en-US" dirty="0"/>
              <a:t>: There are </a:t>
            </a:r>
            <a:r>
              <a:rPr lang="en-US" b="1" i="1" dirty="0">
                <a:solidFill>
                  <a:srgbClr val="0000FF"/>
                </a:solidFill>
              </a:rPr>
              <a:t>n </a:t>
            </a:r>
            <a:r>
              <a:rPr lang="en-US" b="1" dirty="0">
                <a:solidFill>
                  <a:srgbClr val="0000FF"/>
                </a:solidFill>
              </a:rPr>
              <a:t>people </a:t>
            </a:r>
            <a:r>
              <a:rPr lang="en-US" dirty="0"/>
              <a:t>and </a:t>
            </a:r>
            <a:r>
              <a:rPr lang="en-US" b="1" i="1" dirty="0">
                <a:solidFill>
                  <a:srgbClr val="0000FF"/>
                </a:solidFill>
              </a:rPr>
              <a:t>n </a:t>
            </a:r>
            <a:r>
              <a:rPr lang="en-US" b="1" dirty="0">
                <a:solidFill>
                  <a:srgbClr val="0000FF"/>
                </a:solidFill>
              </a:rPr>
              <a:t>jobs</a:t>
            </a:r>
            <a:endParaRPr lang="en-US" dirty="0"/>
          </a:p>
          <a:p>
            <a:pPr algn="just"/>
            <a:r>
              <a:rPr lang="en-US" b="1" dirty="0">
                <a:solidFill>
                  <a:srgbClr val="00823B"/>
                </a:solidFill>
              </a:rPr>
              <a:t>Criteria</a:t>
            </a:r>
            <a:r>
              <a:rPr lang="en-US" dirty="0"/>
              <a:t>: </a:t>
            </a:r>
            <a:r>
              <a:rPr lang="en-US" b="1" dirty="0">
                <a:solidFill>
                  <a:srgbClr val="0000FF"/>
                </a:solidFill>
              </a:rPr>
              <a:t>each job </a:t>
            </a:r>
            <a:r>
              <a:rPr lang="en-US" dirty="0"/>
              <a:t>is assigned to exactly </a:t>
            </a:r>
            <a:r>
              <a:rPr lang="en-US" b="1" dirty="0">
                <a:solidFill>
                  <a:srgbClr val="0000FF"/>
                </a:solidFill>
              </a:rPr>
              <a:t>one person</a:t>
            </a:r>
            <a:endParaRPr lang="en-US" b="1" dirty="0"/>
          </a:p>
          <a:p>
            <a:pPr algn="just"/>
            <a:r>
              <a:rPr lang="en-US" b="1" dirty="0">
                <a:solidFill>
                  <a:srgbClr val="00823B"/>
                </a:solidFill>
              </a:rPr>
              <a:t>Cost</a:t>
            </a:r>
            <a:r>
              <a:rPr lang="en-US" dirty="0"/>
              <a:t>: </a:t>
            </a:r>
            <a:r>
              <a:rPr lang="en-US" b="1" i="1" dirty="0" err="1">
                <a:solidFill>
                  <a:srgbClr val="0000FF"/>
                </a:solidFill>
              </a:rPr>
              <a:t>j</a:t>
            </a:r>
            <a:r>
              <a:rPr lang="en-US" b="1" baseline="30000" dirty="0" err="1">
                <a:solidFill>
                  <a:srgbClr val="0000FF"/>
                </a:solidFill>
              </a:rPr>
              <a:t>th</a:t>
            </a:r>
            <a:r>
              <a:rPr lang="en-US" dirty="0"/>
              <a:t> job is assigned to the </a:t>
            </a:r>
            <a:r>
              <a:rPr lang="en-US" b="1" i="1" dirty="0" err="1">
                <a:solidFill>
                  <a:srgbClr val="0000FF"/>
                </a:solidFill>
              </a:rPr>
              <a:t>i</a:t>
            </a:r>
            <a:r>
              <a:rPr lang="en-US" b="1" baseline="30000" dirty="0" err="1">
                <a:solidFill>
                  <a:srgbClr val="0000FF"/>
                </a:solidFill>
              </a:rPr>
              <a:t>th</a:t>
            </a:r>
            <a:r>
              <a:rPr lang="en-US" dirty="0"/>
              <a:t> person; is a known quantity </a:t>
            </a:r>
            <a:r>
              <a:rPr lang="en-US" b="1" i="1" dirty="0">
                <a:solidFill>
                  <a:srgbClr val="0000FF"/>
                </a:solidFill>
              </a:rPr>
              <a:t>C</a:t>
            </a:r>
            <a:r>
              <a:rPr lang="en-US" b="1" dirty="0">
                <a:solidFill>
                  <a:srgbClr val="0000FF"/>
                </a:solidFill>
              </a:rPr>
              <a:t>[</a:t>
            </a:r>
            <a:r>
              <a:rPr lang="en-US" b="1" i="1" dirty="0" err="1">
                <a:solidFill>
                  <a:srgbClr val="0000FF"/>
                </a:solidFill>
              </a:rPr>
              <a:t>i</a:t>
            </a:r>
            <a:r>
              <a:rPr lang="en-US" b="1" i="1" dirty="0">
                <a:solidFill>
                  <a:srgbClr val="0000FF"/>
                </a:solidFill>
              </a:rPr>
              <a:t>, j </a:t>
            </a:r>
            <a:r>
              <a:rPr lang="en-US" b="1" dirty="0">
                <a:solidFill>
                  <a:srgbClr val="0000FF"/>
                </a:solidFill>
              </a:rPr>
              <a:t>]</a:t>
            </a:r>
          </a:p>
          <a:p>
            <a:pPr algn="just"/>
            <a:r>
              <a:rPr lang="en-US" b="1" dirty="0">
                <a:solidFill>
                  <a:srgbClr val="00823B"/>
                </a:solidFill>
              </a:rPr>
              <a:t>Output</a:t>
            </a:r>
            <a:r>
              <a:rPr lang="en-US" dirty="0"/>
              <a:t>: Assign jobs with the </a:t>
            </a:r>
            <a:r>
              <a:rPr lang="en-US" b="1" dirty="0">
                <a:solidFill>
                  <a:srgbClr val="FF0000"/>
                </a:solidFill>
              </a:rPr>
              <a:t>minimum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3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Assignment Problem </a:t>
            </a:r>
            <a:r>
              <a:rPr lang="en-US" sz="3100" dirty="0">
                <a:solidFill>
                  <a:srgbClr val="00823B"/>
                </a:solidFill>
              </a:rPr>
              <a:t>(Solution)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00823B"/>
                </a:solidFill>
              </a:rPr>
              <a:t>It will be described by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sz="2000" b="1" dirty="0">
                <a:solidFill>
                  <a:srgbClr val="0000FF"/>
                </a:solidFill>
              </a:rPr>
              <a:t>&lt;j</a:t>
            </a:r>
            <a:r>
              <a:rPr lang="en-US" sz="2000" b="1" baseline="-25000" dirty="0">
                <a:solidFill>
                  <a:srgbClr val="0000FF"/>
                </a:solidFill>
              </a:rPr>
              <a:t>1</a:t>
            </a:r>
            <a:r>
              <a:rPr lang="en-US" sz="2000" b="1" dirty="0">
                <a:solidFill>
                  <a:srgbClr val="0000FF"/>
                </a:solidFill>
              </a:rPr>
              <a:t>, j</a:t>
            </a:r>
            <a:r>
              <a:rPr lang="en-US" sz="2000" b="1" baseline="-25000" dirty="0">
                <a:solidFill>
                  <a:srgbClr val="0000FF"/>
                </a:solidFill>
              </a:rPr>
              <a:t>2</a:t>
            </a:r>
            <a:r>
              <a:rPr lang="en-US" sz="2000" b="1" dirty="0">
                <a:solidFill>
                  <a:srgbClr val="0000FF"/>
                </a:solidFill>
              </a:rPr>
              <a:t>, …, j</a:t>
            </a:r>
            <a:r>
              <a:rPr lang="en-US" sz="2000" b="1" baseline="-25000" dirty="0">
                <a:solidFill>
                  <a:srgbClr val="0000FF"/>
                </a:solidFill>
              </a:rPr>
              <a:t>n</a:t>
            </a:r>
            <a:r>
              <a:rPr lang="en-US" sz="2000" b="1" dirty="0">
                <a:solidFill>
                  <a:srgbClr val="0000FF"/>
                </a:solidFill>
              </a:rPr>
              <a:t>&gt;</a:t>
            </a:r>
            <a:endParaRPr lang="en-US" sz="2000" dirty="0"/>
          </a:p>
          <a:p>
            <a:pPr lvl="1" algn="just"/>
            <a:r>
              <a:rPr lang="en-US" sz="2000" b="1" dirty="0">
                <a:solidFill>
                  <a:srgbClr val="00823B"/>
                </a:solidFill>
              </a:rPr>
              <a:t>J</a:t>
            </a:r>
            <a:r>
              <a:rPr lang="en-US" sz="2000" b="1" baseline="-25000" dirty="0">
                <a:solidFill>
                  <a:srgbClr val="00823B"/>
                </a:solidFill>
              </a:rPr>
              <a:t>1</a:t>
            </a:r>
            <a:r>
              <a:rPr lang="en-US" sz="2000" b="1" dirty="0">
                <a:solidFill>
                  <a:srgbClr val="00823B"/>
                </a:solidFill>
              </a:rPr>
              <a:t> job is assigned to person 1</a:t>
            </a:r>
          </a:p>
          <a:p>
            <a:pPr lvl="1" algn="just"/>
            <a:r>
              <a:rPr lang="en-US" sz="2000" b="1" dirty="0">
                <a:solidFill>
                  <a:srgbClr val="00823B"/>
                </a:solidFill>
              </a:rPr>
              <a:t>J</a:t>
            </a:r>
            <a:r>
              <a:rPr lang="en-US" sz="2000" b="1" baseline="-25000" dirty="0">
                <a:solidFill>
                  <a:srgbClr val="00823B"/>
                </a:solidFill>
              </a:rPr>
              <a:t>2</a:t>
            </a:r>
            <a:r>
              <a:rPr lang="en-US" sz="2000" b="1" dirty="0">
                <a:solidFill>
                  <a:srgbClr val="00823B"/>
                </a:solidFill>
              </a:rPr>
              <a:t> job is assigned to person 2</a:t>
            </a:r>
          </a:p>
          <a:p>
            <a:pPr lvl="1" algn="just"/>
            <a:r>
              <a:rPr lang="en-US" sz="2000" b="1" dirty="0">
                <a:solidFill>
                  <a:srgbClr val="00823B"/>
                </a:solidFill>
              </a:rPr>
              <a:t>………</a:t>
            </a:r>
          </a:p>
          <a:p>
            <a:pPr lvl="1" algn="just"/>
            <a:r>
              <a:rPr lang="en-US" sz="2000" b="1" dirty="0">
                <a:solidFill>
                  <a:srgbClr val="00823B"/>
                </a:solidFill>
              </a:rPr>
              <a:t>J</a:t>
            </a:r>
            <a:r>
              <a:rPr lang="en-US" sz="2000" b="1" baseline="-25000" dirty="0">
                <a:solidFill>
                  <a:srgbClr val="00823B"/>
                </a:solidFill>
              </a:rPr>
              <a:t>n</a:t>
            </a:r>
            <a:r>
              <a:rPr lang="en-US" sz="2000" b="1" dirty="0">
                <a:solidFill>
                  <a:srgbClr val="00823B"/>
                </a:solidFill>
              </a:rPr>
              <a:t> job is assigned to person n</a:t>
            </a:r>
          </a:p>
          <a:p>
            <a:pPr algn="just"/>
            <a:r>
              <a:rPr lang="en-US" sz="2400" b="1" dirty="0"/>
              <a:t>&lt;2, 3, 4, 1&gt;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1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Assignment Problem </a:t>
            </a:r>
            <a:r>
              <a:rPr lang="en-US" sz="3100" dirty="0">
                <a:solidFill>
                  <a:srgbClr val="00823B"/>
                </a:solidFill>
              </a:rPr>
              <a:t>(Solution)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00823B"/>
                </a:solidFill>
              </a:rPr>
              <a:t>It will be described by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sz="2000" b="1" dirty="0">
                <a:solidFill>
                  <a:srgbClr val="0000FF"/>
                </a:solidFill>
              </a:rPr>
              <a:t>&lt;j</a:t>
            </a:r>
            <a:r>
              <a:rPr lang="en-US" sz="2000" b="1" baseline="-25000" dirty="0">
                <a:solidFill>
                  <a:srgbClr val="0000FF"/>
                </a:solidFill>
              </a:rPr>
              <a:t>1</a:t>
            </a:r>
            <a:r>
              <a:rPr lang="en-US" sz="2000" b="1" dirty="0">
                <a:solidFill>
                  <a:srgbClr val="0000FF"/>
                </a:solidFill>
              </a:rPr>
              <a:t>, j</a:t>
            </a:r>
            <a:r>
              <a:rPr lang="en-US" sz="2000" b="1" baseline="-25000" dirty="0">
                <a:solidFill>
                  <a:srgbClr val="0000FF"/>
                </a:solidFill>
              </a:rPr>
              <a:t>2</a:t>
            </a:r>
            <a:r>
              <a:rPr lang="en-US" sz="2000" b="1" dirty="0">
                <a:solidFill>
                  <a:srgbClr val="0000FF"/>
                </a:solidFill>
              </a:rPr>
              <a:t>, …, j</a:t>
            </a:r>
            <a:r>
              <a:rPr lang="en-US" sz="2000" b="1" baseline="-25000" dirty="0">
                <a:solidFill>
                  <a:srgbClr val="0000FF"/>
                </a:solidFill>
              </a:rPr>
              <a:t>n</a:t>
            </a:r>
            <a:r>
              <a:rPr lang="en-US" sz="2000" b="1" dirty="0">
                <a:solidFill>
                  <a:srgbClr val="0000FF"/>
                </a:solidFill>
              </a:rPr>
              <a:t>&gt;</a:t>
            </a:r>
            <a:endParaRPr lang="en-US" sz="2000" dirty="0"/>
          </a:p>
          <a:p>
            <a:pPr lvl="1" algn="just"/>
            <a:r>
              <a:rPr lang="en-US" sz="2000" b="1" dirty="0">
                <a:solidFill>
                  <a:srgbClr val="00823B"/>
                </a:solidFill>
              </a:rPr>
              <a:t>J</a:t>
            </a:r>
            <a:r>
              <a:rPr lang="en-US" sz="2000" b="1" baseline="-25000" dirty="0">
                <a:solidFill>
                  <a:srgbClr val="00823B"/>
                </a:solidFill>
              </a:rPr>
              <a:t>1</a:t>
            </a:r>
            <a:r>
              <a:rPr lang="en-US" sz="2000" b="1" dirty="0">
                <a:solidFill>
                  <a:srgbClr val="00823B"/>
                </a:solidFill>
              </a:rPr>
              <a:t> job is assigned to person 1</a:t>
            </a:r>
          </a:p>
          <a:p>
            <a:pPr lvl="1" algn="just"/>
            <a:r>
              <a:rPr lang="en-US" sz="2000" b="1" dirty="0">
                <a:solidFill>
                  <a:srgbClr val="00823B"/>
                </a:solidFill>
              </a:rPr>
              <a:t>J</a:t>
            </a:r>
            <a:r>
              <a:rPr lang="en-US" sz="2000" b="1" baseline="-25000" dirty="0">
                <a:solidFill>
                  <a:srgbClr val="00823B"/>
                </a:solidFill>
              </a:rPr>
              <a:t>2</a:t>
            </a:r>
            <a:r>
              <a:rPr lang="en-US" sz="2000" b="1" dirty="0">
                <a:solidFill>
                  <a:srgbClr val="00823B"/>
                </a:solidFill>
              </a:rPr>
              <a:t> job is assigned to person 2</a:t>
            </a:r>
          </a:p>
          <a:p>
            <a:pPr lvl="1" algn="just"/>
            <a:r>
              <a:rPr lang="en-US" sz="2000" b="1" dirty="0">
                <a:solidFill>
                  <a:srgbClr val="00823B"/>
                </a:solidFill>
              </a:rPr>
              <a:t>………</a:t>
            </a:r>
          </a:p>
          <a:p>
            <a:pPr lvl="1" algn="just"/>
            <a:r>
              <a:rPr lang="en-US" sz="2000" b="1" dirty="0">
                <a:solidFill>
                  <a:srgbClr val="00823B"/>
                </a:solidFill>
              </a:rPr>
              <a:t>J</a:t>
            </a:r>
            <a:r>
              <a:rPr lang="en-US" sz="2000" b="1" baseline="-25000" dirty="0">
                <a:solidFill>
                  <a:srgbClr val="00823B"/>
                </a:solidFill>
              </a:rPr>
              <a:t>n</a:t>
            </a:r>
            <a:r>
              <a:rPr lang="en-US" sz="2000" b="1" dirty="0">
                <a:solidFill>
                  <a:srgbClr val="00823B"/>
                </a:solidFill>
              </a:rPr>
              <a:t> job is assigned to person n</a:t>
            </a:r>
          </a:p>
          <a:p>
            <a:pPr algn="just"/>
            <a:r>
              <a:rPr lang="en-US" sz="2400" b="1" dirty="0"/>
              <a:t>&lt;2, 3, 4, 1&gt; means job 2 is assigned to person 1, job 3 is assigned to 2 and so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08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Assignment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766455"/>
            <a:ext cx="4267200" cy="1752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191000"/>
            <a:ext cx="2243271" cy="1371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799" y="3962400"/>
            <a:ext cx="4080681" cy="1752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r="11212"/>
          <a:stretch/>
        </p:blipFill>
        <p:spPr>
          <a:xfrm>
            <a:off x="1588294" y="5576455"/>
            <a:ext cx="697706" cy="78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1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/>
          <a:lstStyle/>
          <a:p>
            <a:r>
              <a:rPr lang="en-US" b="1" dirty="0">
                <a:solidFill>
                  <a:srgbClr val="00823B"/>
                </a:solidFill>
              </a:rPr>
              <a:t>Exhaustive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/>
              <a:t>Graph Traversal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83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problems require processing all graph vertices (and edges)  in systematic fashion</a:t>
            </a:r>
          </a:p>
          <a:p>
            <a:endParaRPr lang="en-US" dirty="0"/>
          </a:p>
          <a:p>
            <a:r>
              <a:rPr lang="en-US" b="1" dirty="0">
                <a:solidFill>
                  <a:srgbClr val="00823B"/>
                </a:solidFill>
              </a:rPr>
              <a:t>Graph Traversal Algorithms:</a:t>
            </a:r>
          </a:p>
          <a:p>
            <a:endParaRPr lang="en-US" dirty="0"/>
          </a:p>
          <a:p>
            <a:pPr lvl="1"/>
            <a:r>
              <a:rPr lang="en-US" dirty="0"/>
              <a:t>Depth-first search </a:t>
            </a:r>
            <a:r>
              <a:rPr lang="en-US" b="1" dirty="0">
                <a:solidFill>
                  <a:srgbClr val="0000FF"/>
                </a:solidFill>
              </a:rPr>
              <a:t>(DFS)</a:t>
            </a:r>
          </a:p>
          <a:p>
            <a:endParaRPr lang="en-US" dirty="0"/>
          </a:p>
          <a:p>
            <a:pPr lvl="1"/>
            <a:r>
              <a:rPr lang="en-US" dirty="0"/>
              <a:t>Breadth-first search </a:t>
            </a:r>
            <a:r>
              <a:rPr lang="en-US" b="1" dirty="0">
                <a:solidFill>
                  <a:srgbClr val="0000FF"/>
                </a:solidFill>
              </a:rPr>
              <a:t>(BFS)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8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/>
          <a:lstStyle/>
          <a:p>
            <a:r>
              <a:rPr lang="en-US" b="1" dirty="0">
                <a:solidFill>
                  <a:srgbClr val="00823B"/>
                </a:solidFill>
              </a:rPr>
              <a:t>Depth First Search</a:t>
            </a:r>
            <a:br>
              <a:rPr lang="en-US" b="1" dirty="0">
                <a:solidFill>
                  <a:srgbClr val="00823B"/>
                </a:solidFill>
              </a:rPr>
            </a:br>
            <a:r>
              <a:rPr lang="en-US" b="1" dirty="0">
                <a:solidFill>
                  <a:srgbClr val="00823B"/>
                </a:solidFill>
              </a:rPr>
              <a:t>DFS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/>
              <a:t>Graph Traversal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67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70364"/>
            <a:ext cx="6248400" cy="4454236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sz="3900" dirty="0"/>
              <a:t>Visits graph’s vertices by always moving away from last visited vertex to unvisited one, backtracks if no adjacent unvisited vertex is available.</a:t>
            </a:r>
          </a:p>
          <a:p>
            <a:r>
              <a:rPr lang="en-US" sz="3900" dirty="0"/>
              <a:t>Uses a stack</a:t>
            </a:r>
          </a:p>
          <a:p>
            <a:pPr algn="just"/>
            <a:r>
              <a:rPr lang="en-US" sz="3900" dirty="0"/>
              <a:t>a vertex is pushed onto the stack when it’s reached for the first time</a:t>
            </a:r>
          </a:p>
          <a:p>
            <a:pPr algn="just"/>
            <a:r>
              <a:rPr lang="en-US" sz="3900" dirty="0"/>
              <a:t>a vertex is popped off the stack when it becomes a dead end, i.e., when there is no adjacent unvisited vertex</a:t>
            </a:r>
            <a:endParaRPr lang="en-US" dirty="0"/>
          </a:p>
          <a:p>
            <a:pPr algn="just"/>
            <a:r>
              <a:rPr lang="en-US" sz="4300" dirty="0"/>
              <a:t>“Redraws” graph in tree-like fashion (with tree edges and back edges for undirected graph)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08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DFS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607" y="2900796"/>
            <a:ext cx="1990725" cy="2667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2" y="1905000"/>
            <a:ext cx="2343150" cy="257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82" y="2236932"/>
            <a:ext cx="1095375" cy="257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82" y="2568864"/>
            <a:ext cx="2409825" cy="257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5744" y="3192030"/>
            <a:ext cx="657225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1885950"/>
            <a:ext cx="638175" cy="3238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2328862"/>
            <a:ext cx="1933575" cy="2476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2597438"/>
            <a:ext cx="1781175" cy="2000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200" y="2873087"/>
            <a:ext cx="3733800" cy="276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3206752"/>
            <a:ext cx="2019300" cy="276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5770" y="3524830"/>
            <a:ext cx="657225" cy="266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6200" y="1946853"/>
            <a:ext cx="14001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3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7391400" cy="685800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solidFill>
                  <a:srgbClr val="00823B"/>
                </a:solidFill>
              </a:rPr>
              <a:t>DFS (Example)		</a:t>
            </a: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3048000" cy="36576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Start with “d”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d 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 (a, b, c, f, g)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 (b, c)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b 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 (e, g)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 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 *</a:t>
            </a:r>
          </a:p>
          <a:p>
            <a:r>
              <a:rPr lang="en-US" sz="2400" dirty="0">
                <a:solidFill>
                  <a:srgbClr val="FF0000"/>
                </a:solidFill>
              </a:rPr>
              <a:t>g 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 (e, f)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 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 *</a:t>
            </a:r>
          </a:p>
          <a:p>
            <a:r>
              <a:rPr lang="en-US" sz="2400" dirty="0">
                <a:solidFill>
                  <a:srgbClr val="FF0000"/>
                </a:solidFill>
              </a:rPr>
              <a:t>c </a:t>
            </a:r>
            <a:r>
              <a:rPr lang="en-US" sz="2400" dirty="0">
                <a:solidFill>
                  <a:srgbClr val="FF0000"/>
                </a:solidFill>
                <a:sym typeface="Wingdings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 (f)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143000"/>
            <a:ext cx="37814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28600" y="5606769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Pop-off Sequence: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14" y="5976101"/>
            <a:ext cx="2952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7" y="5966576"/>
            <a:ext cx="257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016344"/>
            <a:ext cx="2476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139" y="5978244"/>
            <a:ext cx="2952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139" y="6044919"/>
            <a:ext cx="2476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564" y="6063969"/>
            <a:ext cx="2571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5997294"/>
            <a:ext cx="2381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4838311" y="5578522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Traversal Sequence: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7739" y="5871654"/>
            <a:ext cx="2943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d, a, b, e, g, f, c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311623" y="3276020"/>
            <a:ext cx="6684818" cy="1905580"/>
            <a:chOff x="935182" y="1885950"/>
            <a:chExt cx="6684818" cy="1905580"/>
          </a:xfrm>
        </p:grpSpPr>
        <p:pic>
          <p:nvPicPr>
            <p:cNvPr id="17" name="Content Placeholder 7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87607" y="2900796"/>
              <a:ext cx="1990725" cy="266700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35182" y="1905000"/>
              <a:ext cx="2343150" cy="257175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35182" y="2236932"/>
              <a:ext cx="1095375" cy="257175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35182" y="2568864"/>
              <a:ext cx="2409825" cy="25717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25744" y="3192030"/>
              <a:ext cx="657225" cy="30480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486400" y="1885950"/>
              <a:ext cx="638175" cy="32385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886200" y="2328862"/>
              <a:ext cx="1933575" cy="247650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886200" y="2597438"/>
              <a:ext cx="1781175" cy="200025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886200" y="2873087"/>
              <a:ext cx="3733800" cy="276225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267200" y="3206752"/>
              <a:ext cx="2019300" cy="276225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605770" y="3524830"/>
              <a:ext cx="657225" cy="266700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886200" y="1946853"/>
              <a:ext cx="1400175" cy="200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409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DFS (Example)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607" y="2900796"/>
            <a:ext cx="1990725" cy="2667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2" y="1905000"/>
            <a:ext cx="2343150" cy="257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82" y="2236932"/>
            <a:ext cx="1095375" cy="257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82" y="2568864"/>
            <a:ext cx="2409825" cy="257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5744" y="3192030"/>
            <a:ext cx="657225" cy="3048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886200" y="1885950"/>
            <a:ext cx="3733800" cy="1905580"/>
            <a:chOff x="3886200" y="1885950"/>
            <a:chExt cx="3733800" cy="190558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86400" y="1885950"/>
              <a:ext cx="638175" cy="3238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86200" y="2328862"/>
              <a:ext cx="1933575" cy="2476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86200" y="2597438"/>
              <a:ext cx="1781175" cy="200025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86200" y="2873087"/>
              <a:ext cx="3733800" cy="27622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67200" y="3206752"/>
              <a:ext cx="2019300" cy="27622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05770" y="3524830"/>
              <a:ext cx="657225" cy="26670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886200" y="1946853"/>
              <a:ext cx="1400175" cy="200025"/>
            </a:xfrm>
            <a:prstGeom prst="rect">
              <a:avLst/>
            </a:prstGeom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" y="3654572"/>
            <a:ext cx="3305175" cy="21145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5695" y="3983037"/>
            <a:ext cx="1200150" cy="25241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67857" y="4065875"/>
            <a:ext cx="7143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2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" y="-21721"/>
            <a:ext cx="2973238" cy="190218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354" y="61948"/>
            <a:ext cx="2409825" cy="159067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38149"/>
            <a:ext cx="2705100" cy="1438275"/>
          </a:xfrm>
          <a:prstGeom prst="rect">
            <a:avLst/>
          </a:prstGeom>
        </p:spPr>
      </p:pic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28600" y="1863436"/>
          <a:ext cx="6096002" cy="14833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Vertex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Traverse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0" y="2286000"/>
          <a:ext cx="1316182" cy="44500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316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477000" y="18404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8804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402410"/>
            <a:ext cx="3952875" cy="3048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flipH="1">
            <a:off x="1600200" y="340241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990600" y="1911481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71600" y="18804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5000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8400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58391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1791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25191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8591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2996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6396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174" y="26024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758963"/>
            <a:ext cx="723900" cy="390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2173" y="3813847"/>
            <a:ext cx="1419225" cy="371475"/>
          </a:xfrm>
          <a:prstGeom prst="rect">
            <a:avLst/>
          </a:prstGeom>
        </p:spPr>
      </p:pic>
      <p:cxnSp>
        <p:nvCxnSpPr>
          <p:cNvPr id="37" name="Straight Connector 36"/>
          <p:cNvCxnSpPr/>
          <p:nvPr/>
        </p:nvCxnSpPr>
        <p:spPr>
          <a:xfrm flipH="1">
            <a:off x="2205037" y="3853051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127" y="4119716"/>
            <a:ext cx="695325" cy="304800"/>
          </a:xfrm>
          <a:prstGeom prst="rect">
            <a:avLst/>
          </a:prstGeom>
        </p:spPr>
      </p:pic>
      <p:cxnSp>
        <p:nvCxnSpPr>
          <p:cNvPr id="38" name="Straight Connector 37"/>
          <p:cNvCxnSpPr/>
          <p:nvPr/>
        </p:nvCxnSpPr>
        <p:spPr>
          <a:xfrm flipH="1">
            <a:off x="1524000" y="1898567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910916" y="189299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5000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2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1366" y="4134796"/>
            <a:ext cx="1333500" cy="3143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53400" y="634283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3400" y="59782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c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2209800" y="411480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2481550" y="4116049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320" y="4424169"/>
            <a:ext cx="695325" cy="2857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53400" y="562521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d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2052637" y="190414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438400" y="186370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50811" y="25882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3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6748" y="4433406"/>
            <a:ext cx="1066800" cy="323850"/>
          </a:xfrm>
          <a:prstGeom prst="rect">
            <a:avLst/>
          </a:prstGeom>
        </p:spPr>
      </p:pic>
      <p:cxnSp>
        <p:nvCxnSpPr>
          <p:cNvPr id="49" name="Straight Connector 48"/>
          <p:cNvCxnSpPr/>
          <p:nvPr/>
        </p:nvCxnSpPr>
        <p:spPr>
          <a:xfrm flipH="1">
            <a:off x="2205037" y="4428565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2447636" y="441960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305800" y="5657476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127157" y="6069106"/>
            <a:ext cx="95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PopOff</a:t>
            </a:r>
            <a:r>
              <a:rPr lang="en-US" b="1" dirty="0"/>
              <a:t>: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2743200" y="411480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733" y="4713694"/>
            <a:ext cx="666667" cy="333333"/>
          </a:xfrm>
          <a:prstGeom prst="rect">
            <a:avLst/>
          </a:prstGeom>
        </p:spPr>
      </p:pic>
      <p:cxnSp>
        <p:nvCxnSpPr>
          <p:cNvPr id="54" name="Straight Connector 53"/>
          <p:cNvCxnSpPr/>
          <p:nvPr/>
        </p:nvCxnSpPr>
        <p:spPr>
          <a:xfrm flipH="1">
            <a:off x="2590800" y="187660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026407" y="18804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8615" y="25835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9668" y="4772067"/>
            <a:ext cx="1352381" cy="333333"/>
          </a:xfrm>
          <a:prstGeom prst="rect">
            <a:avLst/>
          </a:prstGeom>
        </p:spPr>
      </p:pic>
      <p:cxnSp>
        <p:nvCxnSpPr>
          <p:cNvPr id="57" name="Straight Connector 56"/>
          <p:cNvCxnSpPr/>
          <p:nvPr/>
        </p:nvCxnSpPr>
        <p:spPr>
          <a:xfrm flipH="1">
            <a:off x="2153948" y="4795513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690" y="5012898"/>
            <a:ext cx="704762" cy="342857"/>
          </a:xfrm>
          <a:prstGeom prst="rect">
            <a:avLst/>
          </a:prstGeom>
        </p:spPr>
      </p:pic>
      <p:cxnSp>
        <p:nvCxnSpPr>
          <p:cNvPr id="58" name="Straight Connector 57"/>
          <p:cNvCxnSpPr/>
          <p:nvPr/>
        </p:nvCxnSpPr>
        <p:spPr>
          <a:xfrm flipH="1">
            <a:off x="3210791" y="1913144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654642" y="187187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68710" y="2590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5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2656" y="5094911"/>
            <a:ext cx="1104762" cy="295238"/>
          </a:xfrm>
          <a:prstGeom prst="rect">
            <a:avLst/>
          </a:prstGeom>
        </p:spPr>
      </p:pic>
      <p:cxnSp>
        <p:nvCxnSpPr>
          <p:cNvPr id="61" name="Straight Connector 60"/>
          <p:cNvCxnSpPr/>
          <p:nvPr/>
        </p:nvCxnSpPr>
        <p:spPr>
          <a:xfrm flipH="1">
            <a:off x="2153948" y="510540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153400" y="52578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53400" y="486260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b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9323" y="5346231"/>
            <a:ext cx="733333" cy="34285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153400" y="448527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e</a:t>
            </a:r>
          </a:p>
        </p:txBody>
      </p:sp>
      <p:cxnSp>
        <p:nvCxnSpPr>
          <p:cNvPr id="66" name="Straight Connector 65"/>
          <p:cNvCxnSpPr/>
          <p:nvPr/>
        </p:nvCxnSpPr>
        <p:spPr>
          <a:xfrm flipH="1">
            <a:off x="3806313" y="1895969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091013" y="18804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59450" y="260134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6</a:t>
            </a: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52656" y="5398030"/>
            <a:ext cx="1390476" cy="314286"/>
          </a:xfrm>
          <a:prstGeom prst="rect">
            <a:avLst/>
          </a:prstGeom>
        </p:spPr>
      </p:pic>
      <p:cxnSp>
        <p:nvCxnSpPr>
          <p:cNvPr id="70" name="Straight Connector 69"/>
          <p:cNvCxnSpPr/>
          <p:nvPr/>
        </p:nvCxnSpPr>
        <p:spPr>
          <a:xfrm flipH="1">
            <a:off x="2133021" y="5412778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2405350" y="5404798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2667000" y="5412778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>
            <a:off x="8305800" y="4527462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>
            <a:off x="2405350" y="5080202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H="1">
            <a:off x="8305800" y="4906666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2458748" y="477530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2710150" y="477530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8305800" y="5284702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8305800" y="601980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2472585" y="3832697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>
            <a:off x="2755611" y="3814733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8305800" y="6368094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H="1">
            <a:off x="1832595" y="342001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2153948" y="3401068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>
            <a:off x="2410967" y="3383686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H="1">
            <a:off x="2667000" y="342592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900413" y="3407209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H="1">
            <a:off x="3160275" y="3435088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8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53791" y="3837478"/>
            <a:ext cx="695238" cy="295238"/>
          </a:xfrm>
          <a:prstGeom prst="rect">
            <a:avLst/>
          </a:prstGeom>
        </p:spPr>
      </p:pic>
      <p:cxnSp>
        <p:nvCxnSpPr>
          <p:cNvPr id="90" name="Straight Connector 89"/>
          <p:cNvCxnSpPr/>
          <p:nvPr/>
        </p:nvCxnSpPr>
        <p:spPr>
          <a:xfrm flipH="1">
            <a:off x="4263513" y="1884882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653928" y="185261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31445" y="258617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7</a:t>
            </a:r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81600" y="3810000"/>
            <a:ext cx="1047619" cy="314286"/>
          </a:xfrm>
          <a:prstGeom prst="rect">
            <a:avLst/>
          </a:prstGeom>
        </p:spPr>
      </p:pic>
      <p:cxnSp>
        <p:nvCxnSpPr>
          <p:cNvPr id="94" name="Straight Connector 93"/>
          <p:cNvCxnSpPr/>
          <p:nvPr/>
        </p:nvCxnSpPr>
        <p:spPr>
          <a:xfrm flipH="1">
            <a:off x="5643996" y="3828189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153400" y="410795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g</a:t>
            </a: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39713" y="4144339"/>
            <a:ext cx="714286" cy="29523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153400" y="373958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h</a:t>
            </a:r>
          </a:p>
        </p:txBody>
      </p:sp>
      <p:cxnSp>
        <p:nvCxnSpPr>
          <p:cNvPr id="98" name="Straight Connector 97"/>
          <p:cNvCxnSpPr/>
          <p:nvPr/>
        </p:nvCxnSpPr>
        <p:spPr>
          <a:xfrm flipH="1">
            <a:off x="4794778" y="1882583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297326" y="186266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60167" y="259584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  <p:pic>
        <p:nvPicPr>
          <p:cNvPr id="101" name="Picture 10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72210" y="4181514"/>
            <a:ext cx="1076190" cy="314286"/>
          </a:xfrm>
          <a:prstGeom prst="rect">
            <a:avLst/>
          </a:prstGeom>
        </p:spPr>
      </p:pic>
      <p:cxnSp>
        <p:nvCxnSpPr>
          <p:cNvPr id="102" name="Straight Connector 101"/>
          <p:cNvCxnSpPr/>
          <p:nvPr/>
        </p:nvCxnSpPr>
        <p:spPr>
          <a:xfrm flipH="1">
            <a:off x="5664392" y="4208432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H="1">
            <a:off x="5926042" y="4181514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10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01388" y="4428565"/>
            <a:ext cx="628571" cy="314286"/>
          </a:xfrm>
          <a:prstGeom prst="rect">
            <a:avLst/>
          </a:prstGeom>
        </p:spPr>
      </p:pic>
      <p:cxnSp>
        <p:nvCxnSpPr>
          <p:cNvPr id="105" name="Straight Connector 104"/>
          <p:cNvCxnSpPr/>
          <p:nvPr/>
        </p:nvCxnSpPr>
        <p:spPr>
          <a:xfrm flipH="1">
            <a:off x="5449279" y="1899591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8153400" y="338080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00FF"/>
                </a:solidFill>
              </a:rPr>
              <a:t>i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806525" y="186266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59819" y="2598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9</a:t>
            </a:r>
          </a:p>
        </p:txBody>
      </p:sp>
      <p:pic>
        <p:nvPicPr>
          <p:cNvPr id="109" name="Picture 10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91257" y="4513232"/>
            <a:ext cx="1057143" cy="304762"/>
          </a:xfrm>
          <a:prstGeom prst="rect">
            <a:avLst/>
          </a:prstGeom>
        </p:spPr>
      </p:pic>
      <p:cxnSp>
        <p:nvCxnSpPr>
          <p:cNvPr id="110" name="Straight Connector 109"/>
          <p:cNvCxnSpPr/>
          <p:nvPr/>
        </p:nvCxnSpPr>
        <p:spPr>
          <a:xfrm flipH="1">
            <a:off x="5678326" y="449778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>
            <a:off x="5915824" y="4521946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Picture 11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03586" y="4777292"/>
            <a:ext cx="638095" cy="352381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8153400" y="3047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j</a:t>
            </a:r>
          </a:p>
        </p:txBody>
      </p:sp>
      <p:cxnSp>
        <p:nvCxnSpPr>
          <p:cNvPr id="114" name="Straight Connector 113"/>
          <p:cNvCxnSpPr/>
          <p:nvPr/>
        </p:nvCxnSpPr>
        <p:spPr>
          <a:xfrm flipH="1">
            <a:off x="5958925" y="1910578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741127" y="259453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10</a:t>
            </a: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93209" y="4800600"/>
            <a:ext cx="1047619" cy="314286"/>
          </a:xfrm>
          <a:prstGeom prst="rect">
            <a:avLst/>
          </a:prstGeom>
        </p:spPr>
      </p:pic>
      <p:cxnSp>
        <p:nvCxnSpPr>
          <p:cNvPr id="117" name="Straight Connector 116"/>
          <p:cNvCxnSpPr/>
          <p:nvPr/>
        </p:nvCxnSpPr>
        <p:spPr>
          <a:xfrm flipH="1">
            <a:off x="5678326" y="4833446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H="1">
            <a:off x="5898851" y="4824873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H="1">
            <a:off x="8305800" y="3083647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 flipH="1">
            <a:off x="8298202" y="3432442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flipH="1">
            <a:off x="8305800" y="3819285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H="1">
            <a:off x="8298202" y="4158449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flipH="1">
            <a:off x="3420137" y="342592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H="1">
            <a:off x="3677948" y="342592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/>
          <p:nvPr/>
        </p:nvCxnSpPr>
        <p:spPr>
          <a:xfrm flipH="1">
            <a:off x="3882513" y="3425920"/>
            <a:ext cx="152400" cy="304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443122" y="6034499"/>
            <a:ext cx="351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Traversal: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a, c, d, f, b, e, g, h, </a:t>
            </a:r>
            <a:r>
              <a:rPr lang="en-US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, j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936280" y="6080413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57339" y="6062856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360236" y="6089498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585004" y="6098583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f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805974" y="6089498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030742" y="6098583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29930" y="6098583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j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54698" y="6107668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00FF"/>
                </a:solidFill>
              </a:rPr>
              <a:t>i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6649659" y="6098583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74427" y="6107668"/>
            <a:ext cx="36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17642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9" grpId="0"/>
      <p:bldP spid="17" grpId="0"/>
      <p:bldP spid="20" grpId="0"/>
      <p:bldP spid="21" grpId="0"/>
      <p:bldP spid="22" grpId="0"/>
      <p:bldP spid="2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9" grpId="0"/>
      <p:bldP spid="40" grpId="0"/>
      <p:bldP spid="41" grpId="0"/>
      <p:bldP spid="42" grpId="0"/>
      <p:bldP spid="45" grpId="0"/>
      <p:bldP spid="47" grpId="0"/>
      <p:bldP spid="48" grpId="0"/>
      <p:bldP spid="55" grpId="0"/>
      <p:bldP spid="56" grpId="0"/>
      <p:bldP spid="59" grpId="0"/>
      <p:bldP spid="60" grpId="0"/>
      <p:bldP spid="62" grpId="0"/>
      <p:bldP spid="63" grpId="0"/>
      <p:bldP spid="65" grpId="0"/>
      <p:bldP spid="67" grpId="0"/>
      <p:bldP spid="68" grpId="0"/>
      <p:bldP spid="91" grpId="0"/>
      <p:bldP spid="92" grpId="0"/>
      <p:bldP spid="95" grpId="0"/>
      <p:bldP spid="97" grpId="0"/>
      <p:bldP spid="99" grpId="0"/>
      <p:bldP spid="100" grpId="0"/>
      <p:bldP spid="106" grpId="0"/>
      <p:bldP spid="107" grpId="0"/>
      <p:bldP spid="108" grpId="0"/>
      <p:bldP spid="113" grpId="0"/>
      <p:bldP spid="11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DFS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DFS can be implemented with graphs represented as:</a:t>
            </a:r>
          </a:p>
          <a:p>
            <a:pPr lvl="1"/>
            <a:r>
              <a:rPr lang="en-US" sz="3300" b="1" dirty="0"/>
              <a:t>adjacency matrices: Θ(V</a:t>
            </a:r>
            <a:r>
              <a:rPr lang="en-US" sz="3300" b="1" baseline="30000" dirty="0"/>
              <a:t>2</a:t>
            </a:r>
            <a:r>
              <a:rPr lang="en-US" sz="3300" b="1" dirty="0"/>
              <a:t>)</a:t>
            </a:r>
          </a:p>
          <a:p>
            <a:pPr lvl="1"/>
            <a:r>
              <a:rPr lang="en-US" sz="3300" b="1" dirty="0"/>
              <a:t>adjacency lists: Θ(|V|+|E|)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Yields two distinct ordering of vertices:</a:t>
            </a:r>
          </a:p>
          <a:p>
            <a:pPr lvl="1"/>
            <a:r>
              <a:rPr lang="en-US" sz="2900" b="1" dirty="0"/>
              <a:t>order in which vertices are first encountered (pushed onto stack)</a:t>
            </a:r>
          </a:p>
          <a:p>
            <a:pPr lvl="1"/>
            <a:r>
              <a:rPr lang="en-US" sz="2900" b="1" dirty="0"/>
              <a:t>order in which vertices become dead-ends (popped off stack)</a:t>
            </a:r>
            <a:endParaRPr lang="en-US" dirty="0"/>
          </a:p>
          <a:p>
            <a:r>
              <a:rPr lang="en-US" sz="3300" b="1" dirty="0">
                <a:solidFill>
                  <a:srgbClr val="0000FF"/>
                </a:solidFill>
              </a:rPr>
              <a:t>Applications:</a:t>
            </a:r>
          </a:p>
          <a:p>
            <a:pPr lvl="1"/>
            <a:r>
              <a:rPr lang="en-US" sz="2900" b="1" dirty="0"/>
              <a:t>checking connectivity, finding connected components</a:t>
            </a:r>
          </a:p>
          <a:p>
            <a:pPr lvl="1"/>
            <a:r>
              <a:rPr lang="en-US" sz="2900" b="1" dirty="0"/>
              <a:t>checking </a:t>
            </a:r>
            <a:r>
              <a:rPr lang="en-US" sz="2900" b="1" dirty="0" err="1"/>
              <a:t>acyclicity</a:t>
            </a:r>
            <a:endParaRPr lang="en-US" sz="2900" b="1" dirty="0"/>
          </a:p>
          <a:p>
            <a:pPr lvl="1"/>
            <a:r>
              <a:rPr lang="en-US" sz="2900" b="1" dirty="0"/>
              <a:t>finding articulation points and </a:t>
            </a:r>
            <a:r>
              <a:rPr lang="en-US" sz="2900" b="1" dirty="0" err="1"/>
              <a:t>biconnected</a:t>
            </a:r>
            <a:r>
              <a:rPr lang="en-US" sz="2900" b="1" dirty="0"/>
              <a:t> components</a:t>
            </a:r>
          </a:p>
          <a:p>
            <a:pPr lvl="1"/>
            <a:r>
              <a:rPr lang="en-US" sz="2900" b="1" dirty="0"/>
              <a:t>searching state-space of problems for solution (AI)</a:t>
            </a:r>
          </a:p>
        </p:txBody>
      </p:sp>
    </p:spTree>
    <p:extLst>
      <p:ext uri="{BB962C8B-B14F-4D97-AF65-F5344CB8AC3E}">
        <p14:creationId xmlns:p14="http://schemas.microsoft.com/office/powerpoint/2010/main" val="150363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/>
          <a:lstStyle/>
          <a:p>
            <a:r>
              <a:rPr lang="en-US" b="1" dirty="0">
                <a:solidFill>
                  <a:srgbClr val="00823B"/>
                </a:solidFill>
              </a:rPr>
              <a:t>Breadth First Search</a:t>
            </a:r>
            <a:br>
              <a:rPr lang="en-US" b="1" dirty="0">
                <a:solidFill>
                  <a:srgbClr val="00823B"/>
                </a:solidFill>
              </a:rPr>
            </a:br>
            <a:r>
              <a:rPr lang="en-US" b="1" dirty="0">
                <a:solidFill>
                  <a:srgbClr val="00823B"/>
                </a:solidFill>
              </a:rPr>
              <a:t>BFS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/>
              <a:t>Graph Traversal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73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BFS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70364"/>
            <a:ext cx="6248400" cy="4454236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3900" dirty="0"/>
              <a:t>Visits graph vertices by moving across to all the neighbors of last visited vertex</a:t>
            </a:r>
          </a:p>
          <a:p>
            <a:pPr algn="just"/>
            <a:endParaRPr lang="en-US" sz="3900" dirty="0"/>
          </a:p>
          <a:p>
            <a:pPr algn="just"/>
            <a:r>
              <a:rPr lang="en-US" sz="3900" dirty="0"/>
              <a:t>Instead of a stack, BFS uses a queue</a:t>
            </a:r>
          </a:p>
          <a:p>
            <a:pPr algn="just"/>
            <a:endParaRPr lang="en-US" sz="3900" dirty="0"/>
          </a:p>
          <a:p>
            <a:pPr algn="just"/>
            <a:r>
              <a:rPr lang="en-US" sz="3900" dirty="0"/>
              <a:t>Similar to level-by-level tree traversal</a:t>
            </a:r>
            <a:br>
              <a:rPr lang="en-US" sz="3900" dirty="0"/>
            </a:br>
            <a:endParaRPr lang="en-US" sz="3900" dirty="0"/>
          </a:p>
          <a:p>
            <a:pPr algn="just"/>
            <a:r>
              <a:rPr lang="en-US" sz="3900" dirty="0"/>
              <a:t>“Redraws” graph in tree-like fashion (with tree edges and cross edges for undirected graph)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BFS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891145"/>
            <a:ext cx="2352675" cy="2762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181225"/>
            <a:ext cx="1066800" cy="22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453120"/>
            <a:ext cx="2419350" cy="247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16" y="2744065"/>
            <a:ext cx="200025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3054060"/>
            <a:ext cx="647700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9925" y="1946853"/>
            <a:ext cx="1400175" cy="200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225" y="1905000"/>
            <a:ext cx="647700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9925" y="2228849"/>
            <a:ext cx="1876425" cy="247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9925" y="2526721"/>
            <a:ext cx="4486275" cy="2476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9925" y="2858365"/>
            <a:ext cx="3086100" cy="304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2850" y="3262742"/>
            <a:ext cx="5086350" cy="266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6056" y="3629019"/>
            <a:ext cx="2047875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8456" y="4010882"/>
            <a:ext cx="1895475" cy="2571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78456" y="4267200"/>
            <a:ext cx="1866900" cy="2476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8456" y="4545147"/>
            <a:ext cx="1828800" cy="2667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52850" y="4991100"/>
            <a:ext cx="3819525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17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BFS (Example)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891145"/>
            <a:ext cx="2352675" cy="2762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181225"/>
            <a:ext cx="1066800" cy="22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453120"/>
            <a:ext cx="2419350" cy="247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16" y="2744065"/>
            <a:ext cx="200025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3054060"/>
            <a:ext cx="647700" cy="3048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209925" y="1905000"/>
            <a:ext cx="5629275" cy="3352800"/>
            <a:chOff x="3209925" y="1905000"/>
            <a:chExt cx="5629275" cy="33528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09925" y="1946853"/>
              <a:ext cx="1400175" cy="20002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48225" y="1905000"/>
              <a:ext cx="647700" cy="30480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09925" y="2228849"/>
              <a:ext cx="1876425" cy="24765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09925" y="2526721"/>
              <a:ext cx="4486275" cy="2476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209925" y="2858365"/>
              <a:ext cx="3086100" cy="30480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52850" y="3262742"/>
              <a:ext cx="5086350" cy="26670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126056" y="3629019"/>
              <a:ext cx="2047875" cy="30480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78456" y="4010882"/>
              <a:ext cx="1895475" cy="25717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278456" y="4267200"/>
              <a:ext cx="1866900" cy="24765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278456" y="4545147"/>
              <a:ext cx="1828800" cy="26670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752850" y="4991100"/>
              <a:ext cx="3819525" cy="266700"/>
            </a:xfrm>
            <a:prstGeom prst="rect">
              <a:avLst/>
            </a:prstGeom>
          </p:spPr>
        </p:pic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0025" y="3654572"/>
            <a:ext cx="33051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9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Final Comments on Exhaustive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dirty="0"/>
              <a:t>Exhaustive-search algorithms run in a realistic amount of time </a:t>
            </a:r>
            <a:r>
              <a:rPr lang="en-US" altLang="en-US" u="sng" dirty="0"/>
              <a:t>only on very small instances</a:t>
            </a:r>
            <a:r>
              <a:rPr lang="en-US" altLang="en-US" dirty="0"/>
              <a:t> </a:t>
            </a:r>
          </a:p>
          <a:p>
            <a:endParaRPr lang="en-US" altLang="en-US" dirty="0"/>
          </a:p>
          <a:p>
            <a:r>
              <a:rPr lang="en-US" altLang="en-US" dirty="0"/>
              <a:t>In some cases, there are much better alternatives! </a:t>
            </a:r>
          </a:p>
          <a:p>
            <a:pPr lvl="1"/>
            <a:r>
              <a:rPr lang="en-US" altLang="en-US" sz="2400" dirty="0"/>
              <a:t>Euler circuits</a:t>
            </a:r>
          </a:p>
          <a:p>
            <a:pPr lvl="1"/>
            <a:r>
              <a:rPr lang="en-US" altLang="en-US" sz="2400" dirty="0"/>
              <a:t>shortest paths</a:t>
            </a:r>
          </a:p>
          <a:p>
            <a:pPr lvl="1"/>
            <a:r>
              <a:rPr lang="en-US" altLang="en-US" sz="2400" dirty="0"/>
              <a:t>minimum spanning tree</a:t>
            </a:r>
          </a:p>
          <a:p>
            <a:pPr lvl="1"/>
            <a:r>
              <a:rPr lang="en-US" altLang="en-US" sz="2400" dirty="0"/>
              <a:t>assignment problem</a:t>
            </a:r>
          </a:p>
          <a:p>
            <a:endParaRPr lang="en-US" altLang="en-US" dirty="0"/>
          </a:p>
          <a:p>
            <a:r>
              <a:rPr lang="en-US" altLang="en-US" dirty="0"/>
              <a:t>In many cases, exhaustive search or its variation is the only known way to get </a:t>
            </a:r>
            <a:r>
              <a:rPr lang="en-US" altLang="en-US"/>
              <a:t>exact solution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8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859</TotalTime>
  <Words>1033</Words>
  <Application>Microsoft Macintosh PowerPoint</Application>
  <PresentationFormat>On-screen Show (4:3)</PresentationFormat>
  <Paragraphs>263</Paragraphs>
  <Slides>46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Wingdings</vt:lpstr>
      <vt:lpstr>Office Theme</vt:lpstr>
      <vt:lpstr>PowerPoint Presentation</vt:lpstr>
      <vt:lpstr>Exhaustive Search</vt:lpstr>
      <vt:lpstr>Exhaustive Search</vt:lpstr>
      <vt:lpstr>Exhaustive Search</vt:lpstr>
      <vt:lpstr>Travelling Salesman Problem (TSP)</vt:lpstr>
      <vt:lpstr>Travelling Salesman Problem (TSP)</vt:lpstr>
      <vt:lpstr>TSP</vt:lpstr>
      <vt:lpstr>Exhaustive Search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Knapsack Problem</vt:lpstr>
      <vt:lpstr>Assignment Problem</vt:lpstr>
      <vt:lpstr>Assignment Problem (Solution)</vt:lpstr>
      <vt:lpstr>Assignment Problem (Solution)</vt:lpstr>
      <vt:lpstr>Assignment Problem</vt:lpstr>
      <vt:lpstr>Exhaustive Search</vt:lpstr>
      <vt:lpstr>Introduction</vt:lpstr>
      <vt:lpstr>Depth First Search DFS</vt:lpstr>
      <vt:lpstr>DFS</vt:lpstr>
      <vt:lpstr>DFS</vt:lpstr>
      <vt:lpstr>DFS (Example)  </vt:lpstr>
      <vt:lpstr>DFS (Example)</vt:lpstr>
      <vt:lpstr>PowerPoint Presentation</vt:lpstr>
      <vt:lpstr>DFS</vt:lpstr>
      <vt:lpstr>Breadth First Search BFS</vt:lpstr>
      <vt:lpstr>BFS</vt:lpstr>
      <vt:lpstr>BFS</vt:lpstr>
      <vt:lpstr>BFS (Example)</vt:lpstr>
      <vt:lpstr>Final Comments on Exhaustive Search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Muhammad Umair</cp:lastModifiedBy>
  <cp:revision>189</cp:revision>
  <cp:lastPrinted>2021-03-02T08:21:19Z</cp:lastPrinted>
  <dcterms:created xsi:type="dcterms:W3CDTF">2018-06-20T09:11:51Z</dcterms:created>
  <dcterms:modified xsi:type="dcterms:W3CDTF">2026-03-03T08:07:52Z</dcterms:modified>
</cp:coreProperties>
</file>