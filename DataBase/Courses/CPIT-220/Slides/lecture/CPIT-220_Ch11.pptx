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Lst>
  <p:notesMasterIdLst>
    <p:notesMasterId r:id="rId60"/>
  </p:notesMasterIdLst>
  <p:handoutMasterIdLst>
    <p:handoutMasterId r:id="rId61"/>
  </p:handoutMasterIdLst>
  <p:sldIdLst>
    <p:sldId id="271" r:id="rId9"/>
    <p:sldId id="303" r:id="rId10"/>
    <p:sldId id="304" r:id="rId11"/>
    <p:sldId id="305" r:id="rId12"/>
    <p:sldId id="306" r:id="rId13"/>
    <p:sldId id="307" r:id="rId14"/>
    <p:sldId id="308" r:id="rId15"/>
    <p:sldId id="309" r:id="rId16"/>
    <p:sldId id="348" r:id="rId17"/>
    <p:sldId id="310" r:id="rId18"/>
    <p:sldId id="311" r:id="rId19"/>
    <p:sldId id="350" r:id="rId20"/>
    <p:sldId id="312" r:id="rId21"/>
    <p:sldId id="351" r:id="rId22"/>
    <p:sldId id="313" r:id="rId23"/>
    <p:sldId id="314" r:id="rId24"/>
    <p:sldId id="352" r:id="rId25"/>
    <p:sldId id="315" r:id="rId26"/>
    <p:sldId id="316" r:id="rId27"/>
    <p:sldId id="317" r:id="rId28"/>
    <p:sldId id="353" r:id="rId29"/>
    <p:sldId id="354" r:id="rId30"/>
    <p:sldId id="318" r:id="rId31"/>
    <p:sldId id="355"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356" r:id="rId52"/>
    <p:sldId id="338" r:id="rId53"/>
    <p:sldId id="339" r:id="rId54"/>
    <p:sldId id="340" r:id="rId55"/>
    <p:sldId id="345" r:id="rId56"/>
    <p:sldId id="346" r:id="rId57"/>
    <p:sldId id="347" r:id="rId58"/>
    <p:sldId id="272" r:id="rId59"/>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e McLaughlin" initials="JM" lastIdx="5" clrIdx="0"/>
  <p:cmAuthor id="1" name="Andi" initials="A" lastIdx="1" clrIdx="1"/>
  <p:cmAuthor id="2" name="Linda" initials="L" lastIdx="1" clrIdx="2"/>
  <p:cmAuthor id="3" name=" Donna Madsen" initials="DM" lastIdx="18" clrIdx="3"/>
  <p:cmAuthor id="4" name="Tiffany Bottolfson" initials="tmb" lastIdx="14" clrIdx="4"/>
  <p:cmAuthor id="5" name="Barbara" initials="BHE" lastIdx="1" clrIdx="5"/>
  <p:cmAuthor id="6" name="Judy Ann Levine" initials="jal" lastIdx="1"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99" autoAdjust="0"/>
    <p:restoredTop sz="94796" autoAdjust="0"/>
  </p:normalViewPr>
  <p:slideViewPr>
    <p:cSldViewPr>
      <p:cViewPr varScale="1">
        <p:scale>
          <a:sx n="65" d="100"/>
          <a:sy n="65" d="100"/>
        </p:scale>
        <p:origin x="1410" y="102"/>
      </p:cViewPr>
      <p:guideLst>
        <p:guide orient="horz" pos="2160"/>
        <p:guide pos="2880"/>
      </p:guideLst>
    </p:cSldViewPr>
  </p:slideViewPr>
  <p:outlineViewPr>
    <p:cViewPr>
      <p:scale>
        <a:sx n="33" d="100"/>
        <a:sy n="33" d="100"/>
      </p:scale>
      <p:origin x="36" y="22062"/>
    </p:cViewPr>
  </p:outlineViewPr>
  <p:notesTextViewPr>
    <p:cViewPr>
      <p:scale>
        <a:sx n="100" d="100"/>
        <a:sy n="100" d="100"/>
      </p:scale>
      <p:origin x="0" y="0"/>
    </p:cViewPr>
  </p:notesTextViewPr>
  <p:notesViewPr>
    <p:cSldViewPr>
      <p:cViewPr varScale="1">
        <p:scale>
          <a:sx n="59" d="100"/>
          <a:sy n="59" d="100"/>
        </p:scale>
        <p:origin x="-2484" y="-84"/>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59"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0" hangingPunct="0">
              <a:defRPr kumimoji="1" sz="1200">
                <a:latin typeface="Tahoma" pitchFamily="34" charset="0"/>
                <a:cs typeface="+mn-cs"/>
              </a:defRPr>
            </a:lvl1pPr>
          </a:lstStyle>
          <a:p>
            <a:pPr>
              <a:defRPr/>
            </a:pPr>
            <a:endParaRPr lang="en-US" dirty="0"/>
          </a:p>
        </p:txBody>
      </p:sp>
      <p:sp>
        <p:nvSpPr>
          <p:cNvPr id="19460" name="Rectangle 4"/>
          <p:cNvSpPr>
            <a:spLocks noGrp="1" noChangeArrowheads="1"/>
          </p:cNvSpPr>
          <p:nvPr>
            <p:ph type="ftr" sz="quarter" idx="2"/>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61" name="Rectangle 5"/>
          <p:cNvSpPr>
            <a:spLocks noGrp="1" noChangeArrowheads="1"/>
          </p:cNvSpPr>
          <p:nvPr>
            <p:ph type="sldNum" sz="quarter" idx="3"/>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0" hangingPunct="0">
              <a:defRPr kumimoji="1" sz="1200">
                <a:latin typeface="Tahoma" pitchFamily="34" charset="0"/>
                <a:cs typeface="+mn-cs"/>
              </a:defRPr>
            </a:lvl1pPr>
          </a:lstStyle>
          <a:p>
            <a:pPr>
              <a:defRPr/>
            </a:pPr>
            <a:fld id="{3B456121-521D-4DBF-A17A-DFBA40B87544}" type="slidenum">
              <a:rPr lang="en-US"/>
              <a:pPr>
                <a:defRPr/>
              </a:pPr>
              <a:t>‹#›</a:t>
            </a:fld>
            <a:endParaRPr lang="en-US" dirty="0"/>
          </a:p>
        </p:txBody>
      </p:sp>
    </p:spTree>
    <p:extLst>
      <p:ext uri="{BB962C8B-B14F-4D97-AF65-F5344CB8AC3E}">
        <p14:creationId xmlns:p14="http://schemas.microsoft.com/office/powerpoint/2010/main" val="11056104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07/16/96</a:t>
            </a:r>
            <a:endParaRPr lang="en-US" sz="1200" dirty="0"/>
          </a:p>
        </p:txBody>
      </p:sp>
      <p:sp>
        <p:nvSpPr>
          <p:cNvPr id="96260" name="Rectangle 4"/>
          <p:cNvSpPr>
            <a:spLocks noGrp="1" noRot="1" noChangeAspect="1" noChangeArrowheads="1"/>
          </p:cNvSpPr>
          <p:nvPr>
            <p:ph type="sldImg" idx="2"/>
          </p:nvPr>
        </p:nvSpPr>
        <p:spPr bwMode="auto">
          <a:xfrm>
            <a:off x="1177925" y="696913"/>
            <a:ext cx="4641850" cy="3481387"/>
          </a:xfrm>
          <a:prstGeom prst="rect">
            <a:avLst/>
          </a:prstGeom>
          <a:noFill/>
          <a:ln w="12700" cap="sq">
            <a:solidFill>
              <a:schemeClr val="tx1"/>
            </a:solidFill>
            <a:miter lim="800000"/>
            <a:headEnd/>
            <a:tailEnd/>
          </a:ln>
        </p:spPr>
      </p:sp>
      <p:sp>
        <p:nvSpPr>
          <p:cNvPr id="205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675" tIns="46838" rIns="93675" bIns="468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a:t>
            </a:r>
            <a:endParaRPr lang="en-US" sz="1200" dirty="0"/>
          </a:p>
        </p:txBody>
      </p:sp>
    </p:spTree>
    <p:extLst>
      <p:ext uri="{BB962C8B-B14F-4D97-AF65-F5344CB8AC3E}">
        <p14:creationId xmlns:p14="http://schemas.microsoft.com/office/powerpoint/2010/main" val="42039219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noTextEdit="1"/>
          </p:cNvSpPr>
          <p:nvPr>
            <p:ph type="sldImg"/>
          </p:nvPr>
        </p:nvSpPr>
        <p:spPr>
          <a:ln/>
        </p:spPr>
      </p:sp>
      <p:sp>
        <p:nvSpPr>
          <p:cNvPr id="105474" name="Notes Placeholder 2"/>
          <p:cNvSpPr>
            <a:spLocks noGrp="1"/>
          </p:cNvSpPr>
          <p:nvPr>
            <p:ph type="body" idx="1"/>
          </p:nvPr>
        </p:nvSpPr>
        <p:spPr>
          <a:noFill/>
          <a:ln/>
        </p:spPr>
        <p:txBody>
          <a:bodyPr/>
          <a:lstStyle/>
          <a:p>
            <a:endParaRPr lang="en-US" dirty="0" smtClean="0"/>
          </a:p>
        </p:txBody>
      </p:sp>
      <p:sp>
        <p:nvSpPr>
          <p:cNvPr id="105475" name="Header Placeholder 3"/>
          <p:cNvSpPr>
            <a:spLocks noGrp="1"/>
          </p:cNvSpPr>
          <p:nvPr>
            <p:ph type="hdr" sz="quarter"/>
          </p:nvPr>
        </p:nvSpPr>
        <p:spPr>
          <a:noFill/>
        </p:spPr>
        <p:txBody>
          <a:bodyPr/>
          <a:lstStyle/>
          <a:p>
            <a:r>
              <a:rPr lang="en-US" dirty="0" smtClean="0"/>
              <a:t>*</a:t>
            </a:r>
            <a:endParaRPr lang="en-US" sz="1200" dirty="0" smtClean="0"/>
          </a:p>
        </p:txBody>
      </p:sp>
      <p:sp>
        <p:nvSpPr>
          <p:cNvPr id="105476"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05477"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05478"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dirty="0" smtClean="0"/>
          </a:p>
        </p:txBody>
      </p:sp>
      <p:sp>
        <p:nvSpPr>
          <p:cNvPr id="107523" name="Header Placeholder 3"/>
          <p:cNvSpPr>
            <a:spLocks noGrp="1"/>
          </p:cNvSpPr>
          <p:nvPr>
            <p:ph type="hdr" sz="quarter"/>
          </p:nvPr>
        </p:nvSpPr>
        <p:spPr>
          <a:noFill/>
        </p:spPr>
        <p:txBody>
          <a:bodyPr/>
          <a:lstStyle/>
          <a:p>
            <a:r>
              <a:rPr lang="en-US" dirty="0" smtClean="0"/>
              <a:t>*</a:t>
            </a:r>
            <a:endParaRPr lang="en-US" sz="1200" dirty="0" smtClean="0"/>
          </a:p>
        </p:txBody>
      </p:sp>
      <p:sp>
        <p:nvSpPr>
          <p:cNvPr id="1075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075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075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noTextEdit="1"/>
          </p:cNvSpPr>
          <p:nvPr>
            <p:ph type="sldImg"/>
          </p:nvPr>
        </p:nvSpPr>
        <p:spPr>
          <a:ln/>
        </p:spPr>
      </p:sp>
      <p:sp>
        <p:nvSpPr>
          <p:cNvPr id="109570" name="Notes Placeholder 2"/>
          <p:cNvSpPr>
            <a:spLocks noGrp="1"/>
          </p:cNvSpPr>
          <p:nvPr>
            <p:ph type="body" idx="1"/>
          </p:nvPr>
        </p:nvSpPr>
        <p:spPr>
          <a:noFill/>
          <a:ln/>
        </p:spPr>
        <p:txBody>
          <a:bodyPr/>
          <a:lstStyle/>
          <a:p>
            <a:r>
              <a:rPr lang="en-US" dirty="0" smtClean="0"/>
              <a:t>T</a:t>
            </a:r>
          </a:p>
        </p:txBody>
      </p:sp>
      <p:sp>
        <p:nvSpPr>
          <p:cNvPr id="109571" name="Header Placeholder 3"/>
          <p:cNvSpPr>
            <a:spLocks noGrp="1"/>
          </p:cNvSpPr>
          <p:nvPr>
            <p:ph type="hdr" sz="quarter"/>
          </p:nvPr>
        </p:nvSpPr>
        <p:spPr>
          <a:noFill/>
        </p:spPr>
        <p:txBody>
          <a:bodyPr/>
          <a:lstStyle/>
          <a:p>
            <a:r>
              <a:rPr lang="en-US" dirty="0" smtClean="0"/>
              <a:t>*</a:t>
            </a:r>
            <a:endParaRPr lang="en-US" sz="1200" dirty="0" smtClean="0"/>
          </a:p>
        </p:txBody>
      </p:sp>
      <p:sp>
        <p:nvSpPr>
          <p:cNvPr id="10957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0957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0957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p:spPr>
        <p:txBody>
          <a:bodyPr/>
          <a:lstStyle/>
          <a:p>
            <a:endParaRPr lang="en-US" dirty="0" smtClean="0"/>
          </a:p>
        </p:txBody>
      </p:sp>
      <p:sp>
        <p:nvSpPr>
          <p:cNvPr id="115715" name="Header Placeholder 3"/>
          <p:cNvSpPr>
            <a:spLocks noGrp="1"/>
          </p:cNvSpPr>
          <p:nvPr>
            <p:ph type="hdr" sz="quarter"/>
          </p:nvPr>
        </p:nvSpPr>
        <p:spPr>
          <a:noFill/>
        </p:spPr>
        <p:txBody>
          <a:bodyPr/>
          <a:lstStyle/>
          <a:p>
            <a:r>
              <a:rPr lang="en-US" dirty="0" smtClean="0"/>
              <a:t>*</a:t>
            </a:r>
            <a:endParaRPr lang="en-US" sz="1200" dirty="0" smtClean="0"/>
          </a:p>
        </p:txBody>
      </p:sp>
      <p:sp>
        <p:nvSpPr>
          <p:cNvPr id="115716"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5717"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5718"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p:spPr>
        <p:txBody>
          <a:bodyPr/>
          <a:lstStyle/>
          <a:p>
            <a:endParaRPr lang="en-US" dirty="0" smtClean="0"/>
          </a:p>
        </p:txBody>
      </p:sp>
      <p:sp>
        <p:nvSpPr>
          <p:cNvPr id="117763" name="Header Placeholder 3"/>
          <p:cNvSpPr>
            <a:spLocks noGrp="1"/>
          </p:cNvSpPr>
          <p:nvPr>
            <p:ph type="hdr" sz="quarter"/>
          </p:nvPr>
        </p:nvSpPr>
        <p:spPr>
          <a:noFill/>
        </p:spPr>
        <p:txBody>
          <a:bodyPr/>
          <a:lstStyle/>
          <a:p>
            <a:r>
              <a:rPr lang="en-US" dirty="0" smtClean="0"/>
              <a:t>*</a:t>
            </a:r>
            <a:endParaRPr lang="en-US" sz="1200" dirty="0" smtClean="0"/>
          </a:p>
        </p:txBody>
      </p:sp>
      <p:sp>
        <p:nvSpPr>
          <p:cNvPr id="11776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776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776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p:spPr>
        <p:txBody>
          <a:bodyPr/>
          <a:lstStyle/>
          <a:p>
            <a:endParaRPr lang="en-US" dirty="0" smtClean="0"/>
          </a:p>
        </p:txBody>
      </p:sp>
      <p:sp>
        <p:nvSpPr>
          <p:cNvPr id="119811" name="Header Placeholder 3"/>
          <p:cNvSpPr>
            <a:spLocks noGrp="1"/>
          </p:cNvSpPr>
          <p:nvPr>
            <p:ph type="hdr" sz="quarter"/>
          </p:nvPr>
        </p:nvSpPr>
        <p:spPr>
          <a:noFill/>
        </p:spPr>
        <p:txBody>
          <a:bodyPr/>
          <a:lstStyle/>
          <a:p>
            <a:r>
              <a:rPr lang="en-US" dirty="0" smtClean="0"/>
              <a:t>*</a:t>
            </a:r>
            <a:endParaRPr lang="en-US" sz="1200" dirty="0" smtClean="0"/>
          </a:p>
        </p:txBody>
      </p:sp>
      <p:sp>
        <p:nvSpPr>
          <p:cNvPr id="11981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981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981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noTextEdit="1"/>
          </p:cNvSpPr>
          <p:nvPr>
            <p:ph type="sldImg"/>
          </p:nvPr>
        </p:nvSpPr>
        <p:spPr>
          <a:ln/>
        </p:spPr>
      </p:sp>
      <p:sp>
        <p:nvSpPr>
          <p:cNvPr id="121858" name="Notes Placeholder 2"/>
          <p:cNvSpPr>
            <a:spLocks noGrp="1"/>
          </p:cNvSpPr>
          <p:nvPr>
            <p:ph type="body" idx="1"/>
          </p:nvPr>
        </p:nvSpPr>
        <p:spPr>
          <a:noFill/>
          <a:ln/>
        </p:spPr>
        <p:txBody>
          <a:bodyPr/>
          <a:lstStyle/>
          <a:p>
            <a:endParaRPr lang="en-US" dirty="0" smtClean="0"/>
          </a:p>
        </p:txBody>
      </p:sp>
      <p:sp>
        <p:nvSpPr>
          <p:cNvPr id="121859" name="Header Placeholder 3"/>
          <p:cNvSpPr>
            <a:spLocks noGrp="1"/>
          </p:cNvSpPr>
          <p:nvPr>
            <p:ph type="hdr" sz="quarter"/>
          </p:nvPr>
        </p:nvSpPr>
        <p:spPr>
          <a:noFill/>
        </p:spPr>
        <p:txBody>
          <a:bodyPr/>
          <a:lstStyle/>
          <a:p>
            <a:r>
              <a:rPr lang="en-US" dirty="0" smtClean="0"/>
              <a:t>*</a:t>
            </a:r>
            <a:endParaRPr lang="en-US" sz="1200" dirty="0" smtClean="0"/>
          </a:p>
        </p:txBody>
      </p:sp>
      <p:sp>
        <p:nvSpPr>
          <p:cNvPr id="12186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2186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2186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noTextEdit="1"/>
          </p:cNvSpPr>
          <p:nvPr>
            <p:ph type="sldImg"/>
          </p:nvPr>
        </p:nvSpPr>
        <p:spPr>
          <a:ln/>
        </p:spPr>
      </p:sp>
      <p:sp>
        <p:nvSpPr>
          <p:cNvPr id="121858" name="Notes Placeholder 2"/>
          <p:cNvSpPr>
            <a:spLocks noGrp="1"/>
          </p:cNvSpPr>
          <p:nvPr>
            <p:ph type="body" idx="1"/>
          </p:nvPr>
        </p:nvSpPr>
        <p:spPr>
          <a:noFill/>
          <a:ln/>
        </p:spPr>
        <p:txBody>
          <a:bodyPr/>
          <a:lstStyle/>
          <a:p>
            <a:endParaRPr lang="en-US" dirty="0" smtClean="0"/>
          </a:p>
        </p:txBody>
      </p:sp>
      <p:sp>
        <p:nvSpPr>
          <p:cNvPr id="121859" name="Header Placeholder 3"/>
          <p:cNvSpPr>
            <a:spLocks noGrp="1"/>
          </p:cNvSpPr>
          <p:nvPr>
            <p:ph type="hdr" sz="quarter"/>
          </p:nvPr>
        </p:nvSpPr>
        <p:spPr>
          <a:noFill/>
        </p:spPr>
        <p:txBody>
          <a:bodyPr/>
          <a:lstStyle/>
          <a:p>
            <a:r>
              <a:rPr lang="en-US" dirty="0" smtClean="0"/>
              <a:t>*</a:t>
            </a:r>
            <a:endParaRPr lang="en-US" sz="1200" dirty="0" smtClean="0"/>
          </a:p>
        </p:txBody>
      </p:sp>
      <p:sp>
        <p:nvSpPr>
          <p:cNvPr id="12186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2186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2186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p:spPr>
        <p:txBody>
          <a:bodyPr/>
          <a:lstStyle/>
          <a:p>
            <a:endParaRPr lang="en-US" dirty="0" smtClean="0"/>
          </a:p>
        </p:txBody>
      </p:sp>
      <p:sp>
        <p:nvSpPr>
          <p:cNvPr id="123907" name="Header Placeholder 3"/>
          <p:cNvSpPr>
            <a:spLocks noGrp="1"/>
          </p:cNvSpPr>
          <p:nvPr>
            <p:ph type="hdr" sz="quarter"/>
          </p:nvPr>
        </p:nvSpPr>
        <p:spPr>
          <a:noFill/>
        </p:spPr>
        <p:txBody>
          <a:bodyPr/>
          <a:lstStyle/>
          <a:p>
            <a:r>
              <a:rPr lang="en-US" dirty="0" smtClean="0"/>
              <a:t>*</a:t>
            </a:r>
            <a:endParaRPr lang="en-US" sz="1200" dirty="0" smtClean="0"/>
          </a:p>
        </p:txBody>
      </p:sp>
      <p:sp>
        <p:nvSpPr>
          <p:cNvPr id="123908"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23909"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23910"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a:ln/>
        </p:spPr>
        <p:txBody>
          <a:bodyPr/>
          <a:lstStyle/>
          <a:p>
            <a:endParaRPr lang="en-US" dirty="0" smtClean="0"/>
          </a:p>
        </p:txBody>
      </p:sp>
      <p:sp>
        <p:nvSpPr>
          <p:cNvPr id="125955" name="Header Placeholder 3"/>
          <p:cNvSpPr>
            <a:spLocks noGrp="1"/>
          </p:cNvSpPr>
          <p:nvPr>
            <p:ph type="hdr" sz="quarter"/>
          </p:nvPr>
        </p:nvSpPr>
        <p:spPr>
          <a:noFill/>
        </p:spPr>
        <p:txBody>
          <a:bodyPr/>
          <a:lstStyle/>
          <a:p>
            <a:r>
              <a:rPr lang="en-US" dirty="0" smtClean="0"/>
              <a:t>*</a:t>
            </a:r>
            <a:endParaRPr lang="en-US" sz="1200" dirty="0" smtClean="0"/>
          </a:p>
        </p:txBody>
      </p:sp>
      <p:sp>
        <p:nvSpPr>
          <p:cNvPr id="125956"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25957"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25958"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a:ln/>
        </p:spPr>
      </p:sp>
      <p:sp>
        <p:nvSpPr>
          <p:cNvPr id="130050" name="Notes Placeholder 2"/>
          <p:cNvSpPr>
            <a:spLocks noGrp="1"/>
          </p:cNvSpPr>
          <p:nvPr>
            <p:ph type="body" idx="1"/>
          </p:nvPr>
        </p:nvSpPr>
        <p:spPr>
          <a:noFill/>
          <a:ln/>
        </p:spPr>
        <p:txBody>
          <a:bodyPr/>
          <a:lstStyle/>
          <a:p>
            <a:endParaRPr lang="en-US" dirty="0" smtClean="0"/>
          </a:p>
        </p:txBody>
      </p:sp>
      <p:sp>
        <p:nvSpPr>
          <p:cNvPr id="130051" name="Header Placeholder 3"/>
          <p:cNvSpPr>
            <a:spLocks noGrp="1"/>
          </p:cNvSpPr>
          <p:nvPr>
            <p:ph type="hdr" sz="quarter"/>
          </p:nvPr>
        </p:nvSpPr>
        <p:spPr>
          <a:noFill/>
        </p:spPr>
        <p:txBody>
          <a:bodyPr/>
          <a:lstStyle/>
          <a:p>
            <a:r>
              <a:rPr lang="en-US" dirty="0" smtClean="0"/>
              <a:t>*</a:t>
            </a:r>
            <a:endParaRPr lang="en-US" sz="1200" dirty="0" smtClean="0"/>
          </a:p>
        </p:txBody>
      </p:sp>
      <p:sp>
        <p:nvSpPr>
          <p:cNvPr id="13005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005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005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a:ln/>
        </p:spPr>
      </p:sp>
      <p:sp>
        <p:nvSpPr>
          <p:cNvPr id="128002" name="Notes Placeholder 2"/>
          <p:cNvSpPr>
            <a:spLocks noGrp="1"/>
          </p:cNvSpPr>
          <p:nvPr>
            <p:ph type="body" idx="1"/>
          </p:nvPr>
        </p:nvSpPr>
        <p:spPr>
          <a:noFill/>
          <a:ln/>
        </p:spPr>
        <p:txBody>
          <a:bodyPr/>
          <a:lstStyle/>
          <a:p>
            <a:endParaRPr lang="en-US" dirty="0" smtClean="0"/>
          </a:p>
        </p:txBody>
      </p:sp>
      <p:sp>
        <p:nvSpPr>
          <p:cNvPr id="128003" name="Header Placeholder 3"/>
          <p:cNvSpPr>
            <a:spLocks noGrp="1"/>
          </p:cNvSpPr>
          <p:nvPr>
            <p:ph type="hdr" sz="quarter"/>
          </p:nvPr>
        </p:nvSpPr>
        <p:spPr>
          <a:noFill/>
        </p:spPr>
        <p:txBody>
          <a:bodyPr/>
          <a:lstStyle/>
          <a:p>
            <a:r>
              <a:rPr lang="en-US" dirty="0" smtClean="0"/>
              <a:t>*</a:t>
            </a:r>
            <a:endParaRPr lang="en-US" sz="1200" dirty="0" smtClean="0"/>
          </a:p>
        </p:txBody>
      </p:sp>
      <p:sp>
        <p:nvSpPr>
          <p:cNvPr id="12800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2800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2800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111619" name="Header Placeholder 3"/>
          <p:cNvSpPr>
            <a:spLocks noGrp="1"/>
          </p:cNvSpPr>
          <p:nvPr>
            <p:ph type="hdr" sz="quarter"/>
          </p:nvPr>
        </p:nvSpPr>
        <p:spPr>
          <a:noFill/>
        </p:spPr>
        <p:txBody>
          <a:bodyPr/>
          <a:lstStyle/>
          <a:p>
            <a:r>
              <a:rPr lang="en-US" dirty="0" smtClean="0"/>
              <a:t>*</a:t>
            </a:r>
            <a:endParaRPr lang="en-US" sz="1200" dirty="0" smtClean="0"/>
          </a:p>
        </p:txBody>
      </p:sp>
      <p:sp>
        <p:nvSpPr>
          <p:cNvPr id="11162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1162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1162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a:ln/>
        </p:spPr>
      </p:sp>
      <p:sp>
        <p:nvSpPr>
          <p:cNvPr id="130050" name="Notes Placeholder 2"/>
          <p:cNvSpPr>
            <a:spLocks noGrp="1"/>
          </p:cNvSpPr>
          <p:nvPr>
            <p:ph type="body" idx="1"/>
          </p:nvPr>
        </p:nvSpPr>
        <p:spPr>
          <a:noFill/>
          <a:ln/>
        </p:spPr>
        <p:txBody>
          <a:bodyPr/>
          <a:lstStyle/>
          <a:p>
            <a:endParaRPr lang="en-US" dirty="0" smtClean="0"/>
          </a:p>
        </p:txBody>
      </p:sp>
      <p:sp>
        <p:nvSpPr>
          <p:cNvPr id="130051" name="Header Placeholder 3"/>
          <p:cNvSpPr>
            <a:spLocks noGrp="1"/>
          </p:cNvSpPr>
          <p:nvPr>
            <p:ph type="hdr" sz="quarter"/>
          </p:nvPr>
        </p:nvSpPr>
        <p:spPr>
          <a:noFill/>
        </p:spPr>
        <p:txBody>
          <a:bodyPr/>
          <a:lstStyle/>
          <a:p>
            <a:r>
              <a:rPr lang="en-US" dirty="0" smtClean="0"/>
              <a:t>*</a:t>
            </a:r>
            <a:endParaRPr lang="en-US" sz="1200" dirty="0" smtClean="0"/>
          </a:p>
        </p:txBody>
      </p:sp>
      <p:sp>
        <p:nvSpPr>
          <p:cNvPr id="13005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005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005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dirty="0" smtClean="0"/>
          </a:p>
        </p:txBody>
      </p:sp>
      <p:sp>
        <p:nvSpPr>
          <p:cNvPr id="132099" name="Header Placeholder 3"/>
          <p:cNvSpPr>
            <a:spLocks noGrp="1"/>
          </p:cNvSpPr>
          <p:nvPr>
            <p:ph type="hdr" sz="quarter"/>
          </p:nvPr>
        </p:nvSpPr>
        <p:spPr>
          <a:noFill/>
        </p:spPr>
        <p:txBody>
          <a:bodyPr/>
          <a:lstStyle/>
          <a:p>
            <a:r>
              <a:rPr lang="en-US" dirty="0" smtClean="0"/>
              <a:t>*</a:t>
            </a:r>
            <a:endParaRPr lang="en-US" sz="1200" dirty="0" smtClean="0"/>
          </a:p>
        </p:txBody>
      </p:sp>
      <p:sp>
        <p:nvSpPr>
          <p:cNvPr id="13210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210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210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134147" name="Header Placeholder 3"/>
          <p:cNvSpPr>
            <a:spLocks noGrp="1"/>
          </p:cNvSpPr>
          <p:nvPr>
            <p:ph type="hdr" sz="quarter"/>
          </p:nvPr>
        </p:nvSpPr>
        <p:spPr>
          <a:noFill/>
        </p:spPr>
        <p:txBody>
          <a:bodyPr/>
          <a:lstStyle/>
          <a:p>
            <a:r>
              <a:rPr lang="en-US" dirty="0" smtClean="0"/>
              <a:t>*</a:t>
            </a:r>
            <a:endParaRPr lang="en-US" sz="1200" dirty="0" smtClean="0"/>
          </a:p>
        </p:txBody>
      </p:sp>
      <p:sp>
        <p:nvSpPr>
          <p:cNvPr id="134148"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4149"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4150"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134147" name="Header Placeholder 3"/>
          <p:cNvSpPr>
            <a:spLocks noGrp="1"/>
          </p:cNvSpPr>
          <p:nvPr>
            <p:ph type="hdr" sz="quarter"/>
          </p:nvPr>
        </p:nvSpPr>
        <p:spPr>
          <a:noFill/>
        </p:spPr>
        <p:txBody>
          <a:bodyPr/>
          <a:lstStyle/>
          <a:p>
            <a:r>
              <a:rPr lang="en-US" dirty="0" smtClean="0"/>
              <a:t>*</a:t>
            </a:r>
            <a:endParaRPr lang="en-US" sz="1200" dirty="0" smtClean="0"/>
          </a:p>
        </p:txBody>
      </p:sp>
      <p:sp>
        <p:nvSpPr>
          <p:cNvPr id="134148"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4149"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4150"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134147" name="Header Placeholder 3"/>
          <p:cNvSpPr>
            <a:spLocks noGrp="1"/>
          </p:cNvSpPr>
          <p:nvPr>
            <p:ph type="hdr" sz="quarter"/>
          </p:nvPr>
        </p:nvSpPr>
        <p:spPr>
          <a:noFill/>
        </p:spPr>
        <p:txBody>
          <a:bodyPr/>
          <a:lstStyle/>
          <a:p>
            <a:r>
              <a:rPr lang="en-US" dirty="0" smtClean="0"/>
              <a:t>*</a:t>
            </a:r>
            <a:endParaRPr lang="en-US" sz="1200" dirty="0" smtClean="0"/>
          </a:p>
        </p:txBody>
      </p:sp>
      <p:sp>
        <p:nvSpPr>
          <p:cNvPr id="134148"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4149"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4150"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134147" name="Header Placeholder 3"/>
          <p:cNvSpPr>
            <a:spLocks noGrp="1"/>
          </p:cNvSpPr>
          <p:nvPr>
            <p:ph type="hdr" sz="quarter"/>
          </p:nvPr>
        </p:nvSpPr>
        <p:spPr>
          <a:noFill/>
        </p:spPr>
        <p:txBody>
          <a:bodyPr/>
          <a:lstStyle/>
          <a:p>
            <a:r>
              <a:rPr lang="en-US" dirty="0" smtClean="0"/>
              <a:t>*</a:t>
            </a:r>
            <a:endParaRPr lang="en-US" sz="1200" dirty="0" smtClean="0"/>
          </a:p>
        </p:txBody>
      </p:sp>
      <p:sp>
        <p:nvSpPr>
          <p:cNvPr id="134148"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4149"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4150"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a:ln/>
        </p:spPr>
      </p:sp>
      <p:sp>
        <p:nvSpPr>
          <p:cNvPr id="136194" name="Notes Placeholder 2"/>
          <p:cNvSpPr>
            <a:spLocks noGrp="1"/>
          </p:cNvSpPr>
          <p:nvPr>
            <p:ph type="body" idx="1"/>
          </p:nvPr>
        </p:nvSpPr>
        <p:spPr>
          <a:noFill/>
          <a:ln/>
        </p:spPr>
        <p:txBody>
          <a:bodyPr/>
          <a:lstStyle/>
          <a:p>
            <a:endParaRPr lang="en-US" dirty="0" smtClean="0"/>
          </a:p>
        </p:txBody>
      </p:sp>
      <p:sp>
        <p:nvSpPr>
          <p:cNvPr id="136195" name="Header Placeholder 3"/>
          <p:cNvSpPr>
            <a:spLocks noGrp="1"/>
          </p:cNvSpPr>
          <p:nvPr>
            <p:ph type="hdr" sz="quarter"/>
          </p:nvPr>
        </p:nvSpPr>
        <p:spPr>
          <a:noFill/>
        </p:spPr>
        <p:txBody>
          <a:bodyPr/>
          <a:lstStyle/>
          <a:p>
            <a:r>
              <a:rPr lang="en-US" dirty="0" smtClean="0"/>
              <a:t>*</a:t>
            </a:r>
            <a:endParaRPr lang="en-US" sz="1200" dirty="0" smtClean="0"/>
          </a:p>
        </p:txBody>
      </p:sp>
      <p:sp>
        <p:nvSpPr>
          <p:cNvPr id="136196"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6197"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6198"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a:ln/>
        </p:spPr>
      </p:sp>
      <p:sp>
        <p:nvSpPr>
          <p:cNvPr id="138242" name="Notes Placeholder 2"/>
          <p:cNvSpPr>
            <a:spLocks noGrp="1"/>
          </p:cNvSpPr>
          <p:nvPr>
            <p:ph type="body" idx="1"/>
          </p:nvPr>
        </p:nvSpPr>
        <p:spPr>
          <a:noFill/>
          <a:ln/>
        </p:spPr>
        <p:txBody>
          <a:bodyPr/>
          <a:lstStyle/>
          <a:p>
            <a:endParaRPr lang="en-US" dirty="0" smtClean="0"/>
          </a:p>
        </p:txBody>
      </p:sp>
      <p:sp>
        <p:nvSpPr>
          <p:cNvPr id="138243" name="Header Placeholder 3"/>
          <p:cNvSpPr>
            <a:spLocks noGrp="1"/>
          </p:cNvSpPr>
          <p:nvPr>
            <p:ph type="hdr" sz="quarter"/>
          </p:nvPr>
        </p:nvSpPr>
        <p:spPr>
          <a:noFill/>
        </p:spPr>
        <p:txBody>
          <a:bodyPr/>
          <a:lstStyle/>
          <a:p>
            <a:r>
              <a:rPr lang="en-US" dirty="0" smtClean="0"/>
              <a:t>*</a:t>
            </a:r>
            <a:endParaRPr lang="en-US" sz="1200" dirty="0" smtClean="0"/>
          </a:p>
        </p:txBody>
      </p:sp>
      <p:sp>
        <p:nvSpPr>
          <p:cNvPr id="13824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3824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3824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dirty="0" smtClean="0"/>
          </a:p>
        </p:txBody>
      </p:sp>
      <p:sp>
        <p:nvSpPr>
          <p:cNvPr id="140291" name="Header Placeholder 3"/>
          <p:cNvSpPr>
            <a:spLocks noGrp="1"/>
          </p:cNvSpPr>
          <p:nvPr>
            <p:ph type="hdr" sz="quarter"/>
          </p:nvPr>
        </p:nvSpPr>
        <p:spPr>
          <a:noFill/>
        </p:spPr>
        <p:txBody>
          <a:bodyPr/>
          <a:lstStyle/>
          <a:p>
            <a:r>
              <a:rPr lang="en-US" dirty="0" smtClean="0"/>
              <a:t>*</a:t>
            </a:r>
            <a:endParaRPr lang="en-US" sz="1200" dirty="0" smtClean="0"/>
          </a:p>
        </p:txBody>
      </p:sp>
      <p:sp>
        <p:nvSpPr>
          <p:cNvPr id="14029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4029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4029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a:ln/>
        </p:spPr>
      </p:sp>
      <p:sp>
        <p:nvSpPr>
          <p:cNvPr id="148482" name="Notes Placeholder 2"/>
          <p:cNvSpPr>
            <a:spLocks noGrp="1"/>
          </p:cNvSpPr>
          <p:nvPr>
            <p:ph type="body" idx="1"/>
          </p:nvPr>
        </p:nvSpPr>
        <p:spPr>
          <a:noFill/>
          <a:ln/>
        </p:spPr>
        <p:txBody>
          <a:bodyPr/>
          <a:lstStyle/>
          <a:p>
            <a:endParaRPr lang="en-US" dirty="0" smtClean="0"/>
          </a:p>
        </p:txBody>
      </p:sp>
      <p:sp>
        <p:nvSpPr>
          <p:cNvPr id="148483" name="Header Placeholder 3"/>
          <p:cNvSpPr>
            <a:spLocks noGrp="1"/>
          </p:cNvSpPr>
          <p:nvPr>
            <p:ph type="hdr" sz="quarter"/>
          </p:nvPr>
        </p:nvSpPr>
        <p:spPr>
          <a:noFill/>
        </p:spPr>
        <p:txBody>
          <a:bodyPr/>
          <a:lstStyle/>
          <a:p>
            <a:r>
              <a:rPr lang="en-US" dirty="0" smtClean="0"/>
              <a:t>*</a:t>
            </a:r>
            <a:endParaRPr lang="en-US" sz="1200" dirty="0" smtClean="0"/>
          </a:p>
        </p:txBody>
      </p:sp>
      <p:sp>
        <p:nvSpPr>
          <p:cNvPr id="14848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4848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4848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Slide Image Placeholder 1"/>
          <p:cNvSpPr>
            <a:spLocks noGrp="1" noRot="1" noChangeAspect="1" noTextEdit="1"/>
          </p:cNvSpPr>
          <p:nvPr>
            <p:ph type="sldImg"/>
          </p:nvPr>
        </p:nvSpPr>
        <p:spPr>
          <a:ln/>
        </p:spPr>
      </p:sp>
      <p:sp>
        <p:nvSpPr>
          <p:cNvPr id="150530" name="Notes Placeholder 2"/>
          <p:cNvSpPr>
            <a:spLocks noGrp="1"/>
          </p:cNvSpPr>
          <p:nvPr>
            <p:ph type="body" idx="1"/>
          </p:nvPr>
        </p:nvSpPr>
        <p:spPr>
          <a:noFill/>
          <a:ln/>
        </p:spPr>
        <p:txBody>
          <a:bodyPr/>
          <a:lstStyle/>
          <a:p>
            <a:endParaRPr lang="en-US" dirty="0" smtClean="0"/>
          </a:p>
        </p:txBody>
      </p:sp>
      <p:sp>
        <p:nvSpPr>
          <p:cNvPr id="150531" name="Header Placeholder 3"/>
          <p:cNvSpPr>
            <a:spLocks noGrp="1"/>
          </p:cNvSpPr>
          <p:nvPr>
            <p:ph type="hdr" sz="quarter"/>
          </p:nvPr>
        </p:nvSpPr>
        <p:spPr>
          <a:noFill/>
        </p:spPr>
        <p:txBody>
          <a:bodyPr/>
          <a:lstStyle/>
          <a:p>
            <a:r>
              <a:rPr lang="en-US" dirty="0" smtClean="0"/>
              <a:t>*</a:t>
            </a:r>
            <a:endParaRPr lang="en-US" sz="1200" dirty="0" smtClean="0"/>
          </a:p>
        </p:txBody>
      </p:sp>
      <p:sp>
        <p:nvSpPr>
          <p:cNvPr id="150532"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0533"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0534"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dirty="0" smtClean="0"/>
          </a:p>
        </p:txBody>
      </p:sp>
      <p:sp>
        <p:nvSpPr>
          <p:cNvPr id="152579" name="Header Placeholder 3"/>
          <p:cNvSpPr>
            <a:spLocks noGrp="1"/>
          </p:cNvSpPr>
          <p:nvPr>
            <p:ph type="hdr" sz="quarter"/>
          </p:nvPr>
        </p:nvSpPr>
        <p:spPr>
          <a:noFill/>
        </p:spPr>
        <p:txBody>
          <a:bodyPr/>
          <a:lstStyle/>
          <a:p>
            <a:r>
              <a:rPr lang="en-US" dirty="0" smtClean="0"/>
              <a:t>*</a:t>
            </a:r>
            <a:endParaRPr lang="en-US" sz="1200" dirty="0" smtClean="0"/>
          </a:p>
        </p:txBody>
      </p:sp>
      <p:sp>
        <p:nvSpPr>
          <p:cNvPr id="15258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258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258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dirty="0" smtClean="0"/>
          </a:p>
        </p:txBody>
      </p:sp>
      <p:sp>
        <p:nvSpPr>
          <p:cNvPr id="152579" name="Header Placeholder 3"/>
          <p:cNvSpPr>
            <a:spLocks noGrp="1"/>
          </p:cNvSpPr>
          <p:nvPr>
            <p:ph type="hdr" sz="quarter"/>
          </p:nvPr>
        </p:nvSpPr>
        <p:spPr>
          <a:noFill/>
        </p:spPr>
        <p:txBody>
          <a:bodyPr/>
          <a:lstStyle/>
          <a:p>
            <a:r>
              <a:rPr lang="en-US" dirty="0" smtClean="0"/>
              <a:t>*</a:t>
            </a:r>
            <a:endParaRPr lang="en-US" sz="1200" dirty="0" smtClean="0"/>
          </a:p>
        </p:txBody>
      </p:sp>
      <p:sp>
        <p:nvSpPr>
          <p:cNvPr id="15258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258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258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dirty="0" smtClean="0"/>
          </a:p>
        </p:txBody>
      </p:sp>
      <p:sp>
        <p:nvSpPr>
          <p:cNvPr id="152579" name="Header Placeholder 3"/>
          <p:cNvSpPr>
            <a:spLocks noGrp="1"/>
          </p:cNvSpPr>
          <p:nvPr>
            <p:ph type="hdr" sz="quarter"/>
          </p:nvPr>
        </p:nvSpPr>
        <p:spPr>
          <a:noFill/>
        </p:spPr>
        <p:txBody>
          <a:bodyPr/>
          <a:lstStyle/>
          <a:p>
            <a:r>
              <a:rPr lang="en-US" dirty="0" smtClean="0"/>
              <a:t>*</a:t>
            </a:r>
            <a:endParaRPr lang="en-US" sz="1200" dirty="0" smtClean="0"/>
          </a:p>
        </p:txBody>
      </p:sp>
      <p:sp>
        <p:nvSpPr>
          <p:cNvPr id="15258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258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258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dirty="0" smtClean="0"/>
          </a:p>
        </p:txBody>
      </p:sp>
      <p:sp>
        <p:nvSpPr>
          <p:cNvPr id="152579" name="Header Placeholder 3"/>
          <p:cNvSpPr>
            <a:spLocks noGrp="1"/>
          </p:cNvSpPr>
          <p:nvPr>
            <p:ph type="hdr" sz="quarter"/>
          </p:nvPr>
        </p:nvSpPr>
        <p:spPr>
          <a:noFill/>
        </p:spPr>
        <p:txBody>
          <a:bodyPr/>
          <a:lstStyle/>
          <a:p>
            <a:r>
              <a:rPr lang="en-US" dirty="0" smtClean="0"/>
              <a:t>*</a:t>
            </a:r>
            <a:endParaRPr lang="en-US" sz="1200" dirty="0" smtClean="0"/>
          </a:p>
        </p:txBody>
      </p:sp>
      <p:sp>
        <p:nvSpPr>
          <p:cNvPr id="15258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258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258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dirty="0" smtClean="0"/>
          </a:p>
        </p:txBody>
      </p:sp>
      <p:sp>
        <p:nvSpPr>
          <p:cNvPr id="152579" name="Header Placeholder 3"/>
          <p:cNvSpPr>
            <a:spLocks noGrp="1"/>
          </p:cNvSpPr>
          <p:nvPr>
            <p:ph type="hdr" sz="quarter"/>
          </p:nvPr>
        </p:nvSpPr>
        <p:spPr>
          <a:noFill/>
        </p:spPr>
        <p:txBody>
          <a:bodyPr/>
          <a:lstStyle/>
          <a:p>
            <a:r>
              <a:rPr lang="en-US" dirty="0" smtClean="0"/>
              <a:t>*</a:t>
            </a:r>
            <a:endParaRPr lang="en-US" sz="1200" dirty="0" smtClean="0"/>
          </a:p>
        </p:txBody>
      </p:sp>
      <p:sp>
        <p:nvSpPr>
          <p:cNvPr id="152580"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2581"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2582"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dirty="0" smtClean="0"/>
              <a:t>*</a:t>
            </a:r>
            <a:endParaRPr lang="en-US" sz="1200" dirty="0" smtClean="0"/>
          </a:p>
        </p:txBody>
      </p:sp>
      <p:sp>
        <p:nvSpPr>
          <p:cNvPr id="158724" name="Date Placeholder 4"/>
          <p:cNvSpPr>
            <a:spLocks noGrp="1"/>
          </p:cNvSpPr>
          <p:nvPr>
            <p:ph type="dt" sz="quarter" idx="1"/>
          </p:nvPr>
        </p:nvSpPr>
        <p:spPr>
          <a:noFill/>
        </p:spPr>
        <p:txBody>
          <a:bodyPr/>
          <a:lstStyle/>
          <a:p>
            <a:r>
              <a:rPr lang="en-US" dirty="0" smtClean="0"/>
              <a:t>07/16/96</a:t>
            </a:r>
            <a:endParaRPr lang="en-US" sz="1200" dirty="0" smtClean="0"/>
          </a:p>
        </p:txBody>
      </p:sp>
      <p:sp>
        <p:nvSpPr>
          <p:cNvPr id="158725" name="Footer Placeholder 5"/>
          <p:cNvSpPr>
            <a:spLocks noGrp="1"/>
          </p:cNvSpPr>
          <p:nvPr>
            <p:ph type="ftr" sz="quarter" idx="4"/>
          </p:nvPr>
        </p:nvSpPr>
        <p:spPr>
          <a:noFill/>
        </p:spPr>
        <p:txBody>
          <a:bodyPr/>
          <a:lstStyle/>
          <a:p>
            <a:r>
              <a:rPr lang="en-US" dirty="0" smtClean="0"/>
              <a:t>*</a:t>
            </a:r>
            <a:endParaRPr lang="en-US" sz="1200" dirty="0" smtClean="0"/>
          </a:p>
        </p:txBody>
      </p:sp>
      <p:sp>
        <p:nvSpPr>
          <p:cNvPr id="158726" name="Slide Number Placeholder 6"/>
          <p:cNvSpPr>
            <a:spLocks noGrp="1"/>
          </p:cNvSpPr>
          <p:nvPr>
            <p:ph type="sldNum" sz="quarter" idx="5"/>
          </p:nvPr>
        </p:nvSpPr>
        <p:spPr>
          <a:noFill/>
        </p:spPr>
        <p:txBody>
          <a:bodyPr/>
          <a:lstStyle/>
          <a:p>
            <a:r>
              <a:rPr lang="en-US" dirty="0" smtClean="0"/>
              <a:t>##</a:t>
            </a:r>
            <a:endParaRPr lang="en-US" sz="1200"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1185863" y="703263"/>
            <a:ext cx="4625975" cy="3468687"/>
          </a:xfrm>
          <a:ln/>
        </p:spPr>
      </p:sp>
      <p:sp>
        <p:nvSpPr>
          <p:cNvPr id="100354" name="Rectangle 3"/>
          <p:cNvSpPr>
            <a:spLocks noGrp="1" noChangeArrowheads="1"/>
          </p:cNvSpPr>
          <p:nvPr>
            <p:ph type="body" idx="1"/>
          </p:nvPr>
        </p:nvSpPr>
        <p:spPr>
          <a:noFill/>
          <a:ln/>
        </p:spPr>
        <p:txBody>
          <a:bodyPr lIns="92062" tIns="45223" rIns="92062" bIns="45223"/>
          <a:lstStyle/>
          <a:p>
            <a:endParaRPr lang="en-US" dirty="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672B18-CA00-47B9-A2B3-937E3591BDA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45981F6-CD9D-4A5F-87A1-23E8182A1546}"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81842CD-21BC-4C2A-95AF-5CE4146A59D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AB0CEE5-3A49-4214-B874-EF36E97B8FC1}"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400637-52D4-40F5-A1D6-D4AA439157D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99B832-F223-4534-B9CF-6D6391C73940}"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AC6F71B-1864-4987-9D2F-AB735607B5B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7FFD8EC-1BC4-4ED8-A379-10F2B1CDEE50}"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C20840-A167-4FBD-900D-5FB0E058522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29589F8-CD95-4ADF-939C-BF4D038E8308}"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5E199CC-17B6-41D1-AB9E-83F17E451228}"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87E1F01-2358-4955-B506-2D27167A4925}"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3EBC6E2-7798-43CD-8D58-74AFA50A74EE}"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5F5150-DFBA-43BE-9E94-292A22173D03}"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6DA41F8-B3A0-4A2D-BEA6-762845536611}"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49E5CA5-1621-4547-AA7E-99049CD2BEC4}"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1C2B7B4-4D27-456A-A5E2-D8513A1FC304}"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48D4B2B-D9F8-453F-815E-044B9FB115A3}"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1820F77-DC59-4538-993A-DF7E94671496}"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88C7B97-9EC4-4AED-A991-1CBD8CB0D7DD}"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F5CC8E6-1326-4E9C-85F5-272F358F02DC}"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72291F7-127A-48BB-802F-6D50CF8ECD47}"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CAB8545-8D23-4D54-B011-67E32F1E1420}" type="slidenum">
              <a:rPr lang="en-US"/>
              <a:pPr>
                <a:defRPr/>
              </a:pPr>
              <a:t>‹#›</a:t>
            </a:fld>
            <a:endParaRPr 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6B82AA1-0253-4438-9861-251ED4083826}" type="slidenum">
              <a:rPr lang="en-US"/>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BF8180-5B3A-44E4-AC78-36FAA4A00A68}" type="slidenum">
              <a:rPr lang="en-US"/>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125DCF8-8D0D-49E4-B2ED-8E9947EA663D}"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83220FED-C52D-49BF-B6C6-157E15E277E6}"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5BB8DCA-FD74-45CE-8496-08FBBCD46989}"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C857F35-0660-4231-853E-48D2DC3A688D}"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4EB683C-4BE2-4B52-8196-77DF81B90406}"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46A5F13-35BB-4CE0-ADBF-D3C3F063FD88}"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9EE3529-66AE-4BE4-8B82-39A71105C62B}"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9FA4603-38AD-4F26-92B2-99CC6DE91E9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140BFA7-DF07-4067-AF0E-B0D52E380E49}"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F8DBE8E-6151-403D-820C-BEC024E2E9DB}"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ADE2408-C500-46D9-BDC9-099592430CF7}" type="slidenum">
              <a:rPr lang="en-US"/>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266D4F2-361E-47F4-8633-9958BB33D9F6}" type="slidenum">
              <a:rPr lang="en-US"/>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9674A9E-A401-4826-8BFD-0F6E144B9826}" type="slidenum">
              <a:rPr lang="en-US"/>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4C969D3-9EC5-4D8F-8147-B578AFBB39FD}" type="slidenum">
              <a:rPr lang="en-US"/>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154A76A1-01C4-4253-9BF5-A2616A09AFDA}" type="slidenum">
              <a:rPr lang="en-US"/>
              <a:pPr>
                <a:defRPr/>
              </a:pPr>
              <a:t>‹#›</a:t>
            </a:fld>
            <a:endParaRPr lang="en-US" dirty="0"/>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430EB67-EF41-4D0D-9BED-E4E8493CF0DC}" type="slidenum">
              <a:rPr lang="en-US"/>
              <a:pPr>
                <a:defRPr/>
              </a:pPr>
              <a:t>‹#›</a:t>
            </a:fld>
            <a:endParaRPr lang="en-US" dirty="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E1540E7-9A83-4CB2-87F6-F021C2D4E308}" type="slidenum">
              <a:rPr lang="en-US"/>
              <a:pPr>
                <a:defRPr/>
              </a:pPr>
              <a:t>‹#›</a:t>
            </a:fld>
            <a:endParaRPr lang="en-US" dirty="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3DCC85-E28A-4136-80B6-A03BE8624610}" type="slidenum">
              <a:rPr lang="en-US"/>
              <a:pPr>
                <a:defRPr/>
              </a:pPr>
              <a:t>‹#›</a:t>
            </a:fld>
            <a:endParaRPr lang="en-US" dirty="0"/>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155D103-C265-4B83-AB4C-EEB1DF0F95DD}" type="slidenum">
              <a:rPr lang="en-US"/>
              <a:pPr>
                <a:defRPr/>
              </a:pPr>
              <a:t>‹#›</a:t>
            </a:fld>
            <a:endParaRPr lang="en-US" dirty="0"/>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DDA7DAE-1CC3-4688-9C4B-0B02206FD35B}" type="slidenum">
              <a:rPr lang="en-US"/>
              <a:pPr>
                <a:defRPr/>
              </a:pPr>
              <a:t>‹#›</a:t>
            </a:fld>
            <a:endParaRPr lang="en-US" dirty="0"/>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C1913C3-1FF2-42BB-8251-1647D70EA79B}" type="slidenum">
              <a:rPr lang="en-US"/>
              <a:pPr>
                <a:defRPr/>
              </a:pPr>
              <a:t>‹#›</a:t>
            </a:fld>
            <a:endParaRPr lang="en-US" dirty="0"/>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AEA883-DF87-4022-9C6A-266E032F48AC}" type="slidenum">
              <a:rPr lang="en-US"/>
              <a:pPr>
                <a:defRPr/>
              </a:pPr>
              <a:t>‹#›</a:t>
            </a:fld>
            <a:endParaRPr lang="en-US" dirty="0"/>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7360A7E-5229-40C9-8693-D7426273D345}" type="slidenum">
              <a:rPr lang="en-US"/>
              <a:pPr>
                <a:defRPr/>
              </a:pPr>
              <a:t>‹#›</a:t>
            </a:fld>
            <a:endParaRPr lang="en-US" dirty="0"/>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46603BA-CE8D-4BA8-BA35-735A664D71F9}" type="slidenum">
              <a:rPr lang="en-US"/>
              <a:pPr>
                <a:defRPr/>
              </a:pPr>
              <a:t>‹#›</a:t>
            </a:fld>
            <a:endParaRPr lang="en-US" dirty="0"/>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2813C20E-77C3-42BB-8B96-3E9DB14CC8E2}" type="slidenum">
              <a:rPr lang="en-US"/>
              <a:pPr>
                <a:defRPr/>
              </a:pPr>
              <a:t>‹#›</a:t>
            </a:fld>
            <a:endParaRPr lang="en-US" dirty="0"/>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9071683B-5E92-4771-98A4-0957D8237343}" type="slidenum">
              <a:rPr lang="en-US"/>
              <a:pPr>
                <a:defRPr/>
              </a:pPr>
              <a:t>‹#›</a:t>
            </a:fld>
            <a:endParaRPr lang="en-US" dirty="0"/>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9CB30CE-09E0-4522-9FE3-54AEF0A67231}" type="slidenum">
              <a:rPr lang="en-US"/>
              <a:pPr>
                <a:defRPr/>
              </a:pPr>
              <a:t>‹#›</a:t>
            </a:fld>
            <a:endParaRPr lang="en-US" dirty="0"/>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46B7DBD-949D-45B8-8796-536BE154992D}" type="slidenum">
              <a:rPr lang="en-US"/>
              <a:pPr>
                <a:defRPr/>
              </a:pPr>
              <a:t>‹#›</a:t>
            </a:fld>
            <a:endParaRPr lang="en-US" dirty="0"/>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197BBBF-1601-4009-96D3-4561EAEC2E79}" type="slidenum">
              <a:rPr lang="en-US"/>
              <a:pPr>
                <a:defRPr/>
              </a:pPr>
              <a:t>‹#›</a:t>
            </a:fld>
            <a:endParaRPr lang="en-US" dirty="0"/>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CC6067C-3E8E-4D66-B87E-345BD5EDB41D}" type="slidenum">
              <a:rPr lang="en-US"/>
              <a:pPr>
                <a:defRPr/>
              </a:pPr>
              <a:t>‹#›</a:t>
            </a:fld>
            <a:endParaRPr lang="en-US" dirty="0"/>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980E7EE-7DFB-4E2D-887F-73054042FC34}" type="slidenum">
              <a:rPr lang="en-US"/>
              <a:pPr>
                <a:defRPr/>
              </a:pPr>
              <a:t>‹#›</a:t>
            </a:fld>
            <a:endParaRPr lang="en-US" dirty="0"/>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909F0A8-4A37-48A0-A7E3-F35A1C6CC2A6}" type="slidenum">
              <a:rPr lang="en-US"/>
              <a:pPr>
                <a:defRPr/>
              </a:pPr>
              <a:t>‹#›</a:t>
            </a:fld>
            <a:endParaRPr lang="en-US" dirty="0"/>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ECF357D-EBE8-4DD9-9020-D3B88CF4581A}" type="slidenum">
              <a:rPr lang="en-US"/>
              <a:pPr>
                <a:defRPr/>
              </a:pPr>
              <a:t>‹#›</a:t>
            </a:fld>
            <a:endParaRPr lang="en-US" dirty="0"/>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EA918CB-DAA5-401A-BD2B-32F02A70CA6F}" type="slidenum">
              <a:rPr lang="en-US"/>
              <a:pPr>
                <a:defRPr/>
              </a:pPr>
              <a:t>‹#›</a:t>
            </a:fld>
            <a:endParaRPr lang="en-US" dirty="0"/>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BD3EBF7-57A8-4562-8074-05FC84579D8B}" type="slidenum">
              <a:rPr lang="en-US"/>
              <a:pPr>
                <a:defRPr/>
              </a:pPr>
              <a:t>‹#›</a:t>
            </a:fld>
            <a:endParaRPr lang="en-US" dirty="0"/>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09C779B8-4BC7-45B8-B452-2235B56C088A}" type="slidenum">
              <a:rPr lang="en-US"/>
              <a:pPr>
                <a:defRPr/>
              </a:pPr>
              <a:t>‹#›</a:t>
            </a:fld>
            <a:endParaRPr lang="en-US" dirty="0"/>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65C23E7-6E4C-4407-9495-1076819F1D1F}" type="slidenum">
              <a:rPr lang="en-US"/>
              <a:pPr>
                <a:defRPr/>
              </a:pPr>
              <a:t>‹#›</a:t>
            </a:fld>
            <a:endParaRPr lang="en-US" dirty="0"/>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8D2AAE6-8C46-4635-ABBF-91AD9D45495B}" type="slidenum">
              <a:rPr lang="en-US"/>
              <a:pPr>
                <a:defRPr/>
              </a:pPr>
              <a:t>‹#›</a:t>
            </a:fld>
            <a:endParaRPr lang="en-US" dirty="0"/>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C0A559A-75E4-4F76-8FE0-D09A740328B3}" type="slidenum">
              <a:rPr lang="en-US"/>
              <a:pPr>
                <a:defRPr/>
              </a:pPr>
              <a:t>‹#›</a:t>
            </a:fld>
            <a:endParaRPr lang="en-US" dirty="0"/>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A363C8-DF8E-4EF2-86EC-2C924460BD27}" type="slidenum">
              <a:rPr lang="en-US"/>
              <a:pPr>
                <a:defRPr/>
              </a:pPr>
              <a:t>‹#›</a:t>
            </a:fld>
            <a:endParaRPr lang="en-US" dirty="0"/>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E839710-E884-41E7-A772-E626858EC09C}" type="slidenum">
              <a:rPr lang="en-US"/>
              <a:pPr>
                <a:defRPr/>
              </a:pPr>
              <a:t>‹#›</a:t>
            </a:fld>
            <a:endParaRPr lang="en-US" dirty="0"/>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3CA463C-682A-462A-B338-61CEE47BDE81}" type="slidenum">
              <a:rPr lang="en-US"/>
              <a:pPr>
                <a:defRPr/>
              </a:pPr>
              <a:t>‹#›</a:t>
            </a:fld>
            <a:endParaRPr lang="en-US" dirty="0"/>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E4336D9-F5AB-45BC-AA5B-6879DCBFA5A1}" type="slidenum">
              <a:rPr lang="en-US"/>
              <a:pPr>
                <a:defRPr/>
              </a:pPr>
              <a:t>‹#›</a:t>
            </a:fld>
            <a:endParaRPr lang="en-US" dirty="0"/>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3ACEDB9-BCD9-4AE9-917C-9CD97C27A496}" type="slidenum">
              <a:rPr lang="en-US"/>
              <a:pPr>
                <a:defRPr/>
              </a:pPr>
              <a:t>‹#›</a:t>
            </a:fld>
            <a:endParaRPr lang="en-US" dirty="0"/>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801C6E-D96F-48FC-98C3-E1AC70052946}" type="slidenum">
              <a:rPr lang="en-US"/>
              <a:pPr>
                <a:defRPr/>
              </a:pPr>
              <a:t>‹#›</a:t>
            </a:fld>
            <a:endParaRPr lang="en-US" dirty="0"/>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78C8041A-B71D-416F-AA72-F1D69EFCF308}" type="slidenum">
              <a:rPr lang="en-US"/>
              <a:pPr>
                <a:defRPr/>
              </a:pPr>
              <a:t>‹#›</a:t>
            </a:fld>
            <a:endParaRPr lang="en-US" dirty="0"/>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1D7F9641-8088-4FBB-80E6-56D7C3839C33}" type="slidenum">
              <a:rPr lang="en-US"/>
              <a:pPr>
                <a:defRPr/>
              </a:pPr>
              <a:t>‹#›</a:t>
            </a:fld>
            <a:endParaRPr lang="en-US" dirty="0"/>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1884029-ABDC-4C75-804A-5D4AF2508C09}" type="slidenum">
              <a:rPr lang="en-US"/>
              <a:pPr>
                <a:defRPr/>
              </a:pPr>
              <a:t>‹#›</a:t>
            </a:fld>
            <a:endParaRPr lang="en-US" dirty="0"/>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CAC5E94-978D-4F02-B8F2-97989D43BDD4}" type="slidenum">
              <a:rPr lang="en-US"/>
              <a:pPr>
                <a:defRPr/>
              </a:pPr>
              <a:t>‹#›</a:t>
            </a:fld>
            <a:endParaRPr lang="en-US" dirty="0"/>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4A1150C-345F-499B-9970-5765A35EAC04}" type="slidenum">
              <a:rPr lang="en-US"/>
              <a:pPr>
                <a:defRPr/>
              </a:pPr>
              <a:t>‹#›</a:t>
            </a:fld>
            <a:endParaRPr 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152FD9D-802D-42ED-90AE-87D1BDEF9C82}" type="slidenum">
              <a:rPr lang="en-US"/>
              <a:pPr>
                <a:defRPr/>
              </a:pPr>
              <a:t>‹#›</a:t>
            </a:fld>
            <a:endParaRPr lang="en-US" dirty="0"/>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A02DE13-222E-4AE8-A1BB-1CAA55C28E67}" type="slidenum">
              <a:rPr lang="en-US"/>
              <a:pPr>
                <a:defRPr/>
              </a:pPr>
              <a:t>‹#›</a:t>
            </a:fld>
            <a:endParaRPr lang="en-US" dirty="0"/>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endParaRPr lang="en-US"/>
          </a:p>
        </p:txBody>
      </p:sp>
      <p:sp>
        <p:nvSpPr>
          <p:cNvPr id="8" name="Slide Number Placeholder 7"/>
          <p:cNvSpPr>
            <a:spLocks noGrp="1"/>
          </p:cNvSpPr>
          <p:nvPr>
            <p:ph type="sldNum" sz="quarter" idx="11"/>
          </p:nvPr>
        </p:nvSpPr>
        <p:spPr/>
        <p:txBody>
          <a:bodyPr/>
          <a:lstStyle/>
          <a:p>
            <a:pPr>
              <a:defRPr/>
            </a:pPr>
            <a:fld id="{4C467257-E832-4478-B490-5B033862A145}" type="slidenum">
              <a:rPr lang="en-US" smtClean="0"/>
              <a:pPr>
                <a:defRPr/>
              </a:pPr>
              <a:t>‹#›</a:t>
            </a:fld>
            <a:endParaRPr lang="en-US" dirty="0"/>
          </a:p>
        </p:txBody>
      </p:sp>
      <p:sp>
        <p:nvSpPr>
          <p:cNvPr id="9" name="Footer Placeholder 8"/>
          <p:cNvSpPr>
            <a:spLocks noGrp="1"/>
          </p:cNvSpPr>
          <p:nvPr>
            <p:ph type="ftr" sz="quarter" idx="12"/>
          </p:nvPr>
        </p:nvSpPr>
        <p:spPr/>
        <p:txBody>
          <a:bodyPr/>
          <a:lstStyle/>
          <a:p>
            <a:pPr>
              <a:defRPr/>
            </a:pPr>
            <a:r>
              <a:rPr lang="en-US" smtClean="0"/>
              <a:t>Copyright © 2012 Pearson Education, Inc. Publishing as Prentice Hall</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Footer Placeholder 4"/>
          <p:cNvSpPr>
            <a:spLocks noGrp="1"/>
          </p:cNvSpPr>
          <p:nvPr>
            <p:ph type="ftr" sz="quarter" idx="11"/>
          </p:nvPr>
        </p:nvSpPr>
        <p:spPr>
          <a:xfrm>
            <a:off x="659165" y="6477000"/>
            <a:ext cx="5665435" cy="24447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kumimoji="0" lang="en-US" smtClean="0"/>
              <a:t>Copyright © 2012 Pearson Education, Inc. Publishing as Prentice Hall</a:t>
            </a:r>
            <a:endParaRPr kumimoji="0" lang="en-US"/>
          </a:p>
        </p:txBody>
      </p:sp>
      <p:sp>
        <p:nvSpPr>
          <p:cNvPr id="6" name="Slide Number Placeholder 5"/>
          <p:cNvSpPr>
            <a:spLocks noGrp="1"/>
          </p:cNvSpPr>
          <p:nvPr>
            <p:ph type="sldNum" sz="quarter" idx="12"/>
          </p:nvPr>
        </p:nvSpPr>
        <p:spPr/>
        <p:txBody>
          <a:bodyPr/>
          <a:lstStyle/>
          <a:p>
            <a:pPr>
              <a:defRPr/>
            </a:pPr>
            <a:fld id="{11625734-4DC8-41BB-B315-E2E1BFA14A2D}" type="slidenum">
              <a:rPr lang="en-US" smtClean="0"/>
              <a:pPr>
                <a:defRPr/>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6" name="Footer Placeholder 5"/>
          <p:cNvSpPr>
            <a:spLocks noGrp="1"/>
          </p:cNvSpPr>
          <p:nvPr>
            <p:ph type="ftr" sz="quarter" idx="11"/>
          </p:nvPr>
        </p:nvSpPr>
        <p:spPr>
          <a:xfrm>
            <a:off x="659165" y="6400800"/>
            <a:ext cx="6046435" cy="320675"/>
          </a:xfrm>
        </p:spPr>
        <p:txBody>
          <a:bodyPr/>
          <a:lstStyle/>
          <a:p>
            <a:pPr>
              <a:defRPr/>
            </a:pPr>
            <a:r>
              <a:rPr lang="en-US"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ADECFD27-E205-4F2F-9A8F-1FE9A8E016E3}" type="slidenum">
              <a:rPr lang="en-US" smtClean="0"/>
              <a:pPr>
                <a:defRPr/>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Footer Placeholder 7"/>
          <p:cNvSpPr>
            <a:spLocks noGrp="1"/>
          </p:cNvSpPr>
          <p:nvPr>
            <p:ph type="ftr" sz="quarter" idx="11"/>
          </p:nvPr>
        </p:nvSpPr>
        <p:spPr>
          <a:xfrm>
            <a:off x="659165" y="6356350"/>
            <a:ext cx="7265635" cy="365125"/>
          </a:xfrm>
        </p:spPr>
        <p:txBody>
          <a:bodyPr/>
          <a:lstStyle/>
          <a:p>
            <a:pPr>
              <a:defRPr/>
            </a:pPr>
            <a:r>
              <a:rPr lang="en-US" smtClean="0"/>
              <a:t>Copyright © 2012 Pearson Education, Inc. Publishing as Prentice Hall</a:t>
            </a:r>
            <a:endParaRPr lang="en-US" dirty="0"/>
          </a:p>
        </p:txBody>
      </p:sp>
      <p:sp>
        <p:nvSpPr>
          <p:cNvPr id="9" name="Slide Number Placeholder 8"/>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1"/>
          </p:nvPr>
        </p:nvSpPr>
        <p:spPr>
          <a:xfrm>
            <a:off x="659165" y="6356350"/>
            <a:ext cx="7113235" cy="365125"/>
          </a:xfrm>
        </p:spPr>
        <p:txBody>
          <a:bodyPr/>
          <a:lstStyle/>
          <a:p>
            <a:pPr>
              <a:defRPr/>
            </a:pPr>
            <a:r>
              <a:rPr lang="en-US"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a:defRPr/>
            </a:pPr>
            <a:fld id="{C08AE460-6C33-432D-98AF-D0A31A72975B}" type="slidenum">
              <a:rPr lang="en-US" smtClean="0"/>
              <a:pPr>
                <a:defRPr/>
              </a:pPr>
              <a:t>‹#›</a:t>
            </a:fld>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Copyright © 2012 Pearson Education, Inc. Publishing as Prentice Hall</a:t>
            </a:r>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3418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4180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410200"/>
            <a:ext cx="7772400" cy="594360"/>
          </a:xfrm>
        </p:spPr>
        <p:txBody>
          <a:bodyPr anchor="b"/>
          <a:lstStyle>
            <a:lvl1pPr algn="ctr">
              <a:defRPr sz="2200" b="1"/>
            </a:lvl1pPr>
          </a:lstStyle>
          <a:p>
            <a:r>
              <a:rPr lang="en-US" smtClean="0"/>
              <a:t>Click to edit Master title style</a:t>
            </a:r>
            <a:endParaRPr lang="en-US" dirty="0"/>
          </a:p>
        </p:txBody>
      </p:sp>
      <p:sp>
        <p:nvSpPr>
          <p:cNvPr id="6" name="Footer Placeholder 5"/>
          <p:cNvSpPr>
            <a:spLocks noGrp="1"/>
          </p:cNvSpPr>
          <p:nvPr>
            <p:ph type="ftr" sz="quarter" idx="11"/>
          </p:nvPr>
        </p:nvSpPr>
        <p:spPr>
          <a:xfrm>
            <a:off x="304800" y="6324600"/>
            <a:ext cx="7848600" cy="365760"/>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35184BC9-E88D-4E64-AE5A-8E8E8897FE73}" type="slidenum">
              <a:rPr lang="en-US" smtClean="0"/>
              <a:pPr>
                <a:defRPr/>
              </a:pPr>
              <a:t>‹#›</a:t>
            </a:fld>
            <a:endParaRPr lang="en-US"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9" name="Slide Number Placeholder 8"/>
          <p:cNvSpPr>
            <a:spLocks noGrp="1"/>
          </p:cNvSpPr>
          <p:nvPr>
            <p:ph type="sldNum" sz="quarter" idx="11"/>
          </p:nvPr>
        </p:nvSpPr>
        <p:spPr/>
        <p:txBody>
          <a:bodyPr/>
          <a:lstStyle/>
          <a:p>
            <a:pPr>
              <a:defRPr/>
            </a:pPr>
            <a:fld id="{0D3CC13B-E2EF-47BB-B3FF-09D7E675F32E}" type="slidenum">
              <a:rPr lang="en-US" smtClean="0"/>
              <a:pPr>
                <a:defRPr/>
              </a:pPr>
              <a:t>‹#›</a:t>
            </a:fld>
            <a:endParaRPr lang="en-US" dirty="0"/>
          </a:p>
        </p:txBody>
      </p:sp>
      <p:sp>
        <p:nvSpPr>
          <p:cNvPr id="10" name="Footer Placeholder 9"/>
          <p:cNvSpPr>
            <a:spLocks noGrp="1"/>
          </p:cNvSpPr>
          <p:nvPr>
            <p:ph type="ftr" sz="quarter" idx="12"/>
          </p:nvPr>
        </p:nvSpPr>
        <p:spPr>
          <a:xfrm>
            <a:off x="381000" y="6324600"/>
            <a:ext cx="7696200" cy="365760"/>
          </a:xfrm>
        </p:spPr>
        <p:txBody>
          <a:bodyPr/>
          <a:lstStyle/>
          <a:p>
            <a:pPr>
              <a:defRPr/>
            </a:pPr>
            <a:r>
              <a:rPr lang="en-US" dirty="0" smtClean="0"/>
              <a:t>Copyright © 2012 Pearson Education, Inc. Publishing as Prentice Hall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BC2AE529-F438-4BCD-8C30-F4B4DA3443E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4" r:id="rId1"/>
    <p:sldLayoutId id="2147483763" r:id="rId2"/>
    <p:sldLayoutId id="2147483762" r:id="rId3"/>
    <p:sldLayoutId id="2147483761" r:id="rId4"/>
    <p:sldLayoutId id="2147483760" r:id="rId5"/>
    <p:sldLayoutId id="2147483759" r:id="rId6"/>
    <p:sldLayoutId id="2147483758" r:id="rId7"/>
    <p:sldLayoutId id="2147483757" r:id="rId8"/>
    <p:sldLayoutId id="2147483756" r:id="rId9"/>
    <p:sldLayoutId id="2147483755" r:id="rId10"/>
    <p:sldLayoutId id="2147483754" r:id="rId11"/>
  </p:sldLayoutIdLst>
  <p:transition/>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0BDF16DF-55C7-405E-B630-101528E3D10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75" r:id="rId1"/>
    <p:sldLayoutId id="2147483774" r:id="rId2"/>
    <p:sldLayoutId id="2147483773" r:id="rId3"/>
    <p:sldLayoutId id="2147483772" r:id="rId4"/>
    <p:sldLayoutId id="2147483771" r:id="rId5"/>
    <p:sldLayoutId id="2147483770" r:id="rId6"/>
    <p:sldLayoutId id="2147483769" r:id="rId7"/>
    <p:sldLayoutId id="2147483768" r:id="rId8"/>
    <p:sldLayoutId id="2147483767" r:id="rId9"/>
    <p:sldLayoutId id="2147483766" r:id="rId10"/>
    <p:sldLayoutId id="2147483765"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48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D1E967-BE6C-4613-B5D5-7F48702C2FA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6" r:id="rId1"/>
    <p:sldLayoutId id="2147483785" r:id="rId2"/>
    <p:sldLayoutId id="2147483784" r:id="rId3"/>
    <p:sldLayoutId id="2147483783" r:id="rId4"/>
    <p:sldLayoutId id="2147483782" r:id="rId5"/>
    <p:sldLayoutId id="2147483781" r:id="rId6"/>
    <p:sldLayoutId id="2147483780" r:id="rId7"/>
    <p:sldLayoutId id="2147483779" r:id="rId8"/>
    <p:sldLayoutId id="2147483778" r:id="rId9"/>
    <p:sldLayoutId id="2147483777" r:id="rId10"/>
    <p:sldLayoutId id="2147483776"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71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6FC7868D-58DA-4536-B00F-2A3965CB12B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97" r:id="rId1"/>
    <p:sldLayoutId id="2147483796" r:id="rId2"/>
    <p:sldLayoutId id="2147483795" r:id="rId3"/>
    <p:sldLayoutId id="2147483794" r:id="rId4"/>
    <p:sldLayoutId id="2147483793" r:id="rId5"/>
    <p:sldLayoutId id="2147483792" r:id="rId6"/>
    <p:sldLayoutId id="2147483791" r:id="rId7"/>
    <p:sldLayoutId id="2147483790" r:id="rId8"/>
    <p:sldLayoutId id="2147483789" r:id="rId9"/>
    <p:sldLayoutId id="2147483788" r:id="rId10"/>
    <p:sldLayoutId id="2147483787"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3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4CFC36D7-9866-447F-9534-382343A8BC5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8" r:id="rId1"/>
    <p:sldLayoutId id="2147483807" r:id="rId2"/>
    <p:sldLayoutId id="2147483806" r:id="rId3"/>
    <p:sldLayoutId id="2147483805" r:id="rId4"/>
    <p:sldLayoutId id="2147483804" r:id="rId5"/>
    <p:sldLayoutId id="2147483803" r:id="rId6"/>
    <p:sldLayoutId id="2147483802" r:id="rId7"/>
    <p:sldLayoutId id="2147483801" r:id="rId8"/>
    <p:sldLayoutId id="2147483800" r:id="rId9"/>
    <p:sldLayoutId id="2147483799" r:id="rId10"/>
    <p:sldLayoutId id="2147483798"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68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6728FA-F189-4232-822B-572A04F1278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15" r:id="rId5"/>
    <p:sldLayoutId id="2147483814" r:id="rId6"/>
    <p:sldLayoutId id="2147483813" r:id="rId7"/>
    <p:sldLayoutId id="2147483812" r:id="rId8"/>
    <p:sldLayoutId id="2147483811" r:id="rId9"/>
    <p:sldLayoutId id="2147483810" r:id="rId10"/>
    <p:sldLayoutId id="2147483809"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39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39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2098B8F3-AEA4-42AA-90E7-84C2CB2A4B3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9" r:id="rId2"/>
    <p:sldLayoutId id="2147483828" r:id="rId3"/>
    <p:sldLayoutId id="2147483827" r:id="rId4"/>
    <p:sldLayoutId id="2147483826" r:id="rId5"/>
    <p:sldLayoutId id="2147483825" r:id="rId6"/>
    <p:sldLayoutId id="2147483824" r:id="rId7"/>
    <p:sldLayoutId id="2147483823" r:id="rId8"/>
    <p:sldLayoutId id="2147483822" r:id="rId9"/>
    <p:sldLayoutId id="2147483821" r:id="rId10"/>
    <p:sldLayoutId id="2147483820"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BC2AE529-F438-4BCD-8C30-F4B4DA3443E6}" type="slidenum">
              <a:rPr lang="en-US" smtClean="0"/>
              <a:pPr>
                <a:defRPr/>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42" r:id="rId12"/>
    <p:sldLayoutId id="2147483843" r:id="rId13"/>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2.xml"/><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3.xml"/><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4.xml"/><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9.xml"/></Relationships>
</file>

<file path=ppt/slides/_rels/slide5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1.xml"/><Relationship Id="rId1" Type="http://schemas.openxmlformats.org/officeDocument/2006/relationships/slideLayout" Target="../slideLayouts/slideLayout84.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0" y="0"/>
            <a:ext cx="9144000" cy="1600200"/>
          </a:xfrm>
        </p:spPr>
        <p:txBody>
          <a:bodyPr/>
          <a:lstStyle/>
          <a:p>
            <a:pPr algn="ctr"/>
            <a:r>
              <a:rPr lang="en-US" sz="4800" dirty="0" smtClean="0"/>
              <a:t>Computers Are Your Future</a:t>
            </a:r>
            <a:br>
              <a:rPr lang="en-US" sz="4800" dirty="0" smtClean="0"/>
            </a:br>
            <a:r>
              <a:rPr lang="en-US" sz="2800" dirty="0" smtClean="0"/>
              <a:t>Twelfth Edition</a:t>
            </a:r>
          </a:p>
        </p:txBody>
      </p:sp>
      <p:sp>
        <p:nvSpPr>
          <p:cNvPr id="98306" name="Content Placeholder 2"/>
          <p:cNvSpPr>
            <a:spLocks noGrp="1"/>
          </p:cNvSpPr>
          <p:nvPr>
            <p:ph idx="1"/>
          </p:nvPr>
        </p:nvSpPr>
        <p:spPr>
          <a:xfrm>
            <a:off x="694344" y="1828800"/>
            <a:ext cx="7772400" cy="4114800"/>
          </a:xfrm>
        </p:spPr>
        <p:txBody>
          <a:bodyPr/>
          <a:lstStyle/>
          <a:p>
            <a:pPr algn="ctr">
              <a:buFont typeface="Wingdings" pitchFamily="2" charset="2"/>
              <a:buNone/>
            </a:pPr>
            <a:r>
              <a:rPr lang="en-US" dirty="0" smtClean="0"/>
              <a:t>Chapter 7: Networks: Communicating</a:t>
            </a:r>
          </a:p>
          <a:p>
            <a:pPr algn="ctr">
              <a:buFont typeface="Wingdings" pitchFamily="2" charset="2"/>
              <a:buNone/>
            </a:pPr>
            <a:r>
              <a:rPr lang="en-US" dirty="0" smtClean="0"/>
              <a:t>and Sharing Resources</a:t>
            </a:r>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p:txBody>
      </p:sp>
      <p:sp>
        <p:nvSpPr>
          <p:cNvPr id="4" name="Footer Placeholder 3"/>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94805" y="2819400"/>
            <a:ext cx="2971480" cy="3409948"/>
          </a:xfrm>
          <a:prstGeom prst="rect">
            <a:avLst/>
          </a:prstGeom>
        </p:spPr>
      </p:pic>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0" y="0"/>
            <a:ext cx="9144000" cy="1600200"/>
          </a:xfrm>
        </p:spPr>
        <p:txBody>
          <a:bodyPr/>
          <a:lstStyle/>
          <a:p>
            <a:pPr eaLnBrk="1" hangingPunct="1"/>
            <a:r>
              <a:rPr lang="en-US" sz="4800" dirty="0" smtClean="0"/>
              <a:t>Networks: Communicating</a:t>
            </a:r>
            <a:br>
              <a:rPr lang="en-US" sz="4800" dirty="0" smtClean="0"/>
            </a:br>
            <a:r>
              <a:rPr lang="en-US" sz="4800" dirty="0" smtClean="0"/>
              <a:t>and Sharing Resources</a:t>
            </a:r>
          </a:p>
        </p:txBody>
      </p:sp>
      <p:pic>
        <p:nvPicPr>
          <p:cNvPr id="1026" name="Picture 2"/>
          <p:cNvPicPr>
            <a:picLocks noGrp="1" noChangeAspect="1" noChangeArrowheads="1"/>
          </p:cNvPicPr>
          <p:nvPr>
            <p:ph sz="half" idx="1"/>
          </p:nvPr>
        </p:nvPicPr>
        <p:blipFill>
          <a:blip r:embed="rId3" cstate="print"/>
          <a:srcRect/>
          <a:stretch>
            <a:fillRect/>
          </a:stretch>
        </p:blipFill>
        <p:spPr bwMode="auto">
          <a:xfrm>
            <a:off x="1752600" y="2057400"/>
            <a:ext cx="5879208" cy="3903720"/>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a:t>
            </a:fld>
            <a:endParaRPr kumimoji="0" lang="en-US"/>
          </a:p>
        </p:txBody>
      </p:sp>
    </p:spTree>
    <p:extLst>
      <p:ext uri="{BB962C8B-B14F-4D97-AF65-F5344CB8AC3E}">
        <p14:creationId xmlns:p14="http://schemas.microsoft.com/office/powerpoint/2010/main" val="35272546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0" y="0"/>
            <a:ext cx="9144000" cy="1143000"/>
          </a:xfrm>
        </p:spPr>
        <p:txBody>
          <a:bodyPr lIns="92075" tIns="46038" rIns="92075" bIns="46038" anchor="b"/>
          <a:lstStyle/>
          <a:p>
            <a:pPr eaLnBrk="1" hangingPunct="1"/>
            <a:r>
              <a:rPr lang="en-US" dirty="0" smtClean="0"/>
              <a:t>Objectives </a:t>
            </a:r>
          </a:p>
        </p:txBody>
      </p:sp>
      <p:sp>
        <p:nvSpPr>
          <p:cNvPr id="101378" name="Rectangle 3"/>
          <p:cNvSpPr>
            <a:spLocks noGrp="1" noChangeArrowheads="1"/>
          </p:cNvSpPr>
          <p:nvPr>
            <p:ph type="body" idx="1"/>
          </p:nvPr>
        </p:nvSpPr>
        <p:spPr>
          <a:xfrm>
            <a:off x="685800" y="1447800"/>
            <a:ext cx="7924800" cy="4687888"/>
          </a:xfrm>
        </p:spPr>
        <p:txBody>
          <a:bodyPr lIns="182562" tIns="46038" rIns="182562" bIns="46038">
            <a:noAutofit/>
          </a:bodyPr>
          <a:lstStyle/>
          <a:p>
            <a:pPr eaLnBrk="1" hangingPunct="1"/>
            <a:r>
              <a:rPr lang="en-US" sz="3200" dirty="0" smtClean="0">
                <a:solidFill>
                  <a:srgbClr val="000000"/>
                </a:solidFill>
                <a:latin typeface="Tahoma" pitchFamily="34" charset="0"/>
                <a:ea typeface="Tahoma" pitchFamily="34" charset="0"/>
                <a:cs typeface="Tahoma" pitchFamily="34" charset="0"/>
              </a:rPr>
              <a:t>Understand basic networking concepts.</a:t>
            </a:r>
          </a:p>
          <a:p>
            <a:pPr eaLnBrk="1" hangingPunct="1"/>
            <a:r>
              <a:rPr lang="en-US" sz="3200" dirty="0" smtClean="0">
                <a:solidFill>
                  <a:srgbClr val="000000"/>
                </a:solidFill>
                <a:latin typeface="Tahoma" pitchFamily="34" charset="0"/>
                <a:ea typeface="Tahoma" pitchFamily="34" charset="0"/>
                <a:cs typeface="Tahoma" pitchFamily="34" charset="0"/>
              </a:rPr>
              <a:t>Distinguish between a WAN, LAN, MAN, CAN, HAN, and PAN.</a:t>
            </a:r>
          </a:p>
          <a:p>
            <a:pPr eaLnBrk="1" hangingPunct="1"/>
            <a:r>
              <a:rPr lang="en-US" sz="3200" dirty="0" smtClean="0">
                <a:solidFill>
                  <a:srgbClr val="000000"/>
                </a:solidFill>
                <a:latin typeface="Tahoma" pitchFamily="34" charset="0"/>
                <a:ea typeface="Tahoma" pitchFamily="34" charset="0"/>
                <a:cs typeface="Tahoma" pitchFamily="34" charset="0"/>
              </a:rPr>
              <a:t>Discuss the advantages and disadvantages of networks.</a:t>
            </a:r>
          </a:p>
          <a:p>
            <a:pPr eaLnBrk="1" hangingPunct="1"/>
            <a:r>
              <a:rPr lang="en-US" sz="3200" dirty="0" smtClean="0">
                <a:solidFill>
                  <a:srgbClr val="000000"/>
                </a:solidFill>
                <a:latin typeface="Tahoma" pitchFamily="34" charset="0"/>
                <a:ea typeface="Tahoma" pitchFamily="34" charset="0"/>
                <a:cs typeface="Tahoma" pitchFamily="34" charset="0"/>
              </a:rPr>
              <a:t>Distinguish between peer-to-peer, client/server, and virtual private local area networks (LANs).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a:t>
            </a:fld>
            <a:endParaRPr kumimoji="0" lang="en-US"/>
          </a:p>
        </p:txBody>
      </p:sp>
    </p:spTree>
    <p:extLst>
      <p:ext uri="{BB962C8B-B14F-4D97-AF65-F5344CB8AC3E}">
        <p14:creationId xmlns:p14="http://schemas.microsoft.com/office/powerpoint/2010/main" val="31838669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p:cNvSpPr>
            <a:spLocks noGrp="1"/>
          </p:cNvSpPr>
          <p:nvPr>
            <p:ph type="title"/>
          </p:nvPr>
        </p:nvSpPr>
        <p:spPr>
          <a:xfrm>
            <a:off x="0" y="0"/>
            <a:ext cx="9144000" cy="1295400"/>
          </a:xfrm>
        </p:spPr>
        <p:txBody>
          <a:bodyPr/>
          <a:lstStyle/>
          <a:p>
            <a:r>
              <a:rPr lang="en-US" dirty="0" smtClean="0"/>
              <a:t>Objectives </a:t>
            </a:r>
          </a:p>
        </p:txBody>
      </p:sp>
      <p:sp>
        <p:nvSpPr>
          <p:cNvPr id="102402" name="Content Placeholder 2"/>
          <p:cNvSpPr>
            <a:spLocks noGrp="1"/>
          </p:cNvSpPr>
          <p:nvPr>
            <p:ph idx="1"/>
          </p:nvPr>
        </p:nvSpPr>
        <p:spPr>
          <a:xfrm>
            <a:off x="762000" y="1447800"/>
            <a:ext cx="7772400" cy="4953000"/>
          </a:xfrm>
        </p:spPr>
        <p:txBody>
          <a:bodyPr>
            <a:normAutofit/>
          </a:bodyPr>
          <a:lstStyle/>
          <a:p>
            <a:r>
              <a:rPr lang="en-US" sz="3200" dirty="0">
                <a:solidFill>
                  <a:srgbClr val="000000"/>
                </a:solidFill>
                <a:latin typeface="Tahoma" pitchFamily="34" charset="0"/>
                <a:ea typeface="Tahoma" pitchFamily="34" charset="0"/>
                <a:cs typeface="Tahoma" pitchFamily="34" charset="0"/>
              </a:rPr>
              <a:t>Define topology and understand how the three LAN topologies differ.</a:t>
            </a:r>
          </a:p>
          <a:p>
            <a:r>
              <a:rPr lang="en-US" sz="3200" dirty="0" smtClean="0">
                <a:solidFill>
                  <a:srgbClr val="000000"/>
                </a:solidFill>
                <a:latin typeface="Tahoma" pitchFamily="34" charset="0"/>
                <a:ea typeface="Tahoma" pitchFamily="34" charset="0"/>
                <a:cs typeface="Tahoma" pitchFamily="34" charset="0"/>
              </a:rPr>
              <a:t>Explain the importance of network protocols.</a:t>
            </a:r>
          </a:p>
          <a:p>
            <a:r>
              <a:rPr lang="en-US" sz="3200" dirty="0" smtClean="0">
                <a:solidFill>
                  <a:srgbClr val="000000"/>
                </a:solidFill>
                <a:latin typeface="Tahoma" pitchFamily="34" charset="0"/>
                <a:ea typeface="Tahoma" pitchFamily="34" charset="0"/>
                <a:cs typeface="Tahoma" pitchFamily="34" charset="0"/>
              </a:rPr>
              <a:t>Name the most widely used LAN protocol and their versions.</a:t>
            </a:r>
          </a:p>
          <a:p>
            <a:r>
              <a:rPr lang="en-US" sz="3200" dirty="0" smtClean="0">
                <a:solidFill>
                  <a:srgbClr val="000000"/>
                </a:solidFill>
                <a:latin typeface="Tahoma" pitchFamily="34" charset="0"/>
                <a:ea typeface="Tahoma" pitchFamily="34" charset="0"/>
                <a:cs typeface="Tahoma" pitchFamily="34" charset="0"/>
              </a:rPr>
              <a:t>Identify the special components of a wide area network (WAN) that differentiate it from a LAN.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a:t>
            </a:fld>
            <a:endParaRPr kumimoji="0" lang="en-US"/>
          </a:p>
        </p:txBody>
      </p:sp>
    </p:spTree>
    <p:extLst>
      <p:ext uri="{BB962C8B-B14F-4D97-AF65-F5344CB8AC3E}">
        <p14:creationId xmlns:p14="http://schemas.microsoft.com/office/powerpoint/2010/main" val="1692440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a:xfrm>
            <a:off x="0" y="0"/>
            <a:ext cx="9144000" cy="1295400"/>
          </a:xfrm>
        </p:spPr>
        <p:txBody>
          <a:bodyPr/>
          <a:lstStyle/>
          <a:p>
            <a:r>
              <a:rPr lang="en-US" dirty="0" smtClean="0"/>
              <a:t>Objectives </a:t>
            </a:r>
          </a:p>
        </p:txBody>
      </p:sp>
      <p:sp>
        <p:nvSpPr>
          <p:cNvPr id="103426" name="Content Placeholder 2"/>
          <p:cNvSpPr>
            <a:spLocks noGrp="1"/>
          </p:cNvSpPr>
          <p:nvPr>
            <p:ph idx="1"/>
          </p:nvPr>
        </p:nvSpPr>
        <p:spPr>
          <a:xfrm>
            <a:off x="762000" y="1600200"/>
            <a:ext cx="7772400" cy="4495800"/>
          </a:xfrm>
        </p:spPr>
        <p:txBody>
          <a:bodyPr>
            <a:normAutofit/>
          </a:bodyPr>
          <a:lstStyle/>
          <a:p>
            <a:r>
              <a:rPr lang="en-US" sz="3200" dirty="0" smtClean="0">
                <a:solidFill>
                  <a:srgbClr val="000000"/>
                </a:solidFill>
                <a:latin typeface="Tahoma" pitchFamily="34" charset="0"/>
                <a:ea typeface="Tahoma" pitchFamily="34" charset="0"/>
                <a:cs typeface="Tahoma" pitchFamily="34" charset="0"/>
              </a:rPr>
              <a:t>Contrast circuit-switching and packet-switching networks and explain their respective strengths and weaknesses.</a:t>
            </a:r>
          </a:p>
          <a:p>
            <a:r>
              <a:rPr lang="en-US" sz="3200" dirty="0" smtClean="0">
                <a:solidFill>
                  <a:srgbClr val="000000"/>
                </a:solidFill>
                <a:latin typeface="Tahoma" pitchFamily="34" charset="0"/>
                <a:ea typeface="Tahoma" pitchFamily="34" charset="0"/>
                <a:cs typeface="Tahoma" pitchFamily="34" charset="0"/>
              </a:rPr>
              <a:t>Identify the options, components, configuration, and maintenance of a home area network (HAN).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a:t>
            </a:fld>
            <a:endParaRPr kumimoji="0" lang="en-US"/>
          </a:p>
        </p:txBody>
      </p:sp>
    </p:spTree>
    <p:extLst>
      <p:ext uri="{BB962C8B-B14F-4D97-AF65-F5344CB8AC3E}">
        <p14:creationId xmlns:p14="http://schemas.microsoft.com/office/powerpoint/2010/main" val="21828106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p:cNvSpPr>
            <a:spLocks noGrp="1"/>
          </p:cNvSpPr>
          <p:nvPr>
            <p:ph type="title"/>
          </p:nvPr>
        </p:nvSpPr>
        <p:spPr>
          <a:xfrm>
            <a:off x="0" y="0"/>
            <a:ext cx="9144000" cy="1371600"/>
          </a:xfrm>
        </p:spPr>
        <p:txBody>
          <a:bodyPr/>
          <a:lstStyle/>
          <a:p>
            <a:pPr eaLnBrk="1" hangingPunct="1"/>
            <a:r>
              <a:rPr lang="en-US" dirty="0" smtClean="0"/>
              <a:t>Network Fundamentals</a:t>
            </a:r>
          </a:p>
        </p:txBody>
      </p:sp>
      <p:sp>
        <p:nvSpPr>
          <p:cNvPr id="106498" name="Content Placeholder 5"/>
          <p:cNvSpPr>
            <a:spLocks noGrp="1"/>
          </p:cNvSpPr>
          <p:nvPr>
            <p:ph idx="1"/>
          </p:nvPr>
        </p:nvSpPr>
        <p:spPr>
          <a:xfrm>
            <a:off x="762000" y="1524000"/>
            <a:ext cx="8382000" cy="44958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Networks</a:t>
            </a:r>
          </a:p>
          <a:p>
            <a:pPr lvl="1"/>
            <a:r>
              <a:rPr lang="en-US" sz="2400" dirty="0" smtClean="0">
                <a:solidFill>
                  <a:srgbClr val="000000"/>
                </a:solidFill>
                <a:latin typeface="Tahoma" pitchFamily="34" charset="0"/>
                <a:ea typeface="Tahoma" pitchFamily="34" charset="0"/>
                <a:cs typeface="Tahoma" pitchFamily="34" charset="0"/>
              </a:rPr>
              <a:t>Links multiple computer systems and enables them to share data and resources</a:t>
            </a:r>
          </a:p>
          <a:p>
            <a:pPr lvl="1"/>
            <a:r>
              <a:rPr lang="en-US" sz="2400" dirty="0" smtClean="0">
                <a:solidFill>
                  <a:srgbClr val="000000"/>
                </a:solidFill>
                <a:latin typeface="Tahoma" pitchFamily="34" charset="0"/>
                <a:ea typeface="Tahoma" pitchFamily="34" charset="0"/>
                <a:cs typeface="Tahoma" pitchFamily="34" charset="0"/>
              </a:rPr>
              <a:t>Types of computer networks:</a:t>
            </a:r>
          </a:p>
          <a:p>
            <a:pPr lvl="2"/>
            <a:r>
              <a:rPr lang="en-US" sz="2400" b="1" dirty="0" smtClean="0">
                <a:solidFill>
                  <a:srgbClr val="000000"/>
                </a:solidFill>
                <a:latin typeface="Tahoma" pitchFamily="34" charset="0"/>
                <a:ea typeface="Tahoma" pitchFamily="34" charset="0"/>
                <a:cs typeface="Tahoma" pitchFamily="34" charset="0"/>
              </a:rPr>
              <a:t>Local area network (LAN)</a:t>
            </a:r>
          </a:p>
          <a:p>
            <a:pPr lvl="2"/>
            <a:r>
              <a:rPr lang="en-US" sz="2400" b="1" dirty="0" smtClean="0">
                <a:solidFill>
                  <a:srgbClr val="000000"/>
                </a:solidFill>
                <a:latin typeface="Tahoma" pitchFamily="34" charset="0"/>
                <a:ea typeface="Tahoma" pitchFamily="34" charset="0"/>
                <a:cs typeface="Tahoma" pitchFamily="34" charset="0"/>
              </a:rPr>
              <a:t>Wide area network (WAN)</a:t>
            </a:r>
          </a:p>
          <a:p>
            <a:pPr lvl="2"/>
            <a:r>
              <a:rPr lang="en-US" sz="2400" b="1" dirty="0" smtClean="0">
                <a:solidFill>
                  <a:srgbClr val="000000"/>
                </a:solidFill>
                <a:latin typeface="Tahoma" pitchFamily="34" charset="0"/>
                <a:ea typeface="Tahoma" pitchFamily="34" charset="0"/>
                <a:cs typeface="Tahoma" pitchFamily="34" charset="0"/>
              </a:rPr>
              <a:t>Metropolitan area network (MAN)</a:t>
            </a:r>
          </a:p>
          <a:p>
            <a:pPr lvl="2"/>
            <a:r>
              <a:rPr lang="en-US" sz="2400" b="1" dirty="0" smtClean="0">
                <a:solidFill>
                  <a:srgbClr val="000000"/>
                </a:solidFill>
                <a:latin typeface="Tahoma" pitchFamily="34" charset="0"/>
                <a:ea typeface="Tahoma" pitchFamily="34" charset="0"/>
                <a:cs typeface="Tahoma" pitchFamily="34" charset="0"/>
              </a:rPr>
              <a:t>Campus area network (CAN)</a:t>
            </a:r>
          </a:p>
          <a:p>
            <a:pPr lvl="2"/>
            <a:r>
              <a:rPr lang="en-US" sz="2400" b="1" dirty="0" smtClean="0">
                <a:solidFill>
                  <a:srgbClr val="000000"/>
                </a:solidFill>
                <a:latin typeface="Tahoma" pitchFamily="34" charset="0"/>
                <a:ea typeface="Tahoma" pitchFamily="34" charset="0"/>
                <a:cs typeface="Tahoma" pitchFamily="34" charset="0"/>
              </a:rPr>
              <a:t>Personal area network (PAN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a:t>
            </a:fld>
            <a:endParaRPr kumimoji="0" lang="en-US"/>
          </a:p>
        </p:txBody>
      </p:sp>
    </p:spTree>
    <p:extLst>
      <p:ext uri="{BB962C8B-B14F-4D97-AF65-F5344CB8AC3E}">
        <p14:creationId xmlns:p14="http://schemas.microsoft.com/office/powerpoint/2010/main" val="2470618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a:xfrm>
            <a:off x="0" y="0"/>
            <a:ext cx="9144000" cy="1600200"/>
          </a:xfrm>
        </p:spPr>
        <p:txBody>
          <a:bodyPr/>
          <a:lstStyle/>
          <a:p>
            <a:pPr eaLnBrk="1" hangingPunct="1"/>
            <a:r>
              <a:rPr lang="en-US" dirty="0" smtClean="0"/>
              <a:t>Network Fundamentals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a:t>
            </a:fld>
            <a:endParaRPr kumimoji="0" lang="en-US"/>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71600" y="1600200"/>
            <a:ext cx="6172200" cy="4761079"/>
          </a:xfrm>
        </p:spPr>
      </p:pic>
    </p:spTree>
    <p:extLst>
      <p:ext uri="{BB962C8B-B14F-4D97-AF65-F5344CB8AC3E}">
        <p14:creationId xmlns:p14="http://schemas.microsoft.com/office/powerpoint/2010/main" val="2560205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219200"/>
          </a:xfrm>
        </p:spPr>
        <p:txBody>
          <a:bodyPr/>
          <a:lstStyle/>
          <a:p>
            <a:pPr eaLnBrk="1" hangingPunct="1"/>
            <a:r>
              <a:rPr lang="en-US" dirty="0" smtClean="0"/>
              <a:t>Network Fundamentals</a:t>
            </a:r>
          </a:p>
        </p:txBody>
      </p:sp>
      <p:sp>
        <p:nvSpPr>
          <p:cNvPr id="110594" name="Content Placeholder 5"/>
          <p:cNvSpPr>
            <a:spLocks noGrp="1"/>
          </p:cNvSpPr>
          <p:nvPr>
            <p:ph idx="1"/>
          </p:nvPr>
        </p:nvSpPr>
        <p:spPr>
          <a:xfrm>
            <a:off x="762000" y="1371600"/>
            <a:ext cx="8382000" cy="4876800"/>
          </a:xfrm>
        </p:spPr>
        <p:txBody>
          <a:bodyPr>
            <a:normAutofit fontScale="92500"/>
          </a:bodyPr>
          <a:lstStyle/>
          <a:p>
            <a:r>
              <a:rPr lang="en-US" sz="3600" b="1" dirty="0" smtClean="0">
                <a:solidFill>
                  <a:srgbClr val="000000"/>
                </a:solidFill>
                <a:latin typeface="Tahoma" pitchFamily="34" charset="0"/>
                <a:ea typeface="Tahoma" pitchFamily="34" charset="0"/>
                <a:cs typeface="Tahoma" pitchFamily="34" charset="0"/>
              </a:rPr>
              <a:t>LAN</a:t>
            </a:r>
            <a:r>
              <a:rPr lang="en-US" sz="2800" b="1" dirty="0" smtClean="0">
                <a:solidFill>
                  <a:srgbClr val="000000"/>
                </a:solidFill>
                <a:latin typeface="Tahoma" pitchFamily="34" charset="0"/>
                <a:ea typeface="Tahoma" pitchFamily="34" charset="0"/>
                <a:cs typeface="Tahoma" pitchFamily="34" charset="0"/>
              </a:rPr>
              <a:t> </a:t>
            </a:r>
          </a:p>
          <a:p>
            <a:pPr lvl="1"/>
            <a:r>
              <a:rPr lang="en-US" sz="2400" dirty="0" smtClean="0">
                <a:solidFill>
                  <a:srgbClr val="000000"/>
                </a:solidFill>
                <a:latin typeface="Tahoma" pitchFamily="34" charset="0"/>
                <a:ea typeface="Tahoma" pitchFamily="34" charset="0"/>
                <a:cs typeface="Tahoma" pitchFamily="34" charset="0"/>
              </a:rPr>
              <a:t>Uses cables, radio waves, or infrared signals</a:t>
            </a:r>
          </a:p>
          <a:p>
            <a:pPr lvl="1"/>
            <a:r>
              <a:rPr lang="en-US" sz="2400" dirty="0" smtClean="0">
                <a:solidFill>
                  <a:srgbClr val="000000"/>
                </a:solidFill>
                <a:latin typeface="Tahoma" pitchFamily="34" charset="0"/>
                <a:ea typeface="Tahoma" pitchFamily="34" charset="0"/>
                <a:cs typeface="Tahoma" pitchFamily="34" charset="0"/>
              </a:rPr>
              <a:t>Links computers in a limited geographic area</a:t>
            </a:r>
          </a:p>
          <a:p>
            <a:r>
              <a:rPr lang="en-US" sz="3600" b="1" dirty="0" smtClean="0">
                <a:solidFill>
                  <a:srgbClr val="000000"/>
                </a:solidFill>
                <a:latin typeface="Tahoma" pitchFamily="34" charset="0"/>
                <a:ea typeface="Tahoma" pitchFamily="34" charset="0"/>
                <a:cs typeface="Tahoma" pitchFamily="34" charset="0"/>
              </a:rPr>
              <a:t>WAN</a:t>
            </a:r>
            <a:r>
              <a:rPr lang="en-US" sz="3600" dirty="0" smtClean="0">
                <a:solidFill>
                  <a:srgbClr val="000000"/>
                </a:solidFill>
                <a:latin typeface="Tahoma" pitchFamily="34" charset="0"/>
                <a:ea typeface="Tahoma" pitchFamily="34" charset="0"/>
                <a:cs typeface="Tahoma" pitchFamily="34" charset="0"/>
              </a:rPr>
              <a:t> </a:t>
            </a:r>
          </a:p>
          <a:p>
            <a:pPr lvl="1"/>
            <a:r>
              <a:rPr lang="en-US" sz="2400" dirty="0" smtClean="0">
                <a:solidFill>
                  <a:srgbClr val="000000"/>
                </a:solidFill>
                <a:latin typeface="Tahoma" pitchFamily="34" charset="0"/>
                <a:ea typeface="Tahoma" pitchFamily="34" charset="0"/>
                <a:cs typeface="Tahoma" pitchFamily="34" charset="0"/>
              </a:rPr>
              <a:t>Uses long-distance transmission media</a:t>
            </a:r>
          </a:p>
          <a:p>
            <a:pPr lvl="1"/>
            <a:r>
              <a:rPr lang="en-US" sz="2400" dirty="0" smtClean="0">
                <a:solidFill>
                  <a:srgbClr val="000000"/>
                </a:solidFill>
                <a:latin typeface="Tahoma" pitchFamily="34" charset="0"/>
                <a:ea typeface="Tahoma" pitchFamily="34" charset="0"/>
                <a:cs typeface="Tahoma" pitchFamily="34" charset="0"/>
              </a:rPr>
              <a:t>Links computer systems a few miles or thousands of miles</a:t>
            </a:r>
          </a:p>
          <a:p>
            <a:pPr lvl="1"/>
            <a:r>
              <a:rPr lang="en-US" sz="2400" dirty="0" smtClean="0">
                <a:solidFill>
                  <a:srgbClr val="000000"/>
                </a:solidFill>
                <a:latin typeface="Tahoma" pitchFamily="34" charset="0"/>
                <a:ea typeface="Tahoma" pitchFamily="34" charset="0"/>
                <a:cs typeface="Tahoma" pitchFamily="34" charset="0"/>
              </a:rPr>
              <a:t>Internet is the largest WAN</a:t>
            </a:r>
          </a:p>
          <a:p>
            <a:r>
              <a:rPr lang="en-US" sz="3600" b="1" dirty="0" smtClean="0">
                <a:solidFill>
                  <a:srgbClr val="000000"/>
                </a:solidFill>
                <a:latin typeface="Tahoma" pitchFamily="34" charset="0"/>
                <a:ea typeface="Tahoma" pitchFamily="34" charset="0"/>
                <a:cs typeface="Tahoma" pitchFamily="34" charset="0"/>
              </a:rPr>
              <a:t>MAN</a:t>
            </a:r>
          </a:p>
          <a:p>
            <a:pPr lvl="1"/>
            <a:r>
              <a:rPr lang="en-US" sz="2400" dirty="0" smtClean="0">
                <a:solidFill>
                  <a:srgbClr val="000000"/>
                </a:solidFill>
                <a:latin typeface="Tahoma" pitchFamily="34" charset="0"/>
                <a:ea typeface="Tahoma" pitchFamily="34" charset="0"/>
                <a:cs typeface="Tahoma" pitchFamily="34" charset="0"/>
              </a:rPr>
              <a:t>Designed for a city</a:t>
            </a:r>
          </a:p>
          <a:p>
            <a:pPr lvl="1"/>
            <a:r>
              <a:rPr lang="en-US" sz="2400" dirty="0" smtClean="0">
                <a:solidFill>
                  <a:srgbClr val="000000"/>
                </a:solidFill>
                <a:latin typeface="Tahoma" pitchFamily="34" charset="0"/>
                <a:ea typeface="Tahoma" pitchFamily="34" charset="0"/>
                <a:cs typeface="Tahoma" pitchFamily="34" charset="0"/>
              </a:rPr>
              <a:t>Larger than a LAN, smaller than a WAN</a:t>
            </a:r>
          </a:p>
          <a:p>
            <a:pPr lvl="1"/>
            <a:endParaRPr lang="en-US" sz="1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8</a:t>
            </a:fld>
            <a:endParaRPr kumimoji="0" lang="en-US"/>
          </a:p>
        </p:txBody>
      </p:sp>
    </p:spTree>
    <p:extLst>
      <p:ext uri="{BB962C8B-B14F-4D97-AF65-F5344CB8AC3E}">
        <p14:creationId xmlns:p14="http://schemas.microsoft.com/office/powerpoint/2010/main" val="4119772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143000"/>
          </a:xfrm>
        </p:spPr>
        <p:txBody>
          <a:bodyPr/>
          <a:lstStyle/>
          <a:p>
            <a:pPr eaLnBrk="1" hangingPunct="1"/>
            <a:r>
              <a:rPr lang="en-US" dirty="0" smtClean="0"/>
              <a:t>Network Fundamentals</a:t>
            </a:r>
          </a:p>
        </p:txBody>
      </p:sp>
      <p:sp>
        <p:nvSpPr>
          <p:cNvPr id="110594" name="Content Placeholder 5"/>
          <p:cNvSpPr>
            <a:spLocks noGrp="1"/>
          </p:cNvSpPr>
          <p:nvPr>
            <p:ph idx="1"/>
          </p:nvPr>
        </p:nvSpPr>
        <p:spPr>
          <a:xfrm>
            <a:off x="762000" y="1371600"/>
            <a:ext cx="8382000" cy="4648200"/>
          </a:xfrm>
        </p:spPr>
        <p:txBody>
          <a:bodyPr>
            <a:normAutofit/>
          </a:bodyPr>
          <a:lstStyle/>
          <a:p>
            <a:r>
              <a:rPr lang="en-US" sz="3600" b="1" dirty="0">
                <a:solidFill>
                  <a:srgbClr val="000000"/>
                </a:solidFill>
                <a:latin typeface="Tahoma" pitchFamily="34" charset="0"/>
                <a:ea typeface="Tahoma" pitchFamily="34" charset="0"/>
                <a:cs typeface="Tahoma" pitchFamily="34" charset="0"/>
              </a:rPr>
              <a:t>C</a:t>
            </a:r>
            <a:r>
              <a:rPr lang="en-US" sz="3600" b="1" dirty="0" smtClean="0">
                <a:solidFill>
                  <a:srgbClr val="000000"/>
                </a:solidFill>
                <a:latin typeface="Tahoma" pitchFamily="34" charset="0"/>
                <a:ea typeface="Tahoma" pitchFamily="34" charset="0"/>
                <a:cs typeface="Tahoma" pitchFamily="34" charset="0"/>
              </a:rPr>
              <a:t>AN </a:t>
            </a:r>
          </a:p>
          <a:p>
            <a:pPr lvl="1"/>
            <a:r>
              <a:rPr lang="en-US" sz="2400" dirty="0" smtClean="0">
                <a:solidFill>
                  <a:srgbClr val="000000"/>
                </a:solidFill>
                <a:latin typeface="Tahoma" pitchFamily="34" charset="0"/>
                <a:ea typeface="Tahoma" pitchFamily="34" charset="0"/>
                <a:cs typeface="Tahoma" pitchFamily="34" charset="0"/>
              </a:rPr>
              <a:t>Several LANs located in various locations on a college or business campus</a:t>
            </a:r>
          </a:p>
          <a:p>
            <a:pPr lvl="1"/>
            <a:r>
              <a:rPr lang="en-US" sz="2400" dirty="0" smtClean="0">
                <a:solidFill>
                  <a:srgbClr val="000000"/>
                </a:solidFill>
                <a:latin typeface="Tahoma" pitchFamily="34" charset="0"/>
                <a:ea typeface="Tahoma" pitchFamily="34" charset="0"/>
                <a:cs typeface="Tahoma" pitchFamily="34" charset="0"/>
              </a:rPr>
              <a:t>Smaller than a WAN</a:t>
            </a:r>
          </a:p>
          <a:p>
            <a:pPr lvl="1"/>
            <a:r>
              <a:rPr lang="en-US" sz="2400" dirty="0" smtClean="0">
                <a:solidFill>
                  <a:srgbClr val="000000"/>
                </a:solidFill>
                <a:latin typeface="Tahoma" pitchFamily="34" charset="0"/>
                <a:ea typeface="Tahoma" pitchFamily="34" charset="0"/>
                <a:cs typeface="Tahoma" pitchFamily="34" charset="0"/>
              </a:rPr>
              <a:t>Use devices such as switches, hubs, and routers</a:t>
            </a:r>
          </a:p>
          <a:p>
            <a:r>
              <a:rPr lang="en-US" sz="3600" b="1" dirty="0" smtClean="0">
                <a:solidFill>
                  <a:srgbClr val="000000"/>
                </a:solidFill>
                <a:latin typeface="Tahoma" pitchFamily="34" charset="0"/>
                <a:ea typeface="Tahoma" pitchFamily="34" charset="0"/>
                <a:cs typeface="Tahoma" pitchFamily="34" charset="0"/>
              </a:rPr>
              <a:t>PAN</a:t>
            </a:r>
          </a:p>
          <a:p>
            <a:pPr lvl="1"/>
            <a:r>
              <a:rPr lang="en-US" sz="2400" dirty="0" smtClean="0">
                <a:solidFill>
                  <a:srgbClr val="000000"/>
                </a:solidFill>
                <a:latin typeface="Tahoma" pitchFamily="34" charset="0"/>
                <a:ea typeface="Tahoma" pitchFamily="34" charset="0"/>
                <a:cs typeface="Tahoma" pitchFamily="34" charset="0"/>
              </a:rPr>
              <a:t>Network of an individual’s own personal devices</a:t>
            </a:r>
          </a:p>
          <a:p>
            <a:pPr lvl="1"/>
            <a:r>
              <a:rPr lang="en-US" sz="2400" dirty="0" smtClean="0">
                <a:solidFill>
                  <a:srgbClr val="000000"/>
                </a:solidFill>
                <a:latin typeface="Tahoma" pitchFamily="34" charset="0"/>
                <a:ea typeface="Tahoma" pitchFamily="34" charset="0"/>
                <a:cs typeface="Tahoma" pitchFamily="34" charset="0"/>
              </a:rPr>
              <a:t>Usually within a range of 32 feet</a:t>
            </a:r>
          </a:p>
          <a:p>
            <a:pPr lvl="1"/>
            <a:r>
              <a:rPr lang="en-US" sz="2400" dirty="0" smtClean="0">
                <a:solidFill>
                  <a:srgbClr val="000000"/>
                </a:solidFill>
                <a:latin typeface="Tahoma" pitchFamily="34" charset="0"/>
                <a:ea typeface="Tahoma" pitchFamily="34" charset="0"/>
                <a:cs typeface="Tahoma" pitchFamily="34" charset="0"/>
              </a:rPr>
              <a:t>Usually use wireless technology</a:t>
            </a:r>
          </a:p>
          <a:p>
            <a:pPr lvl="1"/>
            <a:endParaRPr lang="en-US" sz="1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9</a:t>
            </a:fld>
            <a:endParaRPr kumimoji="0" lang="en-US"/>
          </a:p>
        </p:txBody>
      </p:sp>
    </p:spTree>
    <p:extLst>
      <p:ext uri="{BB962C8B-B14F-4D97-AF65-F5344CB8AC3E}">
        <p14:creationId xmlns:p14="http://schemas.microsoft.com/office/powerpoint/2010/main" val="14837382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a:xfrm>
            <a:off x="0" y="0"/>
            <a:ext cx="9144000" cy="1143000"/>
          </a:xfrm>
        </p:spPr>
        <p:txBody>
          <a:bodyPr/>
          <a:lstStyle/>
          <a:p>
            <a:pPr eaLnBrk="1" hangingPunct="1"/>
            <a:r>
              <a:rPr lang="en-US" dirty="0" smtClean="0"/>
              <a:t>Network Fundamentals</a:t>
            </a:r>
          </a:p>
        </p:txBody>
      </p:sp>
      <p:sp>
        <p:nvSpPr>
          <p:cNvPr id="114690" name="Content Placeholder 5"/>
          <p:cNvSpPr>
            <a:spLocks noGrp="1"/>
          </p:cNvSpPr>
          <p:nvPr>
            <p:ph sz="half" idx="4294967295"/>
          </p:nvPr>
        </p:nvSpPr>
        <p:spPr>
          <a:xfrm>
            <a:off x="762000" y="1295400"/>
            <a:ext cx="8382000" cy="4724400"/>
          </a:xfrm>
          <a:prstGeom prst="rect">
            <a:avLst/>
          </a:prstGeom>
        </p:spPr>
        <p:txBody>
          <a:bodyPr>
            <a:normAutofit/>
          </a:bodyPr>
          <a:lstStyle/>
          <a:p>
            <a:r>
              <a:rPr lang="en-US" sz="3600" b="1" dirty="0" smtClean="0">
                <a:solidFill>
                  <a:srgbClr val="000000"/>
                </a:solidFill>
                <a:latin typeface="Tahoma" pitchFamily="34" charset="0"/>
                <a:ea typeface="Tahoma" pitchFamily="34" charset="0"/>
                <a:cs typeface="Tahoma" pitchFamily="34" charset="0"/>
              </a:rPr>
              <a:t>Communication devices</a:t>
            </a:r>
          </a:p>
          <a:p>
            <a:pPr lvl="1"/>
            <a:r>
              <a:rPr lang="en-US" sz="2400" dirty="0" smtClean="0">
                <a:solidFill>
                  <a:srgbClr val="000000"/>
                </a:solidFill>
                <a:latin typeface="Tahoma" pitchFamily="34" charset="0"/>
                <a:ea typeface="Tahoma" pitchFamily="34" charset="0"/>
                <a:cs typeface="Tahoma" pitchFamily="34" charset="0"/>
              </a:rPr>
              <a:t>Convert data into signals to travel over a medium</a:t>
            </a:r>
            <a:endParaRPr lang="en-US" sz="2400" b="1" dirty="0" smtClean="0">
              <a:solidFill>
                <a:srgbClr val="000000"/>
              </a:solidFill>
              <a:latin typeface="Tahoma" pitchFamily="34" charset="0"/>
              <a:ea typeface="Tahoma" pitchFamily="34" charset="0"/>
              <a:cs typeface="Tahoma" pitchFamily="34" charset="0"/>
            </a:endParaRPr>
          </a:p>
          <a:p>
            <a:pPr lvl="2"/>
            <a:r>
              <a:rPr lang="en-US" sz="2400" dirty="0" smtClean="0">
                <a:solidFill>
                  <a:srgbClr val="000000"/>
                </a:solidFill>
                <a:latin typeface="Tahoma" pitchFamily="34" charset="0"/>
                <a:ea typeface="Tahoma" pitchFamily="34" charset="0"/>
                <a:cs typeface="Tahoma" pitchFamily="34" charset="0"/>
              </a:rPr>
              <a:t>Computers</a:t>
            </a:r>
          </a:p>
          <a:p>
            <a:pPr lvl="2"/>
            <a:r>
              <a:rPr lang="en-US" sz="2400" dirty="0" smtClean="0">
                <a:solidFill>
                  <a:srgbClr val="000000"/>
                </a:solidFill>
                <a:latin typeface="Tahoma" pitchFamily="34" charset="0"/>
                <a:ea typeface="Tahoma" pitchFamily="34" charset="0"/>
                <a:cs typeface="Tahoma" pitchFamily="34" charset="0"/>
              </a:rPr>
              <a:t>Modems</a:t>
            </a:r>
          </a:p>
          <a:p>
            <a:pPr lvl="2"/>
            <a:r>
              <a:rPr lang="en-US" sz="2400" dirty="0" smtClean="0">
                <a:solidFill>
                  <a:srgbClr val="000000"/>
                </a:solidFill>
                <a:latin typeface="Tahoma" pitchFamily="34" charset="0"/>
                <a:ea typeface="Tahoma" pitchFamily="34" charset="0"/>
                <a:cs typeface="Tahoma" pitchFamily="34" charset="0"/>
              </a:rPr>
              <a:t>Routers</a:t>
            </a:r>
          </a:p>
          <a:p>
            <a:pPr lvl="2"/>
            <a:r>
              <a:rPr lang="en-US" sz="2400" dirty="0" smtClean="0">
                <a:solidFill>
                  <a:srgbClr val="000000"/>
                </a:solidFill>
                <a:latin typeface="Tahoma" pitchFamily="34" charset="0"/>
                <a:ea typeface="Tahoma" pitchFamily="34" charset="0"/>
                <a:cs typeface="Tahoma" pitchFamily="34" charset="0"/>
              </a:rPr>
              <a:t>Switches</a:t>
            </a:r>
          </a:p>
          <a:p>
            <a:pPr lvl="2"/>
            <a:r>
              <a:rPr lang="en-US" sz="2400" dirty="0" smtClean="0">
                <a:solidFill>
                  <a:srgbClr val="000000"/>
                </a:solidFill>
                <a:latin typeface="Tahoma" pitchFamily="34" charset="0"/>
                <a:ea typeface="Tahoma" pitchFamily="34" charset="0"/>
                <a:cs typeface="Tahoma" pitchFamily="34" charset="0"/>
              </a:rPr>
              <a:t>Hubs</a:t>
            </a:r>
          </a:p>
          <a:p>
            <a:pPr lvl="2"/>
            <a:r>
              <a:rPr lang="en-US" sz="2400" dirty="0" smtClean="0">
                <a:solidFill>
                  <a:srgbClr val="000000"/>
                </a:solidFill>
                <a:latin typeface="Tahoma" pitchFamily="34" charset="0"/>
                <a:ea typeface="Tahoma" pitchFamily="34" charset="0"/>
                <a:cs typeface="Tahoma" pitchFamily="34" charset="0"/>
              </a:rPr>
              <a:t>Wireless access points</a:t>
            </a:r>
          </a:p>
          <a:p>
            <a:pPr lvl="2"/>
            <a:r>
              <a:rPr lang="en-US" sz="2400" dirty="0" smtClean="0">
                <a:solidFill>
                  <a:srgbClr val="000000"/>
                </a:solidFill>
                <a:latin typeface="Tahoma" pitchFamily="34" charset="0"/>
                <a:ea typeface="Tahoma" pitchFamily="34" charset="0"/>
                <a:cs typeface="Tahoma" pitchFamily="34" charset="0"/>
              </a:rPr>
              <a:t>Network interface cards (NICs)</a:t>
            </a:r>
          </a:p>
          <a:p>
            <a:pPr lvl="1"/>
            <a:endParaRPr lang="en-US" sz="1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10</a:t>
            </a:fld>
            <a:endParaRPr lang="en-US" dirty="0"/>
          </a:p>
        </p:txBody>
      </p:sp>
    </p:spTree>
    <p:extLst>
      <p:ext uri="{BB962C8B-B14F-4D97-AF65-F5344CB8AC3E}">
        <p14:creationId xmlns:p14="http://schemas.microsoft.com/office/powerpoint/2010/main" val="274756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0" y="-5862"/>
            <a:ext cx="9144000" cy="1072662"/>
          </a:xfrm>
        </p:spPr>
        <p:txBody>
          <a:bodyPr/>
          <a:lstStyle/>
          <a:p>
            <a:pPr eaLnBrk="1" hangingPunct="1"/>
            <a:r>
              <a:rPr lang="en-US" dirty="0" smtClean="0"/>
              <a:t>Network Fundamentals</a:t>
            </a:r>
          </a:p>
        </p:txBody>
      </p:sp>
      <p:sp>
        <p:nvSpPr>
          <p:cNvPr id="116738" name="Content Placeholder 8"/>
          <p:cNvSpPr>
            <a:spLocks noGrp="1"/>
          </p:cNvSpPr>
          <p:nvPr>
            <p:ph idx="1"/>
          </p:nvPr>
        </p:nvSpPr>
        <p:spPr>
          <a:xfrm>
            <a:off x="533400" y="1143000"/>
            <a:ext cx="8610600" cy="5181600"/>
          </a:xfrm>
        </p:spPr>
        <p:txBody>
          <a:bodyPr>
            <a:noAutofit/>
          </a:bodyPr>
          <a:lstStyle/>
          <a:p>
            <a:r>
              <a:rPr lang="en-US" sz="3200" b="1" dirty="0" smtClean="0">
                <a:solidFill>
                  <a:srgbClr val="000000"/>
                </a:solidFill>
                <a:latin typeface="Tahoma" pitchFamily="34" charset="0"/>
                <a:ea typeface="Tahoma" pitchFamily="34" charset="0"/>
                <a:cs typeface="Tahoma" pitchFamily="34" charset="0"/>
              </a:rPr>
              <a:t>Node</a:t>
            </a:r>
          </a:p>
          <a:p>
            <a:pPr lvl="1"/>
            <a:r>
              <a:rPr lang="en-US" sz="2200" dirty="0" smtClean="0">
                <a:solidFill>
                  <a:srgbClr val="000000"/>
                </a:solidFill>
                <a:latin typeface="Tahoma" pitchFamily="34" charset="0"/>
                <a:ea typeface="Tahoma" pitchFamily="34" charset="0"/>
                <a:cs typeface="Tahoma" pitchFamily="34" charset="0"/>
              </a:rPr>
              <a:t>Any device connected to a network</a:t>
            </a:r>
          </a:p>
          <a:p>
            <a:r>
              <a:rPr lang="en-US" sz="3200" b="1" dirty="0" smtClean="0">
                <a:solidFill>
                  <a:srgbClr val="000000"/>
                </a:solidFill>
                <a:latin typeface="Tahoma" pitchFamily="34" charset="0"/>
                <a:ea typeface="Tahoma" pitchFamily="34" charset="0"/>
                <a:cs typeface="Tahoma" pitchFamily="34" charset="0"/>
              </a:rPr>
              <a:t>Logical address</a:t>
            </a:r>
          </a:p>
          <a:p>
            <a:pPr lvl="1"/>
            <a:r>
              <a:rPr lang="en-US" sz="2200" dirty="0" smtClean="0">
                <a:solidFill>
                  <a:srgbClr val="000000"/>
                </a:solidFill>
                <a:latin typeface="Tahoma" pitchFamily="34" charset="0"/>
                <a:ea typeface="Tahoma" pitchFamily="34" charset="0"/>
                <a:cs typeface="Tahoma" pitchFamily="34" charset="0"/>
              </a:rPr>
              <a:t>Unique name assigned to each node on the network</a:t>
            </a:r>
          </a:p>
          <a:p>
            <a:r>
              <a:rPr lang="en-US" sz="3200" b="1" dirty="0" smtClean="0">
                <a:solidFill>
                  <a:srgbClr val="000000"/>
                </a:solidFill>
                <a:latin typeface="Tahoma" pitchFamily="34" charset="0"/>
                <a:ea typeface="Tahoma" pitchFamily="34" charset="0"/>
                <a:cs typeface="Tahoma" pitchFamily="34" charset="0"/>
              </a:rPr>
              <a:t>Physical address</a:t>
            </a:r>
          </a:p>
          <a:p>
            <a:pPr lvl="1"/>
            <a:r>
              <a:rPr lang="en-US" sz="2200" dirty="0">
                <a:solidFill>
                  <a:srgbClr val="000000"/>
                </a:solidFill>
                <a:latin typeface="Tahoma" pitchFamily="34" charset="0"/>
                <a:ea typeface="Tahoma" pitchFamily="34" charset="0"/>
                <a:cs typeface="Tahoma" pitchFamily="34" charset="0"/>
              </a:rPr>
              <a:t>U</a:t>
            </a:r>
            <a:r>
              <a:rPr lang="en-US" sz="2200" dirty="0" smtClean="0">
                <a:solidFill>
                  <a:srgbClr val="000000"/>
                </a:solidFill>
                <a:latin typeface="Tahoma" pitchFamily="34" charset="0"/>
                <a:ea typeface="Tahoma" pitchFamily="34" charset="0"/>
                <a:cs typeface="Tahoma" pitchFamily="34" charset="0"/>
              </a:rPr>
              <a:t>nique numeric that identifies each node on the network built into the hardware</a:t>
            </a:r>
          </a:p>
          <a:p>
            <a:r>
              <a:rPr lang="en-US" sz="3200" b="1" dirty="0" smtClean="0">
                <a:solidFill>
                  <a:srgbClr val="000000"/>
                </a:solidFill>
                <a:latin typeface="Tahoma" pitchFamily="34" charset="0"/>
                <a:ea typeface="Tahoma" pitchFamily="34" charset="0"/>
                <a:cs typeface="Tahoma" pitchFamily="34" charset="0"/>
              </a:rPr>
              <a:t>Network interface card (NIC)</a:t>
            </a:r>
          </a:p>
          <a:p>
            <a:pPr lvl="1"/>
            <a:r>
              <a:rPr lang="en-US" sz="2200" dirty="0" smtClean="0">
                <a:solidFill>
                  <a:srgbClr val="000000"/>
                </a:solidFill>
                <a:latin typeface="Tahoma" pitchFamily="34" charset="0"/>
                <a:ea typeface="Tahoma" pitchFamily="34" charset="0"/>
                <a:cs typeface="Tahoma" pitchFamily="34" charset="0"/>
              </a:rPr>
              <a:t>Expansion board or adapter that provides a connection between the computer and the network</a:t>
            </a:r>
          </a:p>
          <a:p>
            <a:pPr lvl="1"/>
            <a:r>
              <a:rPr lang="en-US" sz="2200" dirty="0" smtClean="0">
                <a:solidFill>
                  <a:srgbClr val="000000"/>
                </a:solidFill>
                <a:latin typeface="Tahoma" pitchFamily="34" charset="0"/>
                <a:ea typeface="Tahoma" pitchFamily="34" charset="0"/>
                <a:cs typeface="Tahoma" pitchFamily="34" charset="0"/>
              </a:rPr>
              <a:t>Notebook computers have wireless NICs</a:t>
            </a:r>
            <a:endParaRPr lang="en-US" sz="2200" b="1"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11</a:t>
            </a:fld>
            <a:endParaRPr kumimoji="0" lang="en-US"/>
          </a:p>
        </p:txBody>
      </p:sp>
    </p:spTree>
    <p:extLst>
      <p:ext uri="{BB962C8B-B14F-4D97-AF65-F5344CB8AC3E}">
        <p14:creationId xmlns:p14="http://schemas.microsoft.com/office/powerpoint/2010/main" val="4770043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pPr eaLnBrk="1" hangingPunct="1"/>
            <a:r>
              <a:rPr lang="en-US" dirty="0" smtClean="0"/>
              <a:t>Network Fundamentals</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219200" y="1676400"/>
            <a:ext cx="6934200" cy="4702579"/>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12</a:t>
            </a:fld>
            <a:endParaRPr kumimoji="0" lang="en-US"/>
          </a:p>
        </p:txBody>
      </p:sp>
    </p:spTree>
    <p:extLst>
      <p:ext uri="{BB962C8B-B14F-4D97-AF65-F5344CB8AC3E}">
        <p14:creationId xmlns:p14="http://schemas.microsoft.com/office/powerpoint/2010/main" val="3009196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0" y="0"/>
            <a:ext cx="9144000" cy="1066800"/>
          </a:xfrm>
        </p:spPr>
        <p:txBody>
          <a:bodyPr/>
          <a:lstStyle/>
          <a:p>
            <a:pPr eaLnBrk="1" hangingPunct="1"/>
            <a:r>
              <a:rPr lang="en-US" dirty="0" smtClean="0"/>
              <a:t>Network Fundamentals</a:t>
            </a:r>
          </a:p>
        </p:txBody>
      </p:sp>
      <p:sp>
        <p:nvSpPr>
          <p:cNvPr id="118786" name="Content Placeholder 8"/>
          <p:cNvSpPr>
            <a:spLocks noGrp="1"/>
          </p:cNvSpPr>
          <p:nvPr>
            <p:ph idx="1"/>
          </p:nvPr>
        </p:nvSpPr>
        <p:spPr>
          <a:xfrm>
            <a:off x="762000" y="1295400"/>
            <a:ext cx="8382000" cy="4953000"/>
          </a:xfrm>
        </p:spPr>
        <p:txBody>
          <a:bodyPr>
            <a:normAutofit fontScale="92500" lnSpcReduction="10000"/>
          </a:bodyPr>
          <a:lstStyle/>
          <a:p>
            <a:r>
              <a:rPr lang="en-US" sz="3600" b="1" dirty="0" smtClean="0">
                <a:solidFill>
                  <a:srgbClr val="000000"/>
                </a:solidFill>
                <a:latin typeface="Tahoma" pitchFamily="34" charset="0"/>
                <a:ea typeface="Tahoma" pitchFamily="34" charset="0"/>
                <a:cs typeface="Tahoma" pitchFamily="34" charset="0"/>
              </a:rPr>
              <a:t>USB wireless network adapter</a:t>
            </a:r>
          </a:p>
          <a:p>
            <a:pPr lvl="1"/>
            <a:r>
              <a:rPr lang="en-US" sz="2000" dirty="0" smtClean="0">
                <a:solidFill>
                  <a:srgbClr val="000000"/>
                </a:solidFill>
                <a:latin typeface="Tahoma" pitchFamily="34" charset="0"/>
                <a:ea typeface="Tahoma" pitchFamily="34" charset="0"/>
                <a:cs typeface="Tahoma" pitchFamily="34" charset="0"/>
              </a:rPr>
              <a:t>Plugs into a USB port</a:t>
            </a:r>
          </a:p>
          <a:p>
            <a:pPr lvl="1"/>
            <a:r>
              <a:rPr lang="en-US" sz="2000" dirty="0" smtClean="0">
                <a:solidFill>
                  <a:srgbClr val="000000"/>
                </a:solidFill>
                <a:latin typeface="Tahoma" pitchFamily="34" charset="0"/>
                <a:ea typeface="Tahoma" pitchFamily="34" charset="0"/>
                <a:cs typeface="Tahoma" pitchFamily="34" charset="0"/>
              </a:rPr>
              <a:t>Usually provides an intuitive graphical user interface (GUI) for easy configuration</a:t>
            </a:r>
          </a:p>
          <a:p>
            <a:r>
              <a:rPr lang="en-US" sz="3600" b="1" dirty="0" smtClean="0">
                <a:solidFill>
                  <a:srgbClr val="000000"/>
                </a:solidFill>
                <a:latin typeface="Tahoma" pitchFamily="34" charset="0"/>
                <a:ea typeface="Tahoma" pitchFamily="34" charset="0"/>
                <a:cs typeface="Tahoma" pitchFamily="34" charset="0"/>
              </a:rPr>
              <a:t>USB dongle</a:t>
            </a:r>
            <a:endParaRPr lang="en-US" sz="3600" dirty="0" smtClean="0">
              <a:solidFill>
                <a:srgbClr val="000000"/>
              </a:solidFill>
              <a:latin typeface="Tahoma" pitchFamily="34" charset="0"/>
              <a:ea typeface="Tahoma" pitchFamily="34" charset="0"/>
              <a:cs typeface="Tahoma" pitchFamily="34" charset="0"/>
            </a:endParaRPr>
          </a:p>
          <a:p>
            <a:pPr lvl="1"/>
            <a:r>
              <a:rPr lang="en-US" sz="2000" dirty="0">
                <a:solidFill>
                  <a:srgbClr val="000000"/>
                </a:solidFill>
                <a:latin typeface="Tahoma" pitchFamily="34" charset="0"/>
                <a:ea typeface="Tahoma" pitchFamily="34" charset="0"/>
                <a:cs typeface="Tahoma" pitchFamily="34" charset="0"/>
              </a:rPr>
              <a:t>D</a:t>
            </a:r>
            <a:r>
              <a:rPr lang="en-US" sz="2000" dirty="0" smtClean="0">
                <a:solidFill>
                  <a:srgbClr val="000000"/>
                </a:solidFill>
                <a:latin typeface="Tahoma" pitchFamily="34" charset="0"/>
                <a:ea typeface="Tahoma" pitchFamily="34" charset="0"/>
                <a:cs typeface="Tahoma" pitchFamily="34" charset="0"/>
              </a:rPr>
              <a:t>evice inserted into a USB port that adds additional features to the base system</a:t>
            </a:r>
          </a:p>
          <a:p>
            <a:pPr lvl="1"/>
            <a:r>
              <a:rPr lang="en-US" sz="2000" dirty="0" smtClean="0">
                <a:solidFill>
                  <a:srgbClr val="000000"/>
                </a:solidFill>
                <a:latin typeface="Tahoma" pitchFamily="34" charset="0"/>
                <a:ea typeface="Tahoma" pitchFamily="34" charset="0"/>
                <a:cs typeface="Tahoma" pitchFamily="34" charset="0"/>
              </a:rPr>
              <a:t>Examples: enabling network connectivity and increasing RAM </a:t>
            </a:r>
          </a:p>
          <a:p>
            <a:r>
              <a:rPr lang="en-US" sz="3600" b="1" dirty="0" smtClean="0">
                <a:solidFill>
                  <a:srgbClr val="000000"/>
                </a:solidFill>
                <a:latin typeface="Tahoma" pitchFamily="34" charset="0"/>
                <a:ea typeface="Tahoma" pitchFamily="34" charset="0"/>
                <a:cs typeface="Tahoma" pitchFamily="34" charset="0"/>
              </a:rPr>
              <a:t>Wireless PC card adapter</a:t>
            </a:r>
          </a:p>
          <a:p>
            <a:pPr lvl="1"/>
            <a:r>
              <a:rPr lang="en-US" sz="2000" dirty="0" smtClean="0">
                <a:solidFill>
                  <a:srgbClr val="000000"/>
                </a:solidFill>
                <a:latin typeface="Tahoma" pitchFamily="34" charset="0"/>
                <a:ea typeface="Tahoma" pitchFamily="34" charset="0"/>
                <a:cs typeface="Tahoma" pitchFamily="34" charset="0"/>
              </a:rPr>
              <a:t>About the size of a credit card</a:t>
            </a:r>
          </a:p>
          <a:p>
            <a:pPr lvl="1"/>
            <a:r>
              <a:rPr lang="en-US" sz="2000" dirty="0" smtClean="0">
                <a:solidFill>
                  <a:srgbClr val="000000"/>
                </a:solidFill>
                <a:latin typeface="Tahoma" pitchFamily="34" charset="0"/>
                <a:ea typeface="Tahoma" pitchFamily="34" charset="0"/>
                <a:cs typeface="Tahoma" pitchFamily="34" charset="0"/>
              </a:rPr>
              <a:t>Inserted into a slot on the side of most notebooks and netbooks</a:t>
            </a:r>
          </a:p>
          <a:p>
            <a:pPr lvl="1"/>
            <a:r>
              <a:rPr lang="en-US" sz="2000" dirty="0" smtClean="0">
                <a:solidFill>
                  <a:srgbClr val="000000"/>
                </a:solidFill>
                <a:latin typeface="Tahoma" pitchFamily="34" charset="0"/>
                <a:ea typeface="Tahoma" pitchFamily="34" charset="0"/>
                <a:cs typeface="Tahoma" pitchFamily="34" charset="0"/>
              </a:rPr>
              <a:t>Has built-in </a:t>
            </a:r>
            <a:r>
              <a:rPr lang="en-US" sz="2000" dirty="0" err="1" smtClean="0">
                <a:solidFill>
                  <a:srgbClr val="000000"/>
                </a:solidFill>
                <a:latin typeface="Tahoma" pitchFamily="34" charset="0"/>
                <a:ea typeface="Tahoma" pitchFamily="34" charset="0"/>
                <a:cs typeface="Tahoma" pitchFamily="34" charset="0"/>
              </a:rPr>
              <a:t>WiFi</a:t>
            </a:r>
            <a:r>
              <a:rPr lang="en-US" sz="2000" dirty="0" smtClean="0">
                <a:solidFill>
                  <a:srgbClr val="000000"/>
                </a:solidFill>
                <a:latin typeface="Tahoma" pitchFamily="34" charset="0"/>
                <a:ea typeface="Tahoma" pitchFamily="34" charset="0"/>
                <a:cs typeface="Tahoma" pitchFamily="34" charset="0"/>
              </a:rPr>
              <a:t> antenna that provides wireless capability</a:t>
            </a:r>
          </a:p>
          <a:p>
            <a:pPr lvl="1"/>
            <a:r>
              <a:rPr lang="en-US" sz="2000" dirty="0" smtClean="0">
                <a:solidFill>
                  <a:srgbClr val="000000"/>
                </a:solidFill>
                <a:latin typeface="Tahoma" pitchFamily="34" charset="0"/>
                <a:ea typeface="Tahoma" pitchFamily="34" charset="0"/>
                <a:cs typeface="Tahoma" pitchFamily="34" charset="0"/>
              </a:rPr>
              <a:t>LED lights that indicate whether the computer is connected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13</a:t>
            </a:fld>
            <a:endParaRPr kumimoji="0" lang="en-US"/>
          </a:p>
        </p:txBody>
      </p:sp>
    </p:spTree>
    <p:extLst>
      <p:ext uri="{BB962C8B-B14F-4D97-AF65-F5344CB8AC3E}">
        <p14:creationId xmlns:p14="http://schemas.microsoft.com/office/powerpoint/2010/main" val="15639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990600"/>
          </a:xfrm>
        </p:spPr>
        <p:txBody>
          <a:bodyPr/>
          <a:lstStyle/>
          <a:p>
            <a:pPr eaLnBrk="1" hangingPunct="1"/>
            <a:r>
              <a:rPr lang="en-US" dirty="0" smtClean="0"/>
              <a:t>Network Fundamentals</a:t>
            </a:r>
          </a:p>
        </p:txBody>
      </p:sp>
      <p:sp>
        <p:nvSpPr>
          <p:cNvPr id="110594" name="Content Placeholder 5"/>
          <p:cNvSpPr>
            <a:spLocks noGrp="1"/>
          </p:cNvSpPr>
          <p:nvPr>
            <p:ph idx="1"/>
          </p:nvPr>
        </p:nvSpPr>
        <p:spPr>
          <a:xfrm>
            <a:off x="762000" y="1219200"/>
            <a:ext cx="8382000" cy="4800600"/>
          </a:xfrm>
        </p:spPr>
        <p:txBody>
          <a:bodyPr>
            <a:normAutofit lnSpcReduction="10000"/>
          </a:bodyPr>
          <a:lstStyle/>
          <a:p>
            <a:r>
              <a:rPr lang="en-US" sz="3600" b="1" dirty="0" smtClean="0">
                <a:solidFill>
                  <a:srgbClr val="000000"/>
                </a:solidFill>
                <a:latin typeface="Tahoma" pitchFamily="34" charset="0"/>
                <a:ea typeface="Tahoma" pitchFamily="34" charset="0"/>
                <a:cs typeface="Tahoma" pitchFamily="34" charset="0"/>
              </a:rPr>
              <a:t>Hub</a:t>
            </a:r>
          </a:p>
          <a:p>
            <a:pPr lvl="1"/>
            <a:r>
              <a:rPr lang="en-US" sz="2400" dirty="0" smtClean="0">
                <a:solidFill>
                  <a:srgbClr val="000000"/>
                </a:solidFill>
                <a:latin typeface="Tahoma" pitchFamily="34" charset="0"/>
                <a:ea typeface="Tahoma" pitchFamily="34" charset="0"/>
                <a:cs typeface="Tahoma" pitchFamily="34" charset="0"/>
              </a:rPr>
              <a:t>Joins multiple computers together in a single network</a:t>
            </a:r>
          </a:p>
          <a:p>
            <a:pPr lvl="1"/>
            <a:r>
              <a:rPr lang="en-US" sz="2400" dirty="0" smtClean="0">
                <a:solidFill>
                  <a:srgbClr val="000000"/>
                </a:solidFill>
                <a:latin typeface="Tahoma" pitchFamily="34" charset="0"/>
                <a:ea typeface="Tahoma" pitchFamily="34" charset="0"/>
                <a:cs typeface="Tahoma" pitchFamily="34" charset="0"/>
              </a:rPr>
              <a:t>Does not manage traffic between the connections</a:t>
            </a:r>
          </a:p>
          <a:p>
            <a:r>
              <a:rPr lang="en-US" sz="3600" b="1" dirty="0" smtClean="0">
                <a:solidFill>
                  <a:srgbClr val="000000"/>
                </a:solidFill>
                <a:latin typeface="Tahoma" pitchFamily="34" charset="0"/>
                <a:ea typeface="Tahoma" pitchFamily="34" charset="0"/>
                <a:cs typeface="Tahoma" pitchFamily="34" charset="0"/>
              </a:rPr>
              <a:t>Switches</a:t>
            </a:r>
            <a:r>
              <a:rPr lang="en-US" sz="3600" dirty="0" smtClean="0">
                <a:solidFill>
                  <a:srgbClr val="000000"/>
                </a:solidFill>
                <a:latin typeface="Tahoma" pitchFamily="34" charset="0"/>
                <a:ea typeface="Tahoma" pitchFamily="34" charset="0"/>
                <a:cs typeface="Tahoma" pitchFamily="34" charset="0"/>
              </a:rPr>
              <a:t> </a:t>
            </a:r>
            <a:endParaRPr lang="en-US" sz="3600" dirty="0">
              <a:solidFill>
                <a:srgbClr val="000000"/>
              </a:solidFill>
              <a:latin typeface="Tahoma" pitchFamily="34" charset="0"/>
              <a:ea typeface="Tahoma" pitchFamily="34" charset="0"/>
              <a:cs typeface="Tahoma" pitchFamily="34" charset="0"/>
            </a:endParaRPr>
          </a:p>
          <a:p>
            <a:pPr lvl="1"/>
            <a:r>
              <a:rPr lang="en-US" sz="2400" dirty="0">
                <a:solidFill>
                  <a:srgbClr val="000000"/>
                </a:solidFill>
                <a:latin typeface="Tahoma" pitchFamily="34" charset="0"/>
                <a:ea typeface="Tahoma" pitchFamily="34" charset="0"/>
                <a:cs typeface="Tahoma" pitchFamily="34" charset="0"/>
              </a:rPr>
              <a:t>Filter and forward data between nodes</a:t>
            </a:r>
          </a:p>
          <a:p>
            <a:pPr lvl="1"/>
            <a:r>
              <a:rPr lang="en-US" sz="2400" dirty="0">
                <a:solidFill>
                  <a:srgbClr val="000000"/>
                </a:solidFill>
                <a:latin typeface="Tahoma" pitchFamily="34" charset="0"/>
                <a:ea typeface="Tahoma" pitchFamily="34" charset="0"/>
                <a:cs typeface="Tahoma" pitchFamily="34" charset="0"/>
              </a:rPr>
              <a:t>Are similar to routers but work within a single network</a:t>
            </a:r>
          </a:p>
          <a:p>
            <a:r>
              <a:rPr lang="en-US" sz="3600" b="1" dirty="0" smtClean="0">
                <a:solidFill>
                  <a:srgbClr val="000000"/>
                </a:solidFill>
                <a:latin typeface="Tahoma" pitchFamily="34" charset="0"/>
                <a:ea typeface="Tahoma" pitchFamily="34" charset="0"/>
                <a:cs typeface="Tahoma" pitchFamily="34" charset="0"/>
              </a:rPr>
              <a:t>Routers</a:t>
            </a:r>
            <a:r>
              <a:rPr lang="en-US" sz="2800" dirty="0" smtClean="0">
                <a:solidFill>
                  <a:srgbClr val="000000"/>
                </a:solidFill>
                <a:latin typeface="Tahoma" pitchFamily="34" charset="0"/>
                <a:ea typeface="Tahoma" pitchFamily="34" charset="0"/>
                <a:cs typeface="Tahoma" pitchFamily="34" charset="0"/>
              </a:rPr>
              <a:t> </a:t>
            </a:r>
            <a:endParaRPr lang="en-US" sz="2800" dirty="0">
              <a:solidFill>
                <a:srgbClr val="000000"/>
              </a:solidFill>
              <a:latin typeface="Tahoma" pitchFamily="34" charset="0"/>
              <a:ea typeface="Tahoma" pitchFamily="34" charset="0"/>
              <a:cs typeface="Tahoma" pitchFamily="34" charset="0"/>
            </a:endParaRPr>
          </a:p>
          <a:p>
            <a:pPr lvl="1"/>
            <a:r>
              <a:rPr lang="en-US" sz="2400" dirty="0">
                <a:solidFill>
                  <a:srgbClr val="000000"/>
                </a:solidFill>
                <a:latin typeface="Tahoma" pitchFamily="34" charset="0"/>
                <a:ea typeface="Tahoma" pitchFamily="34" charset="0"/>
                <a:cs typeface="Tahoma" pitchFamily="34" charset="0"/>
              </a:rPr>
              <a:t>Connect two or more </a:t>
            </a:r>
            <a:r>
              <a:rPr lang="en-US" sz="2400" dirty="0" smtClean="0">
                <a:solidFill>
                  <a:srgbClr val="000000"/>
                </a:solidFill>
                <a:latin typeface="Tahoma" pitchFamily="34" charset="0"/>
                <a:ea typeface="Tahoma" pitchFamily="34" charset="0"/>
                <a:cs typeface="Tahoma" pitchFamily="34" charset="0"/>
              </a:rPr>
              <a:t>networks</a:t>
            </a:r>
          </a:p>
          <a:p>
            <a:pPr lvl="1"/>
            <a:r>
              <a:rPr lang="en-US" sz="2400" dirty="0" smtClean="0">
                <a:solidFill>
                  <a:srgbClr val="000000"/>
                </a:solidFill>
                <a:latin typeface="Tahoma" pitchFamily="34" charset="0"/>
                <a:ea typeface="Tahoma" pitchFamily="34" charset="0"/>
                <a:cs typeface="Tahoma" pitchFamily="34" charset="0"/>
              </a:rPr>
              <a:t>Inspect the source and target of a data package</a:t>
            </a:r>
            <a:endParaRPr lang="en-US" sz="2400" dirty="0">
              <a:solidFill>
                <a:srgbClr val="000000"/>
              </a:solidFill>
              <a:latin typeface="Tahoma" pitchFamily="34" charset="0"/>
              <a:ea typeface="Tahoma" pitchFamily="34" charset="0"/>
              <a:cs typeface="Tahoma" pitchFamily="34" charset="0"/>
            </a:endParaRPr>
          </a:p>
          <a:p>
            <a:pPr lvl="1"/>
            <a:r>
              <a:rPr lang="en-US" sz="2400" dirty="0">
                <a:solidFill>
                  <a:srgbClr val="000000"/>
                </a:solidFill>
                <a:latin typeface="Tahoma" pitchFamily="34" charset="0"/>
                <a:ea typeface="Tahoma" pitchFamily="34" charset="0"/>
                <a:cs typeface="Tahoma" pitchFamily="34" charset="0"/>
              </a:rPr>
              <a:t>Determine the best route to transmit data</a:t>
            </a:r>
          </a:p>
          <a:p>
            <a:pPr lvl="1"/>
            <a:endParaRPr lang="en-US" sz="1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14</a:t>
            </a:fld>
            <a:endParaRPr kumimoji="0" lang="en-US"/>
          </a:p>
        </p:txBody>
      </p:sp>
    </p:spTree>
    <p:extLst>
      <p:ext uri="{BB962C8B-B14F-4D97-AF65-F5344CB8AC3E}">
        <p14:creationId xmlns:p14="http://schemas.microsoft.com/office/powerpoint/2010/main" val="3009196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0" y="0"/>
            <a:ext cx="9144000" cy="1066800"/>
          </a:xfrm>
        </p:spPr>
        <p:txBody>
          <a:bodyPr/>
          <a:lstStyle/>
          <a:p>
            <a:pPr eaLnBrk="1" hangingPunct="1"/>
            <a:r>
              <a:rPr lang="en-US" dirty="0" smtClean="0"/>
              <a:t>Network Fundamentals</a:t>
            </a:r>
          </a:p>
        </p:txBody>
      </p:sp>
      <p:sp>
        <p:nvSpPr>
          <p:cNvPr id="6" name="Content Placeholder 5"/>
          <p:cNvSpPr>
            <a:spLocks noGrp="1"/>
          </p:cNvSpPr>
          <p:nvPr>
            <p:ph sz="half" idx="2"/>
          </p:nvPr>
        </p:nvSpPr>
        <p:spPr>
          <a:xfrm>
            <a:off x="4419600" y="1676400"/>
            <a:ext cx="4724400" cy="4343400"/>
          </a:xfrm>
        </p:spPr>
        <p:txBody>
          <a:bodyPr>
            <a:normAutofit/>
          </a:bodyPr>
          <a:lstStyle/>
          <a:p>
            <a:r>
              <a:rPr lang="en-US" sz="3200" b="1" dirty="0" smtClean="0">
                <a:solidFill>
                  <a:srgbClr val="000000"/>
                </a:solidFill>
                <a:latin typeface="Tahoma" pitchFamily="34" charset="0"/>
                <a:ea typeface="Tahoma" pitchFamily="34" charset="0"/>
                <a:cs typeface="Tahoma" pitchFamily="34" charset="0"/>
              </a:rPr>
              <a:t>Wireless access point (WAP)</a:t>
            </a:r>
          </a:p>
          <a:p>
            <a:pPr lvl="1"/>
            <a:r>
              <a:rPr lang="en-US" sz="2400" dirty="0" smtClean="0">
                <a:solidFill>
                  <a:srgbClr val="000000"/>
                </a:solidFill>
                <a:latin typeface="Tahoma" pitchFamily="34" charset="0"/>
                <a:ea typeface="Tahoma" pitchFamily="34" charset="0"/>
                <a:cs typeface="Tahoma" pitchFamily="34" charset="0"/>
              </a:rPr>
              <a:t>Receives and transmits radio signals</a:t>
            </a:r>
          </a:p>
          <a:p>
            <a:pPr lvl="1"/>
            <a:r>
              <a:rPr lang="en-US" sz="2400" dirty="0" smtClean="0">
                <a:solidFill>
                  <a:srgbClr val="000000"/>
                </a:solidFill>
                <a:latin typeface="Tahoma" pitchFamily="34" charset="0"/>
                <a:ea typeface="Tahoma" pitchFamily="34" charset="0"/>
                <a:cs typeface="Tahoma" pitchFamily="34" charset="0"/>
              </a:rPr>
              <a:t>Joins wireless nodes to a wired network</a:t>
            </a:r>
          </a:p>
          <a:p>
            <a:endParaRPr lang="en-US" sz="1800" dirty="0">
              <a:solidFill>
                <a:srgbClr val="000000"/>
              </a:solidFill>
              <a:latin typeface="Tahoma" pitchFamily="34" charset="0"/>
              <a:ea typeface="Tahoma" pitchFamily="34" charset="0"/>
              <a:cs typeface="Tahoma" pitchFamily="34" charset="0"/>
            </a:endParaRPr>
          </a:p>
        </p:txBody>
      </p:sp>
      <p:pic>
        <p:nvPicPr>
          <p:cNvPr id="4098" name="Picture 2"/>
          <p:cNvPicPr>
            <a:picLocks noChangeAspect="1" noChangeArrowheads="1"/>
          </p:cNvPicPr>
          <p:nvPr/>
        </p:nvPicPr>
        <p:blipFill>
          <a:blip r:embed="rId3" cstate="print"/>
          <a:srcRect/>
          <a:stretch>
            <a:fillRect/>
          </a:stretch>
        </p:blipFill>
        <p:spPr bwMode="auto">
          <a:xfrm>
            <a:off x="990600" y="1981200"/>
            <a:ext cx="3301499" cy="3478213"/>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15</a:t>
            </a:fld>
            <a:endParaRPr lang="en-US" dirty="0"/>
          </a:p>
        </p:txBody>
      </p:sp>
    </p:spTree>
    <p:extLst>
      <p:ext uri="{BB962C8B-B14F-4D97-AF65-F5344CB8AC3E}">
        <p14:creationId xmlns:p14="http://schemas.microsoft.com/office/powerpoint/2010/main" val="22822365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0" y="0"/>
            <a:ext cx="9144000" cy="1066800"/>
          </a:xfrm>
        </p:spPr>
        <p:txBody>
          <a:bodyPr/>
          <a:lstStyle/>
          <a:p>
            <a:pPr eaLnBrk="1" hangingPunct="1"/>
            <a:r>
              <a:rPr lang="en-US" dirty="0" smtClean="0"/>
              <a:t>Network Fundamentals</a:t>
            </a:r>
          </a:p>
        </p:txBody>
      </p:sp>
      <p:sp>
        <p:nvSpPr>
          <p:cNvPr id="120834" name="Content Placeholder 5"/>
          <p:cNvSpPr>
            <a:spLocks noGrp="1"/>
          </p:cNvSpPr>
          <p:nvPr>
            <p:ph idx="1"/>
          </p:nvPr>
        </p:nvSpPr>
        <p:spPr>
          <a:xfrm>
            <a:off x="762000" y="1219200"/>
            <a:ext cx="8382000" cy="5105400"/>
          </a:xfrm>
        </p:spPr>
        <p:txBody>
          <a:bodyPr>
            <a:normAutofit fontScale="92500" lnSpcReduction="10000"/>
          </a:bodyPr>
          <a:lstStyle/>
          <a:p>
            <a:pPr>
              <a:spcBef>
                <a:spcPct val="0"/>
              </a:spcBef>
            </a:pPr>
            <a:r>
              <a:rPr lang="en-US" sz="3900" b="1" dirty="0" smtClean="0">
                <a:solidFill>
                  <a:srgbClr val="000000"/>
                </a:solidFill>
                <a:latin typeface="Tahoma" pitchFamily="34" charset="0"/>
                <a:ea typeface="Tahoma" pitchFamily="34" charset="0"/>
                <a:cs typeface="Tahoma" pitchFamily="34" charset="0"/>
              </a:rPr>
              <a:t>Server</a:t>
            </a:r>
          </a:p>
          <a:p>
            <a:pPr lvl="1">
              <a:spcBef>
                <a:spcPct val="0"/>
              </a:spcBef>
            </a:pPr>
            <a:r>
              <a:rPr lang="en-US" sz="2400" dirty="0" smtClean="0">
                <a:solidFill>
                  <a:srgbClr val="000000"/>
                </a:solidFill>
                <a:latin typeface="Tahoma" pitchFamily="34" charset="0"/>
                <a:ea typeface="Tahoma" pitchFamily="34" charset="0"/>
                <a:cs typeface="Tahoma" pitchFamily="34" charset="0"/>
              </a:rPr>
              <a:t>Computer or device with software that manages network resources, such as files, e-mails, printers, databases</a:t>
            </a:r>
          </a:p>
          <a:p>
            <a:pPr>
              <a:spcBef>
                <a:spcPct val="0"/>
              </a:spcBef>
            </a:pPr>
            <a:r>
              <a:rPr lang="en-US" sz="3900" b="1" dirty="0" smtClean="0">
                <a:solidFill>
                  <a:srgbClr val="000000"/>
                </a:solidFill>
                <a:latin typeface="Tahoma" pitchFamily="34" charset="0"/>
                <a:ea typeface="Tahoma" pitchFamily="34" charset="0"/>
                <a:cs typeface="Tahoma" pitchFamily="34" charset="0"/>
              </a:rPr>
              <a:t>File server</a:t>
            </a:r>
          </a:p>
          <a:p>
            <a:pPr lvl="1">
              <a:spcBef>
                <a:spcPct val="0"/>
              </a:spcBef>
            </a:pPr>
            <a:r>
              <a:rPr lang="en-US" sz="2400" dirty="0" smtClean="0">
                <a:solidFill>
                  <a:srgbClr val="000000"/>
                </a:solidFill>
                <a:latin typeface="Tahoma" pitchFamily="34" charset="0"/>
                <a:ea typeface="Tahoma" pitchFamily="34" charset="0"/>
                <a:cs typeface="Tahoma" pitchFamily="34" charset="0"/>
              </a:rPr>
              <a:t>Most common type of server</a:t>
            </a:r>
          </a:p>
          <a:p>
            <a:pPr lvl="1">
              <a:spcBef>
                <a:spcPct val="0"/>
              </a:spcBef>
            </a:pPr>
            <a:r>
              <a:rPr lang="en-US" sz="2400" dirty="0" smtClean="0">
                <a:solidFill>
                  <a:srgbClr val="000000"/>
                </a:solidFill>
                <a:latin typeface="Tahoma" pitchFamily="34" charset="0"/>
                <a:ea typeface="Tahoma" pitchFamily="34" charset="0"/>
                <a:cs typeface="Tahoma" pitchFamily="34" charset="0"/>
              </a:rPr>
              <a:t>High-speed computer that provides program and data files to network users</a:t>
            </a:r>
          </a:p>
          <a:p>
            <a:pPr lvl="1">
              <a:spcBef>
                <a:spcPct val="0"/>
              </a:spcBef>
            </a:pPr>
            <a:r>
              <a:rPr lang="en-US" sz="2400" dirty="0" smtClean="0">
                <a:solidFill>
                  <a:srgbClr val="000000"/>
                </a:solidFill>
                <a:latin typeface="Tahoma" pitchFamily="34" charset="0"/>
                <a:ea typeface="Tahoma" pitchFamily="34" charset="0"/>
                <a:cs typeface="Tahoma" pitchFamily="34" charset="0"/>
              </a:rPr>
              <a:t>Contains the </a:t>
            </a:r>
            <a:r>
              <a:rPr lang="en-US" sz="2400" b="1" dirty="0" smtClean="0">
                <a:solidFill>
                  <a:srgbClr val="000000"/>
                </a:solidFill>
                <a:latin typeface="Tahoma" pitchFamily="34" charset="0"/>
                <a:ea typeface="Tahoma" pitchFamily="34" charset="0"/>
                <a:cs typeface="Tahoma" pitchFamily="34" charset="0"/>
              </a:rPr>
              <a:t>network operating system (NOS)</a:t>
            </a:r>
            <a:endParaRPr lang="en-US" sz="2400" dirty="0" smtClean="0">
              <a:solidFill>
                <a:srgbClr val="000000"/>
              </a:solidFill>
              <a:latin typeface="Tahoma" pitchFamily="34" charset="0"/>
              <a:ea typeface="Tahoma" pitchFamily="34" charset="0"/>
              <a:cs typeface="Tahoma" pitchFamily="34" charset="0"/>
            </a:endParaRPr>
          </a:p>
          <a:p>
            <a:pPr lvl="2">
              <a:spcBef>
                <a:spcPct val="0"/>
              </a:spcBef>
            </a:pPr>
            <a:r>
              <a:rPr lang="en-US" sz="2400" dirty="0" smtClean="0">
                <a:solidFill>
                  <a:srgbClr val="000000"/>
                </a:solidFill>
                <a:latin typeface="Tahoma" pitchFamily="34" charset="0"/>
                <a:ea typeface="Tahoma" pitchFamily="34" charset="0"/>
                <a:cs typeface="Tahoma" pitchFamily="34" charset="0"/>
              </a:rPr>
              <a:t>File directories for file and resource location on the LAN</a:t>
            </a:r>
          </a:p>
          <a:p>
            <a:pPr lvl="2">
              <a:spcBef>
                <a:spcPct val="0"/>
              </a:spcBef>
            </a:pPr>
            <a:r>
              <a:rPr lang="en-US" sz="2400" dirty="0" smtClean="0">
                <a:solidFill>
                  <a:srgbClr val="000000"/>
                </a:solidFill>
                <a:latin typeface="Tahoma" pitchFamily="34" charset="0"/>
                <a:ea typeface="Tahoma" pitchFamily="34" charset="0"/>
                <a:cs typeface="Tahoma" pitchFamily="34" charset="0"/>
              </a:rPr>
              <a:t>Automated distribution of software updates to desktop computers on the WAN</a:t>
            </a:r>
          </a:p>
          <a:p>
            <a:pPr lvl="2">
              <a:spcBef>
                <a:spcPct val="0"/>
              </a:spcBef>
            </a:pPr>
            <a:r>
              <a:rPr lang="en-US" sz="2400" dirty="0" smtClean="0">
                <a:solidFill>
                  <a:srgbClr val="000000"/>
                </a:solidFill>
                <a:latin typeface="Tahoma" pitchFamily="34" charset="0"/>
                <a:ea typeface="Tahoma" pitchFamily="34" charset="0"/>
                <a:cs typeface="Tahoma" pitchFamily="34" charset="0"/>
              </a:rPr>
              <a:t>Internet services support</a:t>
            </a:r>
          </a:p>
          <a:p>
            <a:pPr lvl="2">
              <a:spcBef>
                <a:spcPct val="0"/>
              </a:spcBef>
            </a:pPr>
            <a:r>
              <a:rPr lang="en-US" sz="2400" dirty="0" smtClean="0">
                <a:solidFill>
                  <a:srgbClr val="000000"/>
                </a:solidFill>
                <a:latin typeface="Tahoma" pitchFamily="34" charset="0"/>
                <a:ea typeface="Tahoma" pitchFamily="34" charset="0"/>
                <a:cs typeface="Tahoma" pitchFamily="34" charset="0"/>
              </a:rPr>
              <a:t>Protection of services and data</a:t>
            </a:r>
          </a:p>
          <a:p>
            <a:pPr lvl="2">
              <a:spcBef>
                <a:spcPct val="0"/>
              </a:spcBef>
            </a:pPr>
            <a:r>
              <a:rPr lang="en-US" sz="2400" dirty="0" smtClean="0">
                <a:solidFill>
                  <a:srgbClr val="000000"/>
                </a:solidFill>
                <a:latin typeface="Tahoma" pitchFamily="34" charset="0"/>
                <a:ea typeface="Tahoma" pitchFamily="34" charset="0"/>
                <a:cs typeface="Tahoma" pitchFamily="34" charset="0"/>
              </a:rPr>
              <a:t>Access to connected hardware by authorized users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16</a:t>
            </a:fld>
            <a:endParaRPr kumimoji="0" lang="en-US"/>
          </a:p>
        </p:txBody>
      </p:sp>
    </p:spTree>
    <p:extLst>
      <p:ext uri="{BB962C8B-B14F-4D97-AF65-F5344CB8AC3E}">
        <p14:creationId xmlns:p14="http://schemas.microsoft.com/office/powerpoint/2010/main" val="2631497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990600"/>
          </a:xfrm>
        </p:spPr>
        <p:txBody>
          <a:bodyPr/>
          <a:lstStyle/>
          <a:p>
            <a:pPr eaLnBrk="1" hangingPunct="1"/>
            <a:r>
              <a:rPr lang="en-US" dirty="0" smtClean="0"/>
              <a:t>Network Fundamentals</a:t>
            </a:r>
          </a:p>
        </p:txBody>
      </p:sp>
      <p:sp>
        <p:nvSpPr>
          <p:cNvPr id="110594" name="Content Placeholder 5"/>
          <p:cNvSpPr>
            <a:spLocks noGrp="1"/>
          </p:cNvSpPr>
          <p:nvPr>
            <p:ph idx="1"/>
          </p:nvPr>
        </p:nvSpPr>
        <p:spPr>
          <a:xfrm>
            <a:off x="0" y="1295400"/>
            <a:ext cx="4648200" cy="4724400"/>
          </a:xfrm>
        </p:spPr>
        <p:txBody>
          <a:bodyPr>
            <a:normAutofit/>
          </a:bodyPr>
          <a:lstStyle/>
          <a:p>
            <a:r>
              <a:rPr lang="en-US" sz="3200" b="1" dirty="0" smtClean="0">
                <a:solidFill>
                  <a:srgbClr val="000000"/>
                </a:solidFill>
                <a:latin typeface="Tahoma" pitchFamily="34" charset="0"/>
                <a:ea typeface="Tahoma" pitchFamily="34" charset="0"/>
                <a:cs typeface="Tahoma" pitchFamily="34" charset="0"/>
              </a:rPr>
              <a:t>Network administrator</a:t>
            </a:r>
          </a:p>
          <a:p>
            <a:pPr lvl="1"/>
            <a:r>
              <a:rPr lang="en-US" sz="2400" dirty="0" smtClean="0">
                <a:solidFill>
                  <a:srgbClr val="000000"/>
                </a:solidFill>
                <a:latin typeface="Tahoma" pitchFamily="34" charset="0"/>
                <a:ea typeface="Tahoma" pitchFamily="34" charset="0"/>
                <a:cs typeface="Tahoma" pitchFamily="34" charset="0"/>
              </a:rPr>
              <a:t>Also called network engineer</a:t>
            </a:r>
          </a:p>
          <a:p>
            <a:pPr lvl="1"/>
            <a:r>
              <a:rPr lang="en-US" sz="2400" dirty="0" smtClean="0">
                <a:solidFill>
                  <a:srgbClr val="000000"/>
                </a:solidFill>
                <a:latin typeface="Tahoma" pitchFamily="34" charset="0"/>
                <a:ea typeface="Tahoma" pitchFamily="34" charset="0"/>
                <a:cs typeface="Tahoma" pitchFamily="34" charset="0"/>
              </a:rPr>
              <a:t>Installs, maintains,  supports computer networks</a:t>
            </a:r>
          </a:p>
          <a:p>
            <a:pPr lvl="1"/>
            <a:r>
              <a:rPr lang="en-US" sz="2400" dirty="0" smtClean="0">
                <a:solidFill>
                  <a:srgbClr val="000000"/>
                </a:solidFill>
                <a:latin typeface="Tahoma" pitchFamily="34" charset="0"/>
                <a:ea typeface="Tahoma" pitchFamily="34" charset="0"/>
                <a:cs typeface="Tahoma" pitchFamily="34" charset="0"/>
              </a:rPr>
              <a:t>Interact with users </a:t>
            </a:r>
          </a:p>
          <a:p>
            <a:pPr lvl="1"/>
            <a:r>
              <a:rPr lang="en-US" sz="2400" dirty="0" smtClean="0">
                <a:solidFill>
                  <a:srgbClr val="000000"/>
                </a:solidFill>
                <a:latin typeface="Tahoma" pitchFamily="34" charset="0"/>
                <a:ea typeface="Tahoma" pitchFamily="34" charset="0"/>
                <a:cs typeface="Tahoma" pitchFamily="34" charset="0"/>
              </a:rPr>
              <a:t>Handle security</a:t>
            </a:r>
          </a:p>
          <a:p>
            <a:pPr lvl="1"/>
            <a:r>
              <a:rPr lang="en-US" sz="2400" dirty="0" smtClean="0">
                <a:solidFill>
                  <a:srgbClr val="000000"/>
                </a:solidFill>
                <a:latin typeface="Tahoma" pitchFamily="34" charset="0"/>
                <a:ea typeface="Tahoma" pitchFamily="34" charset="0"/>
                <a:cs typeface="Tahoma" pitchFamily="34" charset="0"/>
              </a:rPr>
              <a:t>Troubleshoot problems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17</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143000"/>
            <a:ext cx="3581400" cy="4816602"/>
          </a:xfrm>
          <a:prstGeom prst="rect">
            <a:avLst/>
          </a:prstGeom>
        </p:spPr>
      </p:pic>
    </p:spTree>
    <p:extLst>
      <p:ext uri="{BB962C8B-B14F-4D97-AF65-F5344CB8AC3E}">
        <p14:creationId xmlns:p14="http://schemas.microsoft.com/office/powerpoint/2010/main" val="3009196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p:cNvSpPr>
          <p:nvPr>
            <p:ph type="title"/>
          </p:nvPr>
        </p:nvSpPr>
        <p:spPr>
          <a:xfrm>
            <a:off x="0" y="0"/>
            <a:ext cx="9144000" cy="1600200"/>
          </a:xfrm>
        </p:spPr>
        <p:txBody>
          <a:bodyPr/>
          <a:lstStyle/>
          <a:p>
            <a:pPr eaLnBrk="1" hangingPunct="1"/>
            <a:r>
              <a:rPr lang="en-US" sz="4800" dirty="0" smtClean="0"/>
              <a:t>Advantages and</a:t>
            </a:r>
            <a:br>
              <a:rPr lang="en-US" sz="4800" dirty="0" smtClean="0"/>
            </a:br>
            <a:r>
              <a:rPr lang="en-US" sz="4800" dirty="0" smtClean="0"/>
              <a:t>Disadvantages of Networking</a:t>
            </a:r>
          </a:p>
        </p:txBody>
      </p:sp>
      <p:sp>
        <p:nvSpPr>
          <p:cNvPr id="122882" name="Content Placeholder 5"/>
          <p:cNvSpPr>
            <a:spLocks noGrp="1"/>
          </p:cNvSpPr>
          <p:nvPr>
            <p:ph sz="half" idx="4294967295"/>
          </p:nvPr>
        </p:nvSpPr>
        <p:spPr>
          <a:xfrm>
            <a:off x="762000" y="1676400"/>
            <a:ext cx="8077200" cy="4572000"/>
          </a:xfrm>
          <a:prstGeom prst="rect">
            <a:avLst/>
          </a:prstGeom>
        </p:spPr>
        <p:txBody>
          <a:bodyPr>
            <a:noAutofit/>
          </a:bodyPr>
          <a:lstStyle/>
          <a:p>
            <a:r>
              <a:rPr lang="en-US" sz="3200" b="1" dirty="0" smtClean="0">
                <a:solidFill>
                  <a:srgbClr val="000000"/>
                </a:solidFill>
                <a:latin typeface="Tahoma" pitchFamily="34" charset="0"/>
                <a:ea typeface="Tahoma" pitchFamily="34" charset="0"/>
                <a:cs typeface="Tahoma" pitchFamily="34" charset="0"/>
              </a:rPr>
              <a:t>Networking</a:t>
            </a:r>
          </a:p>
          <a:p>
            <a:pPr lvl="1"/>
            <a:r>
              <a:rPr lang="en-US" sz="2000" dirty="0" smtClean="0">
                <a:solidFill>
                  <a:srgbClr val="000000"/>
                </a:solidFill>
                <a:latin typeface="Tahoma" pitchFamily="34" charset="0"/>
                <a:ea typeface="Tahoma" pitchFamily="34" charset="0"/>
                <a:cs typeface="Tahoma" pitchFamily="34" charset="0"/>
              </a:rPr>
              <a:t>Advantages</a:t>
            </a:r>
          </a:p>
          <a:p>
            <a:pPr lvl="2"/>
            <a:r>
              <a:rPr lang="en-US" sz="2000" dirty="0" smtClean="0">
                <a:solidFill>
                  <a:srgbClr val="000000"/>
                </a:solidFill>
                <a:latin typeface="Tahoma" pitchFamily="34" charset="0"/>
                <a:ea typeface="Tahoma" pitchFamily="34" charset="0"/>
                <a:cs typeface="Tahoma" pitchFamily="34" charset="0"/>
              </a:rPr>
              <a:t>Reduced hardware costs</a:t>
            </a:r>
          </a:p>
          <a:p>
            <a:pPr lvl="2"/>
            <a:r>
              <a:rPr lang="en-US" sz="2000" dirty="0" smtClean="0">
                <a:solidFill>
                  <a:srgbClr val="000000"/>
                </a:solidFill>
                <a:latin typeface="Tahoma" pitchFamily="34" charset="0"/>
                <a:ea typeface="Tahoma" pitchFamily="34" charset="0"/>
                <a:cs typeface="Tahoma" pitchFamily="34" charset="0"/>
              </a:rPr>
              <a:t>Application sharing</a:t>
            </a:r>
          </a:p>
          <a:p>
            <a:pPr lvl="2"/>
            <a:r>
              <a:rPr lang="en-US" sz="2000" dirty="0" smtClean="0">
                <a:solidFill>
                  <a:srgbClr val="000000"/>
                </a:solidFill>
                <a:latin typeface="Tahoma" pitchFamily="34" charset="0"/>
                <a:ea typeface="Tahoma" pitchFamily="34" charset="0"/>
                <a:cs typeface="Tahoma" pitchFamily="34" charset="0"/>
              </a:rPr>
              <a:t>Sharing information resources</a:t>
            </a:r>
          </a:p>
          <a:p>
            <a:pPr lvl="2"/>
            <a:r>
              <a:rPr lang="en-US" sz="2000" dirty="0" smtClean="0">
                <a:solidFill>
                  <a:srgbClr val="000000"/>
                </a:solidFill>
                <a:latin typeface="Tahoma" pitchFamily="34" charset="0"/>
                <a:ea typeface="Tahoma" pitchFamily="34" charset="0"/>
                <a:cs typeface="Tahoma" pitchFamily="34" charset="0"/>
              </a:rPr>
              <a:t>Data management centralization</a:t>
            </a:r>
          </a:p>
          <a:p>
            <a:pPr lvl="2"/>
            <a:r>
              <a:rPr lang="en-US" sz="2000" dirty="0" smtClean="0">
                <a:solidFill>
                  <a:srgbClr val="000000"/>
                </a:solidFill>
                <a:latin typeface="Tahoma" pitchFamily="34" charset="0"/>
                <a:ea typeface="Tahoma" pitchFamily="34" charset="0"/>
                <a:cs typeface="Tahoma" pitchFamily="34" charset="0"/>
              </a:rPr>
              <a:t>Connecting people</a:t>
            </a:r>
          </a:p>
          <a:p>
            <a:pPr lvl="1"/>
            <a:r>
              <a:rPr lang="en-US" sz="2000" dirty="0" smtClean="0">
                <a:solidFill>
                  <a:srgbClr val="000000"/>
                </a:solidFill>
                <a:latin typeface="Tahoma" pitchFamily="34" charset="0"/>
                <a:ea typeface="Tahoma" pitchFamily="34" charset="0"/>
                <a:cs typeface="Tahoma" pitchFamily="34" charset="0"/>
              </a:rPr>
              <a:t>Disadvantages</a:t>
            </a:r>
          </a:p>
          <a:p>
            <a:pPr lvl="2"/>
            <a:r>
              <a:rPr lang="en-US" sz="2000" dirty="0" smtClean="0">
                <a:solidFill>
                  <a:srgbClr val="000000"/>
                </a:solidFill>
                <a:latin typeface="Tahoma" pitchFamily="34" charset="0"/>
                <a:ea typeface="Tahoma" pitchFamily="34" charset="0"/>
                <a:cs typeface="Tahoma" pitchFamily="34" charset="0"/>
              </a:rPr>
              <a:t>Loss of autonomy</a:t>
            </a:r>
          </a:p>
          <a:p>
            <a:pPr lvl="2"/>
            <a:r>
              <a:rPr lang="en-US" sz="2000" dirty="0" smtClean="0">
                <a:solidFill>
                  <a:srgbClr val="000000"/>
                </a:solidFill>
                <a:latin typeface="Tahoma" pitchFamily="34" charset="0"/>
                <a:ea typeface="Tahoma" pitchFamily="34" charset="0"/>
                <a:cs typeface="Tahoma" pitchFamily="34" charset="0"/>
              </a:rPr>
              <a:t>Lack of privacy</a:t>
            </a:r>
          </a:p>
          <a:p>
            <a:pPr lvl="2"/>
            <a:r>
              <a:rPr lang="en-US" sz="2000" dirty="0" smtClean="0">
                <a:solidFill>
                  <a:srgbClr val="000000"/>
                </a:solidFill>
                <a:latin typeface="Tahoma" pitchFamily="34" charset="0"/>
                <a:ea typeface="Tahoma" pitchFamily="34" charset="0"/>
                <a:cs typeface="Tahoma" pitchFamily="34" charset="0"/>
              </a:rPr>
              <a:t>Security threats</a:t>
            </a:r>
          </a:p>
          <a:p>
            <a:pPr lvl="2"/>
            <a:r>
              <a:rPr lang="en-US" sz="2000" dirty="0" smtClean="0">
                <a:solidFill>
                  <a:srgbClr val="000000"/>
                </a:solidFill>
                <a:latin typeface="Tahoma" pitchFamily="34" charset="0"/>
                <a:ea typeface="Tahoma" pitchFamily="34" charset="0"/>
                <a:cs typeface="Tahoma" pitchFamily="34" charset="0"/>
              </a:rPr>
              <a:t>Loss of productivity</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18</a:t>
            </a:fld>
            <a:endParaRPr lang="en-US" dirty="0"/>
          </a:p>
        </p:txBody>
      </p:sp>
    </p:spTree>
    <p:extLst>
      <p:ext uri="{BB962C8B-B14F-4D97-AF65-F5344CB8AC3E}">
        <p14:creationId xmlns:p14="http://schemas.microsoft.com/office/powerpoint/2010/main" val="1816121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Content Placeholder 8"/>
          <p:cNvSpPr>
            <a:spLocks noGrp="1"/>
          </p:cNvSpPr>
          <p:nvPr>
            <p:ph idx="1"/>
          </p:nvPr>
        </p:nvSpPr>
        <p:spPr>
          <a:xfrm>
            <a:off x="762000" y="1295400"/>
            <a:ext cx="7848600" cy="47244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Peer-to-peer (P2P) networks</a:t>
            </a:r>
          </a:p>
          <a:p>
            <a:pPr lvl="1"/>
            <a:r>
              <a:rPr lang="en-US" sz="2400" dirty="0" smtClean="0">
                <a:solidFill>
                  <a:srgbClr val="000000"/>
                </a:solidFill>
                <a:latin typeface="Tahoma" pitchFamily="34" charset="0"/>
                <a:ea typeface="Tahoma" pitchFamily="34" charset="0"/>
                <a:cs typeface="Tahoma" pitchFamily="34" charset="0"/>
              </a:rPr>
              <a:t>Share files without a file server</a:t>
            </a:r>
          </a:p>
          <a:p>
            <a:pPr lvl="1"/>
            <a:r>
              <a:rPr lang="en-US" sz="2400" dirty="0" smtClean="0">
                <a:solidFill>
                  <a:srgbClr val="000000"/>
                </a:solidFill>
                <a:latin typeface="Tahoma" pitchFamily="34" charset="0"/>
                <a:ea typeface="Tahoma" pitchFamily="34" charset="0"/>
                <a:cs typeface="Tahoma" pitchFamily="34" charset="0"/>
              </a:rPr>
              <a:t>Easy to set up</a:t>
            </a:r>
          </a:p>
          <a:p>
            <a:pPr lvl="1"/>
            <a:r>
              <a:rPr lang="en-US" sz="2400" dirty="0" smtClean="0">
                <a:solidFill>
                  <a:srgbClr val="000000"/>
                </a:solidFill>
                <a:latin typeface="Tahoma" pitchFamily="34" charset="0"/>
                <a:ea typeface="Tahoma" pitchFamily="34" charset="0"/>
                <a:cs typeface="Tahoma" pitchFamily="34" charset="0"/>
              </a:rPr>
              <a:t>Best used for home or small offices with no more than 10 computers</a:t>
            </a:r>
          </a:p>
          <a:p>
            <a:pPr lvl="1"/>
            <a:r>
              <a:rPr lang="en-US" sz="2400" dirty="0" smtClean="0">
                <a:solidFill>
                  <a:srgbClr val="000000"/>
                </a:solidFill>
                <a:latin typeface="Tahoma" pitchFamily="34" charset="0"/>
                <a:ea typeface="Tahoma" pitchFamily="34" charset="0"/>
                <a:cs typeface="Tahoma" pitchFamily="34" charset="0"/>
              </a:rPr>
              <a:t>Do not require a network operating system</a:t>
            </a:r>
          </a:p>
          <a:p>
            <a:pPr lvl="1"/>
            <a:r>
              <a:rPr lang="en-US" sz="2400" dirty="0" smtClean="0">
                <a:solidFill>
                  <a:srgbClr val="000000"/>
                </a:solidFill>
                <a:latin typeface="Tahoma" pitchFamily="34" charset="0"/>
                <a:ea typeface="Tahoma" pitchFamily="34" charset="0"/>
                <a:cs typeface="Tahoma" pitchFamily="34" charset="0"/>
              </a:rPr>
              <a:t>Can be slow if there are too many users</a:t>
            </a:r>
          </a:p>
          <a:p>
            <a:pPr lvl="1"/>
            <a:r>
              <a:rPr lang="en-US" sz="2400" dirty="0" smtClean="0">
                <a:solidFill>
                  <a:srgbClr val="000000"/>
                </a:solidFill>
                <a:latin typeface="Tahoma" pitchFamily="34" charset="0"/>
                <a:ea typeface="Tahoma" pitchFamily="34" charset="0"/>
                <a:cs typeface="Tahoma" pitchFamily="34" charset="0"/>
              </a:rPr>
              <a:t>Security not strong</a:t>
            </a:r>
          </a:p>
        </p:txBody>
      </p:sp>
      <p:sp>
        <p:nvSpPr>
          <p:cNvPr id="7" name="Title 1"/>
          <p:cNvSpPr>
            <a:spLocks noGrp="1"/>
          </p:cNvSpPr>
          <p:nvPr>
            <p:ph type="title"/>
          </p:nvPr>
        </p:nvSpPr>
        <p:spPr>
          <a:xfrm>
            <a:off x="0" y="0"/>
            <a:ext cx="9144000" cy="1143000"/>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19</a:t>
            </a:fld>
            <a:endParaRPr kumimoji="0" lang="en-US"/>
          </a:p>
        </p:txBody>
      </p:sp>
    </p:spTree>
    <p:extLst>
      <p:ext uri="{BB962C8B-B14F-4D97-AF65-F5344CB8AC3E}">
        <p14:creationId xmlns:p14="http://schemas.microsoft.com/office/powerpoint/2010/main" val="2051388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8"/>
          <p:cNvSpPr>
            <a:spLocks noGrp="1"/>
          </p:cNvSpPr>
          <p:nvPr>
            <p:ph idx="4294967295"/>
          </p:nvPr>
        </p:nvSpPr>
        <p:spPr>
          <a:xfrm>
            <a:off x="762000" y="1676400"/>
            <a:ext cx="7772400" cy="4343400"/>
          </a:xfrm>
          <a:prstGeom prst="rect">
            <a:avLst/>
          </a:prstGeom>
        </p:spPr>
        <p:txBody>
          <a:bodyPr>
            <a:normAutofit/>
          </a:bodyPr>
          <a:lstStyle/>
          <a:p>
            <a:r>
              <a:rPr lang="en-US" sz="3200" b="1" dirty="0" smtClean="0">
                <a:solidFill>
                  <a:srgbClr val="000000"/>
                </a:solidFill>
                <a:latin typeface="Tahoma" pitchFamily="34" charset="0"/>
                <a:ea typeface="Tahoma" pitchFamily="34" charset="0"/>
                <a:cs typeface="Tahoma" pitchFamily="34" charset="0"/>
              </a:rPr>
              <a:t>Peer-to-peer (P2P) networks</a:t>
            </a:r>
          </a:p>
        </p:txBody>
      </p:sp>
      <p:sp>
        <p:nvSpPr>
          <p:cNvPr id="19" name="Title 1"/>
          <p:cNvSpPr>
            <a:spLocks noGrp="1"/>
          </p:cNvSpPr>
          <p:nvPr>
            <p:ph type="title"/>
          </p:nvPr>
        </p:nvSpPr>
        <p:spPr>
          <a:xfrm>
            <a:off x="0" y="0"/>
            <a:ext cx="9144000" cy="1371600"/>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20</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438399"/>
            <a:ext cx="6477000" cy="3539465"/>
          </a:xfrm>
          <a:prstGeom prst="rect">
            <a:avLst/>
          </a:prstGeom>
        </p:spPr>
      </p:pic>
    </p:spTree>
    <p:extLst>
      <p:ext uri="{BB962C8B-B14F-4D97-AF65-F5344CB8AC3E}">
        <p14:creationId xmlns:p14="http://schemas.microsoft.com/office/powerpoint/2010/main" val="34706737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295400"/>
          </a:xfrm>
        </p:spPr>
        <p:txBody>
          <a:bodyPr/>
          <a:lstStyle/>
          <a:p>
            <a:pPr eaLnBrk="1" hangingPunct="1"/>
            <a:r>
              <a:rPr lang="en-US" dirty="0" smtClean="0"/>
              <a:t>Local Area Networks</a:t>
            </a:r>
          </a:p>
        </p:txBody>
      </p:sp>
      <p:sp>
        <p:nvSpPr>
          <p:cNvPr id="110594" name="Content Placeholder 5"/>
          <p:cNvSpPr>
            <a:spLocks noGrp="1"/>
          </p:cNvSpPr>
          <p:nvPr>
            <p:ph idx="1"/>
          </p:nvPr>
        </p:nvSpPr>
        <p:spPr>
          <a:xfrm>
            <a:off x="762000" y="1447800"/>
            <a:ext cx="8382000" cy="4572000"/>
          </a:xfrm>
        </p:spPr>
        <p:txBody>
          <a:bodyPr>
            <a:normAutofit fontScale="92500"/>
          </a:bodyPr>
          <a:lstStyle/>
          <a:p>
            <a:r>
              <a:rPr lang="en-US" sz="3900" b="1" dirty="0" smtClean="0">
                <a:solidFill>
                  <a:srgbClr val="000000"/>
                </a:solidFill>
                <a:latin typeface="Tahoma" pitchFamily="34" charset="0"/>
                <a:ea typeface="Tahoma" pitchFamily="34" charset="0"/>
                <a:cs typeface="Tahoma" pitchFamily="34" charset="0"/>
              </a:rPr>
              <a:t>Wireless LAN</a:t>
            </a:r>
          </a:p>
          <a:p>
            <a:pPr lvl="1"/>
            <a:r>
              <a:rPr lang="en-US" sz="2600" dirty="0" smtClean="0">
                <a:solidFill>
                  <a:srgbClr val="000000"/>
                </a:solidFill>
                <a:latin typeface="Tahoma" pitchFamily="34" charset="0"/>
                <a:ea typeface="Tahoma" pitchFamily="34" charset="0"/>
                <a:cs typeface="Tahoma" pitchFamily="34" charset="0"/>
              </a:rPr>
              <a:t>Connects users through radio waves instead of wires</a:t>
            </a:r>
          </a:p>
          <a:p>
            <a:pPr lvl="1"/>
            <a:r>
              <a:rPr lang="en-US" sz="2600" dirty="0" smtClean="0">
                <a:solidFill>
                  <a:srgbClr val="000000"/>
                </a:solidFill>
                <a:latin typeface="Tahoma" pitchFamily="34" charset="0"/>
                <a:ea typeface="Tahoma" pitchFamily="34" charset="0"/>
                <a:cs typeface="Tahoma" pitchFamily="34" charset="0"/>
              </a:rPr>
              <a:t>Use includes networks in:</a:t>
            </a:r>
          </a:p>
          <a:p>
            <a:pPr lvl="2"/>
            <a:r>
              <a:rPr lang="en-US" sz="2600" dirty="0" smtClean="0">
                <a:solidFill>
                  <a:srgbClr val="000000"/>
                </a:solidFill>
                <a:latin typeface="Tahoma" pitchFamily="34" charset="0"/>
                <a:ea typeface="Tahoma" pitchFamily="34" charset="0"/>
                <a:cs typeface="Tahoma" pitchFamily="34" charset="0"/>
              </a:rPr>
              <a:t>Homes</a:t>
            </a:r>
          </a:p>
          <a:p>
            <a:pPr lvl="2"/>
            <a:r>
              <a:rPr lang="en-US" sz="2600" dirty="0" smtClean="0">
                <a:solidFill>
                  <a:srgbClr val="000000"/>
                </a:solidFill>
                <a:latin typeface="Tahoma" pitchFamily="34" charset="0"/>
                <a:ea typeface="Tahoma" pitchFamily="34" charset="0"/>
                <a:cs typeface="Tahoma" pitchFamily="34" charset="0"/>
              </a:rPr>
              <a:t>Hospitals</a:t>
            </a:r>
          </a:p>
          <a:p>
            <a:pPr lvl="2"/>
            <a:r>
              <a:rPr lang="en-US" sz="2600" dirty="0" smtClean="0">
                <a:solidFill>
                  <a:srgbClr val="000000"/>
                </a:solidFill>
                <a:latin typeface="Tahoma" pitchFamily="34" charset="0"/>
                <a:ea typeface="Tahoma" pitchFamily="34" charset="0"/>
                <a:cs typeface="Tahoma" pitchFamily="34" charset="0"/>
              </a:rPr>
              <a:t>Colleges</a:t>
            </a:r>
          </a:p>
          <a:p>
            <a:pPr lvl="1"/>
            <a:r>
              <a:rPr lang="en-US" sz="2600" dirty="0" smtClean="0">
                <a:solidFill>
                  <a:srgbClr val="000000"/>
                </a:solidFill>
                <a:latin typeface="Tahoma" pitchFamily="34" charset="0"/>
                <a:ea typeface="Tahoma" pitchFamily="34" charset="0"/>
                <a:cs typeface="Tahoma" pitchFamily="34" charset="0"/>
              </a:rPr>
              <a:t>Secured with a radio transmission technique that spreads signals over a seemingly random series of frequencies.</a:t>
            </a:r>
          </a:p>
          <a:p>
            <a:pPr lvl="1"/>
            <a:r>
              <a:rPr lang="en-US" sz="2600" dirty="0" smtClean="0">
                <a:solidFill>
                  <a:srgbClr val="000000"/>
                </a:solidFill>
                <a:latin typeface="Tahoma" pitchFamily="34" charset="0"/>
                <a:ea typeface="Tahoma" pitchFamily="34" charset="0"/>
                <a:cs typeface="Tahoma" pitchFamily="34" charset="0"/>
              </a:rPr>
              <a:t>Effective inside range of between 125 and 300 feet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21</a:t>
            </a:fld>
            <a:endParaRPr kumimoji="0" lang="en-US"/>
          </a:p>
        </p:txBody>
      </p:sp>
    </p:spTree>
    <p:extLst>
      <p:ext uri="{BB962C8B-B14F-4D97-AF65-F5344CB8AC3E}">
        <p14:creationId xmlns:p14="http://schemas.microsoft.com/office/powerpoint/2010/main" val="3009196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pPr eaLnBrk="1" hangingPunct="1"/>
            <a:r>
              <a:rPr lang="en-US" dirty="0" smtClean="0"/>
              <a:t>Local Area Networks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400" y="1600200"/>
            <a:ext cx="7315200" cy="4641293"/>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22</a:t>
            </a:fld>
            <a:endParaRPr kumimoji="0" lang="en-US"/>
          </a:p>
        </p:txBody>
      </p:sp>
    </p:spTree>
    <p:extLst>
      <p:ext uri="{BB962C8B-B14F-4D97-AF65-F5344CB8AC3E}">
        <p14:creationId xmlns:p14="http://schemas.microsoft.com/office/powerpoint/2010/main" val="190676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Content Placeholder 8"/>
          <p:cNvSpPr>
            <a:spLocks noGrp="1"/>
          </p:cNvSpPr>
          <p:nvPr>
            <p:ph idx="1"/>
          </p:nvPr>
        </p:nvSpPr>
        <p:spPr>
          <a:xfrm>
            <a:off x="762000" y="1905000"/>
            <a:ext cx="7772400" cy="41148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Client/server networks</a:t>
            </a:r>
          </a:p>
          <a:p>
            <a:pPr lvl="1"/>
            <a:r>
              <a:rPr lang="en-US" sz="2400" dirty="0" smtClean="0">
                <a:solidFill>
                  <a:srgbClr val="000000"/>
                </a:solidFill>
                <a:latin typeface="Tahoma" pitchFamily="34" charset="0"/>
                <a:ea typeface="Tahoma" pitchFamily="34" charset="0"/>
                <a:cs typeface="Tahoma" pitchFamily="34" charset="0"/>
              </a:rPr>
              <a:t>Made up of one or more file servers and </a:t>
            </a:r>
            <a:r>
              <a:rPr lang="en-US" sz="2400" b="1" dirty="0" smtClean="0">
                <a:solidFill>
                  <a:srgbClr val="000000"/>
                </a:solidFill>
                <a:latin typeface="Tahoma" pitchFamily="34" charset="0"/>
                <a:ea typeface="Tahoma" pitchFamily="34" charset="0"/>
                <a:cs typeface="Tahoma" pitchFamily="34" charset="0"/>
              </a:rPr>
              <a:t>clients </a:t>
            </a:r>
            <a:r>
              <a:rPr lang="en-US" sz="2400" dirty="0" smtClean="0">
                <a:solidFill>
                  <a:srgbClr val="000000"/>
                </a:solidFill>
                <a:latin typeface="Tahoma" pitchFamily="34" charset="0"/>
                <a:ea typeface="Tahoma" pitchFamily="34" charset="0"/>
                <a:cs typeface="Tahoma" pitchFamily="34" charset="0"/>
              </a:rPr>
              <a:t>(any type of computer)</a:t>
            </a:r>
            <a:endParaRPr lang="en-US" sz="2400" b="1" dirty="0" smtClean="0">
              <a:solidFill>
                <a:srgbClr val="000000"/>
              </a:solidFill>
              <a:latin typeface="Tahoma" pitchFamily="34" charset="0"/>
              <a:ea typeface="Tahoma" pitchFamily="34" charset="0"/>
              <a:cs typeface="Tahoma" pitchFamily="34" charset="0"/>
            </a:endParaRPr>
          </a:p>
          <a:p>
            <a:pPr lvl="1"/>
            <a:r>
              <a:rPr lang="en-US" sz="2400" dirty="0" smtClean="0">
                <a:solidFill>
                  <a:srgbClr val="000000"/>
                </a:solidFill>
                <a:latin typeface="Tahoma" pitchFamily="34" charset="0"/>
                <a:ea typeface="Tahoma" pitchFamily="34" charset="0"/>
                <a:cs typeface="Tahoma" pitchFamily="34" charset="0"/>
              </a:rPr>
              <a:t>Client software enables requests to be sent to the server</a:t>
            </a:r>
          </a:p>
          <a:p>
            <a:pPr lvl="1"/>
            <a:r>
              <a:rPr lang="en-US" sz="2400" dirty="0" smtClean="0">
                <a:solidFill>
                  <a:srgbClr val="000000"/>
                </a:solidFill>
                <a:latin typeface="Tahoma" pitchFamily="34" charset="0"/>
                <a:ea typeface="Tahoma" pitchFamily="34" charset="0"/>
                <a:cs typeface="Tahoma" pitchFamily="34" charset="0"/>
              </a:rPr>
              <a:t>Wired or wireless connections</a:t>
            </a:r>
          </a:p>
          <a:p>
            <a:pPr lvl="1"/>
            <a:r>
              <a:rPr lang="en-US" sz="2400" dirty="0" smtClean="0">
                <a:solidFill>
                  <a:srgbClr val="000000"/>
                </a:solidFill>
                <a:latin typeface="Tahoma" pitchFamily="34" charset="0"/>
                <a:ea typeface="Tahoma" pitchFamily="34" charset="0"/>
                <a:cs typeface="Tahoma" pitchFamily="34" charset="0"/>
              </a:rPr>
              <a:t>Do not slow down with heavy use</a:t>
            </a:r>
          </a:p>
          <a:p>
            <a:pPr lvl="1"/>
            <a:endParaRPr lang="en-US" sz="2000" dirty="0" smtClean="0">
              <a:solidFill>
                <a:srgbClr val="000000"/>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143000"/>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23</a:t>
            </a:fld>
            <a:endParaRPr kumimoji="0" lang="en-US"/>
          </a:p>
        </p:txBody>
      </p:sp>
    </p:spTree>
    <p:extLst>
      <p:ext uri="{BB962C8B-B14F-4D97-AF65-F5344CB8AC3E}">
        <p14:creationId xmlns:p14="http://schemas.microsoft.com/office/powerpoint/2010/main" val="2362077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pPr eaLnBrk="1" hangingPunct="1"/>
            <a:r>
              <a:rPr lang="en-US" dirty="0" smtClean="0"/>
              <a:t>Local Area Networks</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00200" y="1676400"/>
            <a:ext cx="6019800" cy="4573016"/>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24</a:t>
            </a:fld>
            <a:endParaRPr kumimoji="0" lang="en-US"/>
          </a:p>
        </p:txBody>
      </p:sp>
    </p:spTree>
    <p:extLst>
      <p:ext uri="{BB962C8B-B14F-4D97-AF65-F5344CB8AC3E}">
        <p14:creationId xmlns:p14="http://schemas.microsoft.com/office/powerpoint/2010/main" val="190676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4419600" y="1371600"/>
            <a:ext cx="4724400" cy="4800600"/>
          </a:xfrm>
        </p:spPr>
        <p:txBody>
          <a:bodyPr>
            <a:normAutofit fontScale="92500" lnSpcReduction="20000"/>
          </a:bodyPr>
          <a:lstStyle/>
          <a:p>
            <a:r>
              <a:rPr lang="en-US" sz="3500" b="1" dirty="0" smtClean="0">
                <a:solidFill>
                  <a:srgbClr val="000000"/>
                </a:solidFill>
                <a:latin typeface="Tahoma" pitchFamily="34" charset="0"/>
                <a:ea typeface="Tahoma" pitchFamily="34" charset="0"/>
                <a:cs typeface="Tahoma" pitchFamily="34" charset="0"/>
              </a:rPr>
              <a:t>Intranet</a:t>
            </a:r>
          </a:p>
          <a:p>
            <a:pPr lvl="1"/>
            <a:r>
              <a:rPr lang="en-US" sz="2400" dirty="0" smtClean="0">
                <a:solidFill>
                  <a:srgbClr val="000000"/>
                </a:solidFill>
                <a:latin typeface="Tahoma" pitchFamily="34" charset="0"/>
                <a:ea typeface="Tahoma" pitchFamily="34" charset="0"/>
                <a:cs typeface="Tahoma" pitchFamily="34" charset="0"/>
              </a:rPr>
              <a:t>Password-protected network controlled by the company</a:t>
            </a:r>
          </a:p>
          <a:p>
            <a:pPr lvl="1"/>
            <a:r>
              <a:rPr lang="en-US" sz="2400" dirty="0" smtClean="0">
                <a:solidFill>
                  <a:srgbClr val="000000"/>
                </a:solidFill>
                <a:latin typeface="Tahoma" pitchFamily="34" charset="0"/>
                <a:ea typeface="Tahoma" pitchFamily="34" charset="0"/>
                <a:cs typeface="Tahoma" pitchFamily="34" charset="0"/>
              </a:rPr>
              <a:t>Accessed only by employees</a:t>
            </a:r>
          </a:p>
          <a:p>
            <a:r>
              <a:rPr lang="en-US" sz="3500" b="1" dirty="0" smtClean="0">
                <a:solidFill>
                  <a:srgbClr val="000000"/>
                </a:solidFill>
                <a:latin typeface="Tahoma" pitchFamily="34" charset="0"/>
                <a:ea typeface="Tahoma" pitchFamily="34" charset="0"/>
                <a:cs typeface="Tahoma" pitchFamily="34" charset="0"/>
              </a:rPr>
              <a:t>Virtual private network</a:t>
            </a:r>
          </a:p>
          <a:p>
            <a:pPr lvl="1"/>
            <a:r>
              <a:rPr lang="en-US" sz="2400" dirty="0" smtClean="0">
                <a:solidFill>
                  <a:srgbClr val="000000"/>
                </a:solidFill>
                <a:latin typeface="Tahoma" pitchFamily="34" charset="0"/>
                <a:ea typeface="Tahoma" pitchFamily="34" charset="0"/>
                <a:cs typeface="Tahoma" pitchFamily="34" charset="0"/>
              </a:rPr>
              <a:t>Operates over the Internet</a:t>
            </a:r>
          </a:p>
          <a:p>
            <a:pPr lvl="1"/>
            <a:r>
              <a:rPr lang="en-US" sz="2400" dirty="0" smtClean="0">
                <a:solidFill>
                  <a:srgbClr val="000000"/>
                </a:solidFill>
                <a:latin typeface="Tahoma" pitchFamily="34" charset="0"/>
                <a:ea typeface="Tahoma" pitchFamily="34" charset="0"/>
                <a:cs typeface="Tahoma" pitchFamily="34" charset="0"/>
              </a:rPr>
              <a:t>Accessible by authorized users for quick access to corporate information</a:t>
            </a:r>
          </a:p>
          <a:p>
            <a:pPr lvl="1"/>
            <a:r>
              <a:rPr lang="en-US" sz="2400" dirty="0" smtClean="0">
                <a:solidFill>
                  <a:srgbClr val="000000"/>
                </a:solidFill>
                <a:latin typeface="Tahoma" pitchFamily="34" charset="0"/>
                <a:ea typeface="Tahoma" pitchFamily="34" charset="0"/>
                <a:cs typeface="Tahoma" pitchFamily="34" charset="0"/>
              </a:rPr>
              <a:t>Uses secure, encrypted connections and special software</a:t>
            </a:r>
            <a:endParaRPr lang="en-US" sz="2400" dirty="0">
              <a:solidFill>
                <a:srgbClr val="000000"/>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17585"/>
            <a:ext cx="9144000" cy="1160586"/>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25</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371600"/>
            <a:ext cx="3797808" cy="4038600"/>
          </a:xfrm>
          <a:prstGeom prst="rect">
            <a:avLst/>
          </a:prstGeom>
        </p:spPr>
      </p:pic>
    </p:spTree>
    <p:extLst>
      <p:ext uri="{BB962C8B-B14F-4D97-AF65-F5344CB8AC3E}">
        <p14:creationId xmlns:p14="http://schemas.microsoft.com/office/powerpoint/2010/main" val="1393802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a:xfrm>
            <a:off x="0" y="0"/>
            <a:ext cx="9144000" cy="1143000"/>
          </a:xfrm>
        </p:spPr>
        <p:txBody>
          <a:bodyPr anchor="b"/>
          <a:lstStyle/>
          <a:p>
            <a:pPr eaLnBrk="1" hangingPunct="1"/>
            <a:r>
              <a:rPr lang="en-US" dirty="0" smtClean="0"/>
              <a:t>Local Area Networks</a:t>
            </a:r>
          </a:p>
        </p:txBody>
      </p:sp>
      <p:sp>
        <p:nvSpPr>
          <p:cNvPr id="131074" name="Content Placeholder 10"/>
          <p:cNvSpPr>
            <a:spLocks noGrp="1"/>
          </p:cNvSpPr>
          <p:nvPr>
            <p:ph idx="1"/>
          </p:nvPr>
        </p:nvSpPr>
        <p:spPr>
          <a:xfrm>
            <a:off x="762000" y="1295400"/>
            <a:ext cx="8382000" cy="47244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LAN topologies</a:t>
            </a:r>
          </a:p>
          <a:p>
            <a:pPr lvl="1"/>
            <a:r>
              <a:rPr lang="en-US" sz="2400" b="1" dirty="0" smtClean="0">
                <a:solidFill>
                  <a:srgbClr val="000000"/>
                </a:solidFill>
                <a:latin typeface="Tahoma" pitchFamily="34" charset="0"/>
                <a:ea typeface="Tahoma" pitchFamily="34" charset="0"/>
                <a:cs typeface="Tahoma" pitchFamily="34" charset="0"/>
              </a:rPr>
              <a:t>Network topology</a:t>
            </a:r>
          </a:p>
          <a:p>
            <a:pPr lvl="2"/>
            <a:r>
              <a:rPr lang="en-US" sz="2400" dirty="0" smtClean="0">
                <a:solidFill>
                  <a:srgbClr val="000000"/>
                </a:solidFill>
                <a:latin typeface="Tahoma" pitchFamily="34" charset="0"/>
                <a:ea typeface="Tahoma" pitchFamily="34" charset="0"/>
                <a:cs typeface="Tahoma" pitchFamily="34" charset="0"/>
              </a:rPr>
              <a:t>Physical design of a LAN</a:t>
            </a:r>
          </a:p>
          <a:p>
            <a:pPr lvl="1"/>
            <a:r>
              <a:rPr lang="en-US" sz="2400" dirty="0" smtClean="0">
                <a:solidFill>
                  <a:srgbClr val="000000"/>
                </a:solidFill>
                <a:latin typeface="Tahoma" pitchFamily="34" charset="0"/>
                <a:ea typeface="Tahoma" pitchFamily="34" charset="0"/>
                <a:cs typeface="Tahoma" pitchFamily="34" charset="0"/>
              </a:rPr>
              <a:t>Topology resolves </a:t>
            </a:r>
            <a:r>
              <a:rPr lang="en-US" sz="2400" b="1" dirty="0" smtClean="0">
                <a:solidFill>
                  <a:srgbClr val="000000"/>
                </a:solidFill>
                <a:latin typeface="Tahoma" pitchFamily="34" charset="0"/>
                <a:ea typeface="Tahoma" pitchFamily="34" charset="0"/>
                <a:cs typeface="Tahoma" pitchFamily="34" charset="0"/>
              </a:rPr>
              <a:t>contention</a:t>
            </a:r>
            <a:r>
              <a:rPr lang="en-US" sz="2400" dirty="0" smtClean="0">
                <a:solidFill>
                  <a:srgbClr val="000000"/>
                </a:solidFill>
                <a:latin typeface="Tahoma" pitchFamily="34" charset="0"/>
                <a:ea typeface="Tahoma" pitchFamily="34" charset="0"/>
                <a:cs typeface="Tahoma" pitchFamily="34" charset="0"/>
              </a:rPr>
              <a:t>—conflict that occurs when two or more computers on the network attempt to transmit at the same time</a:t>
            </a:r>
          </a:p>
          <a:p>
            <a:pPr lvl="1"/>
            <a:r>
              <a:rPr lang="en-US" sz="2400" dirty="0" smtClean="0">
                <a:solidFill>
                  <a:srgbClr val="000000"/>
                </a:solidFill>
                <a:latin typeface="Tahoma" pitchFamily="34" charset="0"/>
                <a:ea typeface="Tahoma" pitchFamily="34" charset="0"/>
                <a:cs typeface="Tahoma" pitchFamily="34" charset="0"/>
              </a:rPr>
              <a:t>Contention sometimes results in </a:t>
            </a:r>
            <a:r>
              <a:rPr lang="en-US" sz="2400" b="1" dirty="0" smtClean="0">
                <a:solidFill>
                  <a:srgbClr val="000000"/>
                </a:solidFill>
                <a:latin typeface="Tahoma" pitchFamily="34" charset="0"/>
                <a:ea typeface="Tahoma" pitchFamily="34" charset="0"/>
                <a:cs typeface="Tahoma" pitchFamily="34" charset="0"/>
              </a:rPr>
              <a:t>collisions</a:t>
            </a:r>
            <a:r>
              <a:rPr lang="en-US" sz="2400" dirty="0" smtClean="0">
                <a:solidFill>
                  <a:srgbClr val="000000"/>
                </a:solidFill>
                <a:latin typeface="Tahoma" pitchFamily="34" charset="0"/>
                <a:ea typeface="Tahoma" pitchFamily="34" charset="0"/>
                <a:cs typeface="Tahoma" pitchFamily="34" charset="0"/>
              </a:rPr>
              <a:t>—corruption of network data caused when two computers transmit at the same time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26</a:t>
            </a:fld>
            <a:endParaRPr kumimoji="0" lang="en-US"/>
          </a:p>
        </p:txBody>
      </p:sp>
    </p:spTree>
    <p:extLst>
      <p:ext uri="{BB962C8B-B14F-4D97-AF65-F5344CB8AC3E}">
        <p14:creationId xmlns:p14="http://schemas.microsoft.com/office/powerpoint/2010/main" val="2450664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Content Placeholder 9"/>
          <p:cNvSpPr>
            <a:spLocks noGrp="1"/>
          </p:cNvSpPr>
          <p:nvPr>
            <p:ph idx="1"/>
          </p:nvPr>
        </p:nvSpPr>
        <p:spPr>
          <a:xfrm>
            <a:off x="762000" y="1295400"/>
            <a:ext cx="8382000" cy="5029200"/>
          </a:xfrm>
        </p:spPr>
        <p:txBody>
          <a:bodyPr>
            <a:normAutofit fontScale="92500" lnSpcReduction="10000"/>
          </a:bodyPr>
          <a:lstStyle/>
          <a:p>
            <a:pPr>
              <a:spcBef>
                <a:spcPts val="0"/>
              </a:spcBef>
            </a:pPr>
            <a:r>
              <a:rPr lang="en-US" sz="3600" b="1" dirty="0" smtClean="0">
                <a:solidFill>
                  <a:srgbClr val="000000"/>
                </a:solidFill>
                <a:latin typeface="Tahoma" pitchFamily="34" charset="0"/>
                <a:ea typeface="Tahoma" pitchFamily="34" charset="0"/>
                <a:cs typeface="Tahoma" pitchFamily="34" charset="0"/>
              </a:rPr>
              <a:t>LAN topologies</a:t>
            </a:r>
          </a:p>
          <a:p>
            <a:pPr lvl="1">
              <a:spcBef>
                <a:spcPts val="0"/>
              </a:spcBef>
            </a:pPr>
            <a:r>
              <a:rPr lang="en-US" sz="2400" b="1" dirty="0" smtClean="0">
                <a:solidFill>
                  <a:srgbClr val="000000"/>
                </a:solidFill>
                <a:latin typeface="Tahoma" pitchFamily="34" charset="0"/>
                <a:ea typeface="Tahoma" pitchFamily="34" charset="0"/>
                <a:cs typeface="Tahoma" pitchFamily="34" charset="0"/>
              </a:rPr>
              <a:t>Bus topology</a:t>
            </a:r>
          </a:p>
          <a:p>
            <a:pPr lvl="2">
              <a:spcBef>
                <a:spcPts val="0"/>
              </a:spcBef>
            </a:pPr>
            <a:r>
              <a:rPr lang="en-US" sz="2400" dirty="0" smtClean="0">
                <a:solidFill>
                  <a:srgbClr val="000000"/>
                </a:solidFill>
                <a:latin typeface="Tahoma" pitchFamily="34" charset="0"/>
                <a:ea typeface="Tahoma" pitchFamily="34" charset="0"/>
                <a:cs typeface="Tahoma" pitchFamily="34" charset="0"/>
              </a:rPr>
              <a:t>Practical for home or small office</a:t>
            </a:r>
          </a:p>
          <a:p>
            <a:pPr lvl="2">
              <a:spcBef>
                <a:spcPts val="0"/>
              </a:spcBef>
            </a:pPr>
            <a:r>
              <a:rPr lang="en-US" sz="2400" dirty="0" smtClean="0">
                <a:solidFill>
                  <a:srgbClr val="000000"/>
                </a:solidFill>
                <a:latin typeface="Tahoma" pitchFamily="34" charset="0"/>
                <a:ea typeface="Tahoma" pitchFamily="34" charset="0"/>
                <a:cs typeface="Tahoma" pitchFamily="34" charset="0"/>
              </a:rPr>
              <a:t>One node transmits at a time</a:t>
            </a:r>
          </a:p>
          <a:p>
            <a:pPr lvl="2">
              <a:spcBef>
                <a:spcPts val="0"/>
              </a:spcBef>
            </a:pPr>
            <a:r>
              <a:rPr lang="en-US" sz="2400" b="1" dirty="0" smtClean="0">
                <a:solidFill>
                  <a:srgbClr val="000000"/>
                </a:solidFill>
                <a:latin typeface="Tahoma" pitchFamily="34" charset="0"/>
                <a:ea typeface="Tahoma" pitchFamily="34" charset="0"/>
                <a:cs typeface="Tahoma" pitchFamily="34" charset="0"/>
              </a:rPr>
              <a:t>Terminators</a:t>
            </a:r>
            <a:r>
              <a:rPr lang="en-US" sz="2400" dirty="0" smtClean="0">
                <a:solidFill>
                  <a:srgbClr val="000000"/>
                </a:solidFill>
                <a:latin typeface="Tahoma" pitchFamily="34" charset="0"/>
                <a:ea typeface="Tahoma" pitchFamily="34" charset="0"/>
                <a:cs typeface="Tahoma" pitchFamily="34" charset="0"/>
              </a:rPr>
              <a:t> signify the end of the circuit</a:t>
            </a:r>
          </a:p>
          <a:p>
            <a:pPr lvl="2">
              <a:spcBef>
                <a:spcPts val="0"/>
              </a:spcBef>
            </a:pPr>
            <a:r>
              <a:rPr lang="en-US" sz="2400" dirty="0" smtClean="0">
                <a:solidFill>
                  <a:srgbClr val="000000"/>
                </a:solidFill>
                <a:latin typeface="Tahoma" pitchFamily="34" charset="0"/>
                <a:ea typeface="Tahoma" pitchFamily="34" charset="0"/>
                <a:cs typeface="Tahoma" pitchFamily="34" charset="0"/>
              </a:rPr>
              <a:t>Uses </a:t>
            </a:r>
            <a:r>
              <a:rPr lang="en-US" sz="2400" b="1" dirty="0" smtClean="0">
                <a:solidFill>
                  <a:srgbClr val="000000"/>
                </a:solidFill>
                <a:latin typeface="Tahoma" pitchFamily="34" charset="0"/>
                <a:ea typeface="Tahoma" pitchFamily="34" charset="0"/>
                <a:cs typeface="Tahoma" pitchFamily="34" charset="0"/>
              </a:rPr>
              <a:t>contention management</a:t>
            </a:r>
            <a:r>
              <a:rPr lang="en-US" sz="2400" dirty="0" smtClean="0">
                <a:solidFill>
                  <a:srgbClr val="000000"/>
                </a:solidFill>
                <a:latin typeface="Tahoma" pitchFamily="34" charset="0"/>
                <a:ea typeface="Tahoma" pitchFamily="34" charset="0"/>
                <a:cs typeface="Tahoma" pitchFamily="34" charset="0"/>
              </a:rPr>
              <a:t>—technique that specifies what happens when a collision occurs</a:t>
            </a:r>
          </a:p>
          <a:p>
            <a:pPr lvl="1">
              <a:spcBef>
                <a:spcPts val="0"/>
              </a:spcBef>
            </a:pPr>
            <a:r>
              <a:rPr lang="en-US" sz="2400" b="1" dirty="0" smtClean="0">
                <a:solidFill>
                  <a:srgbClr val="000000"/>
                </a:solidFill>
                <a:latin typeface="Tahoma" pitchFamily="34" charset="0"/>
                <a:ea typeface="Tahoma" pitchFamily="34" charset="0"/>
                <a:cs typeface="Tahoma" pitchFamily="34" charset="0"/>
              </a:rPr>
              <a:t>Star topology</a:t>
            </a:r>
          </a:p>
          <a:p>
            <a:pPr lvl="2">
              <a:spcBef>
                <a:spcPts val="0"/>
              </a:spcBef>
            </a:pPr>
            <a:r>
              <a:rPr lang="en-US" sz="2400" dirty="0" smtClean="0">
                <a:solidFill>
                  <a:srgbClr val="000000"/>
                </a:solidFill>
                <a:latin typeface="Tahoma" pitchFamily="34" charset="0"/>
                <a:ea typeface="Tahoma" pitchFamily="34" charset="0"/>
                <a:cs typeface="Tahoma" pitchFamily="34" charset="0"/>
              </a:rPr>
              <a:t>For office buildings, computer labs, and WANs</a:t>
            </a:r>
          </a:p>
          <a:p>
            <a:pPr lvl="2">
              <a:spcBef>
                <a:spcPts val="0"/>
              </a:spcBef>
            </a:pPr>
            <a:r>
              <a:rPr lang="en-US" sz="2400" dirty="0" smtClean="0">
                <a:solidFill>
                  <a:srgbClr val="000000"/>
                </a:solidFill>
                <a:latin typeface="Tahoma" pitchFamily="34" charset="0"/>
                <a:ea typeface="Tahoma" pitchFamily="34" charset="0"/>
                <a:cs typeface="Tahoma" pitchFamily="34" charset="0"/>
              </a:rPr>
              <a:t>Easy to add users</a:t>
            </a:r>
          </a:p>
          <a:p>
            <a:pPr lvl="1">
              <a:spcBef>
                <a:spcPts val="0"/>
              </a:spcBef>
            </a:pPr>
            <a:r>
              <a:rPr lang="en-US" sz="2400" b="1" dirty="0" smtClean="0">
                <a:solidFill>
                  <a:srgbClr val="000000"/>
                </a:solidFill>
                <a:latin typeface="Tahoma" pitchFamily="34" charset="0"/>
                <a:ea typeface="Tahoma" pitchFamily="34" charset="0"/>
                <a:cs typeface="Tahoma" pitchFamily="34" charset="0"/>
              </a:rPr>
              <a:t>Ring topology</a:t>
            </a:r>
          </a:p>
          <a:p>
            <a:pPr lvl="2">
              <a:spcBef>
                <a:spcPts val="0"/>
              </a:spcBef>
            </a:pPr>
            <a:r>
              <a:rPr lang="en-US" sz="2400" dirty="0" smtClean="0">
                <a:solidFill>
                  <a:srgbClr val="000000"/>
                </a:solidFill>
                <a:latin typeface="Tahoma" pitchFamily="34" charset="0"/>
                <a:ea typeface="Tahoma" pitchFamily="34" charset="0"/>
                <a:cs typeface="Tahoma" pitchFamily="34" charset="0"/>
              </a:rPr>
              <a:t>For a division of a company or one floor</a:t>
            </a:r>
          </a:p>
          <a:p>
            <a:pPr lvl="2">
              <a:spcBef>
                <a:spcPts val="0"/>
              </a:spcBef>
            </a:pPr>
            <a:r>
              <a:rPr lang="en-US" sz="2400" dirty="0" smtClean="0">
                <a:solidFill>
                  <a:srgbClr val="000000"/>
                </a:solidFill>
                <a:latin typeface="Tahoma" pitchFamily="34" charset="0"/>
                <a:ea typeface="Tahoma" pitchFamily="34" charset="0"/>
                <a:cs typeface="Tahoma" pitchFamily="34" charset="0"/>
              </a:rPr>
              <a:t>Not in common use today</a:t>
            </a:r>
          </a:p>
          <a:p>
            <a:pPr lvl="2">
              <a:spcBef>
                <a:spcPts val="0"/>
              </a:spcBef>
            </a:pPr>
            <a:r>
              <a:rPr lang="en-US" sz="2400" dirty="0" smtClean="0">
                <a:solidFill>
                  <a:srgbClr val="000000"/>
                </a:solidFill>
                <a:latin typeface="Tahoma" pitchFamily="34" charset="0"/>
                <a:ea typeface="Tahoma" pitchFamily="34" charset="0"/>
                <a:cs typeface="Tahoma" pitchFamily="34" charset="0"/>
              </a:rPr>
              <a:t>Node can transmit only when it has the </a:t>
            </a:r>
            <a:r>
              <a:rPr lang="en-US" sz="2400" b="1" dirty="0" smtClean="0">
                <a:solidFill>
                  <a:srgbClr val="000000"/>
                </a:solidFill>
                <a:latin typeface="Tahoma" pitchFamily="34" charset="0"/>
                <a:ea typeface="Tahoma" pitchFamily="34" charset="0"/>
                <a:cs typeface="Tahoma" pitchFamily="34" charset="0"/>
              </a:rPr>
              <a:t>token</a:t>
            </a:r>
            <a:r>
              <a:rPr lang="en-US" sz="2400" dirty="0" smtClean="0">
                <a:solidFill>
                  <a:srgbClr val="000000"/>
                </a:solidFill>
                <a:latin typeface="Tahoma" pitchFamily="34" charset="0"/>
                <a:ea typeface="Tahoma" pitchFamily="34" charset="0"/>
                <a:cs typeface="Tahoma" pitchFamily="34" charset="0"/>
              </a:rPr>
              <a:t>—special unit of data that travels around the ring</a:t>
            </a:r>
          </a:p>
        </p:txBody>
      </p:sp>
      <p:sp>
        <p:nvSpPr>
          <p:cNvPr id="7" name="Title 1"/>
          <p:cNvSpPr>
            <a:spLocks noGrp="1"/>
          </p:cNvSpPr>
          <p:nvPr>
            <p:ph type="title"/>
          </p:nvPr>
        </p:nvSpPr>
        <p:spPr>
          <a:xfrm>
            <a:off x="0" y="-8792"/>
            <a:ext cx="9144000" cy="1075592"/>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27</a:t>
            </a:fld>
            <a:endParaRPr kumimoji="0" lang="en-US"/>
          </a:p>
        </p:txBody>
      </p:sp>
    </p:spTree>
    <p:extLst>
      <p:ext uri="{BB962C8B-B14F-4D97-AF65-F5344CB8AC3E}">
        <p14:creationId xmlns:p14="http://schemas.microsoft.com/office/powerpoint/2010/main" val="3290519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600200"/>
          </a:xfrm>
        </p:spPr>
        <p:txBody>
          <a:bodyPr anchor="b"/>
          <a:lstStyle/>
          <a:p>
            <a:pPr eaLnBrk="1" hangingPunct="1"/>
            <a:r>
              <a:rPr lang="en-US" dirty="0" smtClean="0"/>
              <a:t>Local Area Networks</a:t>
            </a:r>
          </a:p>
        </p:txBody>
      </p:sp>
      <p:pic>
        <p:nvPicPr>
          <p:cNvPr id="7170" name="Picture 2"/>
          <p:cNvPicPr>
            <a:picLocks noGrp="1" noChangeAspect="1" noChangeArrowheads="1"/>
          </p:cNvPicPr>
          <p:nvPr>
            <p:ph idx="1"/>
          </p:nvPr>
        </p:nvPicPr>
        <p:blipFill>
          <a:blip r:embed="rId3" cstate="print"/>
          <a:srcRect/>
          <a:stretch>
            <a:fillRect/>
          </a:stretch>
        </p:blipFill>
        <p:spPr bwMode="auto">
          <a:xfrm>
            <a:off x="609600" y="1981200"/>
            <a:ext cx="7830466" cy="4038473"/>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28</a:t>
            </a:fld>
            <a:endParaRPr kumimoji="0" lang="en-US"/>
          </a:p>
        </p:txBody>
      </p:sp>
    </p:spTree>
    <p:extLst>
      <p:ext uri="{BB962C8B-B14F-4D97-AF65-F5344CB8AC3E}">
        <p14:creationId xmlns:p14="http://schemas.microsoft.com/office/powerpoint/2010/main" val="11892810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8792"/>
            <a:ext cx="9144000" cy="1210408"/>
          </a:xfrm>
        </p:spPr>
        <p:txBody>
          <a:bodyPr anchor="b"/>
          <a:lstStyle/>
          <a:p>
            <a:pPr eaLnBrk="1" hangingPunct="1"/>
            <a:r>
              <a:rPr lang="en-US" dirty="0" smtClean="0"/>
              <a:t>Local Area Networks</a:t>
            </a:r>
          </a:p>
        </p:txBody>
      </p:sp>
      <p:pic>
        <p:nvPicPr>
          <p:cNvPr id="8194" name="Picture 2"/>
          <p:cNvPicPr>
            <a:picLocks noChangeAspect="1" noChangeArrowheads="1"/>
          </p:cNvPicPr>
          <p:nvPr/>
        </p:nvPicPr>
        <p:blipFill>
          <a:blip r:embed="rId3" cstate="print"/>
          <a:srcRect/>
          <a:stretch>
            <a:fillRect/>
          </a:stretch>
        </p:blipFill>
        <p:spPr bwMode="auto">
          <a:xfrm>
            <a:off x="2133600" y="1828800"/>
            <a:ext cx="4572000" cy="4438498"/>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29</a:t>
            </a:fld>
            <a:endParaRPr kumimoji="0" lang="en-US"/>
          </a:p>
        </p:txBody>
      </p:sp>
    </p:spTree>
    <p:extLst>
      <p:ext uri="{BB962C8B-B14F-4D97-AF65-F5344CB8AC3E}">
        <p14:creationId xmlns:p14="http://schemas.microsoft.com/office/powerpoint/2010/main" val="1739650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143000"/>
          </a:xfrm>
        </p:spPr>
        <p:txBody>
          <a:bodyPr anchor="b"/>
          <a:lstStyle/>
          <a:p>
            <a:pPr eaLnBrk="1" hangingPunct="1"/>
            <a:r>
              <a:rPr lang="en-US" dirty="0" smtClean="0"/>
              <a:t>Local Area Networks</a:t>
            </a:r>
          </a:p>
        </p:txBody>
      </p:sp>
      <p:pic>
        <p:nvPicPr>
          <p:cNvPr id="9218" name="Picture 2"/>
          <p:cNvPicPr>
            <a:picLocks noChangeAspect="1" noChangeArrowheads="1"/>
          </p:cNvPicPr>
          <p:nvPr/>
        </p:nvPicPr>
        <p:blipFill>
          <a:blip r:embed="rId3" cstate="print"/>
          <a:srcRect/>
          <a:stretch>
            <a:fillRect/>
          </a:stretch>
        </p:blipFill>
        <p:spPr bwMode="auto">
          <a:xfrm>
            <a:off x="2209800" y="1838115"/>
            <a:ext cx="4495800" cy="4516943"/>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30</a:t>
            </a:fld>
            <a:endParaRPr kumimoji="0" lang="en-US"/>
          </a:p>
        </p:txBody>
      </p:sp>
    </p:spTree>
    <p:extLst>
      <p:ext uri="{BB962C8B-B14F-4D97-AF65-F5344CB8AC3E}">
        <p14:creationId xmlns:p14="http://schemas.microsoft.com/office/powerpoint/2010/main" val="3920914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8"/>
          <p:cNvSpPr>
            <a:spLocks noGrp="1"/>
          </p:cNvSpPr>
          <p:nvPr>
            <p:ph idx="1"/>
          </p:nvPr>
        </p:nvSpPr>
        <p:spPr>
          <a:xfrm>
            <a:off x="762000" y="1447800"/>
            <a:ext cx="8382000" cy="45720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LAN protocols</a:t>
            </a:r>
          </a:p>
          <a:p>
            <a:pPr lvl="1"/>
            <a:r>
              <a:rPr lang="en-US" sz="2400" b="1" dirty="0" smtClean="0">
                <a:solidFill>
                  <a:srgbClr val="000000"/>
                </a:solidFill>
                <a:latin typeface="Tahoma" pitchFamily="34" charset="0"/>
                <a:ea typeface="Tahoma" pitchFamily="34" charset="0"/>
                <a:cs typeface="Tahoma" pitchFamily="34" charset="0"/>
              </a:rPr>
              <a:t>Protocols</a:t>
            </a:r>
            <a:r>
              <a:rPr lang="en-US" sz="2400" dirty="0" smtClean="0">
                <a:solidFill>
                  <a:srgbClr val="000000"/>
                </a:solidFill>
                <a:latin typeface="Tahoma" pitchFamily="34" charset="0"/>
                <a:ea typeface="Tahoma" pitchFamily="34" charset="0"/>
                <a:cs typeface="Tahoma" pitchFamily="34" charset="0"/>
              </a:rPr>
              <a:t>—standards used by networks to permit communication between network-connected devices </a:t>
            </a:r>
          </a:p>
          <a:p>
            <a:pPr lvl="1"/>
            <a:r>
              <a:rPr lang="en-US" sz="2400" b="1" dirty="0" smtClean="0">
                <a:solidFill>
                  <a:srgbClr val="000000"/>
                </a:solidFill>
                <a:latin typeface="Tahoma" pitchFamily="34" charset="0"/>
                <a:ea typeface="Tahoma" pitchFamily="34" charset="0"/>
                <a:cs typeface="Tahoma" pitchFamily="34" charset="0"/>
              </a:rPr>
              <a:t>Modulation protocols</a:t>
            </a:r>
            <a:r>
              <a:rPr lang="en-US" sz="2400" dirty="0" smtClean="0">
                <a:solidFill>
                  <a:srgbClr val="000000"/>
                </a:solidFill>
                <a:latin typeface="Tahoma" pitchFamily="34" charset="0"/>
                <a:ea typeface="Tahoma" pitchFamily="34" charset="0"/>
                <a:cs typeface="Tahoma" pitchFamily="34" charset="0"/>
              </a:rPr>
              <a:t>—ensure that the modem can communicate with another modem, even if by a different manufacturer</a:t>
            </a:r>
          </a:p>
          <a:p>
            <a:pPr lvl="1"/>
            <a:r>
              <a:rPr lang="en-US" sz="2400" b="1" dirty="0" smtClean="0">
                <a:solidFill>
                  <a:srgbClr val="000000"/>
                </a:solidFill>
                <a:latin typeface="Tahoma" pitchFamily="34" charset="0"/>
                <a:ea typeface="Tahoma" pitchFamily="34" charset="0"/>
                <a:cs typeface="Tahoma" pitchFamily="34" charset="0"/>
              </a:rPr>
              <a:t>Protocol suite</a:t>
            </a:r>
            <a:r>
              <a:rPr lang="en-US" sz="2400" dirty="0" smtClean="0">
                <a:solidFill>
                  <a:srgbClr val="000000"/>
                </a:solidFill>
                <a:latin typeface="Tahoma" pitchFamily="34" charset="0"/>
                <a:ea typeface="Tahoma" pitchFamily="34" charset="0"/>
                <a:cs typeface="Tahoma" pitchFamily="34" charset="0"/>
              </a:rPr>
              <a:t>—contains the protocols of the network and specifies its network architecture, or how the network works</a:t>
            </a:r>
          </a:p>
          <a:p>
            <a:pPr marL="457200" lvl="1" indent="0">
              <a:buNone/>
            </a:pPr>
            <a:endParaRPr lang="en-US" sz="1800" b="1" dirty="0" smtClean="0">
              <a:solidFill>
                <a:srgbClr val="000000"/>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295400"/>
          </a:xfrm>
        </p:spPr>
        <p:txBody>
          <a:bodyPr anchor="b"/>
          <a:lstStyle/>
          <a:p>
            <a:pPr eaLnBrk="1" hangingPunct="1"/>
            <a:r>
              <a:rPr lang="en-US" dirty="0" smtClean="0"/>
              <a:t>Local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31</a:t>
            </a:fld>
            <a:endParaRPr kumimoji="0" lang="en-US"/>
          </a:p>
        </p:txBody>
      </p:sp>
    </p:spTree>
    <p:extLst>
      <p:ext uri="{BB962C8B-B14F-4D97-AF65-F5344CB8AC3E}">
        <p14:creationId xmlns:p14="http://schemas.microsoft.com/office/powerpoint/2010/main" val="2990208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p:cNvSpPr>
            <a:spLocks noGrp="1"/>
          </p:cNvSpPr>
          <p:nvPr>
            <p:ph type="title"/>
          </p:nvPr>
        </p:nvSpPr>
        <p:spPr>
          <a:xfrm>
            <a:off x="0" y="0"/>
            <a:ext cx="9144000" cy="1066800"/>
          </a:xfrm>
        </p:spPr>
        <p:txBody>
          <a:bodyPr anchor="b"/>
          <a:lstStyle/>
          <a:p>
            <a:pPr eaLnBrk="1" hangingPunct="1"/>
            <a:r>
              <a:rPr lang="en-US" dirty="0" smtClean="0"/>
              <a:t>Local Area Networks</a:t>
            </a:r>
          </a:p>
        </p:txBody>
      </p:sp>
      <p:sp>
        <p:nvSpPr>
          <p:cNvPr id="137218" name="Content Placeholder 8"/>
          <p:cNvSpPr>
            <a:spLocks noGrp="1"/>
          </p:cNvSpPr>
          <p:nvPr>
            <p:ph idx="1"/>
          </p:nvPr>
        </p:nvSpPr>
        <p:spPr>
          <a:xfrm>
            <a:off x="762000" y="1295400"/>
            <a:ext cx="8382000" cy="4724400"/>
          </a:xfrm>
        </p:spPr>
        <p:txBody>
          <a:bodyPr>
            <a:normAutofit/>
          </a:bodyPr>
          <a:lstStyle/>
          <a:p>
            <a:r>
              <a:rPr lang="en-US" sz="3600" b="1" dirty="0" smtClean="0">
                <a:solidFill>
                  <a:srgbClr val="000000"/>
                </a:solidFill>
                <a:latin typeface="Tahoma" pitchFamily="34" charset="0"/>
                <a:ea typeface="Tahoma" pitchFamily="34" charset="0"/>
                <a:cs typeface="Tahoma" pitchFamily="34" charset="0"/>
              </a:rPr>
              <a:t>LAN protocols (</a:t>
            </a:r>
            <a:r>
              <a:rPr lang="en-US" sz="3600" b="1" dirty="0" err="1" smtClean="0">
                <a:solidFill>
                  <a:srgbClr val="000000"/>
                </a:solidFill>
                <a:latin typeface="Tahoma" pitchFamily="34" charset="0"/>
                <a:ea typeface="Tahoma" pitchFamily="34" charset="0"/>
                <a:cs typeface="Tahoma" pitchFamily="34" charset="0"/>
              </a:rPr>
              <a:t>con’t</a:t>
            </a:r>
            <a:r>
              <a:rPr lang="en-US" sz="3600" b="1" dirty="0" smtClean="0">
                <a:solidFill>
                  <a:srgbClr val="000000"/>
                </a:solidFill>
                <a:latin typeface="Tahoma" pitchFamily="34" charset="0"/>
                <a:ea typeface="Tahoma" pitchFamily="34" charset="0"/>
                <a:cs typeface="Tahoma" pitchFamily="34" charset="0"/>
              </a:rPr>
              <a:t>.)</a:t>
            </a:r>
          </a:p>
          <a:p>
            <a:pPr lvl="1"/>
            <a:r>
              <a:rPr lang="en-US" sz="2400" b="1" dirty="0" smtClean="0">
                <a:solidFill>
                  <a:srgbClr val="000000"/>
                </a:solidFill>
                <a:latin typeface="Tahoma" pitchFamily="34" charset="0"/>
                <a:ea typeface="Tahoma" pitchFamily="34" charset="0"/>
                <a:cs typeface="Tahoma" pitchFamily="34" charset="0"/>
              </a:rPr>
              <a:t>Network layers</a:t>
            </a:r>
            <a:r>
              <a:rPr lang="en-US" sz="2400" dirty="0" smtClean="0">
                <a:solidFill>
                  <a:srgbClr val="000000"/>
                </a:solidFill>
                <a:latin typeface="Tahoma" pitchFamily="34" charset="0"/>
                <a:ea typeface="Tahoma" pitchFamily="34" charset="0"/>
                <a:cs typeface="Tahoma" pitchFamily="34" charset="0"/>
              </a:rPr>
              <a:t>—divide </a:t>
            </a:r>
            <a:r>
              <a:rPr lang="en-US" sz="2400" b="1" dirty="0" smtClean="0">
                <a:solidFill>
                  <a:srgbClr val="000000"/>
                </a:solidFill>
                <a:latin typeface="Tahoma" pitchFamily="34" charset="0"/>
                <a:ea typeface="Tahoma" pitchFamily="34" charset="0"/>
                <a:cs typeface="Tahoma" pitchFamily="34" charset="0"/>
              </a:rPr>
              <a:t>network architecture </a:t>
            </a:r>
            <a:r>
              <a:rPr lang="en-US" sz="2400" dirty="0" smtClean="0">
                <a:solidFill>
                  <a:srgbClr val="000000"/>
                </a:solidFill>
                <a:latin typeface="Tahoma" pitchFamily="34" charset="0"/>
                <a:ea typeface="Tahoma" pitchFamily="34" charset="0"/>
                <a:cs typeface="Tahoma" pitchFamily="34" charset="0"/>
              </a:rPr>
              <a:t>for separate treatment</a:t>
            </a:r>
          </a:p>
          <a:p>
            <a:pPr lvl="2"/>
            <a:r>
              <a:rPr lang="en-US" sz="2400" dirty="0" smtClean="0">
                <a:solidFill>
                  <a:srgbClr val="000000"/>
                </a:solidFill>
                <a:latin typeface="Tahoma" pitchFamily="34" charset="0"/>
                <a:ea typeface="Tahoma" pitchFamily="34" charset="0"/>
                <a:cs typeface="Tahoma" pitchFamily="34" charset="0"/>
              </a:rPr>
              <a:t>Each network layer can operate and be governed by its own protocols.</a:t>
            </a:r>
          </a:p>
          <a:p>
            <a:pPr lvl="2"/>
            <a:r>
              <a:rPr lang="en-US" sz="2400" b="1" dirty="0" smtClean="0">
                <a:solidFill>
                  <a:srgbClr val="000000"/>
                </a:solidFill>
                <a:latin typeface="Tahoma" pitchFamily="34" charset="0"/>
                <a:ea typeface="Tahoma" pitchFamily="34" charset="0"/>
                <a:cs typeface="Tahoma" pitchFamily="34" charset="0"/>
              </a:rPr>
              <a:t>Protocol stack</a:t>
            </a:r>
            <a:r>
              <a:rPr lang="en-US" sz="2400" dirty="0" smtClean="0">
                <a:solidFill>
                  <a:srgbClr val="000000"/>
                </a:solidFill>
                <a:latin typeface="Tahoma" pitchFamily="34" charset="0"/>
                <a:ea typeface="Tahoma" pitchFamily="34" charset="0"/>
                <a:cs typeface="Tahoma" pitchFamily="34" charset="0"/>
              </a:rPr>
              <a:t>—vertical arrangement of network layers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32</a:t>
            </a:fld>
            <a:endParaRPr kumimoji="0" lang="en-US"/>
          </a:p>
        </p:txBody>
      </p:sp>
    </p:spTree>
    <p:extLst>
      <p:ext uri="{BB962C8B-B14F-4D97-AF65-F5344CB8AC3E}">
        <p14:creationId xmlns:p14="http://schemas.microsoft.com/office/powerpoint/2010/main" val="3267616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p:cNvSpPr>
          <p:nvPr>
            <p:ph type="title"/>
          </p:nvPr>
        </p:nvSpPr>
        <p:spPr>
          <a:xfrm>
            <a:off x="0" y="0"/>
            <a:ext cx="9144000" cy="1143000"/>
          </a:xfrm>
        </p:spPr>
        <p:txBody>
          <a:bodyPr anchor="b"/>
          <a:lstStyle/>
          <a:p>
            <a:pPr eaLnBrk="1" hangingPunct="1"/>
            <a:r>
              <a:rPr lang="en-US" dirty="0" smtClean="0"/>
              <a:t>Local Area Networks</a:t>
            </a:r>
          </a:p>
        </p:txBody>
      </p:sp>
      <p:sp>
        <p:nvSpPr>
          <p:cNvPr id="139266" name="Content Placeholder 8"/>
          <p:cNvSpPr>
            <a:spLocks noGrp="1"/>
          </p:cNvSpPr>
          <p:nvPr>
            <p:ph idx="1"/>
          </p:nvPr>
        </p:nvSpPr>
        <p:spPr>
          <a:xfrm>
            <a:off x="762000" y="1219200"/>
            <a:ext cx="8382000" cy="51054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LAN technologies</a:t>
            </a:r>
          </a:p>
          <a:p>
            <a:pPr lvl="1">
              <a:spcBef>
                <a:spcPct val="0"/>
              </a:spcBef>
            </a:pPr>
            <a:r>
              <a:rPr lang="en-US" sz="2400" b="1" dirty="0" smtClean="0">
                <a:solidFill>
                  <a:srgbClr val="000000"/>
                </a:solidFill>
                <a:latin typeface="Tahoma" pitchFamily="34" charset="0"/>
                <a:ea typeface="Tahoma" pitchFamily="34" charset="0"/>
                <a:cs typeface="Tahoma" pitchFamily="34" charset="0"/>
              </a:rPr>
              <a:t>Ethernet</a:t>
            </a:r>
            <a:r>
              <a:rPr lang="en-US" sz="2400" dirty="0" smtClean="0">
                <a:solidFill>
                  <a:srgbClr val="000000"/>
                </a:solidFill>
                <a:latin typeface="Tahoma" pitchFamily="34" charset="0"/>
                <a:ea typeface="Tahoma" pitchFamily="34" charset="0"/>
                <a:cs typeface="Tahoma" pitchFamily="34" charset="0"/>
              </a:rPr>
              <a:t>—most-used LAN protocol</a:t>
            </a:r>
          </a:p>
          <a:p>
            <a:pPr lvl="2">
              <a:spcBef>
                <a:spcPct val="0"/>
              </a:spcBef>
            </a:pPr>
            <a:r>
              <a:rPr lang="en-US" sz="2400" dirty="0">
                <a:solidFill>
                  <a:srgbClr val="000000"/>
                </a:solidFill>
                <a:latin typeface="Tahoma" pitchFamily="34" charset="0"/>
                <a:ea typeface="Tahoma" pitchFamily="34" charset="0"/>
                <a:cs typeface="Tahoma" pitchFamily="34" charset="0"/>
              </a:rPr>
              <a:t>Ethernet star </a:t>
            </a:r>
            <a:r>
              <a:rPr lang="en-US" sz="2400" dirty="0" smtClean="0">
                <a:solidFill>
                  <a:srgbClr val="000000"/>
                </a:solidFill>
                <a:latin typeface="Tahoma" pitchFamily="34" charset="0"/>
                <a:ea typeface="Tahoma" pitchFamily="34" charset="0"/>
                <a:cs typeface="Tahoma" pitchFamily="34" charset="0"/>
              </a:rPr>
              <a:t>networks</a:t>
            </a:r>
          </a:p>
          <a:p>
            <a:pPr lvl="3">
              <a:spcBef>
                <a:spcPct val="0"/>
              </a:spcBef>
            </a:pPr>
            <a:r>
              <a:rPr lang="en-US" sz="2400" dirty="0" smtClean="0">
                <a:solidFill>
                  <a:srgbClr val="000000"/>
                </a:solidFill>
                <a:latin typeface="Tahoma" pitchFamily="34" charset="0"/>
                <a:ea typeface="Tahoma" pitchFamily="34" charset="0"/>
                <a:cs typeface="Tahoma" pitchFamily="34" charset="0"/>
              </a:rPr>
              <a:t>Most popular versions—use twisted-pair wiring and switches</a:t>
            </a:r>
          </a:p>
          <a:p>
            <a:pPr lvl="2">
              <a:spcBef>
                <a:spcPct val="0"/>
              </a:spcBef>
            </a:pPr>
            <a:r>
              <a:rPr lang="en-US" sz="2400" dirty="0" smtClean="0">
                <a:solidFill>
                  <a:srgbClr val="000000"/>
                </a:solidFill>
                <a:latin typeface="Tahoma" pitchFamily="34" charset="0"/>
                <a:ea typeface="Tahoma" pitchFamily="34" charset="0"/>
                <a:cs typeface="Tahoma" pitchFamily="34" charset="0"/>
              </a:rPr>
              <a:t>Sends data in a fixed-size unit called a packet</a:t>
            </a:r>
          </a:p>
          <a:p>
            <a:pPr lvl="1">
              <a:spcBef>
                <a:spcPct val="0"/>
              </a:spcBef>
            </a:pPr>
            <a:r>
              <a:rPr lang="en-US" sz="2400" b="1" dirty="0" err="1" smtClean="0">
                <a:solidFill>
                  <a:srgbClr val="000000"/>
                </a:solidFill>
                <a:latin typeface="Tahoma" pitchFamily="34" charset="0"/>
                <a:ea typeface="Tahoma" pitchFamily="34" charset="0"/>
                <a:cs typeface="Tahoma" pitchFamily="34" charset="0"/>
              </a:rPr>
              <a:t>WiFi</a:t>
            </a:r>
            <a:r>
              <a:rPr lang="en-US" sz="2400" b="1" dirty="0" smtClean="0">
                <a:solidFill>
                  <a:srgbClr val="000000"/>
                </a:solidFill>
                <a:latin typeface="Tahoma" pitchFamily="34" charset="0"/>
                <a:ea typeface="Tahoma" pitchFamily="34" charset="0"/>
                <a:cs typeface="Tahoma" pitchFamily="34" charset="0"/>
              </a:rPr>
              <a:t> </a:t>
            </a:r>
          </a:p>
          <a:p>
            <a:pPr lvl="2">
              <a:spcBef>
                <a:spcPct val="0"/>
              </a:spcBef>
            </a:pPr>
            <a:r>
              <a:rPr lang="en-US" sz="2400" dirty="0" smtClean="0">
                <a:solidFill>
                  <a:srgbClr val="000000"/>
                </a:solidFill>
                <a:latin typeface="Tahoma" pitchFamily="34" charset="0"/>
                <a:ea typeface="Tahoma" pitchFamily="34" charset="0"/>
                <a:cs typeface="Tahoma" pitchFamily="34" charset="0"/>
              </a:rPr>
              <a:t>Uses radio waves to provide a wireless LAN standard at Ethernet speeds</a:t>
            </a:r>
          </a:p>
          <a:p>
            <a:pPr lvl="2">
              <a:spcBef>
                <a:spcPct val="0"/>
              </a:spcBef>
            </a:pPr>
            <a:r>
              <a:rPr lang="en-US" sz="2400" dirty="0" smtClean="0">
                <a:solidFill>
                  <a:srgbClr val="000000"/>
                </a:solidFill>
                <a:latin typeface="Tahoma" pitchFamily="34" charset="0"/>
                <a:ea typeface="Tahoma" pitchFamily="34" charset="0"/>
                <a:cs typeface="Tahoma" pitchFamily="34" charset="0"/>
              </a:rPr>
              <a:t>Needs a central access point—could be a wireless router</a:t>
            </a:r>
          </a:p>
          <a:p>
            <a:pPr lvl="2">
              <a:spcBef>
                <a:spcPct val="0"/>
              </a:spcBef>
            </a:pPr>
            <a:r>
              <a:rPr lang="en-US" sz="2400" b="1" dirty="0" smtClean="0">
                <a:solidFill>
                  <a:srgbClr val="000000"/>
                </a:solidFill>
                <a:latin typeface="Tahoma" pitchFamily="34" charset="0"/>
                <a:ea typeface="Tahoma" pitchFamily="34" charset="0"/>
                <a:cs typeface="Tahoma" pitchFamily="34" charset="0"/>
              </a:rPr>
              <a:t>Hot spots</a:t>
            </a:r>
            <a:r>
              <a:rPr lang="en-US" sz="2400" dirty="0" smtClean="0">
                <a:solidFill>
                  <a:srgbClr val="000000"/>
                </a:solidFill>
                <a:latin typeface="Tahoma" pitchFamily="34" charset="0"/>
                <a:ea typeface="Tahoma" pitchFamily="34" charset="0"/>
                <a:cs typeface="Tahoma" pitchFamily="34" charset="0"/>
              </a:rPr>
              <a:t>—public wireless access locations</a:t>
            </a:r>
            <a:endParaRPr lang="en-US" sz="2400" b="1"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33</a:t>
            </a:fld>
            <a:endParaRPr kumimoji="0" lang="en-US"/>
          </a:p>
        </p:txBody>
      </p:sp>
    </p:spTree>
    <p:extLst>
      <p:ext uri="{BB962C8B-B14F-4D97-AF65-F5344CB8AC3E}">
        <p14:creationId xmlns:p14="http://schemas.microsoft.com/office/powerpoint/2010/main" val="1207126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itle 1"/>
          <p:cNvSpPr>
            <a:spLocks noGrp="1"/>
          </p:cNvSpPr>
          <p:nvPr>
            <p:ph type="title"/>
          </p:nvPr>
        </p:nvSpPr>
        <p:spPr>
          <a:xfrm>
            <a:off x="0" y="0"/>
            <a:ext cx="9144000" cy="990600"/>
          </a:xfrm>
        </p:spPr>
        <p:txBody>
          <a:bodyPr anchor="b"/>
          <a:lstStyle/>
          <a:p>
            <a:pPr eaLnBrk="1" hangingPunct="1"/>
            <a:r>
              <a:rPr lang="en-US" dirty="0" smtClean="0"/>
              <a:t>Wide Area Networks</a:t>
            </a:r>
          </a:p>
        </p:txBody>
      </p:sp>
      <p:sp>
        <p:nvSpPr>
          <p:cNvPr id="147458" name="Content Placeholder 8"/>
          <p:cNvSpPr>
            <a:spLocks noGrp="1"/>
          </p:cNvSpPr>
          <p:nvPr>
            <p:ph idx="1"/>
          </p:nvPr>
        </p:nvSpPr>
        <p:spPr>
          <a:xfrm>
            <a:off x="533400" y="1219200"/>
            <a:ext cx="8382000" cy="48006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Point of presence (POP)</a:t>
            </a:r>
            <a:r>
              <a:rPr lang="en-US" sz="2800" dirty="0" smtClean="0">
                <a:solidFill>
                  <a:srgbClr val="000000"/>
                </a:solidFill>
                <a:latin typeface="Tahoma" pitchFamily="34" charset="0"/>
                <a:ea typeface="Tahoma" pitchFamily="34" charset="0"/>
                <a:cs typeface="Tahoma" pitchFamily="34" charset="0"/>
              </a:rPr>
              <a:t> </a:t>
            </a:r>
          </a:p>
          <a:p>
            <a:pPr lvl="1">
              <a:spcBef>
                <a:spcPct val="0"/>
              </a:spcBef>
            </a:pPr>
            <a:r>
              <a:rPr lang="en-US" sz="2400" dirty="0" smtClean="0">
                <a:solidFill>
                  <a:srgbClr val="000000"/>
                </a:solidFill>
                <a:latin typeface="Tahoma" pitchFamily="34" charset="0"/>
                <a:ea typeface="Tahoma" pitchFamily="34" charset="0"/>
                <a:cs typeface="Tahoma" pitchFamily="34" charset="0"/>
              </a:rPr>
              <a:t>WAN connection point used to obtain access to the WAN</a:t>
            </a:r>
          </a:p>
          <a:p>
            <a:pPr lvl="1">
              <a:spcBef>
                <a:spcPct val="0"/>
              </a:spcBef>
            </a:pPr>
            <a:r>
              <a:rPr lang="en-US" sz="2400" dirty="0" smtClean="0">
                <a:solidFill>
                  <a:srgbClr val="000000"/>
                </a:solidFill>
                <a:latin typeface="Tahoma" pitchFamily="34" charset="0"/>
                <a:ea typeface="Tahoma" pitchFamily="34" charset="0"/>
                <a:cs typeface="Tahoma" pitchFamily="34" charset="0"/>
              </a:rPr>
              <a:t>Wired or wireless</a:t>
            </a:r>
          </a:p>
          <a:p>
            <a:pPr>
              <a:spcBef>
                <a:spcPct val="0"/>
              </a:spcBef>
            </a:pPr>
            <a:r>
              <a:rPr lang="en-US" sz="3600" b="1" dirty="0" smtClean="0">
                <a:solidFill>
                  <a:srgbClr val="000000"/>
                </a:solidFill>
                <a:latin typeface="Tahoma" pitchFamily="34" charset="0"/>
                <a:ea typeface="Tahoma" pitchFamily="34" charset="0"/>
                <a:cs typeface="Tahoma" pitchFamily="34" charset="0"/>
              </a:rPr>
              <a:t>Backbones</a:t>
            </a:r>
            <a:r>
              <a:rPr lang="en-US" sz="3600" dirty="0" smtClean="0">
                <a:solidFill>
                  <a:srgbClr val="000000"/>
                </a:solidFill>
                <a:latin typeface="Tahoma" pitchFamily="34" charset="0"/>
                <a:ea typeface="Tahoma" pitchFamily="34" charset="0"/>
                <a:cs typeface="Tahoma" pitchFamily="34" charset="0"/>
              </a:rPr>
              <a:t> </a:t>
            </a:r>
          </a:p>
          <a:p>
            <a:pPr lvl="1">
              <a:spcBef>
                <a:spcPct val="0"/>
              </a:spcBef>
            </a:pPr>
            <a:r>
              <a:rPr lang="en-US" sz="2400" dirty="0" smtClean="0">
                <a:solidFill>
                  <a:srgbClr val="000000"/>
                </a:solidFill>
                <a:latin typeface="Tahoma" pitchFamily="34" charset="0"/>
                <a:ea typeface="Tahoma" pitchFamily="34" charset="0"/>
                <a:cs typeface="Tahoma" pitchFamily="34" charset="0"/>
              </a:rPr>
              <a:t>High-capacity WAN transmission lines</a:t>
            </a:r>
          </a:p>
          <a:p>
            <a:pPr lvl="1">
              <a:spcBef>
                <a:spcPct val="0"/>
              </a:spcBef>
            </a:pPr>
            <a:r>
              <a:rPr lang="en-US" sz="2400" b="1" dirty="0" smtClean="0">
                <a:solidFill>
                  <a:srgbClr val="000000"/>
                </a:solidFill>
                <a:latin typeface="Tahoma" pitchFamily="34" charset="0"/>
                <a:ea typeface="Tahoma" pitchFamily="34" charset="0"/>
                <a:cs typeface="Tahoma" pitchFamily="34" charset="0"/>
              </a:rPr>
              <a:t>gigaPoP (gigabits per second point of presence)—</a:t>
            </a:r>
            <a:r>
              <a:rPr lang="en-US" sz="2400" dirty="0" smtClean="0">
                <a:solidFill>
                  <a:srgbClr val="000000"/>
                </a:solidFill>
                <a:latin typeface="Tahoma" pitchFamily="34" charset="0"/>
                <a:ea typeface="Tahoma" pitchFamily="34" charset="0"/>
                <a:cs typeface="Tahoma" pitchFamily="34" charset="0"/>
              </a:rPr>
              <a:t>transfers data exceeding 1 </a:t>
            </a:r>
            <a:r>
              <a:rPr lang="en-US" sz="2400" dirty="0" err="1">
                <a:solidFill>
                  <a:srgbClr val="000000"/>
                </a:solidFill>
                <a:latin typeface="Tahoma" pitchFamily="34" charset="0"/>
                <a:ea typeface="Tahoma" pitchFamily="34" charset="0"/>
                <a:cs typeface="Tahoma" pitchFamily="34" charset="0"/>
              </a:rPr>
              <a:t>Gbps</a:t>
            </a:r>
            <a:r>
              <a:rPr lang="en-US" sz="2400" dirty="0">
                <a:solidFill>
                  <a:srgbClr val="000000"/>
                </a:solidFill>
                <a:latin typeface="Tahoma" pitchFamily="34" charset="0"/>
                <a:ea typeface="Tahoma" pitchFamily="34" charset="0"/>
                <a:cs typeface="Tahoma" pitchFamily="34" charset="0"/>
              </a:rPr>
              <a:t> (1 billion bits per second</a:t>
            </a:r>
            <a:r>
              <a:rPr lang="en-US" sz="2400" dirty="0" smtClean="0">
                <a:solidFill>
                  <a:srgbClr val="000000"/>
                </a:solidFill>
                <a:latin typeface="Tahoma" pitchFamily="34" charset="0"/>
                <a:ea typeface="Tahoma" pitchFamily="34" charset="0"/>
                <a:cs typeface="Tahoma" pitchFamily="34" charset="0"/>
              </a:rPr>
              <a: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34</a:t>
            </a:fld>
            <a:endParaRPr kumimoji="0" lang="en-US"/>
          </a:p>
        </p:txBody>
      </p:sp>
    </p:spTree>
    <p:extLst>
      <p:ext uri="{BB962C8B-B14F-4D97-AF65-F5344CB8AC3E}">
        <p14:creationId xmlns:p14="http://schemas.microsoft.com/office/powerpoint/2010/main" val="236612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1"/>
          <p:cNvSpPr>
            <a:spLocks noGrp="1"/>
          </p:cNvSpPr>
          <p:nvPr>
            <p:ph type="title"/>
          </p:nvPr>
        </p:nvSpPr>
        <p:spPr>
          <a:xfrm>
            <a:off x="0" y="0"/>
            <a:ext cx="9144000" cy="1143000"/>
          </a:xfrm>
        </p:spPr>
        <p:txBody>
          <a:bodyPr anchor="b"/>
          <a:lstStyle/>
          <a:p>
            <a:pPr eaLnBrk="1" hangingPunct="1"/>
            <a:r>
              <a:rPr lang="en-US" dirty="0" smtClean="0"/>
              <a:t>Wide Area Networks</a:t>
            </a:r>
          </a:p>
        </p:txBody>
      </p:sp>
      <p:sp>
        <p:nvSpPr>
          <p:cNvPr id="149506" name="Content Placeholder 8"/>
          <p:cNvSpPr>
            <a:spLocks noGrp="1"/>
          </p:cNvSpPr>
          <p:nvPr>
            <p:ph idx="1"/>
          </p:nvPr>
        </p:nvSpPr>
        <p:spPr>
          <a:xfrm>
            <a:off x="762000" y="1447800"/>
            <a:ext cx="8153400" cy="4572000"/>
          </a:xfrm>
        </p:spPr>
        <p:txBody>
          <a:bodyPr>
            <a:normAutofit lnSpcReduction="10000"/>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WAN protocols</a:t>
            </a:r>
          </a:p>
          <a:p>
            <a:pPr lvl="1">
              <a:spcBef>
                <a:spcPct val="0"/>
              </a:spcBef>
            </a:pPr>
            <a:r>
              <a:rPr lang="en-US" sz="2400" dirty="0" smtClean="0">
                <a:solidFill>
                  <a:srgbClr val="000000"/>
                </a:solidFill>
                <a:latin typeface="Tahoma" pitchFamily="34" charset="0"/>
                <a:ea typeface="Tahoma" pitchFamily="34" charset="0"/>
                <a:cs typeface="Tahoma" pitchFamily="34" charset="0"/>
              </a:rPr>
              <a:t>Internet protocols</a:t>
            </a:r>
          </a:p>
          <a:p>
            <a:pPr lvl="2">
              <a:spcBef>
                <a:spcPct val="0"/>
              </a:spcBef>
            </a:pPr>
            <a:r>
              <a:rPr lang="en-US" sz="2400" b="1" dirty="0" smtClean="0">
                <a:solidFill>
                  <a:srgbClr val="000000"/>
                </a:solidFill>
                <a:latin typeface="Tahoma" pitchFamily="34" charset="0"/>
                <a:ea typeface="Tahoma" pitchFamily="34" charset="0"/>
                <a:cs typeface="Tahoma" pitchFamily="34" charset="0"/>
              </a:rPr>
              <a:t>Transmission Control Protocol/Internet </a:t>
            </a:r>
            <a:r>
              <a:rPr lang="en-US" sz="2400" b="1" dirty="0">
                <a:solidFill>
                  <a:srgbClr val="000000"/>
                </a:solidFill>
                <a:latin typeface="Tahoma" pitchFamily="34" charset="0"/>
                <a:ea typeface="Tahoma" pitchFamily="34" charset="0"/>
                <a:cs typeface="Tahoma" pitchFamily="34" charset="0"/>
              </a:rPr>
              <a:t>P</a:t>
            </a:r>
            <a:r>
              <a:rPr lang="en-US" sz="2400" b="1" dirty="0" smtClean="0">
                <a:solidFill>
                  <a:srgbClr val="000000"/>
                </a:solidFill>
                <a:latin typeface="Tahoma" pitchFamily="34" charset="0"/>
                <a:ea typeface="Tahoma" pitchFamily="34" charset="0"/>
                <a:cs typeface="Tahoma" pitchFamily="34" charset="0"/>
              </a:rPr>
              <a:t>rotocol (TCP/IP)</a:t>
            </a:r>
            <a:endParaRPr lang="en-US" sz="2400" b="1" dirty="0">
              <a:solidFill>
                <a:srgbClr val="000000"/>
              </a:solidFill>
              <a:latin typeface="Tahoma" pitchFamily="34" charset="0"/>
              <a:ea typeface="Tahoma" pitchFamily="34" charset="0"/>
              <a:cs typeface="Tahoma" pitchFamily="34" charset="0"/>
            </a:endParaRPr>
          </a:p>
          <a:p>
            <a:pPr lvl="3">
              <a:spcBef>
                <a:spcPct val="0"/>
              </a:spcBef>
            </a:pPr>
            <a:r>
              <a:rPr lang="en-US" sz="2400" dirty="0" smtClean="0">
                <a:solidFill>
                  <a:srgbClr val="000000"/>
                </a:solidFill>
                <a:latin typeface="Tahoma" pitchFamily="34" charset="0"/>
                <a:ea typeface="Tahoma" pitchFamily="34" charset="0"/>
                <a:cs typeface="Tahoma" pitchFamily="34" charset="0"/>
              </a:rPr>
              <a:t>Protocols that define </a:t>
            </a:r>
            <a:r>
              <a:rPr lang="en-US" sz="2400" dirty="0">
                <a:solidFill>
                  <a:srgbClr val="000000"/>
                </a:solidFill>
                <a:latin typeface="Tahoma" pitchFamily="34" charset="0"/>
                <a:ea typeface="Tahoma" pitchFamily="34" charset="0"/>
                <a:cs typeface="Tahoma" pitchFamily="34" charset="0"/>
              </a:rPr>
              <a:t>how the Internet </a:t>
            </a:r>
            <a:r>
              <a:rPr lang="en-US" sz="2400" dirty="0" smtClean="0">
                <a:solidFill>
                  <a:srgbClr val="000000"/>
                </a:solidFill>
                <a:latin typeface="Tahoma" pitchFamily="34" charset="0"/>
                <a:ea typeface="Tahoma" pitchFamily="34" charset="0"/>
                <a:cs typeface="Tahoma" pitchFamily="34" charset="0"/>
              </a:rPr>
              <a:t>works</a:t>
            </a:r>
            <a:endParaRPr lang="en-US" sz="2400" b="1" dirty="0">
              <a:solidFill>
                <a:srgbClr val="000000"/>
              </a:solidFill>
              <a:latin typeface="Tahoma" pitchFamily="34" charset="0"/>
              <a:ea typeface="Tahoma" pitchFamily="34" charset="0"/>
              <a:cs typeface="Tahoma" pitchFamily="34" charset="0"/>
            </a:endParaRPr>
          </a:p>
          <a:p>
            <a:pPr lvl="2">
              <a:spcBef>
                <a:spcPct val="0"/>
              </a:spcBef>
            </a:pPr>
            <a:r>
              <a:rPr lang="en-US" sz="2400" b="1" dirty="0" smtClean="0">
                <a:solidFill>
                  <a:srgbClr val="000000"/>
                </a:solidFill>
                <a:latin typeface="Tahoma" pitchFamily="34" charset="0"/>
                <a:ea typeface="Tahoma" pitchFamily="34" charset="0"/>
                <a:cs typeface="Tahoma" pitchFamily="34" charset="0"/>
              </a:rPr>
              <a:t>Transmission Control Protocol (TCP)</a:t>
            </a:r>
          </a:p>
          <a:p>
            <a:pPr lvl="3">
              <a:spcBef>
                <a:spcPct val="0"/>
              </a:spcBef>
            </a:pPr>
            <a:r>
              <a:rPr lang="en-US" sz="2400" dirty="0" smtClean="0">
                <a:solidFill>
                  <a:srgbClr val="000000"/>
                </a:solidFill>
                <a:latin typeface="Tahoma" pitchFamily="34" charset="0"/>
                <a:ea typeface="Tahoma" pitchFamily="34" charset="0"/>
                <a:cs typeface="Tahoma" pitchFamily="34" charset="0"/>
              </a:rPr>
              <a:t>Defines how Internet-connected computers can exchange, control, and confirm messages </a:t>
            </a:r>
          </a:p>
          <a:p>
            <a:pPr lvl="2">
              <a:spcBef>
                <a:spcPct val="0"/>
              </a:spcBef>
            </a:pPr>
            <a:r>
              <a:rPr lang="en-US" sz="2400" b="1" dirty="0" smtClean="0">
                <a:solidFill>
                  <a:srgbClr val="000000"/>
                </a:solidFill>
                <a:latin typeface="Tahoma" pitchFamily="34" charset="0"/>
                <a:ea typeface="Tahoma" pitchFamily="34" charset="0"/>
                <a:cs typeface="Tahoma" pitchFamily="34" charset="0"/>
              </a:rPr>
              <a:t>Internet Protocol (IP) </a:t>
            </a:r>
          </a:p>
          <a:p>
            <a:pPr lvl="3">
              <a:spcBef>
                <a:spcPct val="0"/>
              </a:spcBef>
            </a:pPr>
            <a:r>
              <a:rPr lang="en-US" sz="2400" dirty="0" smtClean="0">
                <a:solidFill>
                  <a:srgbClr val="000000"/>
                </a:solidFill>
                <a:latin typeface="Tahoma" pitchFamily="34" charset="0"/>
                <a:ea typeface="Tahoma" pitchFamily="34" charset="0"/>
                <a:cs typeface="Tahoma" pitchFamily="34" charset="0"/>
              </a:rPr>
              <a:t>Provides a distinct identification to any computer connected to the Internet: the </a:t>
            </a:r>
            <a:r>
              <a:rPr lang="en-US" sz="2400" b="1" dirty="0" smtClean="0">
                <a:solidFill>
                  <a:srgbClr val="000000"/>
                </a:solidFill>
                <a:latin typeface="Tahoma" pitchFamily="34" charset="0"/>
                <a:ea typeface="Tahoma" pitchFamily="34" charset="0"/>
                <a:cs typeface="Tahoma" pitchFamily="34" charset="0"/>
              </a:rPr>
              <a:t>IP address </a:t>
            </a:r>
            <a:r>
              <a:rPr lang="en-US" sz="2400" dirty="0" smtClean="0">
                <a:solidFill>
                  <a:srgbClr val="000000"/>
                </a:solidFill>
                <a:latin typeface="Tahoma" pitchFamily="34" charset="0"/>
                <a:ea typeface="Tahoma" pitchFamily="34" charset="0"/>
                <a:cs typeface="Tahoma" pitchFamily="34" charset="0"/>
              </a:rPr>
              <a:t>or</a:t>
            </a:r>
            <a:r>
              <a:rPr lang="en-US" sz="2400" b="1" dirty="0" smtClean="0">
                <a:solidFill>
                  <a:srgbClr val="000000"/>
                </a:solidFill>
                <a:latin typeface="Tahoma" pitchFamily="34" charset="0"/>
                <a:ea typeface="Tahoma" pitchFamily="34" charset="0"/>
                <a:cs typeface="Tahoma" pitchFamily="34" charset="0"/>
              </a:rPr>
              <a:t> Internet address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35</a:t>
            </a:fld>
            <a:endParaRPr kumimoji="0" lang="en-US"/>
          </a:p>
        </p:txBody>
      </p:sp>
    </p:spTree>
    <p:extLst>
      <p:ext uri="{BB962C8B-B14F-4D97-AF65-F5344CB8AC3E}">
        <p14:creationId xmlns:p14="http://schemas.microsoft.com/office/powerpoint/2010/main" val="27082781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Content Placeholder 8"/>
          <p:cNvSpPr>
            <a:spLocks noGrp="1"/>
          </p:cNvSpPr>
          <p:nvPr>
            <p:ph idx="1"/>
          </p:nvPr>
        </p:nvSpPr>
        <p:spPr>
          <a:xfrm>
            <a:off x="711200" y="1219200"/>
            <a:ext cx="8204200" cy="5105400"/>
          </a:xfrm>
        </p:spPr>
        <p:txBody>
          <a:bodyPr>
            <a:normAutofit fontScale="92500"/>
          </a:bodyPr>
          <a:lstStyle/>
          <a:p>
            <a:pPr>
              <a:spcBef>
                <a:spcPts val="0"/>
              </a:spcBef>
            </a:pPr>
            <a:r>
              <a:rPr lang="en-US" sz="3600" b="1" dirty="0" smtClean="0">
                <a:solidFill>
                  <a:srgbClr val="000000"/>
                </a:solidFill>
                <a:latin typeface="Tahoma" pitchFamily="34" charset="0"/>
                <a:ea typeface="Tahoma" pitchFamily="34" charset="0"/>
                <a:cs typeface="Tahoma" pitchFamily="34" charset="0"/>
              </a:rPr>
              <a:t>WAN protocols (</a:t>
            </a:r>
            <a:r>
              <a:rPr lang="en-US" sz="3600" b="1" dirty="0" err="1" smtClean="0">
                <a:solidFill>
                  <a:srgbClr val="000000"/>
                </a:solidFill>
                <a:latin typeface="Tahoma" pitchFamily="34" charset="0"/>
                <a:ea typeface="Tahoma" pitchFamily="34" charset="0"/>
                <a:cs typeface="Tahoma" pitchFamily="34" charset="0"/>
              </a:rPr>
              <a:t>con’t</a:t>
            </a:r>
            <a:r>
              <a:rPr lang="en-US" sz="3600" b="1" dirty="0" smtClean="0">
                <a:solidFill>
                  <a:srgbClr val="000000"/>
                </a:solidFill>
                <a:latin typeface="Tahoma" pitchFamily="34" charset="0"/>
                <a:ea typeface="Tahoma" pitchFamily="34" charset="0"/>
                <a:cs typeface="Tahoma" pitchFamily="34" charset="0"/>
              </a:rPr>
              <a:t>.)</a:t>
            </a:r>
          </a:p>
          <a:p>
            <a:pPr lvl="1">
              <a:spcBef>
                <a:spcPts val="0"/>
              </a:spcBef>
            </a:pPr>
            <a:r>
              <a:rPr lang="en-US" sz="2400" b="1" dirty="0" smtClean="0">
                <a:solidFill>
                  <a:srgbClr val="000000"/>
                </a:solidFill>
                <a:latin typeface="Tahoma" pitchFamily="34" charset="0"/>
                <a:ea typeface="Tahoma" pitchFamily="34" charset="0"/>
                <a:cs typeface="Tahoma" pitchFamily="34" charset="0"/>
              </a:rPr>
              <a:t>Circuit switching</a:t>
            </a:r>
            <a:endParaRPr lang="en-US" sz="2400" dirty="0" smtClean="0">
              <a:solidFill>
                <a:srgbClr val="000000"/>
              </a:solidFill>
              <a:latin typeface="Tahoma" pitchFamily="34" charset="0"/>
              <a:ea typeface="Tahoma" pitchFamily="34" charset="0"/>
              <a:cs typeface="Tahoma" pitchFamily="34" charset="0"/>
            </a:endParaRPr>
          </a:p>
          <a:p>
            <a:pPr lvl="2">
              <a:spcBef>
                <a:spcPts val="0"/>
              </a:spcBef>
            </a:pPr>
            <a:r>
              <a:rPr lang="en-US" sz="2400" dirty="0" smtClean="0">
                <a:solidFill>
                  <a:srgbClr val="000000"/>
                </a:solidFill>
                <a:latin typeface="Tahoma" pitchFamily="34" charset="0"/>
                <a:ea typeface="Tahoma" pitchFamily="34" charset="0"/>
                <a:cs typeface="Tahoma" pitchFamily="34" charset="0"/>
              </a:rPr>
              <a:t>Used by the public switched telephone network</a:t>
            </a:r>
            <a:br>
              <a:rPr lang="en-US" sz="2400" dirty="0" smtClean="0">
                <a:solidFill>
                  <a:srgbClr val="000000"/>
                </a:solidFill>
                <a:latin typeface="Tahoma" pitchFamily="34" charset="0"/>
                <a:ea typeface="Tahoma" pitchFamily="34" charset="0"/>
                <a:cs typeface="Tahoma" pitchFamily="34" charset="0"/>
              </a:rPr>
            </a:br>
            <a:r>
              <a:rPr lang="en-US" sz="2400" dirty="0" smtClean="0">
                <a:solidFill>
                  <a:srgbClr val="000000"/>
                </a:solidFill>
                <a:latin typeface="Tahoma" pitchFamily="34" charset="0"/>
                <a:ea typeface="Tahoma" pitchFamily="34" charset="0"/>
                <a:cs typeface="Tahoma" pitchFamily="34" charset="0"/>
              </a:rPr>
              <a:t>to send data over a physical end-to-end circuit</a:t>
            </a:r>
          </a:p>
          <a:p>
            <a:pPr lvl="2">
              <a:spcBef>
                <a:spcPts val="0"/>
              </a:spcBef>
            </a:pPr>
            <a:r>
              <a:rPr lang="en-US" sz="2400" dirty="0" smtClean="0">
                <a:solidFill>
                  <a:srgbClr val="000000"/>
                </a:solidFill>
                <a:latin typeface="Tahoma" pitchFamily="34" charset="0"/>
                <a:ea typeface="Tahoma" pitchFamily="34" charset="0"/>
                <a:cs typeface="Tahoma" pitchFamily="34" charset="0"/>
              </a:rPr>
              <a:t>Provides a direct connection between devices</a:t>
            </a:r>
          </a:p>
          <a:p>
            <a:pPr lvl="1">
              <a:spcBef>
                <a:spcPts val="0"/>
              </a:spcBef>
            </a:pPr>
            <a:r>
              <a:rPr lang="en-US" sz="2400" b="1" dirty="0" smtClean="0">
                <a:solidFill>
                  <a:srgbClr val="000000"/>
                </a:solidFill>
                <a:latin typeface="Tahoma" pitchFamily="34" charset="0"/>
                <a:ea typeface="Tahoma" pitchFamily="34" charset="0"/>
                <a:cs typeface="Tahoma" pitchFamily="34" charset="0"/>
              </a:rPr>
              <a:t>Packet switching</a:t>
            </a:r>
          </a:p>
          <a:p>
            <a:pPr lvl="2">
              <a:spcBef>
                <a:spcPts val="0"/>
              </a:spcBef>
            </a:pPr>
            <a:r>
              <a:rPr lang="en-US" sz="2400" dirty="0" smtClean="0">
                <a:solidFill>
                  <a:srgbClr val="000000"/>
                </a:solidFill>
                <a:latin typeface="Tahoma" pitchFamily="34" charset="0"/>
                <a:ea typeface="Tahoma" pitchFamily="34" charset="0"/>
                <a:cs typeface="Tahoma" pitchFamily="34" charset="0"/>
              </a:rPr>
              <a:t>Used for computer communication</a:t>
            </a:r>
          </a:p>
          <a:p>
            <a:pPr lvl="2">
              <a:spcBef>
                <a:spcPts val="0"/>
              </a:spcBef>
            </a:pPr>
            <a:r>
              <a:rPr lang="en-US" sz="2400" dirty="0" smtClean="0">
                <a:solidFill>
                  <a:srgbClr val="000000"/>
                </a:solidFill>
                <a:latin typeface="Tahoma" pitchFamily="34" charset="0"/>
                <a:ea typeface="Tahoma" pitchFamily="34" charset="0"/>
                <a:cs typeface="Tahoma" pitchFamily="34" charset="0"/>
              </a:rPr>
              <a:t>Divides and sends outgoing messages as packets, which are reassembled on receipt</a:t>
            </a:r>
          </a:p>
          <a:p>
            <a:pPr lvl="2">
              <a:spcBef>
                <a:spcPts val="0"/>
              </a:spcBef>
            </a:pPr>
            <a:r>
              <a:rPr lang="en-US" sz="2400" dirty="0" smtClean="0">
                <a:solidFill>
                  <a:srgbClr val="000000"/>
                </a:solidFill>
                <a:latin typeface="Tahoma" pitchFamily="34" charset="0"/>
                <a:ea typeface="Tahoma" pitchFamily="34" charset="0"/>
                <a:cs typeface="Tahoma" pitchFamily="34" charset="0"/>
              </a:rPr>
              <a:t>More efficient and less expensive than circuit switching</a:t>
            </a:r>
          </a:p>
          <a:p>
            <a:pPr lvl="1">
              <a:spcBef>
                <a:spcPts val="0"/>
              </a:spcBef>
            </a:pPr>
            <a:r>
              <a:rPr lang="en-US" sz="2400" b="1" dirty="0" smtClean="0">
                <a:solidFill>
                  <a:srgbClr val="000000"/>
                </a:solidFill>
                <a:latin typeface="Tahoma" pitchFamily="34" charset="0"/>
                <a:ea typeface="Tahoma" pitchFamily="34" charset="0"/>
                <a:cs typeface="Tahoma" pitchFamily="34" charset="0"/>
              </a:rPr>
              <a:t>Latency</a:t>
            </a:r>
            <a:r>
              <a:rPr lang="en-US" sz="2400" dirty="0" smtClean="0">
                <a:solidFill>
                  <a:srgbClr val="000000"/>
                </a:solidFill>
                <a:latin typeface="Tahoma" pitchFamily="34" charset="0"/>
                <a:ea typeface="Tahoma" pitchFamily="34" charset="0"/>
                <a:cs typeface="Tahoma" pitchFamily="34" charset="0"/>
              </a:rPr>
              <a:t>—delay introduced when a given packet is examined by many routers</a:t>
            </a:r>
          </a:p>
          <a:p>
            <a:pPr lvl="1">
              <a:spcBef>
                <a:spcPts val="0"/>
              </a:spcBef>
            </a:pPr>
            <a:r>
              <a:rPr lang="en-US" sz="2400" b="1" dirty="0" smtClean="0">
                <a:solidFill>
                  <a:srgbClr val="000000"/>
                </a:solidFill>
                <a:latin typeface="Tahoma" pitchFamily="34" charset="0"/>
                <a:ea typeface="Tahoma" pitchFamily="34" charset="0"/>
                <a:cs typeface="Tahoma" pitchFamily="34" charset="0"/>
              </a:rPr>
              <a:t>Congestion</a:t>
            </a:r>
            <a:r>
              <a:rPr lang="en-US" sz="2400" dirty="0" smtClean="0">
                <a:solidFill>
                  <a:srgbClr val="000000"/>
                </a:solidFill>
                <a:latin typeface="Tahoma" pitchFamily="34" charset="0"/>
                <a:ea typeface="Tahoma" pitchFamily="34" charset="0"/>
                <a:cs typeface="Tahoma" pitchFamily="34" charset="0"/>
              </a:rPr>
              <a:t>—occurs when the network is overloaded, causing some packets to be further delayed</a:t>
            </a:r>
          </a:p>
        </p:txBody>
      </p:sp>
      <p:sp>
        <p:nvSpPr>
          <p:cNvPr id="7" name="Title 1"/>
          <p:cNvSpPr>
            <a:spLocks noGrp="1"/>
          </p:cNvSpPr>
          <p:nvPr>
            <p:ph type="title"/>
          </p:nvPr>
        </p:nvSpPr>
        <p:spPr>
          <a:xfrm>
            <a:off x="0" y="0"/>
            <a:ext cx="9144000" cy="1066800"/>
          </a:xfrm>
        </p:spPr>
        <p:txBody>
          <a:bodyPr anchor="b"/>
          <a:lstStyle/>
          <a:p>
            <a:pPr eaLnBrk="1" hangingPunct="1"/>
            <a:r>
              <a:rPr lang="en-US" dirty="0" smtClean="0"/>
              <a:t>Wide Area Networks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36</a:t>
            </a:fld>
            <a:endParaRPr kumimoji="0" lang="en-US"/>
          </a:p>
        </p:txBody>
      </p:sp>
    </p:spTree>
    <p:extLst>
      <p:ext uri="{BB962C8B-B14F-4D97-AF65-F5344CB8AC3E}">
        <p14:creationId xmlns:p14="http://schemas.microsoft.com/office/powerpoint/2010/main" val="39401796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0"/>
            <a:ext cx="9144000" cy="1600200"/>
          </a:xfrm>
        </p:spPr>
        <p:txBody>
          <a:bodyPr anchor="b"/>
          <a:lstStyle/>
          <a:p>
            <a:pPr eaLnBrk="1" hangingPunct="1"/>
            <a:r>
              <a:rPr lang="en-US" dirty="0" smtClean="0"/>
              <a:t>Wide Area Networks</a:t>
            </a:r>
          </a:p>
        </p:txBody>
      </p:sp>
      <p:pic>
        <p:nvPicPr>
          <p:cNvPr id="10243" name="Picture 3"/>
          <p:cNvPicPr>
            <a:picLocks noGrp="1" noChangeAspect="1" noChangeArrowheads="1"/>
          </p:cNvPicPr>
          <p:nvPr>
            <p:ph idx="1"/>
          </p:nvPr>
        </p:nvPicPr>
        <p:blipFill>
          <a:blip r:embed="rId3" cstate="print"/>
          <a:srcRect/>
          <a:stretch>
            <a:fillRect/>
          </a:stretch>
        </p:blipFill>
        <p:spPr bwMode="auto">
          <a:xfrm>
            <a:off x="519182" y="2362200"/>
            <a:ext cx="8015218" cy="331865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37</a:t>
            </a:fld>
            <a:endParaRPr kumimoji="0" lang="en-US"/>
          </a:p>
        </p:txBody>
      </p:sp>
    </p:spTree>
    <p:extLst>
      <p:ext uri="{BB962C8B-B14F-4D97-AF65-F5344CB8AC3E}">
        <p14:creationId xmlns:p14="http://schemas.microsoft.com/office/powerpoint/2010/main" val="8757671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0"/>
            <a:ext cx="9144000" cy="1600200"/>
          </a:xfrm>
        </p:spPr>
        <p:txBody>
          <a:bodyPr anchor="b"/>
          <a:lstStyle/>
          <a:p>
            <a:pPr eaLnBrk="1" hangingPunct="1"/>
            <a:r>
              <a:rPr lang="en-US" dirty="0" smtClean="0"/>
              <a:t>Wide Area Networks</a:t>
            </a:r>
          </a:p>
        </p:txBody>
      </p:sp>
      <p:pic>
        <p:nvPicPr>
          <p:cNvPr id="11266" name="Picture 2"/>
          <p:cNvPicPr>
            <a:picLocks noGrp="1" noChangeAspect="1" noChangeArrowheads="1"/>
          </p:cNvPicPr>
          <p:nvPr>
            <p:ph idx="1"/>
          </p:nvPr>
        </p:nvPicPr>
        <p:blipFill>
          <a:blip r:embed="rId3" cstate="print"/>
          <a:srcRect/>
          <a:stretch>
            <a:fillRect/>
          </a:stretch>
        </p:blipFill>
        <p:spPr bwMode="auto">
          <a:xfrm>
            <a:off x="408641" y="2438400"/>
            <a:ext cx="8354359" cy="2427416"/>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38</a:t>
            </a:fld>
            <a:endParaRPr kumimoji="0" lang="en-US"/>
          </a:p>
        </p:txBody>
      </p:sp>
    </p:spTree>
    <p:extLst>
      <p:ext uri="{BB962C8B-B14F-4D97-AF65-F5344CB8AC3E}">
        <p14:creationId xmlns:p14="http://schemas.microsoft.com/office/powerpoint/2010/main" val="2272602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0"/>
            <a:ext cx="9144000" cy="1600200"/>
          </a:xfrm>
        </p:spPr>
        <p:txBody>
          <a:bodyPr anchor="b"/>
          <a:lstStyle/>
          <a:p>
            <a:pPr eaLnBrk="1" hangingPunct="1"/>
            <a:r>
              <a:rPr lang="en-US" dirty="0" smtClean="0"/>
              <a:t>Wide Area Networks</a:t>
            </a:r>
          </a:p>
        </p:txBody>
      </p:sp>
      <p:pic>
        <p:nvPicPr>
          <p:cNvPr id="12290" name="Picture 2"/>
          <p:cNvPicPr>
            <a:picLocks noGrp="1" noChangeAspect="1" noChangeArrowheads="1"/>
          </p:cNvPicPr>
          <p:nvPr>
            <p:ph idx="1"/>
          </p:nvPr>
        </p:nvPicPr>
        <p:blipFill>
          <a:blip r:embed="rId3" cstate="print"/>
          <a:srcRect/>
          <a:stretch>
            <a:fillRect/>
          </a:stretch>
        </p:blipFill>
        <p:spPr bwMode="auto">
          <a:xfrm>
            <a:off x="1005233" y="2133600"/>
            <a:ext cx="7031357" cy="4152174"/>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39</a:t>
            </a:fld>
            <a:endParaRPr kumimoji="0" lang="en-US"/>
          </a:p>
        </p:txBody>
      </p:sp>
    </p:spTree>
    <p:extLst>
      <p:ext uri="{BB962C8B-B14F-4D97-AF65-F5344CB8AC3E}">
        <p14:creationId xmlns:p14="http://schemas.microsoft.com/office/powerpoint/2010/main" val="3576755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0"/>
            <a:ext cx="9144000" cy="1600200"/>
          </a:xfrm>
        </p:spPr>
        <p:txBody>
          <a:bodyPr anchor="b"/>
          <a:lstStyle/>
          <a:p>
            <a:pPr eaLnBrk="1" hangingPunct="1"/>
            <a:r>
              <a:rPr lang="en-US" dirty="0" smtClean="0"/>
              <a:t>Wide Area Networks</a:t>
            </a:r>
          </a:p>
        </p:txBody>
      </p:sp>
      <p:pic>
        <p:nvPicPr>
          <p:cNvPr id="13314" name="Picture 2"/>
          <p:cNvPicPr>
            <a:picLocks noGrp="1" noChangeAspect="1" noChangeArrowheads="1"/>
          </p:cNvPicPr>
          <p:nvPr>
            <p:ph idx="1"/>
          </p:nvPr>
        </p:nvPicPr>
        <p:blipFill>
          <a:blip r:embed="rId3" cstate="print"/>
          <a:srcRect/>
          <a:stretch>
            <a:fillRect/>
          </a:stretch>
        </p:blipFill>
        <p:spPr bwMode="auto">
          <a:xfrm>
            <a:off x="381000" y="2209800"/>
            <a:ext cx="8254320" cy="2937979"/>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40</a:t>
            </a:fld>
            <a:endParaRPr kumimoji="0" lang="en-US"/>
          </a:p>
        </p:txBody>
      </p:sp>
    </p:spTree>
    <p:extLst>
      <p:ext uri="{BB962C8B-B14F-4D97-AF65-F5344CB8AC3E}">
        <p14:creationId xmlns:p14="http://schemas.microsoft.com/office/powerpoint/2010/main" val="2029829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219200"/>
          </a:xfrm>
        </p:spPr>
        <p:txBody>
          <a:bodyPr anchor="b"/>
          <a:lstStyle/>
          <a:p>
            <a:pPr eaLnBrk="1" hangingPunct="1"/>
            <a:r>
              <a:rPr lang="en-US" dirty="0" smtClean="0"/>
              <a:t>Wide Area Networks</a:t>
            </a:r>
          </a:p>
        </p:txBody>
      </p:sp>
      <p:sp>
        <p:nvSpPr>
          <p:cNvPr id="157698" name="Content Placeholder 9"/>
          <p:cNvSpPr>
            <a:spLocks noGrp="1"/>
          </p:cNvSpPr>
          <p:nvPr>
            <p:ph idx="1"/>
          </p:nvPr>
        </p:nvSpPr>
        <p:spPr>
          <a:xfrm>
            <a:off x="762000" y="1905000"/>
            <a:ext cx="8153400" cy="41148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WAN applications</a:t>
            </a:r>
          </a:p>
          <a:p>
            <a:pPr lvl="1">
              <a:spcBef>
                <a:spcPct val="0"/>
              </a:spcBef>
            </a:pPr>
            <a:r>
              <a:rPr lang="en-US" sz="2400" dirty="0" smtClean="0">
                <a:solidFill>
                  <a:srgbClr val="000000"/>
                </a:solidFill>
                <a:latin typeface="Tahoma" pitchFamily="34" charset="0"/>
                <a:ea typeface="Tahoma" pitchFamily="34" charset="0"/>
                <a:cs typeface="Tahoma" pitchFamily="34" charset="0"/>
              </a:rPr>
              <a:t>E-mail, conferencing, document exchange, remote database access</a:t>
            </a:r>
          </a:p>
          <a:p>
            <a:pPr lvl="1">
              <a:spcBef>
                <a:spcPct val="0"/>
              </a:spcBef>
            </a:pPr>
            <a:r>
              <a:rPr lang="en-US" sz="2400" dirty="0" smtClean="0">
                <a:solidFill>
                  <a:srgbClr val="000000"/>
                </a:solidFill>
                <a:latin typeface="Tahoma" pitchFamily="34" charset="0"/>
                <a:ea typeface="Tahoma" pitchFamily="34" charset="0"/>
                <a:cs typeface="Tahoma" pitchFamily="34" charset="0"/>
              </a:rPr>
              <a:t>LAN to LAN connections connect two or more geographically separate locations</a:t>
            </a:r>
          </a:p>
          <a:p>
            <a:pPr lvl="1">
              <a:spcBef>
                <a:spcPct val="0"/>
              </a:spcBef>
            </a:pPr>
            <a:r>
              <a:rPr lang="en-US" sz="2400" dirty="0" smtClean="0">
                <a:solidFill>
                  <a:srgbClr val="000000"/>
                </a:solidFill>
                <a:latin typeface="Tahoma" pitchFamily="34" charset="0"/>
                <a:ea typeface="Tahoma" pitchFamily="34" charset="0"/>
                <a:cs typeface="Tahoma" pitchFamily="34" charset="0"/>
              </a:rPr>
              <a:t>Transaction acquisition—the instant relay of transaction information from a point-of-purchase sale.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41</a:t>
            </a:fld>
            <a:endParaRPr kumimoji="0" lang="en-US"/>
          </a:p>
        </p:txBody>
      </p:sp>
    </p:spTree>
    <p:extLst>
      <p:ext uri="{BB962C8B-B14F-4D97-AF65-F5344CB8AC3E}">
        <p14:creationId xmlns:p14="http://schemas.microsoft.com/office/powerpoint/2010/main" val="27514045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2954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304800" y="1447800"/>
            <a:ext cx="8534400" cy="2514600"/>
          </a:xfrm>
        </p:spPr>
        <p:txBody>
          <a:bodyPr>
            <a:normAutofit/>
          </a:bodyPr>
          <a:lstStyle/>
          <a:p>
            <a:pPr>
              <a:spcBef>
                <a:spcPct val="0"/>
              </a:spcBef>
            </a:pPr>
            <a:r>
              <a:rPr lang="en-US" sz="3200" b="1" dirty="0" smtClean="0">
                <a:solidFill>
                  <a:srgbClr val="000000"/>
                </a:solidFill>
                <a:latin typeface="Tahoma" pitchFamily="34" charset="0"/>
                <a:ea typeface="Tahoma" pitchFamily="34" charset="0"/>
                <a:cs typeface="Tahoma" pitchFamily="34" charset="0"/>
              </a:rPr>
              <a:t>Home Area Networks (HANs)</a:t>
            </a:r>
          </a:p>
          <a:p>
            <a:pPr lvl="1">
              <a:spcBef>
                <a:spcPct val="0"/>
              </a:spcBef>
            </a:pPr>
            <a:r>
              <a:rPr lang="en-US" sz="2400" dirty="0" smtClean="0">
                <a:solidFill>
                  <a:srgbClr val="000000"/>
                </a:solidFill>
                <a:latin typeface="Tahoma" pitchFamily="34" charset="0"/>
                <a:ea typeface="Tahoma" pitchFamily="34" charset="0"/>
                <a:cs typeface="Tahoma" pitchFamily="34" charset="0"/>
              </a:rPr>
              <a:t>Wired home networks</a:t>
            </a:r>
          </a:p>
          <a:p>
            <a:pPr lvl="1">
              <a:spcBef>
                <a:spcPct val="0"/>
              </a:spcBef>
            </a:pPr>
            <a:r>
              <a:rPr lang="en-US" sz="2400" dirty="0" smtClean="0">
                <a:solidFill>
                  <a:srgbClr val="000000"/>
                </a:solidFill>
                <a:latin typeface="Tahoma" pitchFamily="34" charset="0"/>
                <a:ea typeface="Tahoma" pitchFamily="34" charset="0"/>
                <a:cs typeface="Tahoma" pitchFamily="34" charset="0"/>
              </a:rPr>
              <a:t>Wireless home networks</a:t>
            </a:r>
          </a:p>
          <a:p>
            <a:pPr lvl="1">
              <a:spcBef>
                <a:spcPct val="0"/>
              </a:spcBef>
            </a:pPr>
            <a:r>
              <a:rPr lang="en-US" sz="2400" b="1" dirty="0" smtClean="0">
                <a:solidFill>
                  <a:srgbClr val="000000"/>
                </a:solidFill>
                <a:latin typeface="Tahoma" pitchFamily="34" charset="0"/>
                <a:ea typeface="Tahoma" pitchFamily="34" charset="0"/>
                <a:cs typeface="Tahoma" pitchFamily="34" charset="0"/>
              </a:rPr>
              <a:t>Hybrid networks</a:t>
            </a:r>
          </a:p>
          <a:p>
            <a:pPr lvl="2">
              <a:spcBef>
                <a:spcPct val="0"/>
              </a:spcBef>
            </a:pPr>
            <a:r>
              <a:rPr lang="en-US" sz="2400" dirty="0" smtClean="0">
                <a:solidFill>
                  <a:srgbClr val="000000"/>
                </a:solidFill>
                <a:latin typeface="Tahoma" pitchFamily="34" charset="0"/>
                <a:ea typeface="Tahoma" pitchFamily="34" charset="0"/>
                <a:cs typeface="Tahoma" pitchFamily="34" charset="0"/>
              </a:rPr>
              <a:t>Combination of wired and wireless technology</a:t>
            </a:r>
          </a:p>
          <a:p>
            <a:pPr>
              <a:spcBef>
                <a:spcPct val="0"/>
              </a:spcBef>
            </a:pPr>
            <a:endParaRPr lang="en-US" sz="3200" dirty="0" smtClean="0">
              <a:solidFill>
                <a:srgbClr val="000000"/>
              </a:solidFill>
              <a:latin typeface="Tahoma" pitchFamily="34" charset="0"/>
              <a:ea typeface="Tahoma" pitchFamily="34" charset="0"/>
              <a:cs typeface="Tahoma" pitchFamily="34" charset="0"/>
            </a:endParaRPr>
          </a:p>
          <a:p>
            <a:pPr>
              <a:spcBef>
                <a:spcPct val="0"/>
              </a:spcBef>
              <a:buNone/>
            </a:pPr>
            <a:endParaRPr lang="en-US" sz="32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42</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657600"/>
            <a:ext cx="7162800" cy="2743200"/>
          </a:xfrm>
          <a:prstGeom prst="rect">
            <a:avLst/>
          </a:prstGeom>
        </p:spPr>
      </p:pic>
    </p:spTree>
    <p:extLst>
      <p:ext uri="{BB962C8B-B14F-4D97-AF65-F5344CB8AC3E}">
        <p14:creationId xmlns:p14="http://schemas.microsoft.com/office/powerpoint/2010/main" val="4057806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2192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762000" y="1295400"/>
            <a:ext cx="7772400" cy="4724400"/>
          </a:xfrm>
        </p:spPr>
        <p:txBody>
          <a:bodyPr>
            <a:normAutofit/>
          </a:bodyPr>
          <a:lstStyle/>
          <a:p>
            <a:pPr>
              <a:spcBef>
                <a:spcPct val="0"/>
              </a:spcBef>
            </a:pPr>
            <a:r>
              <a:rPr lang="en-US" sz="3200" b="1" dirty="0" smtClean="0">
                <a:solidFill>
                  <a:srgbClr val="000000"/>
                </a:solidFill>
                <a:latin typeface="Tahoma" pitchFamily="34" charset="0"/>
                <a:ea typeface="Tahoma" pitchFamily="34" charset="0"/>
                <a:cs typeface="Tahoma" pitchFamily="34" charset="0"/>
              </a:rPr>
              <a:t>A Wired Home Network</a:t>
            </a: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a:spcBef>
                <a:spcPct val="0"/>
              </a:spcBef>
            </a:pPr>
            <a:endParaRPr lang="en-US" sz="2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43</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981200"/>
            <a:ext cx="7010400" cy="4163568"/>
          </a:xfrm>
          <a:prstGeom prst="rect">
            <a:avLst/>
          </a:prstGeom>
        </p:spPr>
      </p:pic>
    </p:spTree>
    <p:extLst>
      <p:ext uri="{BB962C8B-B14F-4D97-AF65-F5344CB8AC3E}">
        <p14:creationId xmlns:p14="http://schemas.microsoft.com/office/powerpoint/2010/main" val="3589442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2192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762000" y="1371600"/>
            <a:ext cx="7772400" cy="4648200"/>
          </a:xfrm>
        </p:spPr>
        <p:txBody>
          <a:bodyPr>
            <a:normAutofit/>
          </a:bodyPr>
          <a:lstStyle/>
          <a:p>
            <a:pPr>
              <a:spcBef>
                <a:spcPct val="0"/>
              </a:spcBef>
            </a:pPr>
            <a:r>
              <a:rPr lang="en-US" sz="3200" b="1" dirty="0" smtClean="0">
                <a:solidFill>
                  <a:srgbClr val="000000"/>
                </a:solidFill>
                <a:latin typeface="Tahoma" pitchFamily="34" charset="0"/>
                <a:ea typeface="Tahoma" pitchFamily="34" charset="0"/>
                <a:cs typeface="Tahoma" pitchFamily="34" charset="0"/>
              </a:rPr>
              <a:t>A Wireless Home Network</a:t>
            </a: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lvl="2">
              <a:spcBef>
                <a:spcPct val="0"/>
              </a:spcBef>
            </a:pPr>
            <a:endParaRPr lang="en-US" sz="1800" dirty="0" smtClean="0">
              <a:solidFill>
                <a:srgbClr val="000000"/>
              </a:solidFill>
              <a:latin typeface="Tahoma" pitchFamily="34" charset="0"/>
              <a:ea typeface="Tahoma" pitchFamily="34" charset="0"/>
              <a:cs typeface="Tahoma" pitchFamily="34" charset="0"/>
            </a:endParaRPr>
          </a:p>
          <a:p>
            <a:pPr>
              <a:spcBef>
                <a:spcPct val="0"/>
              </a:spcBef>
            </a:pPr>
            <a:endParaRPr lang="en-US" sz="2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44</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2067805"/>
            <a:ext cx="7086600" cy="3998976"/>
          </a:xfrm>
          <a:prstGeom prst="rect">
            <a:avLst/>
          </a:prstGeom>
        </p:spPr>
      </p:pic>
    </p:spTree>
    <p:extLst>
      <p:ext uri="{BB962C8B-B14F-4D97-AF65-F5344CB8AC3E}">
        <p14:creationId xmlns:p14="http://schemas.microsoft.com/office/powerpoint/2010/main" val="31127395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1430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685800" y="1295400"/>
            <a:ext cx="8458200" cy="47244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Setting up a home network</a:t>
            </a:r>
          </a:p>
          <a:p>
            <a:pPr lvl="1">
              <a:spcBef>
                <a:spcPct val="0"/>
              </a:spcBef>
            </a:pPr>
            <a:r>
              <a:rPr lang="en-US" sz="2400" dirty="0" smtClean="0">
                <a:solidFill>
                  <a:srgbClr val="000000"/>
                </a:solidFill>
                <a:latin typeface="Tahoma" pitchFamily="34" charset="0"/>
                <a:ea typeface="Tahoma" pitchFamily="34" charset="0"/>
                <a:cs typeface="Tahoma" pitchFamily="34" charset="0"/>
              </a:rPr>
              <a:t>Planning</a:t>
            </a:r>
          </a:p>
          <a:p>
            <a:pPr lvl="2">
              <a:spcBef>
                <a:spcPct val="0"/>
              </a:spcBef>
            </a:pPr>
            <a:r>
              <a:rPr lang="en-US" sz="2400" dirty="0" smtClean="0">
                <a:solidFill>
                  <a:srgbClr val="000000"/>
                </a:solidFill>
                <a:latin typeface="Tahoma" pitchFamily="34" charset="0"/>
                <a:ea typeface="Tahoma" pitchFamily="34" charset="0"/>
                <a:cs typeface="Tahoma" pitchFamily="34" charset="0"/>
              </a:rPr>
              <a:t>Select technology </a:t>
            </a:r>
          </a:p>
          <a:p>
            <a:pPr lvl="2">
              <a:spcBef>
                <a:spcPct val="0"/>
              </a:spcBef>
            </a:pPr>
            <a:r>
              <a:rPr lang="en-US" sz="2400" dirty="0" smtClean="0">
                <a:solidFill>
                  <a:srgbClr val="000000"/>
                </a:solidFill>
                <a:latin typeface="Tahoma" pitchFamily="34" charset="0"/>
                <a:ea typeface="Tahoma" pitchFamily="34" charset="0"/>
                <a:cs typeface="Tahoma" pitchFamily="34" charset="0"/>
              </a:rPr>
              <a:t>Purchase equipment and firewall software</a:t>
            </a:r>
          </a:p>
          <a:p>
            <a:pPr lvl="1">
              <a:spcBef>
                <a:spcPct val="0"/>
              </a:spcBef>
            </a:pPr>
            <a:r>
              <a:rPr lang="en-US" sz="2400" dirty="0" smtClean="0">
                <a:solidFill>
                  <a:srgbClr val="000000"/>
                </a:solidFill>
                <a:latin typeface="Tahoma" pitchFamily="34" charset="0"/>
                <a:ea typeface="Tahoma" pitchFamily="34" charset="0"/>
                <a:cs typeface="Tahoma" pitchFamily="34" charset="0"/>
              </a:rPr>
              <a:t>Configuring a wired network</a:t>
            </a:r>
          </a:p>
          <a:p>
            <a:pPr lvl="2">
              <a:spcBef>
                <a:spcPct val="0"/>
              </a:spcBef>
            </a:pPr>
            <a:r>
              <a:rPr lang="en-US" sz="2400" dirty="0" smtClean="0">
                <a:solidFill>
                  <a:srgbClr val="000000"/>
                </a:solidFill>
                <a:latin typeface="Tahoma" pitchFamily="34" charset="0"/>
                <a:ea typeface="Tahoma" pitchFamily="34" charset="0"/>
                <a:cs typeface="Tahoma" pitchFamily="34" charset="0"/>
              </a:rPr>
              <a:t>Connect each computer to the router</a:t>
            </a:r>
          </a:p>
          <a:p>
            <a:pPr lvl="2">
              <a:spcBef>
                <a:spcPct val="0"/>
              </a:spcBef>
            </a:pPr>
            <a:r>
              <a:rPr lang="en-US" sz="2400" dirty="0" smtClean="0">
                <a:solidFill>
                  <a:srgbClr val="000000"/>
                </a:solidFill>
                <a:latin typeface="Tahoma" pitchFamily="34" charset="0"/>
                <a:ea typeface="Tahoma" pitchFamily="34" charset="0"/>
                <a:cs typeface="Tahoma" pitchFamily="34" charset="0"/>
              </a:rPr>
              <a:t>Plug printer, scanner, etc., into a computer</a:t>
            </a:r>
          </a:p>
          <a:p>
            <a:pPr lvl="1">
              <a:spcBef>
                <a:spcPct val="0"/>
              </a:spcBef>
            </a:pPr>
            <a:endParaRPr lang="en-US" sz="20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45</a:t>
            </a:fld>
            <a:endParaRPr kumimoji="0" lang="en-US"/>
          </a:p>
        </p:txBody>
      </p:sp>
    </p:spTree>
    <p:extLst>
      <p:ext uri="{BB962C8B-B14F-4D97-AF65-F5344CB8AC3E}">
        <p14:creationId xmlns:p14="http://schemas.microsoft.com/office/powerpoint/2010/main" val="2673844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0668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533400" y="1219200"/>
            <a:ext cx="8610600" cy="48006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Setting up a home network (</a:t>
            </a:r>
            <a:r>
              <a:rPr lang="en-US" sz="3600" b="1" dirty="0" err="1" smtClean="0">
                <a:solidFill>
                  <a:srgbClr val="000000"/>
                </a:solidFill>
                <a:latin typeface="Tahoma" pitchFamily="34" charset="0"/>
                <a:ea typeface="Tahoma" pitchFamily="34" charset="0"/>
                <a:cs typeface="Tahoma" pitchFamily="34" charset="0"/>
              </a:rPr>
              <a:t>con’t</a:t>
            </a:r>
            <a:r>
              <a:rPr lang="en-US" sz="3600" b="1" dirty="0" smtClean="0">
                <a:solidFill>
                  <a:srgbClr val="000000"/>
                </a:solidFill>
                <a:latin typeface="Tahoma" pitchFamily="34" charset="0"/>
                <a:ea typeface="Tahoma" pitchFamily="34" charset="0"/>
                <a:cs typeface="Tahoma" pitchFamily="34" charset="0"/>
              </a:rPr>
              <a:t>.)</a:t>
            </a:r>
          </a:p>
          <a:p>
            <a:pPr lvl="1">
              <a:spcBef>
                <a:spcPct val="0"/>
              </a:spcBef>
            </a:pPr>
            <a:r>
              <a:rPr lang="en-US" sz="2400" dirty="0" smtClean="0">
                <a:solidFill>
                  <a:srgbClr val="000000"/>
                </a:solidFill>
                <a:latin typeface="Tahoma" pitchFamily="34" charset="0"/>
                <a:ea typeface="Tahoma" pitchFamily="34" charset="0"/>
                <a:cs typeface="Tahoma" pitchFamily="34" charset="0"/>
              </a:rPr>
              <a:t>Configuring a wireless network</a:t>
            </a:r>
          </a:p>
          <a:p>
            <a:pPr lvl="2">
              <a:spcBef>
                <a:spcPct val="0"/>
              </a:spcBef>
            </a:pPr>
            <a:r>
              <a:rPr lang="en-US" sz="2400" dirty="0" smtClean="0">
                <a:solidFill>
                  <a:srgbClr val="000000"/>
                </a:solidFill>
                <a:latin typeface="Tahoma" pitchFamily="34" charset="0"/>
                <a:ea typeface="Tahoma" pitchFamily="34" charset="0"/>
                <a:cs typeface="Tahoma" pitchFamily="34" charset="0"/>
              </a:rPr>
              <a:t>Connect each node to wireless router with a wireless adapter </a:t>
            </a:r>
          </a:p>
          <a:p>
            <a:pPr lvl="2">
              <a:spcBef>
                <a:spcPct val="0"/>
              </a:spcBef>
            </a:pPr>
            <a:r>
              <a:rPr lang="en-US" sz="2400" dirty="0" smtClean="0">
                <a:solidFill>
                  <a:srgbClr val="000000"/>
                </a:solidFill>
                <a:latin typeface="Tahoma" pitchFamily="34" charset="0"/>
                <a:ea typeface="Tahoma" pitchFamily="34" charset="0"/>
                <a:cs typeface="Tahoma" pitchFamily="34" charset="0"/>
              </a:rPr>
              <a:t>Connect DSL or cable modem to wireless router</a:t>
            </a:r>
          </a:p>
          <a:p>
            <a:pPr lvl="1">
              <a:spcBef>
                <a:spcPct val="0"/>
              </a:spcBef>
            </a:pPr>
            <a:r>
              <a:rPr lang="en-US" sz="2400" dirty="0" smtClean="0">
                <a:solidFill>
                  <a:srgbClr val="000000"/>
                </a:solidFill>
                <a:latin typeface="Tahoma" pitchFamily="34" charset="0"/>
                <a:ea typeface="Tahoma" pitchFamily="34" charset="0"/>
                <a:cs typeface="Tahoma" pitchFamily="34" charset="0"/>
              </a:rPr>
              <a:t>Maintenance and support</a:t>
            </a:r>
          </a:p>
          <a:p>
            <a:pPr lvl="2">
              <a:spcBef>
                <a:spcPct val="0"/>
              </a:spcBef>
            </a:pPr>
            <a:r>
              <a:rPr lang="en-US" sz="2400" dirty="0" smtClean="0">
                <a:solidFill>
                  <a:srgbClr val="000000"/>
                </a:solidFill>
                <a:latin typeface="Tahoma" pitchFamily="34" charset="0"/>
                <a:ea typeface="Tahoma" pitchFamily="34" charset="0"/>
                <a:cs typeface="Tahoma" pitchFamily="34" charset="0"/>
              </a:rPr>
              <a:t>Minimal maintenance required</a:t>
            </a:r>
          </a:p>
          <a:p>
            <a:pPr lvl="2">
              <a:spcBef>
                <a:spcPct val="0"/>
              </a:spcBef>
            </a:pPr>
            <a:r>
              <a:rPr lang="en-US" sz="2400" dirty="0" smtClean="0">
                <a:solidFill>
                  <a:srgbClr val="000000"/>
                </a:solidFill>
                <a:latin typeface="Tahoma" pitchFamily="34" charset="0"/>
                <a:ea typeface="Tahoma" pitchFamily="34" charset="0"/>
                <a:cs typeface="Tahoma" pitchFamily="34" charset="0"/>
              </a:rPr>
              <a:t>Unplug power source from router and other peripherals and restart computer to correct problems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46</a:t>
            </a:fld>
            <a:endParaRPr kumimoji="0" lang="en-US"/>
          </a:p>
        </p:txBody>
      </p:sp>
    </p:spTree>
    <p:extLst>
      <p:ext uri="{BB962C8B-B14F-4D97-AF65-F5344CB8AC3E}">
        <p14:creationId xmlns:p14="http://schemas.microsoft.com/office/powerpoint/2010/main" val="2322523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066800"/>
          </a:xfrm>
        </p:spPr>
        <p:txBody>
          <a:bodyPr anchor="b"/>
          <a:lstStyle/>
          <a:p>
            <a:pPr eaLnBrk="1" hangingPunct="1"/>
            <a:r>
              <a:rPr lang="en-US" dirty="0" smtClean="0"/>
              <a:t>Home Networks</a:t>
            </a:r>
          </a:p>
        </p:txBody>
      </p:sp>
      <p:sp>
        <p:nvSpPr>
          <p:cNvPr id="157698" name="Content Placeholder 9"/>
          <p:cNvSpPr>
            <a:spLocks noGrp="1"/>
          </p:cNvSpPr>
          <p:nvPr>
            <p:ph idx="1"/>
          </p:nvPr>
        </p:nvSpPr>
        <p:spPr>
          <a:xfrm>
            <a:off x="762000" y="1371600"/>
            <a:ext cx="8153400" cy="4648200"/>
          </a:xfrm>
        </p:spPr>
        <p:txBody>
          <a:bodyPr>
            <a:normAutofit/>
          </a:bodyPr>
          <a:lstStyle/>
          <a:p>
            <a:pPr>
              <a:spcBef>
                <a:spcPct val="0"/>
              </a:spcBef>
            </a:pPr>
            <a:r>
              <a:rPr lang="en-US" sz="3600" b="1" dirty="0" smtClean="0">
                <a:solidFill>
                  <a:srgbClr val="000000"/>
                </a:solidFill>
                <a:latin typeface="Tahoma" pitchFamily="34" charset="0"/>
                <a:ea typeface="Tahoma" pitchFamily="34" charset="0"/>
                <a:cs typeface="Tahoma" pitchFamily="34" charset="0"/>
              </a:rPr>
              <a:t>Future of home networking</a:t>
            </a:r>
          </a:p>
          <a:p>
            <a:pPr lvl="1">
              <a:spcBef>
                <a:spcPct val="0"/>
              </a:spcBef>
            </a:pPr>
            <a:r>
              <a:rPr lang="en-US" sz="2400" dirty="0" smtClean="0">
                <a:solidFill>
                  <a:srgbClr val="000000"/>
                </a:solidFill>
                <a:latin typeface="Tahoma" pitchFamily="34" charset="0"/>
                <a:ea typeface="Tahoma" pitchFamily="34" charset="0"/>
                <a:cs typeface="Tahoma" pitchFamily="34" charset="0"/>
              </a:rPr>
              <a:t>Convergence will allow you to use home networks to </a:t>
            </a:r>
          </a:p>
          <a:p>
            <a:pPr lvl="2">
              <a:spcBef>
                <a:spcPct val="0"/>
              </a:spcBef>
            </a:pPr>
            <a:r>
              <a:rPr lang="en-US" sz="2400" dirty="0" smtClean="0">
                <a:solidFill>
                  <a:srgbClr val="000000"/>
                </a:solidFill>
                <a:latin typeface="Tahoma" pitchFamily="34" charset="0"/>
                <a:ea typeface="Tahoma" pitchFamily="34" charset="0"/>
                <a:cs typeface="Tahoma" pitchFamily="34" charset="0"/>
              </a:rPr>
              <a:t>Control household appliances</a:t>
            </a:r>
          </a:p>
          <a:p>
            <a:pPr lvl="2">
              <a:spcBef>
                <a:spcPct val="0"/>
              </a:spcBef>
            </a:pPr>
            <a:r>
              <a:rPr lang="en-US" sz="2400" dirty="0" smtClean="0">
                <a:solidFill>
                  <a:srgbClr val="000000"/>
                </a:solidFill>
                <a:latin typeface="Tahoma" pitchFamily="34" charset="0"/>
                <a:ea typeface="Tahoma" pitchFamily="34" charset="0"/>
                <a:cs typeface="Tahoma" pitchFamily="34" charset="0"/>
              </a:rPr>
              <a:t>Protect homes with security systems</a:t>
            </a:r>
          </a:p>
          <a:p>
            <a:pPr lvl="2">
              <a:spcBef>
                <a:spcPct val="0"/>
              </a:spcBef>
            </a:pPr>
            <a:r>
              <a:rPr lang="en-US" sz="2400" dirty="0" smtClean="0">
                <a:solidFill>
                  <a:srgbClr val="000000"/>
                </a:solidFill>
                <a:latin typeface="Tahoma" pitchFamily="34" charset="0"/>
                <a:ea typeface="Tahoma" pitchFamily="34" charset="0"/>
                <a:cs typeface="Tahoma" pitchFamily="34" charset="0"/>
              </a:rPr>
              <a:t>Manage home network events through central control units in new homes</a:t>
            </a:r>
          </a:p>
          <a:p>
            <a:pPr lvl="2">
              <a:spcBef>
                <a:spcPct val="0"/>
              </a:spcBef>
            </a:pPr>
            <a:r>
              <a:rPr lang="en-US" sz="2400" dirty="0" smtClean="0">
                <a:solidFill>
                  <a:srgbClr val="000000"/>
                </a:solidFill>
                <a:latin typeface="Tahoma" pitchFamily="34" charset="0"/>
                <a:ea typeface="Tahoma" pitchFamily="34" charset="0"/>
                <a:cs typeface="Tahoma" pitchFamily="34" charset="0"/>
              </a:rPr>
              <a:t>Utilize wireless systems</a:t>
            </a:r>
          </a:p>
          <a:p>
            <a:pPr lvl="2">
              <a:spcBef>
                <a:spcPct val="0"/>
              </a:spcBef>
            </a:pPr>
            <a:r>
              <a:rPr lang="en-US" sz="2400" dirty="0" smtClean="0">
                <a:solidFill>
                  <a:srgbClr val="000000"/>
                </a:solidFill>
                <a:latin typeface="Tahoma" pitchFamily="34" charset="0"/>
                <a:ea typeface="Tahoma" pitchFamily="34" charset="0"/>
                <a:cs typeface="Tahoma" pitchFamily="34" charset="0"/>
              </a:rPr>
              <a:t>Control entertainment, temperature regulation, and lighting</a:t>
            </a:r>
          </a:p>
          <a:p>
            <a:pPr lvl="2">
              <a:spcBef>
                <a:spcPct val="0"/>
              </a:spcBef>
            </a:pPr>
            <a:endParaRPr lang="en-US" sz="20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47</a:t>
            </a:fld>
            <a:endParaRPr kumimoji="0" lang="en-US"/>
          </a:p>
        </p:txBody>
      </p:sp>
    </p:spTree>
    <p:extLst>
      <p:ext uri="{BB962C8B-B14F-4D97-AF65-F5344CB8AC3E}">
        <p14:creationId xmlns:p14="http://schemas.microsoft.com/office/powerpoint/2010/main" val="40878681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0" y="0"/>
            <a:ext cx="9144000" cy="1600200"/>
          </a:xfrm>
        </p:spPr>
        <p:txBody>
          <a:bodyPr lIns="92075" tIns="46038" rIns="92075" bIns="46038" anchor="b"/>
          <a:lstStyle/>
          <a:p>
            <a:r>
              <a:rPr lang="en-US" dirty="0"/>
              <a:t>Summary</a:t>
            </a:r>
            <a:endParaRPr lang="en-US" dirty="0" smtClean="0"/>
          </a:p>
        </p:txBody>
      </p:sp>
      <p:sp>
        <p:nvSpPr>
          <p:cNvPr id="101378" name="Rectangle 3"/>
          <p:cNvSpPr>
            <a:spLocks noGrp="1" noChangeArrowheads="1"/>
          </p:cNvSpPr>
          <p:nvPr>
            <p:ph type="body" idx="1"/>
          </p:nvPr>
        </p:nvSpPr>
        <p:spPr>
          <a:xfrm>
            <a:off x="685800" y="1676400"/>
            <a:ext cx="7772400" cy="4459288"/>
          </a:xfrm>
        </p:spPr>
        <p:txBody>
          <a:bodyPr lIns="182562" tIns="46038" rIns="182562" bIns="46038">
            <a:noAutofit/>
          </a:bodyPr>
          <a:lstStyle/>
          <a:p>
            <a:pPr eaLnBrk="1" hangingPunct="1"/>
            <a:r>
              <a:rPr lang="en-US" sz="3200" dirty="0" smtClean="0">
                <a:solidFill>
                  <a:srgbClr val="000000"/>
                </a:solidFill>
                <a:latin typeface="Tahoma" pitchFamily="34" charset="0"/>
                <a:ea typeface="Tahoma" pitchFamily="34" charset="0"/>
                <a:cs typeface="Tahoma" pitchFamily="34" charset="0"/>
              </a:rPr>
              <a:t>Understand basic networking concepts.</a:t>
            </a:r>
          </a:p>
          <a:p>
            <a:pPr eaLnBrk="1" hangingPunct="1"/>
            <a:r>
              <a:rPr lang="en-US" sz="3200" dirty="0" smtClean="0">
                <a:solidFill>
                  <a:srgbClr val="000000"/>
                </a:solidFill>
                <a:latin typeface="Tahoma" pitchFamily="34" charset="0"/>
                <a:ea typeface="Tahoma" pitchFamily="34" charset="0"/>
                <a:cs typeface="Tahoma" pitchFamily="34" charset="0"/>
              </a:rPr>
              <a:t>Distinguish between a WAN, LAN, MAN, CAN, HAN, and PAN.</a:t>
            </a:r>
          </a:p>
          <a:p>
            <a:pPr eaLnBrk="1" hangingPunct="1"/>
            <a:r>
              <a:rPr lang="en-US" sz="3200" dirty="0" smtClean="0">
                <a:solidFill>
                  <a:srgbClr val="000000"/>
                </a:solidFill>
                <a:latin typeface="Tahoma" pitchFamily="34" charset="0"/>
                <a:ea typeface="Tahoma" pitchFamily="34" charset="0"/>
                <a:cs typeface="Tahoma" pitchFamily="34" charset="0"/>
              </a:rPr>
              <a:t>Discuss the advantages and disadvantages of networks.</a:t>
            </a:r>
          </a:p>
          <a:p>
            <a:pPr eaLnBrk="1" hangingPunct="1"/>
            <a:r>
              <a:rPr lang="en-US" sz="3200" dirty="0" smtClean="0">
                <a:solidFill>
                  <a:srgbClr val="000000"/>
                </a:solidFill>
                <a:latin typeface="Tahoma" pitchFamily="34" charset="0"/>
                <a:ea typeface="Tahoma" pitchFamily="34" charset="0"/>
                <a:cs typeface="Tahoma" pitchFamily="34" charset="0"/>
              </a:rPr>
              <a:t>Distinguish between peer-to-peer, client/server, and virtual private local area networks (LANs).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48</a:t>
            </a:fld>
            <a:endParaRPr kumimoji="0" lang="en-US"/>
          </a:p>
        </p:txBody>
      </p:sp>
    </p:spTree>
    <p:extLst>
      <p:ext uri="{BB962C8B-B14F-4D97-AF65-F5344CB8AC3E}">
        <p14:creationId xmlns:p14="http://schemas.microsoft.com/office/powerpoint/2010/main" val="2471098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p:cNvSpPr>
            <a:spLocks noGrp="1"/>
          </p:cNvSpPr>
          <p:nvPr>
            <p:ph type="title"/>
          </p:nvPr>
        </p:nvSpPr>
        <p:spPr>
          <a:xfrm>
            <a:off x="0" y="0"/>
            <a:ext cx="9144000" cy="1295400"/>
          </a:xfrm>
        </p:spPr>
        <p:txBody>
          <a:bodyPr/>
          <a:lstStyle/>
          <a:p>
            <a:r>
              <a:rPr lang="en-US" dirty="0"/>
              <a:t>Summary</a:t>
            </a:r>
            <a:endParaRPr lang="en-US" dirty="0" smtClean="0"/>
          </a:p>
        </p:txBody>
      </p:sp>
      <p:sp>
        <p:nvSpPr>
          <p:cNvPr id="102402" name="Content Placeholder 2"/>
          <p:cNvSpPr>
            <a:spLocks noGrp="1"/>
          </p:cNvSpPr>
          <p:nvPr>
            <p:ph idx="1"/>
          </p:nvPr>
        </p:nvSpPr>
        <p:spPr>
          <a:xfrm>
            <a:off x="762000" y="1295400"/>
            <a:ext cx="8001000" cy="4724400"/>
          </a:xfrm>
        </p:spPr>
        <p:txBody>
          <a:bodyPr>
            <a:noAutofit/>
          </a:bodyPr>
          <a:lstStyle/>
          <a:p>
            <a:r>
              <a:rPr lang="en-US" sz="3200" dirty="0">
                <a:solidFill>
                  <a:srgbClr val="000000"/>
                </a:solidFill>
                <a:latin typeface="Tahoma" pitchFamily="34" charset="0"/>
                <a:ea typeface="Tahoma" pitchFamily="34" charset="0"/>
                <a:cs typeface="Tahoma" pitchFamily="34" charset="0"/>
              </a:rPr>
              <a:t>Define topology and understand how the three LAN topologies differ.</a:t>
            </a:r>
          </a:p>
          <a:p>
            <a:r>
              <a:rPr lang="en-US" sz="3200" dirty="0" smtClean="0">
                <a:solidFill>
                  <a:srgbClr val="000000"/>
                </a:solidFill>
                <a:latin typeface="Tahoma" pitchFamily="34" charset="0"/>
                <a:ea typeface="Tahoma" pitchFamily="34" charset="0"/>
                <a:cs typeface="Tahoma" pitchFamily="34" charset="0"/>
              </a:rPr>
              <a:t>Explain the importance of network protocols.</a:t>
            </a:r>
          </a:p>
          <a:p>
            <a:r>
              <a:rPr lang="en-US" sz="3200" dirty="0" smtClean="0">
                <a:solidFill>
                  <a:srgbClr val="000000"/>
                </a:solidFill>
                <a:latin typeface="Tahoma" pitchFamily="34" charset="0"/>
                <a:ea typeface="Tahoma" pitchFamily="34" charset="0"/>
                <a:cs typeface="Tahoma" pitchFamily="34" charset="0"/>
              </a:rPr>
              <a:t>Name the most widely used LAN protocol and their versions.</a:t>
            </a:r>
          </a:p>
          <a:p>
            <a:r>
              <a:rPr lang="en-US" sz="3200" dirty="0" smtClean="0">
                <a:solidFill>
                  <a:srgbClr val="000000"/>
                </a:solidFill>
                <a:latin typeface="Tahoma" pitchFamily="34" charset="0"/>
                <a:ea typeface="Tahoma" pitchFamily="34" charset="0"/>
                <a:cs typeface="Tahoma" pitchFamily="34" charset="0"/>
              </a:rPr>
              <a:t>Identify the special components of a wide area network (WAN) that differentiate it from a LAN.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49</a:t>
            </a:fld>
            <a:endParaRPr kumimoji="0" lang="en-US"/>
          </a:p>
        </p:txBody>
      </p:sp>
    </p:spTree>
    <p:extLst>
      <p:ext uri="{BB962C8B-B14F-4D97-AF65-F5344CB8AC3E}">
        <p14:creationId xmlns:p14="http://schemas.microsoft.com/office/powerpoint/2010/main" val="157665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a:xfrm>
            <a:off x="0" y="0"/>
            <a:ext cx="9144000" cy="1600200"/>
          </a:xfrm>
        </p:spPr>
        <p:txBody>
          <a:bodyPr/>
          <a:lstStyle/>
          <a:p>
            <a:r>
              <a:rPr lang="en-US" dirty="0"/>
              <a:t>Summary</a:t>
            </a:r>
            <a:endParaRPr lang="en-US" dirty="0" smtClean="0"/>
          </a:p>
        </p:txBody>
      </p:sp>
      <p:sp>
        <p:nvSpPr>
          <p:cNvPr id="103426" name="Content Placeholder 2"/>
          <p:cNvSpPr>
            <a:spLocks noGrp="1"/>
          </p:cNvSpPr>
          <p:nvPr>
            <p:ph idx="1"/>
          </p:nvPr>
        </p:nvSpPr>
        <p:spPr>
          <a:xfrm>
            <a:off x="762000" y="1905000"/>
            <a:ext cx="7772400" cy="4114800"/>
          </a:xfrm>
        </p:spPr>
        <p:txBody>
          <a:bodyPr>
            <a:normAutofit/>
          </a:bodyPr>
          <a:lstStyle/>
          <a:p>
            <a:r>
              <a:rPr lang="en-US" sz="3200" dirty="0" smtClean="0">
                <a:solidFill>
                  <a:srgbClr val="000000"/>
                </a:solidFill>
                <a:latin typeface="Tahoma" pitchFamily="34" charset="0"/>
                <a:ea typeface="Tahoma" pitchFamily="34" charset="0"/>
                <a:cs typeface="Tahoma" pitchFamily="34" charset="0"/>
              </a:rPr>
              <a:t>Contrast circuit-switching and packet-switching networks and explain their respective strengths and weaknesses.</a:t>
            </a:r>
          </a:p>
          <a:p>
            <a:r>
              <a:rPr lang="en-US" sz="3200" dirty="0" smtClean="0">
                <a:solidFill>
                  <a:srgbClr val="000000"/>
                </a:solidFill>
                <a:latin typeface="Tahoma" pitchFamily="34" charset="0"/>
                <a:ea typeface="Tahoma" pitchFamily="34" charset="0"/>
                <a:cs typeface="Tahoma" pitchFamily="34" charset="0"/>
              </a:rPr>
              <a:t>Identify the options, components, configuration, and maintenance of a home area network (HAN).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50</a:t>
            </a:fld>
            <a:endParaRPr kumimoji="0" lang="en-US"/>
          </a:p>
        </p:txBody>
      </p:sp>
    </p:spTree>
    <p:extLst>
      <p:ext uri="{BB962C8B-B14F-4D97-AF65-F5344CB8AC3E}">
        <p14:creationId xmlns:p14="http://schemas.microsoft.com/office/powerpoint/2010/main" val="237630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3725863" y="2297113"/>
            <a:ext cx="9144001" cy="0"/>
          </a:xfrm>
          <a:prstGeom prst="rect">
            <a:avLst/>
          </a:prstGeom>
          <a:noFill/>
          <a:ln w="25400">
            <a:noFill/>
            <a:miter lim="800000"/>
            <a:headEnd/>
            <a:tailEnd/>
          </a:ln>
        </p:spPr>
        <p:txBody>
          <a:bodyPr wrap="none" anchor="ctr">
            <a:spAutoFit/>
          </a:bodyPr>
          <a:lstStyle/>
          <a:p>
            <a:pPr eaLnBrk="0" hangingPunct="0"/>
            <a:endParaRPr lang="en-US" dirty="0"/>
          </a:p>
        </p:txBody>
      </p:sp>
      <p:pic>
        <p:nvPicPr>
          <p:cNvPr id="99331" name="Picture 4" descr="cid:3287383400_2177562"/>
          <p:cNvPicPr>
            <a:picLocks noChangeAspect="1" noChangeArrowheads="1"/>
          </p:cNvPicPr>
          <p:nvPr/>
        </p:nvPicPr>
        <p:blipFill>
          <a:blip r:embed="rId3" r:link="rId4" cstate="print"/>
          <a:srcRect/>
          <a:stretch>
            <a:fillRect/>
          </a:stretch>
        </p:blipFill>
        <p:spPr bwMode="auto">
          <a:xfrm>
            <a:off x="0" y="923131"/>
            <a:ext cx="8423275" cy="2747963"/>
          </a:xfrm>
          <a:prstGeom prst="rect">
            <a:avLst/>
          </a:prstGeom>
          <a:solidFill>
            <a:schemeClr val="hlink"/>
          </a:solidFill>
          <a:ln w="9525">
            <a:solidFill>
              <a:schemeClr val="bg1"/>
            </a:solidFill>
            <a:miter lim="800000"/>
            <a:headEnd/>
            <a:tailEnd/>
          </a:ln>
        </p:spPr>
      </p:pic>
      <p:sp>
        <p:nvSpPr>
          <p:cNvPr id="99332" name="Rectangle 5"/>
          <p:cNvSpPr>
            <a:spLocks noChangeArrowheads="1"/>
          </p:cNvSpPr>
          <p:nvPr/>
        </p:nvSpPr>
        <p:spPr bwMode="auto">
          <a:xfrm>
            <a:off x="708025" y="3894138"/>
            <a:ext cx="7589838" cy="1069975"/>
          </a:xfrm>
          <a:prstGeom prst="rect">
            <a:avLst/>
          </a:prstGeom>
          <a:noFill/>
          <a:ln w="25400">
            <a:noFill/>
            <a:miter lim="800000"/>
            <a:headEnd/>
            <a:tailEnd/>
          </a:ln>
        </p:spPr>
        <p:txBody>
          <a:bodyPr anchor="ctr">
            <a:spAutoFit/>
          </a:bodyPr>
          <a:lstStyle/>
          <a:p>
            <a:pPr algn="ctr" eaLnBrk="0" hangingPunct="0"/>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headEnd/>
            <a:tailEnd/>
          </a:ln>
        </p:spPr>
        <p:txBody>
          <a:bodyPr anchor="b"/>
          <a:lstStyle/>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Copyright © </a:t>
            </a:r>
            <a:r>
              <a:rPr lang="en-US" dirty="0" smtClean="0">
                <a:solidFill>
                  <a:srgbClr val="000000"/>
                </a:solidFill>
                <a:effectLst>
                  <a:outerShdw blurRad="38100" dist="38100" dir="2700000" algn="tl">
                    <a:srgbClr val="C0C0C0"/>
                  </a:outerShdw>
                </a:effectLst>
                <a:latin typeface="Tahoma" pitchFamily="34" charset="0"/>
                <a:cs typeface="Arial" pitchFamily="34" charset="0"/>
              </a:rPr>
              <a:t>2012 </a:t>
            </a:r>
            <a:r>
              <a:rPr lang="en-US" dirty="0">
                <a:solidFill>
                  <a:srgbClr val="000000"/>
                </a:solidFill>
                <a:effectLst>
                  <a:outerShdw blurRad="38100" dist="38100" dir="2700000" algn="tl">
                    <a:srgbClr val="C0C0C0"/>
                  </a:outerShdw>
                </a:effectLst>
                <a:latin typeface="Tahoma" pitchFamily="34" charset="0"/>
                <a:cs typeface="Arial" pitchFamily="34" charset="0"/>
              </a:rPr>
              <a:t>Pearson Education, Inc.  </a:t>
            </a:r>
          </a:p>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Publishing as Prentice Hall</a:t>
            </a:r>
            <a:endParaRPr lang="en-US" dirty="0">
              <a:solidFill>
                <a:srgbClr val="000000"/>
              </a:solidFill>
              <a:effectLst>
                <a:outerShdw blurRad="38100" dist="38100" dir="2700000" algn="tl">
                  <a:srgbClr val="C0C0C0"/>
                </a:outerShdw>
              </a:effectLst>
              <a:cs typeface="Arial" pitchFamily="34" charset="0"/>
            </a:endParaRPr>
          </a:p>
        </p:txBody>
      </p:sp>
      <p:sp>
        <p:nvSpPr>
          <p:cNvPr id="2" name="Footer Placeholder 1"/>
          <p:cNvSpPr>
            <a:spLocks noGrp="1"/>
          </p:cNvSpPr>
          <p:nvPr>
            <p:ph type="ftr" sz="quarter" idx="11"/>
          </p:nvPr>
        </p:nvSpPr>
        <p:spPr>
          <a:xfrm>
            <a:off x="659165" y="6356350"/>
            <a:ext cx="6579835" cy="365125"/>
          </a:xfrm>
        </p:spPr>
        <p:txBody>
          <a:bodyPr/>
          <a:lstStyle/>
          <a:p>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fld id="{6E2D2B3B-882E-40F3-A32F-6DD516915044}" type="slidenum">
              <a:rPr lang="en-US" smtClean="0"/>
              <a:pPr/>
              <a:t>51</a:t>
            </a:fld>
            <a:endParaRPr lang="en-US"/>
          </a:p>
        </p:txBody>
      </p:sp>
    </p:spTree>
  </p:cSld>
  <p:clrMapOvr>
    <a:masterClrMapping/>
  </p:clrMapOvr>
  <p:transition/>
  <p:timing>
    <p:tnLst>
      <p:par>
        <p:cTn id="1" dur="indefinite" restart="never" nodeType="tmRoot"/>
      </p:par>
    </p:tnLst>
  </p:timing>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6_Custom Desig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Staff training presentation</Template>
  <TotalTime>5586</TotalTime>
  <Words>2555</Words>
  <Application>Microsoft Office PowerPoint</Application>
  <PresentationFormat>On-screen Show (4:3)</PresentationFormat>
  <Paragraphs>599</Paragraphs>
  <Slides>51</Slides>
  <Notes>51</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51</vt:i4>
      </vt:variant>
    </vt:vector>
  </HeadingPairs>
  <TitlesOfParts>
    <vt:vector size="67" baseType="lpstr">
      <vt:lpstr>Arial</vt:lpstr>
      <vt:lpstr>Calibri</vt:lpstr>
      <vt:lpstr>Century Gothic</vt:lpstr>
      <vt:lpstr>Courier New</vt:lpstr>
      <vt:lpstr>Palatino Linotype</vt:lpstr>
      <vt:lpstr>Tahoma</vt:lpstr>
      <vt:lpstr>Times New Roman</vt:lpstr>
      <vt:lpstr>Wingdings</vt:lpstr>
      <vt:lpstr>6_Custom Design</vt:lpstr>
      <vt:lpstr>5_Custom Design</vt:lpstr>
      <vt:lpstr>4_Custom Design</vt:lpstr>
      <vt:lpstr>3_Custom Design</vt:lpstr>
      <vt:lpstr>2_Custom Design</vt:lpstr>
      <vt:lpstr>1_Custom Design</vt:lpstr>
      <vt:lpstr>Custom Design</vt:lpstr>
      <vt:lpstr>Executive</vt:lpstr>
      <vt:lpstr>Computers Are Your Future Twelfth Edition</vt:lpstr>
      <vt:lpstr>Networks: Communicating and Sharing Resources</vt:lpstr>
      <vt:lpstr>Objectives </vt:lpstr>
      <vt:lpstr>Objectives </vt:lpstr>
      <vt:lpstr>Objectives </vt:lpstr>
      <vt:lpstr>Network Fundamentals</vt:lpstr>
      <vt:lpstr>Network Fundamentals</vt:lpstr>
      <vt:lpstr>Network Fundamentals</vt:lpstr>
      <vt:lpstr>Network Fundamentals</vt:lpstr>
      <vt:lpstr>Network Fundamentals</vt:lpstr>
      <vt:lpstr>Network Fundamentals</vt:lpstr>
      <vt:lpstr>Network Fundamentals</vt:lpstr>
      <vt:lpstr>Network Fundamentals</vt:lpstr>
      <vt:lpstr>Network Fundamentals</vt:lpstr>
      <vt:lpstr>Network Fundamentals</vt:lpstr>
      <vt:lpstr>Network Fundamentals</vt:lpstr>
      <vt:lpstr>Network Fundamentals</vt:lpstr>
      <vt:lpstr>Advantages and Disadvantages of Networking</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Local Area Networks</vt:lpstr>
      <vt:lpstr>Wide Area Networks</vt:lpstr>
      <vt:lpstr>Wide Area Networks</vt:lpstr>
      <vt:lpstr>Wide Area Networks</vt:lpstr>
      <vt:lpstr>Wide Area Networks</vt:lpstr>
      <vt:lpstr>Wide Area Networks</vt:lpstr>
      <vt:lpstr>Wide Area Networks</vt:lpstr>
      <vt:lpstr>Wide Area Networks</vt:lpstr>
      <vt:lpstr>Wide Area Networks</vt:lpstr>
      <vt:lpstr>Home Networks</vt:lpstr>
      <vt:lpstr>Home Networks</vt:lpstr>
      <vt:lpstr>Home Networks</vt:lpstr>
      <vt:lpstr>Home Networks</vt:lpstr>
      <vt:lpstr>Home Networks</vt:lpstr>
      <vt:lpstr>Home Networks</vt:lpstr>
      <vt:lpstr>Summary</vt:lpstr>
      <vt:lpstr>Summary</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creator>Computers Are Your Future</dc:creator>
  <cp:lastModifiedBy>Windows User</cp:lastModifiedBy>
  <cp:revision>1</cp:revision>
  <dcterms:created xsi:type="dcterms:W3CDTF">2008-05-17T17:07:47Z</dcterms:created>
  <dcterms:modified xsi:type="dcterms:W3CDTF">2018-01-24T14:16:29Z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TC010130221033</vt:lpwstr>
  </property>
</Properties>
</file>