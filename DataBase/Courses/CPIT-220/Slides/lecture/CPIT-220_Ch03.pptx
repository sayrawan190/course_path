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5" r:id="rId1"/>
    <p:sldMasterId id="2147483733" r:id="rId2"/>
    <p:sldMasterId id="2147483721" r:id="rId3"/>
    <p:sldMasterId id="2147483709" r:id="rId4"/>
    <p:sldMasterId id="2147483697" r:id="rId5"/>
    <p:sldMasterId id="2147483685" r:id="rId6"/>
    <p:sldMasterId id="2147483673" r:id="rId7"/>
    <p:sldMasterId id="2147483858" r:id="rId8"/>
  </p:sldMasterIdLst>
  <p:notesMasterIdLst>
    <p:notesMasterId r:id="rId82"/>
  </p:notesMasterIdLst>
  <p:handoutMasterIdLst>
    <p:handoutMasterId r:id="rId83"/>
  </p:handoutMasterIdLst>
  <p:sldIdLst>
    <p:sldId id="271" r:id="rId9"/>
    <p:sldId id="303" r:id="rId10"/>
    <p:sldId id="304" r:id="rId11"/>
    <p:sldId id="305" r:id="rId12"/>
    <p:sldId id="307" r:id="rId13"/>
    <p:sldId id="361" r:id="rId14"/>
    <p:sldId id="308" r:id="rId15"/>
    <p:sldId id="383" r:id="rId16"/>
    <p:sldId id="362" r:id="rId17"/>
    <p:sldId id="309" r:id="rId18"/>
    <p:sldId id="363" r:id="rId19"/>
    <p:sldId id="364" r:id="rId20"/>
    <p:sldId id="310" r:id="rId21"/>
    <p:sldId id="311" r:id="rId22"/>
    <p:sldId id="365" r:id="rId23"/>
    <p:sldId id="312" r:id="rId24"/>
    <p:sldId id="313" r:id="rId25"/>
    <p:sldId id="314" r:id="rId26"/>
    <p:sldId id="315" r:id="rId27"/>
    <p:sldId id="316" r:id="rId28"/>
    <p:sldId id="366" r:id="rId29"/>
    <p:sldId id="367" r:id="rId30"/>
    <p:sldId id="318" r:id="rId31"/>
    <p:sldId id="368" r:id="rId32"/>
    <p:sldId id="369" r:id="rId33"/>
    <p:sldId id="319" r:id="rId34"/>
    <p:sldId id="320" r:id="rId35"/>
    <p:sldId id="321" r:id="rId36"/>
    <p:sldId id="322" r:id="rId37"/>
    <p:sldId id="323" r:id="rId38"/>
    <p:sldId id="324" r:id="rId39"/>
    <p:sldId id="370" r:id="rId40"/>
    <p:sldId id="382" r:id="rId41"/>
    <p:sldId id="371" r:id="rId42"/>
    <p:sldId id="325" r:id="rId43"/>
    <p:sldId id="372" r:id="rId44"/>
    <p:sldId id="326" r:id="rId45"/>
    <p:sldId id="373" r:id="rId46"/>
    <p:sldId id="327" r:id="rId47"/>
    <p:sldId id="330" r:id="rId48"/>
    <p:sldId id="329" r:id="rId49"/>
    <p:sldId id="331" r:id="rId50"/>
    <p:sldId id="332" r:id="rId51"/>
    <p:sldId id="333" r:id="rId52"/>
    <p:sldId id="375" r:id="rId53"/>
    <p:sldId id="334" r:id="rId54"/>
    <p:sldId id="335" r:id="rId55"/>
    <p:sldId id="376" r:id="rId56"/>
    <p:sldId id="377" r:id="rId57"/>
    <p:sldId id="337" r:id="rId58"/>
    <p:sldId id="338" r:id="rId59"/>
    <p:sldId id="339" r:id="rId60"/>
    <p:sldId id="340" r:id="rId61"/>
    <p:sldId id="341" r:id="rId62"/>
    <p:sldId id="343" r:id="rId63"/>
    <p:sldId id="378" r:id="rId64"/>
    <p:sldId id="344" r:id="rId65"/>
    <p:sldId id="345" r:id="rId66"/>
    <p:sldId id="346" r:id="rId67"/>
    <p:sldId id="347" r:id="rId68"/>
    <p:sldId id="348" r:id="rId69"/>
    <p:sldId id="349" r:id="rId70"/>
    <p:sldId id="350" r:id="rId71"/>
    <p:sldId id="351" r:id="rId72"/>
    <p:sldId id="342" r:id="rId73"/>
    <p:sldId id="352" r:id="rId74"/>
    <p:sldId id="379" r:id="rId75"/>
    <p:sldId id="380" r:id="rId76"/>
    <p:sldId id="381" r:id="rId77"/>
    <p:sldId id="358" r:id="rId78"/>
    <p:sldId id="359" r:id="rId79"/>
    <p:sldId id="360" r:id="rId80"/>
    <p:sldId id="272" r:id="rId81"/>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ulie McLaughlin" initials="JM" lastIdx="5" clrIdx="0"/>
  <p:cmAuthor id="1" name="Andi" initials="A" lastIdx="1" clrIdx="1"/>
  <p:cmAuthor id="2" name="Linda" initials="L" lastIdx="1" clrIdx="2"/>
  <p:cmAuthor id="3" name=" Donna Madsen" initials="DM" lastIdx="18" clrIdx="3"/>
  <p:cmAuthor id="4" name="Tiffany Bottolfson" initials="tmb" lastIdx="14" clrIdx="4"/>
  <p:cmAuthor id="5" name="Barbara" initials="BHE" lastIdx="1" clrIdx="5"/>
  <p:cmAuthor id="6" name="Judy Ann Levine" initials="jal" lastIdx="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37" autoAdjust="0"/>
    <p:restoredTop sz="94796" autoAdjust="0"/>
  </p:normalViewPr>
  <p:slideViewPr>
    <p:cSldViewPr>
      <p:cViewPr varScale="1">
        <p:scale>
          <a:sx n="65" d="100"/>
          <a:sy n="65" d="100"/>
        </p:scale>
        <p:origin x="1722" y="102"/>
      </p:cViewPr>
      <p:guideLst>
        <p:guide orient="horz" pos="2160"/>
        <p:guide pos="2880"/>
      </p:guideLst>
    </p:cSldViewPr>
  </p:slideViewPr>
  <p:outlineViewPr>
    <p:cViewPr>
      <p:scale>
        <a:sx n="33" d="100"/>
        <a:sy n="33" d="100"/>
      </p:scale>
      <p:origin x="36" y="22062"/>
    </p:cViewPr>
  </p:outlineViewPr>
  <p:notesTextViewPr>
    <p:cViewPr>
      <p:scale>
        <a:sx n="100" d="100"/>
        <a:sy n="100" d="100"/>
      </p:scale>
      <p:origin x="0" y="0"/>
    </p:cViewPr>
  </p:notesTextViewPr>
  <p:notesViewPr>
    <p:cSldViewPr>
      <p:cViewPr varScale="1">
        <p:scale>
          <a:sx n="59" d="100"/>
          <a:sy n="59" d="100"/>
        </p:scale>
        <p:origin x="-2484" y="-84"/>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commentAuthors" Target="commentAuthor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5.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slide" Target="slides/slide6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7.xml"/><Relationship Id="rId71" Type="http://schemas.openxmlformats.org/officeDocument/2006/relationships/slide" Target="slides/slide63.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theme" Target="theme/theme1.xml"/><Relationship Id="rId61" Type="http://schemas.openxmlformats.org/officeDocument/2006/relationships/slide" Target="slides/slide53.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a:p>
        </p:txBody>
      </p:sp>
      <p:sp>
        <p:nvSpPr>
          <p:cNvPr id="19459" name="Rectangle 3"/>
          <p:cNvSpPr>
            <a:spLocks noGrp="1" noChangeArrowheads="1"/>
          </p:cNvSpPr>
          <p:nvPr>
            <p:ph type="dt" sz="quarter" idx="1"/>
          </p:nvPr>
        </p:nvSpPr>
        <p:spPr bwMode="auto">
          <a:xfrm>
            <a:off x="3963988"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algn="r" defTabSz="930275" eaLnBrk="0" hangingPunct="0">
              <a:defRPr kumimoji="1" sz="1200">
                <a:latin typeface="Tahoma" pitchFamily="34" charset="0"/>
                <a:cs typeface="+mn-cs"/>
              </a:defRPr>
            </a:lvl1pPr>
          </a:lstStyle>
          <a:p>
            <a:pPr>
              <a:defRPr/>
            </a:pPr>
            <a:endParaRPr lang="en-US"/>
          </a:p>
        </p:txBody>
      </p:sp>
      <p:sp>
        <p:nvSpPr>
          <p:cNvPr id="19460" name="Rectangle 4"/>
          <p:cNvSpPr>
            <a:spLocks noGrp="1" noChangeArrowheads="1"/>
          </p:cNvSpPr>
          <p:nvPr>
            <p:ph type="ftr" sz="quarter" idx="2"/>
          </p:nvPr>
        </p:nvSpPr>
        <p:spPr bwMode="auto">
          <a:xfrm>
            <a:off x="0"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a:p>
        </p:txBody>
      </p:sp>
      <p:sp>
        <p:nvSpPr>
          <p:cNvPr id="19461" name="Rectangle 5"/>
          <p:cNvSpPr>
            <a:spLocks noGrp="1" noChangeArrowheads="1"/>
          </p:cNvSpPr>
          <p:nvPr>
            <p:ph type="sldNum" sz="quarter" idx="3"/>
          </p:nvPr>
        </p:nvSpPr>
        <p:spPr bwMode="auto">
          <a:xfrm>
            <a:off x="3963988"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algn="r" defTabSz="930275" eaLnBrk="0" hangingPunct="0">
              <a:defRPr kumimoji="1" sz="1200">
                <a:latin typeface="Tahoma" pitchFamily="34" charset="0"/>
                <a:cs typeface="+mn-cs"/>
              </a:defRPr>
            </a:lvl1pPr>
          </a:lstStyle>
          <a:p>
            <a:pPr>
              <a:defRPr/>
            </a:pPr>
            <a:fld id="{3B456121-521D-4DBF-A17A-DFBA40B87544}" type="slidenum">
              <a:rPr lang="en-US"/>
              <a:pPr>
                <a:defRPr/>
              </a:pPr>
              <a:t>‹#›</a:t>
            </a:fld>
            <a:endParaRPr lang="en-US"/>
          </a:p>
        </p:txBody>
      </p:sp>
    </p:spTree>
    <p:extLst>
      <p:ext uri="{BB962C8B-B14F-4D97-AF65-F5344CB8AC3E}">
        <p14:creationId xmlns:p14="http://schemas.microsoft.com/office/powerpoint/2010/main" val="11056104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a:t>*</a:t>
            </a:r>
            <a:endParaRPr lang="en-US" sz="1200"/>
          </a:p>
        </p:txBody>
      </p:sp>
      <p:sp>
        <p:nvSpPr>
          <p:cNvPr id="2051"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a:t>07/16/96</a:t>
            </a:r>
            <a:endParaRPr lang="en-US" sz="1200"/>
          </a:p>
        </p:txBody>
      </p:sp>
      <p:sp>
        <p:nvSpPr>
          <p:cNvPr id="96260" name="Rectangle 4"/>
          <p:cNvSpPr>
            <a:spLocks noGrp="1" noRot="1" noChangeAspect="1" noChangeArrowheads="1"/>
          </p:cNvSpPr>
          <p:nvPr>
            <p:ph type="sldImg" idx="2"/>
          </p:nvPr>
        </p:nvSpPr>
        <p:spPr bwMode="auto">
          <a:xfrm>
            <a:off x="1177925" y="696913"/>
            <a:ext cx="4641850" cy="3481387"/>
          </a:xfrm>
          <a:prstGeom prst="rect">
            <a:avLst/>
          </a:prstGeom>
          <a:noFill/>
          <a:ln w="12700" cap="sq">
            <a:solidFill>
              <a:schemeClr val="tx1"/>
            </a:solidFill>
            <a:miter lim="800000"/>
            <a:headEnd/>
            <a:tailEnd/>
          </a:ln>
        </p:spPr>
      </p:sp>
      <p:sp>
        <p:nvSpPr>
          <p:cNvPr id="2053"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square" lIns="93675" tIns="46838" rIns="93675" bIns="4683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54"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a:t>*</a:t>
            </a:r>
            <a:endParaRPr lang="en-US" sz="1200"/>
          </a:p>
        </p:txBody>
      </p:sp>
      <p:sp>
        <p:nvSpPr>
          <p:cNvPr id="2055"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a:t>##</a:t>
            </a:r>
            <a:endParaRPr lang="en-US" sz="1200"/>
          </a:p>
        </p:txBody>
      </p:sp>
    </p:spTree>
    <p:extLst>
      <p:ext uri="{BB962C8B-B14F-4D97-AF65-F5344CB8AC3E}">
        <p14:creationId xmlns:p14="http://schemas.microsoft.com/office/powerpoint/2010/main" val="4203921900"/>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kumimoji="1" sz="12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ahoma"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ahoma"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ahom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a:ln/>
        </p:spPr>
      </p:sp>
      <p:sp>
        <p:nvSpPr>
          <p:cNvPr id="10752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a:ln/>
        </p:spPr>
      </p:sp>
      <p:sp>
        <p:nvSpPr>
          <p:cNvPr id="10752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noTextEdit="1"/>
          </p:cNvSpPr>
          <p:nvPr>
            <p:ph type="sldImg"/>
          </p:nvPr>
        </p:nvSpPr>
        <p:spPr>
          <a:ln/>
        </p:spPr>
      </p:sp>
      <p:sp>
        <p:nvSpPr>
          <p:cNvPr id="10957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a:ln/>
        </p:spPr>
      </p:sp>
      <p:sp>
        <p:nvSpPr>
          <p:cNvPr id="10752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a:ln/>
        </p:spPr>
      </p:sp>
      <p:sp>
        <p:nvSpPr>
          <p:cNvPr id="10752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a:ln/>
        </p:spPr>
      </p:sp>
      <p:sp>
        <p:nvSpPr>
          <p:cNvPr id="10752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a:ln/>
        </p:spPr>
      </p:sp>
      <p:sp>
        <p:nvSpPr>
          <p:cNvPr id="113666"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noTextEdit="1"/>
          </p:cNvSpPr>
          <p:nvPr>
            <p:ph type="sldImg"/>
          </p:nvPr>
        </p:nvSpPr>
        <p:spPr>
          <a:ln/>
        </p:spPr>
      </p:sp>
      <p:sp>
        <p:nvSpPr>
          <p:cNvPr id="115714"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noTextEdit="1"/>
          </p:cNvSpPr>
          <p:nvPr>
            <p:ph type="sldImg"/>
          </p:nvPr>
        </p:nvSpPr>
        <p:spPr>
          <a:ln/>
        </p:spPr>
      </p:sp>
      <p:sp>
        <p:nvSpPr>
          <p:cNvPr id="115714"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a:ln/>
        </p:spPr>
      </p:sp>
      <p:sp>
        <p:nvSpPr>
          <p:cNvPr id="11776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p:cNvSpPr>
            <a:spLocks noGrp="1" noRot="1" noChangeAspect="1" noTextEdit="1"/>
          </p:cNvSpPr>
          <p:nvPr>
            <p:ph type="sldImg"/>
          </p:nvPr>
        </p:nvSpPr>
        <p:spPr>
          <a:ln/>
        </p:spPr>
      </p:sp>
      <p:sp>
        <p:nvSpPr>
          <p:cNvPr id="121858"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a:ln/>
        </p:spPr>
      </p:sp>
      <p:sp>
        <p:nvSpPr>
          <p:cNvPr id="123906"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a:ln/>
        </p:spPr>
      </p:sp>
      <p:sp>
        <p:nvSpPr>
          <p:cNvPr id="12595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noTextEdit="1"/>
          </p:cNvSpPr>
          <p:nvPr>
            <p:ph type="sldImg"/>
          </p:nvPr>
        </p:nvSpPr>
        <p:spPr>
          <a:ln/>
        </p:spPr>
      </p:sp>
      <p:sp>
        <p:nvSpPr>
          <p:cNvPr id="128002"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noTextEdit="1"/>
          </p:cNvSpPr>
          <p:nvPr>
            <p:ph type="sldImg"/>
          </p:nvPr>
        </p:nvSpPr>
        <p:spPr>
          <a:ln/>
        </p:spPr>
      </p:sp>
      <p:sp>
        <p:nvSpPr>
          <p:cNvPr id="12800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a:ln/>
        </p:spPr>
      </p:sp>
      <p:sp>
        <p:nvSpPr>
          <p:cNvPr id="136194"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p:cNvSpPr>
            <a:spLocks noGrp="1" noRot="1" noChangeAspect="1" noTextEdit="1"/>
          </p:cNvSpPr>
          <p:nvPr>
            <p:ph type="sldImg"/>
          </p:nvPr>
        </p:nvSpPr>
        <p:spPr>
          <a:ln/>
        </p:spPr>
      </p:sp>
      <p:sp>
        <p:nvSpPr>
          <p:cNvPr id="13824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Slide Image Placeholder 1"/>
          <p:cNvSpPr>
            <a:spLocks noGrp="1" noRot="1" noChangeAspect="1" noTextEdit="1"/>
          </p:cNvSpPr>
          <p:nvPr>
            <p:ph type="sldImg"/>
          </p:nvPr>
        </p:nvSpPr>
        <p:spPr>
          <a:ln/>
        </p:spPr>
      </p:sp>
      <p:sp>
        <p:nvSpPr>
          <p:cNvPr id="142338"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Slide Image Placeholder 1"/>
          <p:cNvSpPr>
            <a:spLocks noGrp="1" noRot="1" noChangeAspect="1" noTextEdit="1"/>
          </p:cNvSpPr>
          <p:nvPr>
            <p:ph type="sldImg"/>
          </p:nvPr>
        </p:nvSpPr>
        <p:spPr>
          <a:ln/>
        </p:spPr>
      </p:sp>
      <p:sp>
        <p:nvSpPr>
          <p:cNvPr id="144386"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Slide Image Placeholder 1"/>
          <p:cNvSpPr>
            <a:spLocks noGrp="1" noRot="1" noChangeAspect="1" noTextEdit="1"/>
          </p:cNvSpPr>
          <p:nvPr>
            <p:ph type="sldImg"/>
          </p:nvPr>
        </p:nvSpPr>
        <p:spPr>
          <a:ln/>
        </p:spPr>
      </p:sp>
      <p:sp>
        <p:nvSpPr>
          <p:cNvPr id="146434"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a:ln/>
        </p:spPr>
      </p:sp>
      <p:sp>
        <p:nvSpPr>
          <p:cNvPr id="14848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Slide Image Placeholder 1"/>
          <p:cNvSpPr>
            <a:spLocks noGrp="1" noRot="1" noChangeAspect="1" noTextEdit="1"/>
          </p:cNvSpPr>
          <p:nvPr>
            <p:ph type="sldImg"/>
          </p:nvPr>
        </p:nvSpPr>
        <p:spPr>
          <a:ln/>
        </p:spPr>
      </p:sp>
      <p:sp>
        <p:nvSpPr>
          <p:cNvPr id="154626"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Slide Image Placeholder 1"/>
          <p:cNvSpPr>
            <a:spLocks noGrp="1" noRot="1" noChangeAspect="1" noTextEdit="1"/>
          </p:cNvSpPr>
          <p:nvPr>
            <p:ph type="sldImg"/>
          </p:nvPr>
        </p:nvSpPr>
        <p:spPr>
          <a:ln/>
        </p:spPr>
      </p:sp>
      <p:sp>
        <p:nvSpPr>
          <p:cNvPr id="152578"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Slide Image Placeholder 1"/>
          <p:cNvSpPr>
            <a:spLocks noGrp="1" noRot="1" noChangeAspect="1" noTextEdit="1"/>
          </p:cNvSpPr>
          <p:nvPr>
            <p:ph type="sldImg"/>
          </p:nvPr>
        </p:nvSpPr>
        <p:spPr>
          <a:ln/>
        </p:spPr>
      </p:sp>
      <p:sp>
        <p:nvSpPr>
          <p:cNvPr id="162818"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Slide Image Placeholder 1"/>
          <p:cNvSpPr>
            <a:spLocks noGrp="1" noRot="1" noChangeAspect="1" noTextEdit="1"/>
          </p:cNvSpPr>
          <p:nvPr>
            <p:ph type="sldImg"/>
          </p:nvPr>
        </p:nvSpPr>
        <p:spPr>
          <a:ln/>
        </p:spPr>
      </p:sp>
      <p:sp>
        <p:nvSpPr>
          <p:cNvPr id="164866"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Slide Image Placeholder 1"/>
          <p:cNvSpPr>
            <a:spLocks noGrp="1" noRot="1" noChangeAspect="1" noTextEdit="1"/>
          </p:cNvSpPr>
          <p:nvPr>
            <p:ph type="sldImg"/>
          </p:nvPr>
        </p:nvSpPr>
        <p:spPr>
          <a:ln/>
        </p:spPr>
      </p:sp>
      <p:sp>
        <p:nvSpPr>
          <p:cNvPr id="168962"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Slide Image Placeholder 1"/>
          <p:cNvSpPr>
            <a:spLocks noGrp="1" noRot="1" noChangeAspect="1" noTextEdit="1"/>
          </p:cNvSpPr>
          <p:nvPr>
            <p:ph type="sldImg"/>
          </p:nvPr>
        </p:nvSpPr>
        <p:spPr>
          <a:ln/>
        </p:spPr>
      </p:sp>
      <p:sp>
        <p:nvSpPr>
          <p:cNvPr id="17101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Slide Image Placeholder 1"/>
          <p:cNvSpPr>
            <a:spLocks noGrp="1" noRot="1" noChangeAspect="1" noTextEdit="1"/>
          </p:cNvSpPr>
          <p:nvPr>
            <p:ph type="sldImg"/>
          </p:nvPr>
        </p:nvSpPr>
        <p:spPr>
          <a:ln/>
        </p:spPr>
      </p:sp>
      <p:sp>
        <p:nvSpPr>
          <p:cNvPr id="171010"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Slide Image Placeholder 1"/>
          <p:cNvSpPr>
            <a:spLocks noGrp="1" noRot="1" noChangeAspect="1" noTextEdit="1"/>
          </p:cNvSpPr>
          <p:nvPr>
            <p:ph type="sldImg"/>
          </p:nvPr>
        </p:nvSpPr>
        <p:spPr>
          <a:ln/>
        </p:spPr>
      </p:sp>
      <p:sp>
        <p:nvSpPr>
          <p:cNvPr id="171010"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Slide Image Placeholder 1"/>
          <p:cNvSpPr>
            <a:spLocks noGrp="1" noRot="1" noChangeAspect="1" noTextEdit="1"/>
          </p:cNvSpPr>
          <p:nvPr>
            <p:ph type="sldImg"/>
          </p:nvPr>
        </p:nvSpPr>
        <p:spPr>
          <a:ln/>
        </p:spPr>
      </p:sp>
      <p:sp>
        <p:nvSpPr>
          <p:cNvPr id="175106"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Slide Image Placeholder 1"/>
          <p:cNvSpPr>
            <a:spLocks noGrp="1" noRot="1" noChangeAspect="1" noTextEdit="1"/>
          </p:cNvSpPr>
          <p:nvPr>
            <p:ph type="sldImg"/>
          </p:nvPr>
        </p:nvSpPr>
        <p:spPr>
          <a:ln/>
        </p:spPr>
      </p:sp>
      <p:sp>
        <p:nvSpPr>
          <p:cNvPr id="175106"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Slide Image Placeholder 1"/>
          <p:cNvSpPr>
            <a:spLocks noGrp="1" noRot="1" noChangeAspect="1" noTextEdit="1"/>
          </p:cNvSpPr>
          <p:nvPr>
            <p:ph type="sldImg"/>
          </p:nvPr>
        </p:nvSpPr>
        <p:spPr>
          <a:ln/>
        </p:spPr>
      </p:sp>
      <p:sp>
        <p:nvSpPr>
          <p:cNvPr id="17715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Slide Image Placeholder 1"/>
          <p:cNvSpPr>
            <a:spLocks noGrp="1" noRot="1" noChangeAspect="1" noTextEdit="1"/>
          </p:cNvSpPr>
          <p:nvPr>
            <p:ph type="sldImg"/>
          </p:nvPr>
        </p:nvSpPr>
        <p:spPr>
          <a:ln/>
        </p:spPr>
      </p:sp>
      <p:sp>
        <p:nvSpPr>
          <p:cNvPr id="181250"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Slide Image Placeholder 1"/>
          <p:cNvSpPr>
            <a:spLocks noGrp="1" noRot="1" noChangeAspect="1" noTextEdit="1"/>
          </p:cNvSpPr>
          <p:nvPr>
            <p:ph type="sldImg"/>
          </p:nvPr>
        </p:nvSpPr>
        <p:spPr>
          <a:ln/>
        </p:spPr>
      </p:sp>
      <p:sp>
        <p:nvSpPr>
          <p:cNvPr id="183298"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a:ln/>
        </p:spPr>
      </p:sp>
      <p:sp>
        <p:nvSpPr>
          <p:cNvPr id="17920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a:ln/>
        </p:spPr>
      </p:sp>
      <p:sp>
        <p:nvSpPr>
          <p:cNvPr id="17920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Slide Image Placeholder 1"/>
          <p:cNvSpPr>
            <a:spLocks noGrp="1" noRot="1" noChangeAspect="1" noTextEdit="1"/>
          </p:cNvSpPr>
          <p:nvPr>
            <p:ph type="sldImg"/>
          </p:nvPr>
        </p:nvSpPr>
        <p:spPr>
          <a:ln/>
        </p:spPr>
      </p:sp>
      <p:sp>
        <p:nvSpPr>
          <p:cNvPr id="185346"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a:ln/>
        </p:spPr>
      </p:sp>
      <p:sp>
        <p:nvSpPr>
          <p:cNvPr id="187394" name="Notes Placeholder 2"/>
          <p:cNvSpPr>
            <a:spLocks noGrp="1"/>
          </p:cNvSpPr>
          <p:nvPr>
            <p:ph type="body" idx="1"/>
          </p:nvPr>
        </p:nvSpPr>
        <p:spPr>
          <a:noFill/>
          <a:ln/>
        </p:spPr>
        <p:txBody>
          <a:bodyPr/>
          <a:lstStyle/>
          <a:p>
            <a:r>
              <a:rPr lang="en-US" smtClean="0"/>
              <a:t>Click to add notes</a:t>
            </a:r>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a:ln/>
        </p:spPr>
      </p:sp>
      <p:sp>
        <p:nvSpPr>
          <p:cNvPr id="17920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a:ln/>
        </p:spPr>
      </p:sp>
      <p:sp>
        <p:nvSpPr>
          <p:cNvPr id="17920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a:ln/>
        </p:spPr>
      </p:sp>
      <p:sp>
        <p:nvSpPr>
          <p:cNvPr id="179202" name="Notes Placeholder 2"/>
          <p:cNvSpPr>
            <a:spLocks noGrp="1"/>
          </p:cNvSpPr>
          <p:nvPr>
            <p:ph type="body" idx="1"/>
          </p:nvPr>
        </p:nvSpPr>
        <p:spPr>
          <a:noFill/>
          <a:ln/>
        </p:spPr>
        <p:txBody>
          <a:bodyPr/>
          <a:lstStyle/>
          <a:p>
            <a:endParaRPr lang="en-US" smtClean="0"/>
          </a:p>
        </p:txBody>
      </p:sp>
      <p:sp>
        <p:nvSpPr>
          <p:cNvPr id="4" name="Header Placeholder 3"/>
          <p:cNvSpPr>
            <a:spLocks noGrp="1"/>
          </p:cNvSpPr>
          <p:nvPr>
            <p:ph type="hdr" sz="quarter"/>
          </p:nvPr>
        </p:nvSpPr>
        <p:spPr/>
        <p:txBody>
          <a:bodyPr/>
          <a:lstStyle/>
          <a:p>
            <a:pPr>
              <a:defRPr/>
            </a:pPr>
            <a:r>
              <a:rPr lang="en-US" smtClean="0"/>
              <a:t>*</a:t>
            </a:r>
            <a:endParaRPr lang="en-US" sz="1200"/>
          </a:p>
        </p:txBody>
      </p:sp>
      <p:sp>
        <p:nvSpPr>
          <p:cNvPr id="5" name="Date Placeholder 4"/>
          <p:cNvSpPr>
            <a:spLocks noGrp="1"/>
          </p:cNvSpPr>
          <p:nvPr>
            <p:ph type="dt" sz="quarter" idx="1"/>
          </p:nvPr>
        </p:nvSpPr>
        <p:spPr/>
        <p:txBody>
          <a:bodyPr/>
          <a:lstStyle/>
          <a:p>
            <a:pPr>
              <a:defRPr/>
            </a:pPr>
            <a:r>
              <a:rPr lang="en-US" smtClean="0"/>
              <a:t>07/16/96</a:t>
            </a:r>
            <a:endParaRPr lang="en-US" sz="1200"/>
          </a:p>
        </p:txBody>
      </p:sp>
      <p:sp>
        <p:nvSpPr>
          <p:cNvPr id="6" name="Footer Placeholder 5"/>
          <p:cNvSpPr>
            <a:spLocks noGrp="1"/>
          </p:cNvSpPr>
          <p:nvPr>
            <p:ph type="ftr" sz="quarter" idx="4"/>
          </p:nvPr>
        </p:nvSpPr>
        <p:spPr/>
        <p:txBody>
          <a:bodyPr/>
          <a:lstStyle/>
          <a:p>
            <a:pPr>
              <a:defRPr/>
            </a:pPr>
            <a:r>
              <a:rPr lang="en-US" smtClean="0"/>
              <a:t>*</a:t>
            </a:r>
            <a:endParaRPr lang="en-US" sz="1200"/>
          </a:p>
        </p:txBody>
      </p:sp>
      <p:sp>
        <p:nvSpPr>
          <p:cNvPr id="7" name="Slide Number Placeholder 6"/>
          <p:cNvSpPr>
            <a:spLocks noGrp="1"/>
          </p:cNvSpPr>
          <p:nvPr>
            <p:ph type="sldNum" sz="quarter" idx="5"/>
          </p:nvPr>
        </p:nvSpPr>
        <p:spPr/>
        <p:txBody>
          <a:bodyPr/>
          <a:lstStyle/>
          <a:p>
            <a:pPr>
              <a:defRPr/>
            </a:pPr>
            <a:r>
              <a:rPr lang="en-US" smtClean="0"/>
              <a:t>##</a:t>
            </a:r>
            <a:endParaRPr lang="en-US" sz="120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pPr>
              <a:defRPr/>
            </a:pPr>
            <a:r>
              <a:rPr lang="en-US" smtClean="0"/>
              <a:t>*</a:t>
            </a:r>
            <a:endParaRPr lang="en-US" sz="1200"/>
          </a:p>
        </p:txBody>
      </p:sp>
      <p:sp>
        <p:nvSpPr>
          <p:cNvPr id="5" name="Date Placeholder 4"/>
          <p:cNvSpPr>
            <a:spLocks noGrp="1"/>
          </p:cNvSpPr>
          <p:nvPr>
            <p:ph type="dt" idx="11"/>
          </p:nvPr>
        </p:nvSpPr>
        <p:spPr/>
        <p:txBody>
          <a:bodyPr/>
          <a:lstStyle/>
          <a:p>
            <a:pPr>
              <a:defRPr/>
            </a:pPr>
            <a:r>
              <a:rPr lang="en-US" smtClean="0"/>
              <a:t>07/16/96</a:t>
            </a:r>
            <a:endParaRPr lang="en-US" sz="1200"/>
          </a:p>
        </p:txBody>
      </p:sp>
      <p:sp>
        <p:nvSpPr>
          <p:cNvPr id="6" name="Footer Placeholder 5"/>
          <p:cNvSpPr>
            <a:spLocks noGrp="1"/>
          </p:cNvSpPr>
          <p:nvPr>
            <p:ph type="ftr" sz="quarter" idx="12"/>
          </p:nvPr>
        </p:nvSpPr>
        <p:spPr/>
        <p:txBody>
          <a:bodyPr/>
          <a:lstStyle/>
          <a:p>
            <a:pPr>
              <a:defRPr/>
            </a:pPr>
            <a:r>
              <a:rPr lang="en-US" smtClean="0"/>
              <a:t>*</a:t>
            </a:r>
            <a:endParaRPr lang="en-US" sz="1200"/>
          </a:p>
        </p:txBody>
      </p:sp>
      <p:sp>
        <p:nvSpPr>
          <p:cNvPr id="7" name="Slide Number Placeholder 6"/>
          <p:cNvSpPr>
            <a:spLocks noGrp="1"/>
          </p:cNvSpPr>
          <p:nvPr>
            <p:ph type="sldNum" sz="quarter" idx="13"/>
          </p:nvPr>
        </p:nvSpPr>
        <p:spPr/>
        <p:txBody>
          <a:bodyPr/>
          <a:lstStyle/>
          <a:p>
            <a:pPr>
              <a:defRPr/>
            </a:pPr>
            <a:r>
              <a:rPr lang="en-US" smtClean="0"/>
              <a:t>##</a:t>
            </a:r>
            <a:endParaRPr lang="en-US" sz="120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a:xfrm>
            <a:off x="1185863" y="703263"/>
            <a:ext cx="4625975" cy="3468687"/>
          </a:xfrm>
          <a:ln/>
        </p:spPr>
      </p:sp>
      <p:sp>
        <p:nvSpPr>
          <p:cNvPr id="100354" name="Rectangle 3"/>
          <p:cNvSpPr>
            <a:spLocks noGrp="1" noChangeArrowheads="1"/>
          </p:cNvSpPr>
          <p:nvPr>
            <p:ph type="body" idx="1"/>
          </p:nvPr>
        </p:nvSpPr>
        <p:spPr>
          <a:noFill/>
          <a:ln/>
        </p:spPr>
        <p:txBody>
          <a:bodyPr lIns="92062" tIns="45223" rIns="92062" bIns="45223"/>
          <a:lstStyle/>
          <a:p>
            <a:endParaRPr lang="en-US"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05672B18-CA00-47B9-A2B3-937E3591BDA2}" type="slidenum">
              <a:rPr lang="en-US"/>
              <a:pPr>
                <a:defRPr/>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A45981F6-CD9D-4A5F-87A1-23E8182A1546}"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281842CD-21BC-4C2A-95AF-5CE4146A59DE}"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8AB0CEE5-3A49-4214-B874-EF36E97B8FC1}"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9" name="Slide Number Placeholder 5"/>
          <p:cNvSpPr>
            <a:spLocks noGrp="1"/>
          </p:cNvSpPr>
          <p:nvPr>
            <p:ph type="sldNum" sz="quarter" idx="12"/>
          </p:nvPr>
        </p:nvSpPr>
        <p:spPr/>
        <p:txBody>
          <a:bodyPr/>
          <a:lstStyle>
            <a:lvl1pPr>
              <a:defRPr/>
            </a:lvl1pPr>
          </a:lstStyle>
          <a:p>
            <a:pPr>
              <a:defRPr/>
            </a:pPr>
            <a:fld id="{B6400637-52D4-40F5-A1D6-D4AA439157DD}"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5" name="Slide Number Placeholder 5"/>
          <p:cNvSpPr>
            <a:spLocks noGrp="1"/>
          </p:cNvSpPr>
          <p:nvPr>
            <p:ph type="sldNum" sz="quarter" idx="12"/>
          </p:nvPr>
        </p:nvSpPr>
        <p:spPr/>
        <p:txBody>
          <a:bodyPr/>
          <a:lstStyle>
            <a:lvl1pPr>
              <a:defRPr/>
            </a:lvl1pPr>
          </a:lstStyle>
          <a:p>
            <a:pPr>
              <a:defRPr/>
            </a:pPr>
            <a:fld id="{6F99B832-F223-4534-B9CF-6D6391C73940}"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4" name="Slide Number Placeholder 5"/>
          <p:cNvSpPr>
            <a:spLocks noGrp="1"/>
          </p:cNvSpPr>
          <p:nvPr>
            <p:ph type="sldNum" sz="quarter" idx="12"/>
          </p:nvPr>
        </p:nvSpPr>
        <p:spPr/>
        <p:txBody>
          <a:bodyPr/>
          <a:lstStyle>
            <a:lvl1pPr>
              <a:defRPr/>
            </a:lvl1pPr>
          </a:lstStyle>
          <a:p>
            <a:pPr>
              <a:defRPr/>
            </a:pPr>
            <a:fld id="{CAC6F71B-1864-4987-9D2F-AB735607B5B8}"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17FFD8EC-1BC4-4ED8-A379-10F2B1CDEE50}"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62C20840-A167-4FBD-900D-5FB0E058522D}"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629589F8-CD95-4ADF-939C-BF4D038E8308}"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B5E199CC-17B6-41D1-AB9E-83F17E451228}"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887E1F01-2358-4955-B506-2D27167A4925}" type="slidenum">
              <a:rPr lang="en-US"/>
              <a:pPr>
                <a:defRPr/>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C3EBC6E2-7798-43CD-8D58-74AFA50A74EE}" type="slidenum">
              <a:rPr lang="en-US"/>
              <a:pPr>
                <a:defRPr/>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7E5F5150-DFBA-43BE-9E94-292A22173D03}" type="slidenum">
              <a:rPr lang="en-US"/>
              <a:pPr>
                <a:defRPr/>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56DA41F8-B3A0-4A2D-BEA6-762845536611}" type="slidenum">
              <a:rPr lang="en-US"/>
              <a:pPr>
                <a:defRPr/>
              </a:pPr>
              <a:t>‹#›</a:t>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9" name="Slide Number Placeholder 5"/>
          <p:cNvSpPr>
            <a:spLocks noGrp="1"/>
          </p:cNvSpPr>
          <p:nvPr>
            <p:ph type="sldNum" sz="quarter" idx="12"/>
          </p:nvPr>
        </p:nvSpPr>
        <p:spPr/>
        <p:txBody>
          <a:bodyPr/>
          <a:lstStyle>
            <a:lvl1pPr>
              <a:defRPr/>
            </a:lvl1pPr>
          </a:lstStyle>
          <a:p>
            <a:pPr>
              <a:defRPr/>
            </a:pPr>
            <a:fld id="{249E5CA5-1621-4547-AA7E-99049CD2BEC4}" type="slidenum">
              <a:rPr lang="en-US"/>
              <a:pPr>
                <a:defRPr/>
              </a:pPr>
              <a:t>‹#›</a:t>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5" name="Slide Number Placeholder 5"/>
          <p:cNvSpPr>
            <a:spLocks noGrp="1"/>
          </p:cNvSpPr>
          <p:nvPr>
            <p:ph type="sldNum" sz="quarter" idx="12"/>
          </p:nvPr>
        </p:nvSpPr>
        <p:spPr/>
        <p:txBody>
          <a:bodyPr/>
          <a:lstStyle>
            <a:lvl1pPr>
              <a:defRPr/>
            </a:lvl1pPr>
          </a:lstStyle>
          <a:p>
            <a:pPr>
              <a:defRPr/>
            </a:pPr>
            <a:fld id="{91C2B7B4-4D27-456A-A5E2-D8513A1FC304}" type="slidenum">
              <a:rPr lang="en-US"/>
              <a:pPr>
                <a:defRPr/>
              </a:pPr>
              <a:t>‹#›</a:t>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4" name="Slide Number Placeholder 5"/>
          <p:cNvSpPr>
            <a:spLocks noGrp="1"/>
          </p:cNvSpPr>
          <p:nvPr>
            <p:ph type="sldNum" sz="quarter" idx="12"/>
          </p:nvPr>
        </p:nvSpPr>
        <p:spPr/>
        <p:txBody>
          <a:bodyPr/>
          <a:lstStyle>
            <a:lvl1pPr>
              <a:defRPr/>
            </a:lvl1pPr>
          </a:lstStyle>
          <a:p>
            <a:pPr>
              <a:defRPr/>
            </a:pPr>
            <a:fld id="{248D4B2B-D9F8-453F-815E-044B9FB115A3}" type="slidenum">
              <a:rPr lang="en-US"/>
              <a:pPr>
                <a:defRPr/>
              </a:pPr>
              <a:t>‹#›</a:t>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51820F77-DC59-4538-993A-DF7E94671496}" type="slidenum">
              <a:rPr lang="en-US"/>
              <a:pPr>
                <a:defRPr/>
              </a:pPr>
              <a:t>‹#›</a:t>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A88C7B97-9EC4-4AED-A991-1CBD8CB0D7DD}" type="slidenum">
              <a:rPr lang="en-US"/>
              <a:pPr>
                <a:defRPr/>
              </a:pPr>
              <a:t>‹#›</a:t>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8F5CC8E6-1326-4E9C-85F5-272F358F02DC}" type="slidenum">
              <a:rPr lang="en-US"/>
              <a:pPr>
                <a:defRPr/>
              </a:pPr>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572291F7-127A-48BB-802F-6D50CF8ECD47}" type="slidenum">
              <a:rPr lang="en-US"/>
              <a:pPr>
                <a:defRPr/>
              </a:pPr>
              <a:t>‹#›</a:t>
            </a:fld>
            <a:endParaRPr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ACAB8545-8D23-4D54-B011-67E32F1E1420}" type="slidenum">
              <a:rPr lang="en-US"/>
              <a:pPr>
                <a:defRPr/>
              </a:pPr>
              <a:t>‹#›</a:t>
            </a:fld>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82AA1-0253-4438-9861-251ED4083826}" type="slidenum">
              <a:rPr lang="en-US"/>
              <a:pPr>
                <a:defRPr/>
              </a:pPr>
              <a:t>‹#›</a:t>
            </a:fld>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7BBF8180-5B3A-44E4-AC78-36FAA4A00A68}" type="slidenum">
              <a:rPr lang="en-US"/>
              <a:pPr>
                <a:defRPr/>
              </a:pPr>
              <a:t>‹#›</a:t>
            </a:fld>
            <a:endParaRPr 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E125DCF8-8D0D-49E4-B2ED-8E9947EA663D}" type="slidenum">
              <a:rPr lang="en-US"/>
              <a:pPr>
                <a:defRPr/>
              </a:pPr>
              <a:t>‹#›</a:t>
            </a:fld>
            <a:endParaRPr 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9" name="Slide Number Placeholder 5"/>
          <p:cNvSpPr>
            <a:spLocks noGrp="1"/>
          </p:cNvSpPr>
          <p:nvPr>
            <p:ph type="sldNum" sz="quarter" idx="12"/>
          </p:nvPr>
        </p:nvSpPr>
        <p:spPr/>
        <p:txBody>
          <a:bodyPr/>
          <a:lstStyle>
            <a:lvl1pPr>
              <a:defRPr/>
            </a:lvl1pPr>
          </a:lstStyle>
          <a:p>
            <a:pPr>
              <a:defRPr/>
            </a:pPr>
            <a:fld id="{83220FED-C52D-49BF-B6C6-157E15E277E6}" type="slidenum">
              <a:rPr lang="en-US"/>
              <a:pPr>
                <a:defRPr/>
              </a:pPr>
              <a:t>‹#›</a:t>
            </a:fld>
            <a:endParaRPr lang="en-US"/>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5" name="Slide Number Placeholder 5"/>
          <p:cNvSpPr>
            <a:spLocks noGrp="1"/>
          </p:cNvSpPr>
          <p:nvPr>
            <p:ph type="sldNum" sz="quarter" idx="12"/>
          </p:nvPr>
        </p:nvSpPr>
        <p:spPr/>
        <p:txBody>
          <a:bodyPr/>
          <a:lstStyle>
            <a:lvl1pPr>
              <a:defRPr/>
            </a:lvl1pPr>
          </a:lstStyle>
          <a:p>
            <a:pPr>
              <a:defRPr/>
            </a:pPr>
            <a:fld id="{35BB8DCA-FD74-45CE-8496-08FBBCD46989}" type="slidenum">
              <a:rPr lang="en-US"/>
              <a:pPr>
                <a:defRPr/>
              </a:pPr>
              <a:t>‹#›</a:t>
            </a:fld>
            <a:endParaRPr 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4" name="Slide Number Placeholder 5"/>
          <p:cNvSpPr>
            <a:spLocks noGrp="1"/>
          </p:cNvSpPr>
          <p:nvPr>
            <p:ph type="sldNum" sz="quarter" idx="12"/>
          </p:nvPr>
        </p:nvSpPr>
        <p:spPr/>
        <p:txBody>
          <a:bodyPr/>
          <a:lstStyle>
            <a:lvl1pPr>
              <a:defRPr/>
            </a:lvl1pPr>
          </a:lstStyle>
          <a:p>
            <a:pPr>
              <a:defRPr/>
            </a:pPr>
            <a:fld id="{FC857F35-0660-4231-853E-48D2DC3A688D}" type="slidenum">
              <a:rPr lang="en-US"/>
              <a:pPr>
                <a:defRPr/>
              </a:pPr>
              <a:t>‹#›</a:t>
            </a:fld>
            <a:endParaRPr 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C4EB683C-4BE2-4B52-8196-77DF81B90406}" type="slidenum">
              <a:rPr lang="en-US"/>
              <a:pPr>
                <a:defRPr/>
              </a:pPr>
              <a:t>‹#›</a:t>
            </a:fld>
            <a:endParaRPr lang="en-US"/>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246A5F13-35BB-4CE0-ADBF-D3C3F063FD88}" type="slidenum">
              <a:rPr lang="en-US"/>
              <a:pPr>
                <a:defRPr/>
              </a:pPr>
              <a:t>‹#›</a:t>
            </a:fld>
            <a:endParaRPr lang="en-US"/>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29EE3529-66AE-4BE4-8B82-39A71105C62B}" type="slidenum">
              <a:rPr lang="en-US"/>
              <a:pPr>
                <a:defRPr/>
              </a:pPr>
              <a:t>‹#›</a:t>
            </a:fld>
            <a:endParaRPr lang="en-US"/>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09FA4603-38AD-4F26-92B2-99CC6DE91E94}" type="slidenum">
              <a:rPr lang="en-US"/>
              <a:pPr>
                <a:defRPr/>
              </a:pPr>
              <a:t>‹#›</a:t>
            </a:fld>
            <a:endParaRPr lang="en-US"/>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2140BFA7-DF07-4067-AF0E-B0D52E380E49}" type="slidenum">
              <a:rPr lang="en-US"/>
              <a:pPr>
                <a:defRPr/>
              </a:pPr>
              <a:t>‹#›</a:t>
            </a:fld>
            <a:endParaRPr 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EF8DBE8E-6151-403D-820C-BEC024E2E9DB}" type="slidenum">
              <a:rPr lang="en-US"/>
              <a:pPr>
                <a:defRPr/>
              </a:pPr>
              <a:t>‹#›</a:t>
            </a:fld>
            <a:endParaRPr lang="en-US"/>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4ADE2408-C500-46D9-BDC9-099592430CF7}" type="slidenum">
              <a:rPr lang="en-US"/>
              <a:pPr>
                <a:defRPr/>
              </a:pPr>
              <a:t>‹#›</a:t>
            </a:fld>
            <a:endParaRPr lang="en-US"/>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7266D4F2-361E-47F4-8633-9958BB33D9F6}" type="slidenum">
              <a:rPr lang="en-US"/>
              <a:pPr>
                <a:defRPr/>
              </a:pPr>
              <a:t>‹#›</a:t>
            </a:fld>
            <a:endParaRPr lang="en-US"/>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9" name="Slide Number Placeholder 5"/>
          <p:cNvSpPr>
            <a:spLocks noGrp="1"/>
          </p:cNvSpPr>
          <p:nvPr>
            <p:ph type="sldNum" sz="quarter" idx="12"/>
          </p:nvPr>
        </p:nvSpPr>
        <p:spPr/>
        <p:txBody>
          <a:bodyPr/>
          <a:lstStyle>
            <a:lvl1pPr>
              <a:defRPr/>
            </a:lvl1pPr>
          </a:lstStyle>
          <a:p>
            <a:pPr>
              <a:defRPr/>
            </a:pPr>
            <a:fld id="{29674A9E-A401-4826-8BFD-0F6E144B9826}" type="slidenum">
              <a:rPr lang="en-US"/>
              <a:pPr>
                <a:defRPr/>
              </a:pPr>
              <a:t>‹#›</a:t>
            </a:fld>
            <a:endParaRPr lang="en-US"/>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5" name="Slide Number Placeholder 5"/>
          <p:cNvSpPr>
            <a:spLocks noGrp="1"/>
          </p:cNvSpPr>
          <p:nvPr>
            <p:ph type="sldNum" sz="quarter" idx="12"/>
          </p:nvPr>
        </p:nvSpPr>
        <p:spPr/>
        <p:txBody>
          <a:bodyPr/>
          <a:lstStyle>
            <a:lvl1pPr>
              <a:defRPr/>
            </a:lvl1pPr>
          </a:lstStyle>
          <a:p>
            <a:pPr>
              <a:defRPr/>
            </a:pPr>
            <a:fld id="{94C969D3-9EC5-4D8F-8147-B578AFBB39FD}" type="slidenum">
              <a:rPr lang="en-US"/>
              <a:pPr>
                <a:defRPr/>
              </a:pPr>
              <a:t>‹#›</a:t>
            </a:fld>
            <a:endParaRPr 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4" name="Slide Number Placeholder 5"/>
          <p:cNvSpPr>
            <a:spLocks noGrp="1"/>
          </p:cNvSpPr>
          <p:nvPr>
            <p:ph type="sldNum" sz="quarter" idx="12"/>
          </p:nvPr>
        </p:nvSpPr>
        <p:spPr/>
        <p:txBody>
          <a:bodyPr/>
          <a:lstStyle>
            <a:lvl1pPr>
              <a:defRPr/>
            </a:lvl1pPr>
          </a:lstStyle>
          <a:p>
            <a:pPr>
              <a:defRPr/>
            </a:pPr>
            <a:fld id="{154A76A1-01C4-4253-9BF5-A2616A09AFDA}" type="slidenum">
              <a:rPr lang="en-US"/>
              <a:pPr>
                <a:defRPr/>
              </a:pPr>
              <a:t>‹#›</a:t>
            </a:fld>
            <a:endParaRPr lang="en-US"/>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8430EB67-EF41-4D0D-9BED-E4E8493CF0DC}" type="slidenum">
              <a:rPr lang="en-US"/>
              <a:pPr>
                <a:defRPr/>
              </a:pPr>
              <a:t>‹#›</a:t>
            </a:fld>
            <a:endParaRPr lang="en-US"/>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EE1540E7-9A83-4CB2-87F6-F021C2D4E308}" type="slidenum">
              <a:rPr lang="en-US"/>
              <a:pPr>
                <a:defRPr/>
              </a:pPr>
              <a:t>‹#›</a:t>
            </a:fld>
            <a:endParaRPr lang="en-US"/>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313DCC85-E28A-4136-80B6-A03BE8624610}" type="slidenum">
              <a:rPr lang="en-US"/>
              <a:pPr>
                <a:defRPr/>
              </a:pPr>
              <a:t>‹#›</a:t>
            </a:fld>
            <a:endParaRPr lang="en-US"/>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5155D103-C265-4B83-AB4C-EEB1DF0F95DD}" type="slidenum">
              <a:rPr lang="en-US"/>
              <a:pPr>
                <a:defRPr/>
              </a:pPr>
              <a:t>‹#›</a:t>
            </a:fld>
            <a:endParaRPr 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4DDA7DAE-1CC3-4688-9C4B-0B02206FD35B}" type="slidenum">
              <a:rPr lang="en-US"/>
              <a:pPr>
                <a:defRPr/>
              </a:pPr>
              <a:t>‹#›</a:t>
            </a:fld>
            <a:endParaRPr lang="en-US"/>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EC1913C3-1FF2-42BB-8251-1647D70EA79B}" type="slidenum">
              <a:rPr lang="en-US"/>
              <a:pPr>
                <a:defRPr/>
              </a:pPr>
              <a:t>‹#›</a:t>
            </a:fld>
            <a:endParaRPr lang="en-US"/>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04AEA883-DF87-4022-9C6A-266E032F48AC}" type="slidenum">
              <a:rPr lang="en-US"/>
              <a:pPr>
                <a:defRPr/>
              </a:pPr>
              <a:t>‹#›</a:t>
            </a:fld>
            <a:endParaRPr lang="en-US"/>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D7360A7E-5229-40C9-8693-D7426273D345}" type="slidenum">
              <a:rPr lang="en-US"/>
              <a:pPr>
                <a:defRPr/>
              </a:pPr>
              <a:t>‹#›</a:t>
            </a:fld>
            <a:endParaRPr lang="en-US"/>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9" name="Slide Number Placeholder 5"/>
          <p:cNvSpPr>
            <a:spLocks noGrp="1"/>
          </p:cNvSpPr>
          <p:nvPr>
            <p:ph type="sldNum" sz="quarter" idx="12"/>
          </p:nvPr>
        </p:nvSpPr>
        <p:spPr/>
        <p:txBody>
          <a:bodyPr/>
          <a:lstStyle>
            <a:lvl1pPr>
              <a:defRPr/>
            </a:lvl1pPr>
          </a:lstStyle>
          <a:p>
            <a:pPr>
              <a:defRPr/>
            </a:pPr>
            <a:fld id="{446603BA-CE8D-4BA8-BA35-735A664D71F9}" type="slidenum">
              <a:rPr lang="en-US"/>
              <a:pPr>
                <a:defRPr/>
              </a:pPr>
              <a:t>‹#›</a:t>
            </a:fld>
            <a:endParaRPr lang="en-US"/>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5" name="Slide Number Placeholder 5"/>
          <p:cNvSpPr>
            <a:spLocks noGrp="1"/>
          </p:cNvSpPr>
          <p:nvPr>
            <p:ph type="sldNum" sz="quarter" idx="12"/>
          </p:nvPr>
        </p:nvSpPr>
        <p:spPr/>
        <p:txBody>
          <a:bodyPr/>
          <a:lstStyle>
            <a:lvl1pPr>
              <a:defRPr/>
            </a:lvl1pPr>
          </a:lstStyle>
          <a:p>
            <a:pPr>
              <a:defRPr/>
            </a:pPr>
            <a:fld id="{2813C20E-77C3-42BB-8B96-3E9DB14CC8E2}" type="slidenum">
              <a:rPr lang="en-US"/>
              <a:pPr>
                <a:defRPr/>
              </a:pPr>
              <a:t>‹#›</a:t>
            </a:fld>
            <a:endParaRPr lang="en-US"/>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4" name="Slide Number Placeholder 5"/>
          <p:cNvSpPr>
            <a:spLocks noGrp="1"/>
          </p:cNvSpPr>
          <p:nvPr>
            <p:ph type="sldNum" sz="quarter" idx="12"/>
          </p:nvPr>
        </p:nvSpPr>
        <p:spPr/>
        <p:txBody>
          <a:bodyPr/>
          <a:lstStyle>
            <a:lvl1pPr>
              <a:defRPr/>
            </a:lvl1pPr>
          </a:lstStyle>
          <a:p>
            <a:pPr>
              <a:defRPr/>
            </a:pPr>
            <a:fld id="{9071683B-5E92-4771-98A4-0957D8237343}" type="slidenum">
              <a:rPr lang="en-US"/>
              <a:pPr>
                <a:defRPr/>
              </a:pPr>
              <a:t>‹#›</a:t>
            </a:fld>
            <a:endParaRPr lang="en-US"/>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29CB30CE-09E0-4522-9FE3-54AEF0A67231}" type="slidenum">
              <a:rPr lang="en-US"/>
              <a:pPr>
                <a:defRPr/>
              </a:pPr>
              <a:t>‹#›</a:t>
            </a:fld>
            <a:endParaRPr lang="en-US"/>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146B7DBD-949D-45B8-8796-536BE154992D}" type="slidenum">
              <a:rPr lang="en-US"/>
              <a:pPr>
                <a:defRPr/>
              </a:pPr>
              <a:t>‹#›</a:t>
            </a:fld>
            <a:endParaRPr lang="en-US"/>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C197BBBF-1601-4009-96D3-4561EAEC2E79}" type="slidenum">
              <a:rPr lang="en-US"/>
              <a:pPr>
                <a:defRPr/>
              </a:pPr>
              <a:t>‹#›</a:t>
            </a:fld>
            <a:endParaRPr lang="en-US"/>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9CC6067C-3E8E-4D66-B87E-345BD5EDB41D}" type="slidenum">
              <a:rPr lang="en-US"/>
              <a:pPr>
                <a:defRPr/>
              </a:pPr>
              <a:t>‹#›</a:t>
            </a:fld>
            <a:endParaRPr lang="en-US"/>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D980E7EE-7DFB-4E2D-887F-73054042FC34}" type="slidenum">
              <a:rPr lang="en-US"/>
              <a:pPr>
                <a:defRPr/>
              </a:pPr>
              <a:t>‹#›</a:t>
            </a:fld>
            <a:endParaRPr lang="en-US"/>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7909F0A8-4A37-48A0-A7E3-F35A1C6CC2A6}" type="slidenum">
              <a:rPr lang="en-US"/>
              <a:pPr>
                <a:defRPr/>
              </a:pPr>
              <a:t>‹#›</a:t>
            </a:fld>
            <a:endParaRPr lang="en-US"/>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2ECF357D-EBE8-4DD9-9020-D3B88CF4581A}" type="slidenum">
              <a:rPr lang="en-US"/>
              <a:pPr>
                <a:defRPr/>
              </a:pPr>
              <a:t>‹#›</a:t>
            </a:fld>
            <a:endParaRPr lang="en-US"/>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9EA918CB-DAA5-401A-BD2B-32F02A70CA6F}" type="slidenum">
              <a:rPr lang="en-US"/>
              <a:pPr>
                <a:defRPr/>
              </a:pPr>
              <a:t>‹#›</a:t>
            </a:fld>
            <a:endParaRPr lang="en-US"/>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9" name="Slide Number Placeholder 5"/>
          <p:cNvSpPr>
            <a:spLocks noGrp="1"/>
          </p:cNvSpPr>
          <p:nvPr>
            <p:ph type="sldNum" sz="quarter" idx="12"/>
          </p:nvPr>
        </p:nvSpPr>
        <p:spPr/>
        <p:txBody>
          <a:bodyPr/>
          <a:lstStyle>
            <a:lvl1pPr>
              <a:defRPr/>
            </a:lvl1pPr>
          </a:lstStyle>
          <a:p>
            <a:pPr>
              <a:defRPr/>
            </a:pPr>
            <a:fld id="{CBD3EBF7-57A8-4562-8074-05FC84579D8B}" type="slidenum">
              <a:rPr lang="en-US"/>
              <a:pPr>
                <a:defRPr/>
              </a:pPr>
              <a:t>‹#›</a:t>
            </a:fld>
            <a:endParaRPr lang="en-US"/>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5" name="Slide Number Placeholder 5"/>
          <p:cNvSpPr>
            <a:spLocks noGrp="1"/>
          </p:cNvSpPr>
          <p:nvPr>
            <p:ph type="sldNum" sz="quarter" idx="12"/>
          </p:nvPr>
        </p:nvSpPr>
        <p:spPr/>
        <p:txBody>
          <a:bodyPr/>
          <a:lstStyle>
            <a:lvl1pPr>
              <a:defRPr/>
            </a:lvl1pPr>
          </a:lstStyle>
          <a:p>
            <a:pPr>
              <a:defRPr/>
            </a:pPr>
            <a:fld id="{09C779B8-4BC7-45B8-B452-2235B56C088A}" type="slidenum">
              <a:rPr lang="en-US"/>
              <a:pPr>
                <a:defRPr/>
              </a:pPr>
              <a:t>‹#›</a:t>
            </a:fld>
            <a:endParaRPr lang="en-US"/>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4" name="Slide Number Placeholder 5"/>
          <p:cNvSpPr>
            <a:spLocks noGrp="1"/>
          </p:cNvSpPr>
          <p:nvPr>
            <p:ph type="sldNum" sz="quarter" idx="12"/>
          </p:nvPr>
        </p:nvSpPr>
        <p:spPr/>
        <p:txBody>
          <a:bodyPr/>
          <a:lstStyle>
            <a:lvl1pPr>
              <a:defRPr/>
            </a:lvl1pPr>
          </a:lstStyle>
          <a:p>
            <a:pPr>
              <a:defRPr/>
            </a:pPr>
            <a:fld id="{F65C23E7-6E4C-4407-9495-1076819F1D1F}" type="slidenum">
              <a:rPr lang="en-US"/>
              <a:pPr>
                <a:defRPr/>
              </a:pPr>
              <a:t>‹#›</a:t>
            </a:fld>
            <a:endParaRPr lang="en-US"/>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98D2AAE6-8C46-4635-ABBF-91AD9D45495B}" type="slidenum">
              <a:rPr lang="en-US"/>
              <a:pPr>
                <a:defRPr/>
              </a:pPr>
              <a:t>‹#›</a:t>
            </a:fld>
            <a:endParaRPr lang="en-US"/>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8C0A559A-75E4-4F76-8FE0-D09A740328B3}" type="slidenum">
              <a:rPr lang="en-US"/>
              <a:pPr>
                <a:defRPr/>
              </a:pPr>
              <a:t>‹#›</a:t>
            </a:fld>
            <a:endParaRPr lang="en-US"/>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05A363C8-DF8E-4EF2-86EC-2C924460BD27}" type="slidenum">
              <a:rPr lang="en-US"/>
              <a:pPr>
                <a:defRPr/>
              </a:pPr>
              <a:t>‹#›</a:t>
            </a:fld>
            <a:endParaRPr lang="en-US"/>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3E839710-E884-41E7-A772-E626858EC09C}" type="slidenum">
              <a:rPr lang="en-US"/>
              <a:pPr>
                <a:defRPr/>
              </a:pPr>
              <a:t>‹#›</a:t>
            </a:fld>
            <a:endParaRPr lang="en-US"/>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23CA463C-682A-462A-B338-61CEE47BDE81}" type="slidenum">
              <a:rPr lang="en-US"/>
              <a:pPr>
                <a:defRPr/>
              </a:pPr>
              <a:t>‹#›</a:t>
            </a:fld>
            <a:endParaRPr lang="en-US"/>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FE4336D9-F5AB-45BC-AA5B-6879DCBFA5A1}" type="slidenum">
              <a:rPr lang="en-US"/>
              <a:pPr>
                <a:defRPr/>
              </a:pPr>
              <a:t>‹#›</a:t>
            </a:fld>
            <a:endParaRPr lang="en-US"/>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03ACEDB9-BCD9-4AE9-917C-9CD97C27A496}" type="slidenum">
              <a:rPr lang="en-US"/>
              <a:pPr>
                <a:defRPr/>
              </a:pPr>
              <a:t>‹#›</a:t>
            </a:fld>
            <a:endParaRPr lang="en-US"/>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62801C6E-D96F-48FC-98C3-E1AC70052946}" type="slidenum">
              <a:rPr lang="en-US"/>
              <a:pPr>
                <a:defRPr/>
              </a:pPr>
              <a:t>‹#›</a:t>
            </a:fld>
            <a:endParaRPr lang="en-US"/>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9" name="Slide Number Placeholder 5"/>
          <p:cNvSpPr>
            <a:spLocks noGrp="1"/>
          </p:cNvSpPr>
          <p:nvPr>
            <p:ph type="sldNum" sz="quarter" idx="12"/>
          </p:nvPr>
        </p:nvSpPr>
        <p:spPr/>
        <p:txBody>
          <a:bodyPr/>
          <a:lstStyle>
            <a:lvl1pPr>
              <a:defRPr/>
            </a:lvl1pPr>
          </a:lstStyle>
          <a:p>
            <a:pPr>
              <a:defRPr/>
            </a:pPr>
            <a:fld id="{78C8041A-B71D-416F-AA72-F1D69EFCF308}" type="slidenum">
              <a:rPr lang="en-US"/>
              <a:pPr>
                <a:defRPr/>
              </a:pPr>
              <a:t>‹#›</a:t>
            </a:fld>
            <a:endParaRPr lang="en-US"/>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5" name="Slide Number Placeholder 5"/>
          <p:cNvSpPr>
            <a:spLocks noGrp="1"/>
          </p:cNvSpPr>
          <p:nvPr>
            <p:ph type="sldNum" sz="quarter" idx="12"/>
          </p:nvPr>
        </p:nvSpPr>
        <p:spPr/>
        <p:txBody>
          <a:bodyPr/>
          <a:lstStyle>
            <a:lvl1pPr>
              <a:defRPr/>
            </a:lvl1pPr>
          </a:lstStyle>
          <a:p>
            <a:pPr>
              <a:defRPr/>
            </a:pPr>
            <a:fld id="{1D7F9641-8088-4FBB-80E6-56D7C3839C33}" type="slidenum">
              <a:rPr lang="en-US"/>
              <a:pPr>
                <a:defRPr/>
              </a:pPr>
              <a:t>‹#›</a:t>
            </a:fld>
            <a:endParaRPr lang="en-US"/>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4" name="Slide Number Placeholder 5"/>
          <p:cNvSpPr>
            <a:spLocks noGrp="1"/>
          </p:cNvSpPr>
          <p:nvPr>
            <p:ph type="sldNum" sz="quarter" idx="12"/>
          </p:nvPr>
        </p:nvSpPr>
        <p:spPr/>
        <p:txBody>
          <a:bodyPr/>
          <a:lstStyle>
            <a:lvl1pPr>
              <a:defRPr/>
            </a:lvl1pPr>
          </a:lstStyle>
          <a:p>
            <a:pPr>
              <a:defRPr/>
            </a:pPr>
            <a:fld id="{A1884029-ABDC-4C75-804A-5D4AF2508C09}" type="slidenum">
              <a:rPr lang="en-US"/>
              <a:pPr>
                <a:defRPr/>
              </a:pPr>
              <a:t>‹#›</a:t>
            </a:fld>
            <a:endParaRPr lang="en-US"/>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7CAC5E94-978D-4F02-B8F2-97989D43BDD4}" type="slidenum">
              <a:rPr lang="en-US"/>
              <a:pPr>
                <a:defRPr/>
              </a:pPr>
              <a:t>‹#›</a:t>
            </a:fld>
            <a:endParaRPr lang="en-US"/>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7" name="Slide Number Placeholder 5"/>
          <p:cNvSpPr>
            <a:spLocks noGrp="1"/>
          </p:cNvSpPr>
          <p:nvPr>
            <p:ph type="sldNum" sz="quarter" idx="12"/>
          </p:nvPr>
        </p:nvSpPr>
        <p:spPr/>
        <p:txBody>
          <a:bodyPr/>
          <a:lstStyle>
            <a:lvl1pPr>
              <a:defRPr/>
            </a:lvl1pPr>
          </a:lstStyle>
          <a:p>
            <a:pPr>
              <a:defRPr/>
            </a:pPr>
            <a:fld id="{34A1150C-345F-499B-9970-5765A35EAC04}" type="slidenum">
              <a:rPr lang="en-US"/>
              <a:pPr>
                <a:defRPr/>
              </a:pPr>
              <a:t>‹#›</a:t>
            </a:fld>
            <a:endParaRPr lang="en-US"/>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0152FD9D-802D-42ED-90AE-87D1BDEF9C82}" type="slidenum">
              <a:rPr lang="en-US"/>
              <a:pPr>
                <a:defRPr/>
              </a:pPr>
              <a:t>‹#›</a:t>
            </a:fld>
            <a:endParaRPr lang="en-US"/>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lvl1pPr>
              <a:defRPr/>
            </a:lvl1pPr>
          </a:lstStyle>
          <a:p>
            <a:pPr>
              <a:defRPr/>
            </a:pPr>
            <a:fld id="{6A02DE13-222E-4AE8-A1BB-1CAA55C28E67}" type="slidenum">
              <a:rPr lang="en-US"/>
              <a:pPr>
                <a:defRPr/>
              </a:pPr>
              <a:t>‹#›</a:t>
            </a:fld>
            <a:endParaRPr lang="en-US"/>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endParaRPr lang="en-US"/>
          </a:p>
        </p:txBody>
      </p:sp>
      <p:sp>
        <p:nvSpPr>
          <p:cNvPr id="8" name="Slide Number Placeholder 7"/>
          <p:cNvSpPr>
            <a:spLocks noGrp="1"/>
          </p:cNvSpPr>
          <p:nvPr>
            <p:ph type="sldNum" sz="quarter" idx="11"/>
          </p:nvPr>
        </p:nvSpPr>
        <p:spPr/>
        <p:txBody>
          <a:bodyPr/>
          <a:lstStyle/>
          <a:p>
            <a:pPr>
              <a:defRPr/>
            </a:pPr>
            <a:fld id="{4C467257-E832-4478-B490-5B033862A145}" type="slidenum">
              <a:rPr lang="en-US" smtClean="0"/>
              <a:pPr>
                <a:defRPr/>
              </a:pPr>
              <a:t>‹#›</a:t>
            </a:fld>
            <a:endParaRPr lang="en-US"/>
          </a:p>
        </p:txBody>
      </p:sp>
      <p:sp>
        <p:nvSpPr>
          <p:cNvPr id="9" name="Footer Placeholder 8"/>
          <p:cNvSpPr>
            <a:spLocks noGrp="1"/>
          </p:cNvSpPr>
          <p:nvPr>
            <p:ph type="ftr" sz="quarter" idx="12"/>
          </p:nvPr>
        </p:nvSpPr>
        <p:spPr/>
        <p:txBody>
          <a:bodyPr/>
          <a:lstStyle/>
          <a:p>
            <a:pPr>
              <a:defRPr/>
            </a:pPr>
            <a:r>
              <a:rPr lang="en-US" smtClean="0"/>
              <a:t>Copyright © 2012 Pearson Education, Inc. Publishing as Prentice Hall</a:t>
            </a:r>
            <a:endParaRPr 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Footer Placeholder 4"/>
          <p:cNvSpPr>
            <a:spLocks noGrp="1"/>
          </p:cNvSpPr>
          <p:nvPr>
            <p:ph type="ftr" sz="quarter" idx="11"/>
          </p:nvPr>
        </p:nvSpPr>
        <p:spPr>
          <a:xfrm>
            <a:off x="659165" y="6477000"/>
            <a:ext cx="5665435" cy="244475"/>
          </a:xfrm>
        </p:spPr>
        <p:txBody>
          <a:body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kumimoji="0" lang="en-US" smtClean="0"/>
              <a:t>Copyright © 2012 Pearson Education, Inc. Publishing as Prentice Hall</a:t>
            </a:r>
            <a:endParaRPr kumimoji="0" lang="en-US"/>
          </a:p>
        </p:txBody>
      </p:sp>
      <p:sp>
        <p:nvSpPr>
          <p:cNvPr id="6" name="Slide Number Placeholder 5"/>
          <p:cNvSpPr>
            <a:spLocks noGrp="1"/>
          </p:cNvSpPr>
          <p:nvPr>
            <p:ph type="sldNum" sz="quarter" idx="12"/>
          </p:nvPr>
        </p:nvSpPr>
        <p:spPr/>
        <p:txBody>
          <a:bodyPr/>
          <a:lstStyle/>
          <a:p>
            <a:pPr>
              <a:defRPr/>
            </a:pPr>
            <a:fld id="{11625734-4DC8-41BB-B315-E2E1BFA14A2D}" type="slidenum">
              <a:rPr lang="en-US" smtClean="0"/>
              <a:pPr>
                <a:defRPr/>
              </a:pPr>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6" name="Footer Placeholder 5"/>
          <p:cNvSpPr>
            <a:spLocks noGrp="1"/>
          </p:cNvSpPr>
          <p:nvPr>
            <p:ph type="ftr" sz="quarter" idx="11"/>
          </p:nvPr>
        </p:nvSpPr>
        <p:spPr>
          <a:xfrm>
            <a:off x="659165" y="6400800"/>
            <a:ext cx="6046435" cy="320675"/>
          </a:xfrm>
        </p:spPr>
        <p:txBody>
          <a:bodyPr/>
          <a:lstStyle/>
          <a:p>
            <a:pPr>
              <a:defRPr/>
            </a:pPr>
            <a:r>
              <a:rPr lang="en-US" smtClean="0"/>
              <a:t>Copyright © 2012 Pearson Education, Inc. Publishing as Prentice Hall</a:t>
            </a:r>
            <a:endParaRPr lang="en-US"/>
          </a:p>
        </p:txBody>
      </p:sp>
      <p:sp>
        <p:nvSpPr>
          <p:cNvPr id="7" name="Slide Number Placeholder 6"/>
          <p:cNvSpPr>
            <a:spLocks noGrp="1"/>
          </p:cNvSpPr>
          <p:nvPr>
            <p:ph type="sldNum" sz="quarter" idx="12"/>
          </p:nvPr>
        </p:nvSpPr>
        <p:spPr/>
        <p:txBody>
          <a:bodyPr/>
          <a:lstStyle/>
          <a:p>
            <a:pPr>
              <a:defRPr/>
            </a:pPr>
            <a:fld id="{ADECFD27-E205-4F2F-9A8F-1FE9A8E016E3}" type="slidenum">
              <a:rPr lang="en-US" smtClean="0"/>
              <a:pPr>
                <a:defRPr/>
              </a:pPr>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Footer Placeholder 7"/>
          <p:cNvSpPr>
            <a:spLocks noGrp="1"/>
          </p:cNvSpPr>
          <p:nvPr>
            <p:ph type="ftr" sz="quarter" idx="11"/>
          </p:nvPr>
        </p:nvSpPr>
        <p:spPr>
          <a:xfrm>
            <a:off x="659165" y="6356350"/>
            <a:ext cx="7265635" cy="365125"/>
          </a:xfrm>
        </p:spPr>
        <p:txBody>
          <a:bodyPr/>
          <a:lstStyle/>
          <a:p>
            <a:pPr>
              <a:defRPr/>
            </a:pPr>
            <a:r>
              <a:rPr lang="en-US" smtClean="0"/>
              <a:t>Copyright © 2012 Pearson Education, Inc. Publishing as Prentice Hall</a:t>
            </a:r>
            <a:endParaRPr lang="en-US"/>
          </a:p>
        </p:txBody>
      </p:sp>
      <p:sp>
        <p:nvSpPr>
          <p:cNvPr id="9" name="Slide Number Placeholder 8"/>
          <p:cNvSpPr>
            <a:spLocks noGrp="1"/>
          </p:cNvSpPr>
          <p:nvPr>
            <p:ph type="sldNum" sz="quarter" idx="12"/>
          </p:nvPr>
        </p:nvSpPr>
        <p:spPr/>
        <p:txBody>
          <a:bodyPr/>
          <a:lstStyle/>
          <a:p>
            <a:pPr>
              <a:defRPr/>
            </a:pPr>
            <a:fld id="{F6C63492-723D-4E8B-AF7B-8520966CC4B8}" type="slidenum">
              <a:rPr lang="en-US" smtClean="0"/>
              <a:pPr>
                <a:defRPr/>
              </a:pPr>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Footer Placeholder 3"/>
          <p:cNvSpPr>
            <a:spLocks noGrp="1"/>
          </p:cNvSpPr>
          <p:nvPr>
            <p:ph type="ftr" sz="quarter" idx="11"/>
          </p:nvPr>
        </p:nvSpPr>
        <p:spPr>
          <a:xfrm>
            <a:off x="659165" y="6356350"/>
            <a:ext cx="7113235" cy="365125"/>
          </a:xfrm>
        </p:spPr>
        <p:txBody>
          <a:bodyPr/>
          <a:lstStyle/>
          <a:p>
            <a:pPr>
              <a:defRPr/>
            </a:pPr>
            <a:r>
              <a:rPr lang="en-US" smtClean="0"/>
              <a:t>Copyright © 2012 Pearson Education, Inc. Publishing as Prentice Hall</a:t>
            </a:r>
            <a:endParaRPr lang="en-US"/>
          </a:p>
        </p:txBody>
      </p:sp>
      <p:sp>
        <p:nvSpPr>
          <p:cNvPr id="5" name="Slide Number Placeholder 4"/>
          <p:cNvSpPr>
            <a:spLocks noGrp="1"/>
          </p:cNvSpPr>
          <p:nvPr>
            <p:ph type="sldNum" sz="quarter" idx="12"/>
          </p:nvPr>
        </p:nvSpPr>
        <p:spPr/>
        <p:txBody>
          <a:bodyPr/>
          <a:lstStyle/>
          <a:p>
            <a:pPr>
              <a:defRPr/>
            </a:pPr>
            <a:fld id="{C08AE460-6C33-432D-98AF-D0A31A72975B}" type="slidenum">
              <a:rPr lang="en-US" smtClean="0"/>
              <a:pPr>
                <a:defRPr/>
              </a:pPr>
              <a:t>‹#›</a:t>
            </a:fld>
            <a:endParaRPr 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Copyright © 2012 Pearson Education, Inc. Publishing as Prentice Hall</a:t>
            </a:r>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418035" cy="365125"/>
          </a:xfrm>
        </p:spPr>
        <p:txBody>
          <a:bodyPr/>
          <a:lstStyle/>
          <a:p>
            <a:pPr>
              <a:defRPr/>
            </a:pPr>
            <a:r>
              <a:rPr lang="en-US" smtClean="0"/>
              <a:t>Copyright © 2012 Pearson Education, Inc. Publishing as Prentice Hall</a:t>
            </a:r>
            <a:endParaRPr lang="en-US"/>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5410200"/>
            <a:ext cx="7772400" cy="594360"/>
          </a:xfrm>
        </p:spPr>
        <p:txBody>
          <a:bodyPr anchor="b"/>
          <a:lstStyle>
            <a:lvl1pPr algn="ctr">
              <a:defRPr sz="2200" b="1"/>
            </a:lvl1pPr>
          </a:lstStyle>
          <a:p>
            <a:r>
              <a:rPr lang="en-US" smtClean="0"/>
              <a:t>Click to edit Master title style</a:t>
            </a:r>
            <a:endParaRPr lang="en-US" dirty="0"/>
          </a:p>
        </p:txBody>
      </p:sp>
      <p:sp>
        <p:nvSpPr>
          <p:cNvPr id="6" name="Footer Placeholder 5"/>
          <p:cNvSpPr>
            <a:spLocks noGrp="1"/>
          </p:cNvSpPr>
          <p:nvPr>
            <p:ph type="ftr" sz="quarter" idx="11"/>
          </p:nvPr>
        </p:nvSpPr>
        <p:spPr>
          <a:xfrm>
            <a:off x="304800" y="6324600"/>
            <a:ext cx="7848600" cy="365760"/>
          </a:xfrm>
        </p:spPr>
        <p:txBody>
          <a:bodyPr/>
          <a:lstStyle/>
          <a:p>
            <a:pPr>
              <a:defRPr/>
            </a:pPr>
            <a:r>
              <a:rPr lang="en-US" smtClean="0"/>
              <a:t>Copyright © 2012 Pearson Education, Inc. Publishing as Prentice Hall</a:t>
            </a:r>
            <a:endParaRPr lang="en-US"/>
          </a:p>
        </p:txBody>
      </p:sp>
      <p:sp>
        <p:nvSpPr>
          <p:cNvPr id="7" name="Slide Number Placeholder 6"/>
          <p:cNvSpPr>
            <a:spLocks noGrp="1"/>
          </p:cNvSpPr>
          <p:nvPr>
            <p:ph type="sldNum" sz="quarter" idx="12"/>
          </p:nvPr>
        </p:nvSpPr>
        <p:spPr/>
        <p:txBody>
          <a:bodyPr/>
          <a:lstStyle/>
          <a:p>
            <a:pPr>
              <a:defRPr/>
            </a:pPr>
            <a:fld id="{35184BC9-E88D-4E64-AE5A-8E8E8897FE73}" type="slidenum">
              <a:rPr lang="en-US" smtClean="0"/>
              <a:pPr>
                <a:defRPr/>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9" name="Slide Number Placeholder 8"/>
          <p:cNvSpPr>
            <a:spLocks noGrp="1"/>
          </p:cNvSpPr>
          <p:nvPr>
            <p:ph type="sldNum" sz="quarter" idx="11"/>
          </p:nvPr>
        </p:nvSpPr>
        <p:spPr/>
        <p:txBody>
          <a:bodyPr/>
          <a:lstStyle/>
          <a:p>
            <a:pPr>
              <a:defRPr/>
            </a:pPr>
            <a:fld id="{0D3CC13B-E2EF-47BB-B3FF-09D7E675F32E}" type="slidenum">
              <a:rPr lang="en-US" smtClean="0"/>
              <a:pPr>
                <a:defRPr/>
              </a:pPr>
              <a:t>‹#›</a:t>
            </a:fld>
            <a:endParaRPr lang="en-US"/>
          </a:p>
        </p:txBody>
      </p:sp>
      <p:sp>
        <p:nvSpPr>
          <p:cNvPr id="10" name="Footer Placeholder 9"/>
          <p:cNvSpPr>
            <a:spLocks noGrp="1"/>
          </p:cNvSpPr>
          <p:nvPr>
            <p:ph type="ftr" sz="quarter" idx="12"/>
          </p:nvPr>
        </p:nvSpPr>
        <p:spPr>
          <a:xfrm>
            <a:off x="381000" y="6324600"/>
            <a:ext cx="7696200" cy="365760"/>
          </a:xfrm>
        </p:spPr>
        <p:txBody>
          <a:bodyPr/>
          <a:lstStyle/>
          <a:p>
            <a:pPr>
              <a:defRPr/>
            </a:pPr>
            <a:r>
              <a:rPr lang="en-US" smtClean="0"/>
              <a:t>Copyright © 2012 Pearson Education, Inc. Publishing as Prentice Hall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4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BC2AE529-F438-4BCD-8C30-F4B4DA3443E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64" r:id="rId1"/>
    <p:sldLayoutId id="2147483763" r:id="rId2"/>
    <p:sldLayoutId id="2147483762" r:id="rId3"/>
    <p:sldLayoutId id="2147483761" r:id="rId4"/>
    <p:sldLayoutId id="2147483760" r:id="rId5"/>
    <p:sldLayoutId id="2147483759" r:id="rId6"/>
    <p:sldLayoutId id="2147483758" r:id="rId7"/>
    <p:sldLayoutId id="2147483757" r:id="rId8"/>
    <p:sldLayoutId id="2147483756" r:id="rId9"/>
    <p:sldLayoutId id="2147483755" r:id="rId10"/>
    <p:sldLayoutId id="2147483754" r:id="rId11"/>
  </p:sldLayoutIdLst>
  <p:transition/>
  <p:timing>
    <p:tnLst>
      <p:par>
        <p:cTn id="1" dur="indefinite" restart="never" nodeType="tmRoot"/>
      </p:par>
    </p:tnLst>
  </p:timing>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53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253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0BDF16DF-55C7-405E-B630-101528E3D10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75" r:id="rId1"/>
    <p:sldLayoutId id="2147483774" r:id="rId2"/>
    <p:sldLayoutId id="2147483773" r:id="rId3"/>
    <p:sldLayoutId id="2147483772" r:id="rId4"/>
    <p:sldLayoutId id="2147483771" r:id="rId5"/>
    <p:sldLayoutId id="2147483770" r:id="rId6"/>
    <p:sldLayoutId id="2147483769" r:id="rId7"/>
    <p:sldLayoutId id="2147483768" r:id="rId8"/>
    <p:sldLayoutId id="2147483767" r:id="rId9"/>
    <p:sldLayoutId id="2147483766" r:id="rId10"/>
    <p:sldLayoutId id="2147483765"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8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48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D1E967-BE6C-4613-B5D5-7F48702C2FA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86" r:id="rId1"/>
    <p:sldLayoutId id="2147483785" r:id="rId2"/>
    <p:sldLayoutId id="2147483784" r:id="rId3"/>
    <p:sldLayoutId id="2147483783" r:id="rId4"/>
    <p:sldLayoutId id="2147483782" r:id="rId5"/>
    <p:sldLayoutId id="2147483781" r:id="rId6"/>
    <p:sldLayoutId id="2147483780" r:id="rId7"/>
    <p:sldLayoutId id="2147483779" r:id="rId8"/>
    <p:sldLayoutId id="2147483778" r:id="rId9"/>
    <p:sldLayoutId id="2147483777" r:id="rId10"/>
    <p:sldLayoutId id="2147483776"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710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710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6FC7868D-58DA-4536-B00F-2A3965CB12B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97" r:id="rId1"/>
    <p:sldLayoutId id="2147483796" r:id="rId2"/>
    <p:sldLayoutId id="2147483795" r:id="rId3"/>
    <p:sldLayoutId id="2147483794" r:id="rId4"/>
    <p:sldLayoutId id="2147483793" r:id="rId5"/>
    <p:sldLayoutId id="2147483792" r:id="rId6"/>
    <p:sldLayoutId id="2147483791" r:id="rId7"/>
    <p:sldLayoutId id="2147483790" r:id="rId8"/>
    <p:sldLayoutId id="2147483789" r:id="rId9"/>
    <p:sldLayoutId id="2147483788" r:id="rId10"/>
    <p:sldLayoutId id="2147483787"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939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939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4CFC36D7-9866-447F-9534-382343A8BC5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08" r:id="rId1"/>
    <p:sldLayoutId id="2147483807" r:id="rId2"/>
    <p:sldLayoutId id="2147483806" r:id="rId3"/>
    <p:sldLayoutId id="2147483805" r:id="rId4"/>
    <p:sldLayoutId id="2147483804" r:id="rId5"/>
    <p:sldLayoutId id="2147483803" r:id="rId6"/>
    <p:sldLayoutId id="2147483802" r:id="rId7"/>
    <p:sldLayoutId id="2147483801" r:id="rId8"/>
    <p:sldLayoutId id="2147483800" r:id="rId9"/>
    <p:sldLayoutId id="2147483799" r:id="rId10"/>
    <p:sldLayoutId id="2147483798"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68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68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6728FA-F189-4232-822B-572A04F1278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9" r:id="rId1"/>
    <p:sldLayoutId id="2147483818" r:id="rId2"/>
    <p:sldLayoutId id="2147483817" r:id="rId3"/>
    <p:sldLayoutId id="2147483816" r:id="rId4"/>
    <p:sldLayoutId id="2147483815" r:id="rId5"/>
    <p:sldLayoutId id="2147483814" r:id="rId6"/>
    <p:sldLayoutId id="2147483813" r:id="rId7"/>
    <p:sldLayoutId id="2147483812" r:id="rId8"/>
    <p:sldLayoutId id="2147483811" r:id="rId9"/>
    <p:sldLayoutId id="2147483810" r:id="rId10"/>
    <p:sldLayoutId id="2147483809"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397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397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2098B8F3-AEA4-42AA-90E7-84C2CB2A4B3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30" r:id="rId1"/>
    <p:sldLayoutId id="2147483829" r:id="rId2"/>
    <p:sldLayoutId id="2147483828" r:id="rId3"/>
    <p:sldLayoutId id="2147483827" r:id="rId4"/>
    <p:sldLayoutId id="2147483826" r:id="rId5"/>
    <p:sldLayoutId id="2147483825" r:id="rId6"/>
    <p:sldLayoutId id="2147483824" r:id="rId7"/>
    <p:sldLayoutId id="2147483823" r:id="rId8"/>
    <p:sldLayoutId id="2147483822" r:id="rId9"/>
    <p:sldLayoutId id="2147483821" r:id="rId10"/>
    <p:sldLayoutId id="2147483820"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a:defRPr/>
            </a:pPr>
            <a:r>
              <a:rPr lang="en-US" smtClean="0"/>
              <a:t>Copyright © 2012 Pearson Education, Inc. Publishing as Prentice Hall</a:t>
            </a:r>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BC2AE529-F438-4BCD-8C30-F4B4DA3443E6}" type="slidenum">
              <a:rPr lang="en-US" smtClean="0"/>
              <a:pPr>
                <a:defRPr/>
              </a:pPr>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42" r:id="rId12"/>
    <p:sldLayoutId id="2147483843" r:id="rId13"/>
  </p:sldLayoutIdLst>
  <p:hf hd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1.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3.xml"/><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0.xml"/><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6.xml"/><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9.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8.xml"/><Relationship Id="rId1" Type="http://schemas.openxmlformats.org/officeDocument/2006/relationships/slideLayout" Target="../slideLayouts/slideLayout79.xml"/><Relationship Id="rId4" Type="http://schemas.openxmlformats.org/officeDocument/2006/relationships/image" Target="../media/image14.jpeg"/></Relationships>
</file>

<file path=ppt/slides/_rels/slide3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9.xml"/><Relationship Id="rId1" Type="http://schemas.openxmlformats.org/officeDocument/2006/relationships/slideLayout" Target="../slideLayouts/slideLayout7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9.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5.xml"/><Relationship Id="rId1" Type="http://schemas.openxmlformats.org/officeDocument/2006/relationships/slideLayout" Target="../slideLayouts/slideLayout7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9.xml"/></Relationships>
</file>

<file path=ppt/slides/_rels/slide4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9.xml"/><Relationship Id="rId1" Type="http://schemas.openxmlformats.org/officeDocument/2006/relationships/slideLayout" Target="../slideLayouts/slideLayout7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9.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1.xml"/><Relationship Id="rId1" Type="http://schemas.openxmlformats.org/officeDocument/2006/relationships/slideLayout" Target="../slideLayouts/slideLayout7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9.xml"/></Relationships>
</file>

<file path=ppt/slides/_rels/slide6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2.xml"/><Relationship Id="rId1" Type="http://schemas.openxmlformats.org/officeDocument/2006/relationships/slideLayout" Target="../slideLayouts/slideLayout79.xml"/></Relationships>
</file>

<file path=ppt/slides/_rels/slide6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63.xml"/><Relationship Id="rId1" Type="http://schemas.openxmlformats.org/officeDocument/2006/relationships/slideLayout" Target="../slideLayouts/slideLayout7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9.xml"/></Relationships>
</file>

<file path=ppt/slides/_rels/slide7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3.xml"/><Relationship Id="rId1" Type="http://schemas.openxmlformats.org/officeDocument/2006/relationships/slideLayout" Target="../slideLayouts/slideLayout84.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0" y="0"/>
            <a:ext cx="9143999" cy="1600200"/>
          </a:xfrm>
        </p:spPr>
        <p:txBody>
          <a:bodyPr/>
          <a:lstStyle/>
          <a:p>
            <a:pPr algn="ctr"/>
            <a:r>
              <a:rPr lang="en-US" sz="4800" dirty="0" smtClean="0"/>
              <a:t>Computers Are Your Future</a:t>
            </a:r>
            <a:br>
              <a:rPr lang="en-US" sz="4800" dirty="0" smtClean="0"/>
            </a:br>
            <a:r>
              <a:rPr lang="en-US" sz="2800" dirty="0" smtClean="0"/>
              <a:t>Twelfth Edition</a:t>
            </a:r>
          </a:p>
        </p:txBody>
      </p:sp>
      <p:sp>
        <p:nvSpPr>
          <p:cNvPr id="98306" name="Content Placeholder 2"/>
          <p:cNvSpPr>
            <a:spLocks noGrp="1"/>
          </p:cNvSpPr>
          <p:nvPr>
            <p:ph idx="1"/>
          </p:nvPr>
        </p:nvSpPr>
        <p:spPr>
          <a:xfrm>
            <a:off x="685800" y="1981200"/>
            <a:ext cx="7772400" cy="4114800"/>
          </a:xfrm>
        </p:spPr>
        <p:txBody>
          <a:bodyPr/>
          <a:lstStyle/>
          <a:p>
            <a:pPr algn="ctr">
              <a:buFont typeface="Wingdings" pitchFamily="2" charset="2"/>
              <a:buNone/>
            </a:pPr>
            <a:r>
              <a:rPr lang="en-US" dirty="0" smtClean="0"/>
              <a:t>Chapter 6: The Internet and the World Wide Web</a:t>
            </a:r>
          </a:p>
          <a:p>
            <a:pPr>
              <a:buFont typeface="Wingdings" pitchFamily="2" charset="2"/>
              <a:buNone/>
            </a:pPr>
            <a:endParaRPr lang="en-US" dirty="0" smtClean="0"/>
          </a:p>
          <a:p>
            <a:pPr>
              <a:buFont typeface="Wingdings" pitchFamily="2" charset="2"/>
              <a:buNone/>
            </a:pPr>
            <a:r>
              <a:rPr lang="en-US" dirty="0" smtClean="0"/>
              <a:t> </a:t>
            </a:r>
          </a:p>
          <a:p>
            <a:pPr>
              <a:buFont typeface="Wingdings" pitchFamily="2" charset="2"/>
              <a:buNone/>
            </a:pPr>
            <a:endParaRPr lang="en-US" dirty="0" smtClean="0"/>
          </a:p>
          <a:p>
            <a:pPr>
              <a:buFont typeface="Wingdings" pitchFamily="2" charset="2"/>
              <a:buNone/>
            </a:pPr>
            <a:endParaRPr lang="en-US" dirty="0" smtClean="0"/>
          </a:p>
          <a:p>
            <a:pPr>
              <a:buFont typeface="Wingdings" pitchFamily="2" charset="2"/>
              <a:buNone/>
            </a:pPr>
            <a:endParaRPr lang="en-US" dirty="0" smtClean="0"/>
          </a:p>
        </p:txBody>
      </p:sp>
      <p:sp>
        <p:nvSpPr>
          <p:cNvPr id="4" name="Footer Placeholder 3"/>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5600" y="2590800"/>
            <a:ext cx="3369889" cy="3867149"/>
          </a:xfrm>
          <a:prstGeom prst="rect">
            <a:avLst/>
          </a:prstGeom>
        </p:spPr>
      </p:pic>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a:t>
            </a:fld>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Objectives </a:t>
            </a:r>
          </a:p>
        </p:txBody>
      </p:sp>
      <p:sp>
        <p:nvSpPr>
          <p:cNvPr id="101378" name="Rectangle 3"/>
          <p:cNvSpPr>
            <a:spLocks noGrp="1" noChangeArrowheads="1"/>
          </p:cNvSpPr>
          <p:nvPr>
            <p:ph type="body" idx="1"/>
          </p:nvPr>
        </p:nvSpPr>
        <p:spPr>
          <a:xfrm>
            <a:off x="685800" y="1905000"/>
            <a:ext cx="7772400" cy="4306887"/>
          </a:xfrm>
        </p:spPr>
        <p:txBody>
          <a:bodyPr lIns="182562" tIns="46038" rIns="182562" bIns="46038">
            <a:normAutofit/>
          </a:bodyPr>
          <a:lstStyle/>
          <a:p>
            <a:pPr eaLnBrk="1" hangingPunct="1"/>
            <a:r>
              <a:rPr lang="en-US" sz="3200" dirty="0" smtClean="0">
                <a:solidFill>
                  <a:srgbClr val="000000"/>
                </a:solidFill>
                <a:latin typeface="Tahoma" pitchFamily="34" charset="0"/>
                <a:ea typeface="Tahoma" pitchFamily="34" charset="0"/>
                <a:cs typeface="Tahoma" pitchFamily="34" charset="0"/>
              </a:rPr>
              <a:t>Define the Internet, and explain how it works.</a:t>
            </a:r>
          </a:p>
          <a:p>
            <a:pPr eaLnBrk="1" hangingPunct="1"/>
            <a:r>
              <a:rPr lang="en-US" sz="3200" dirty="0" smtClean="0">
                <a:solidFill>
                  <a:srgbClr val="000000"/>
                </a:solidFill>
                <a:latin typeface="Tahoma" pitchFamily="34" charset="0"/>
                <a:ea typeface="Tahoma" pitchFamily="34" charset="0"/>
                <a:cs typeface="Tahoma" pitchFamily="34" charset="0"/>
              </a:rPr>
              <a:t>Describe methods for accessing the Internet.</a:t>
            </a:r>
          </a:p>
          <a:p>
            <a:pPr eaLnBrk="1" hangingPunct="1"/>
            <a:r>
              <a:rPr lang="en-US" sz="3200" dirty="0" smtClean="0">
                <a:solidFill>
                  <a:srgbClr val="000000"/>
                </a:solidFill>
                <a:latin typeface="Tahoma" pitchFamily="34" charset="0"/>
                <a:ea typeface="Tahoma" pitchFamily="34" charset="0"/>
                <a:cs typeface="Tahoma" pitchFamily="34" charset="0"/>
              </a:rPr>
              <a:t>Differentiate between the Internet and the World Wide Web, and describe the elements that enable Web content to be displayed.</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a:t>
            </a:fld>
            <a:endParaRPr kumimoji="0" lang="en-US" dirty="0"/>
          </a:p>
        </p:txBody>
      </p:sp>
    </p:spTree>
    <p:extLst>
      <p:ext uri="{BB962C8B-B14F-4D97-AF65-F5344CB8AC3E}">
        <p14:creationId xmlns:p14="http://schemas.microsoft.com/office/powerpoint/2010/main" val="9575761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Objectives </a:t>
            </a:r>
          </a:p>
        </p:txBody>
      </p:sp>
      <p:sp>
        <p:nvSpPr>
          <p:cNvPr id="102402" name="Rectangle 3"/>
          <p:cNvSpPr>
            <a:spLocks noGrp="1" noChangeArrowheads="1"/>
          </p:cNvSpPr>
          <p:nvPr>
            <p:ph type="body" idx="1"/>
          </p:nvPr>
        </p:nvSpPr>
        <p:spPr>
          <a:xfrm>
            <a:off x="685800" y="1905000"/>
            <a:ext cx="7772400" cy="4230687"/>
          </a:xfrm>
        </p:spPr>
        <p:txBody>
          <a:bodyPr lIns="182562" tIns="46038" rIns="182562" bIns="46038">
            <a:normAutofit/>
          </a:bodyPr>
          <a:lstStyle/>
          <a:p>
            <a:r>
              <a:rPr lang="en-US" sz="3200" dirty="0">
                <a:solidFill>
                  <a:srgbClr val="000000"/>
                </a:solidFill>
                <a:latin typeface="Tahoma" pitchFamily="34" charset="0"/>
                <a:ea typeface="Tahoma" pitchFamily="34" charset="0"/>
                <a:cs typeface="Tahoma" pitchFamily="34" charset="0"/>
              </a:rPr>
              <a:t>Describe several methods of finding information on the Web including the use of a URL, surfing, conducting searches, and sharing with other Web users through RSS feeds, blogs, wikis, and podcasts.</a:t>
            </a:r>
          </a:p>
          <a:p>
            <a:pPr eaLnBrk="1" hangingPunct="1"/>
            <a:r>
              <a:rPr lang="en-US" sz="3200" dirty="0" smtClean="0">
                <a:solidFill>
                  <a:srgbClr val="000000"/>
                </a:solidFill>
                <a:latin typeface="Tahoma" pitchFamily="34" charset="0"/>
                <a:ea typeface="Tahoma" pitchFamily="34" charset="0"/>
                <a:cs typeface="Tahoma" pitchFamily="34" charset="0"/>
              </a:rPr>
              <a:t>Identify features to look for when evaluating a Web site or its content.</a:t>
            </a:r>
          </a:p>
          <a:p>
            <a:pPr eaLnBrk="1" hangingPunct="1"/>
            <a:endParaRPr lang="en-US" sz="2800" dirty="0" smtClean="0">
              <a:solidFill>
                <a:srgbClr val="000000"/>
              </a:solidFill>
              <a:latin typeface="Tahoma" pitchFamily="34" charset="0"/>
              <a:ea typeface="Tahoma" pitchFamily="34" charset="0"/>
              <a:cs typeface="Tahoma" pitchFamily="34" charset="0"/>
            </a:endParaRPr>
          </a:p>
          <a:p>
            <a:pPr eaLnBrk="1" hangingPunct="1"/>
            <a:endParaRPr lang="en-US" sz="2800" dirty="0" smtClean="0">
              <a:solidFill>
                <a:srgbClr val="000000"/>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a:t>
            </a:fld>
            <a:endParaRPr kumimoji="0" lang="en-US" dirty="0"/>
          </a:p>
        </p:txBody>
      </p:sp>
    </p:spTree>
    <p:extLst>
      <p:ext uri="{BB962C8B-B14F-4D97-AF65-F5344CB8AC3E}">
        <p14:creationId xmlns:p14="http://schemas.microsoft.com/office/powerpoint/2010/main" val="24190198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Objectives </a:t>
            </a:r>
          </a:p>
        </p:txBody>
      </p:sp>
      <p:sp>
        <p:nvSpPr>
          <p:cNvPr id="103426" name="Rectangle 3"/>
          <p:cNvSpPr>
            <a:spLocks noGrp="1" noChangeArrowheads="1"/>
          </p:cNvSpPr>
          <p:nvPr>
            <p:ph type="body" idx="1"/>
          </p:nvPr>
        </p:nvSpPr>
        <p:spPr>
          <a:xfrm>
            <a:off x="685800" y="1905000"/>
            <a:ext cx="7924800" cy="4230687"/>
          </a:xfrm>
        </p:spPr>
        <p:txBody>
          <a:bodyPr lIns="182562" tIns="46038" rIns="182562" bIns="46038">
            <a:normAutofit/>
          </a:bodyPr>
          <a:lstStyle/>
          <a:p>
            <a:pPr eaLnBrk="1" hangingPunct="1"/>
            <a:r>
              <a:rPr lang="en-US" sz="3200" dirty="0" smtClean="0">
                <a:solidFill>
                  <a:srgbClr val="000000"/>
                </a:solidFill>
                <a:latin typeface="Tahoma" pitchFamily="34" charset="0"/>
                <a:ea typeface="Tahoma" pitchFamily="34" charset="0"/>
                <a:cs typeface="Tahoma" pitchFamily="34" charset="0"/>
              </a:rPr>
              <a:t>List, the most popular Internet services, and explain what they do.</a:t>
            </a:r>
          </a:p>
          <a:p>
            <a:pPr eaLnBrk="1" hangingPunct="1"/>
            <a:r>
              <a:rPr lang="en-US" sz="3200" dirty="0" smtClean="0">
                <a:solidFill>
                  <a:srgbClr val="000000"/>
                </a:solidFill>
                <a:latin typeface="Tahoma" pitchFamily="34" charset="0"/>
                <a:ea typeface="Tahoma" pitchFamily="34" charset="0"/>
                <a:cs typeface="Tahoma" pitchFamily="34" charset="0"/>
              </a:rPr>
              <a:t>Describe the three types of e-commerce.</a:t>
            </a:r>
          </a:p>
          <a:p>
            <a:pPr eaLnBrk="1" hangingPunct="1"/>
            <a:r>
              <a:rPr lang="en-US" sz="3200" dirty="0" smtClean="0">
                <a:solidFill>
                  <a:srgbClr val="000000"/>
                </a:solidFill>
                <a:latin typeface="Tahoma" pitchFamily="34" charset="0"/>
                <a:ea typeface="Tahoma" pitchFamily="34" charset="0"/>
                <a:cs typeface="Tahoma" pitchFamily="34" charset="0"/>
              </a:rPr>
              <a:t>List the rules of netiquette.</a:t>
            </a:r>
          </a:p>
          <a:p>
            <a:pPr eaLnBrk="1" hangingPunct="1"/>
            <a:r>
              <a:rPr lang="en-US" sz="3200" dirty="0" smtClean="0">
                <a:solidFill>
                  <a:srgbClr val="000000"/>
                </a:solidFill>
                <a:latin typeface="Tahoma" pitchFamily="34" charset="0"/>
                <a:ea typeface="Tahoma" pitchFamily="34" charset="0"/>
                <a:cs typeface="Tahoma" pitchFamily="34" charset="0"/>
              </a:rPr>
              <a:t>List safe surfing procedures, and identify hazards of the Web. </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a:t>
            </a:fld>
            <a:endParaRPr kumimoji="0" lang="en-US" dirty="0"/>
          </a:p>
        </p:txBody>
      </p:sp>
    </p:spTree>
    <p:extLst>
      <p:ext uri="{BB962C8B-B14F-4D97-AF65-F5344CB8AC3E}">
        <p14:creationId xmlns:p14="http://schemas.microsoft.com/office/powerpoint/2010/main" val="4179202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What Is the Internet and How Does It Work?</a:t>
            </a:r>
          </a:p>
        </p:txBody>
      </p:sp>
      <p:sp>
        <p:nvSpPr>
          <p:cNvPr id="106498" name="Rectangle 3"/>
          <p:cNvSpPr>
            <a:spLocks noGrp="1" noChangeArrowheads="1"/>
          </p:cNvSpPr>
          <p:nvPr>
            <p:ph idx="1"/>
          </p:nvPr>
        </p:nvSpPr>
        <p:spPr>
          <a:xfrm>
            <a:off x="685800" y="1524000"/>
            <a:ext cx="8458200" cy="4953000"/>
          </a:xfrm>
        </p:spPr>
        <p:txBody>
          <a:bodyPr lIns="182562" tIns="46038" rIns="182562" bIns="46038">
            <a:noAutofit/>
          </a:bodyPr>
          <a:lstStyle/>
          <a:p>
            <a:r>
              <a:rPr lang="en-US" sz="3600" b="1" dirty="0" smtClean="0">
                <a:solidFill>
                  <a:srgbClr val="000000"/>
                </a:solidFill>
                <a:latin typeface="Tahoma" pitchFamily="34" charset="0"/>
                <a:ea typeface="Tahoma" pitchFamily="34" charset="0"/>
                <a:cs typeface="Tahoma" pitchFamily="34" charset="0"/>
              </a:rPr>
              <a:t>Internet</a:t>
            </a:r>
          </a:p>
          <a:p>
            <a:pPr lvl="1"/>
            <a:r>
              <a:rPr lang="en-US" sz="2200" dirty="0" smtClean="0">
                <a:solidFill>
                  <a:srgbClr val="000000"/>
                </a:solidFill>
                <a:latin typeface="Tahoma" pitchFamily="34" charset="0"/>
                <a:ea typeface="Tahoma" pitchFamily="34" charset="0"/>
                <a:cs typeface="Tahoma" pitchFamily="34" charset="0"/>
              </a:rPr>
              <a:t>A global system </a:t>
            </a:r>
            <a:r>
              <a:rPr lang="en-US" sz="2200" dirty="0">
                <a:solidFill>
                  <a:srgbClr val="000000"/>
                </a:solidFill>
                <a:latin typeface="Tahoma" pitchFamily="34" charset="0"/>
                <a:ea typeface="Tahoma" pitchFamily="34" charset="0"/>
                <a:cs typeface="Tahoma" pitchFamily="34" charset="0"/>
              </a:rPr>
              <a:t>of </a:t>
            </a:r>
            <a:r>
              <a:rPr lang="en-US" sz="2200" dirty="0" smtClean="0">
                <a:solidFill>
                  <a:srgbClr val="000000"/>
                </a:solidFill>
                <a:latin typeface="Tahoma" pitchFamily="34" charset="0"/>
                <a:ea typeface="Tahoma" pitchFamily="34" charset="0"/>
                <a:cs typeface="Tahoma" pitchFamily="34" charset="0"/>
              </a:rPr>
              <a:t>computers of thousands of privately and publicly owned computers and networks</a:t>
            </a:r>
          </a:p>
          <a:p>
            <a:pPr lvl="1"/>
            <a:r>
              <a:rPr lang="en-US" sz="2200" dirty="0">
                <a:solidFill>
                  <a:srgbClr val="000000"/>
                </a:solidFill>
                <a:latin typeface="Tahoma" pitchFamily="34" charset="0"/>
                <a:ea typeface="Tahoma" pitchFamily="34" charset="0"/>
                <a:cs typeface="Tahoma" pitchFamily="34" charset="0"/>
              </a:rPr>
              <a:t>A</a:t>
            </a:r>
            <a:r>
              <a:rPr lang="en-US" sz="2200" dirty="0" smtClean="0">
                <a:solidFill>
                  <a:srgbClr val="000000"/>
                </a:solidFill>
                <a:latin typeface="Tahoma" pitchFamily="34" charset="0"/>
                <a:ea typeface="Tahoma" pitchFamily="34" charset="0"/>
                <a:cs typeface="Tahoma" pitchFamily="34" charset="0"/>
              </a:rPr>
              <a:t>lso known as the Net</a:t>
            </a:r>
          </a:p>
          <a:p>
            <a:pPr lvl="1"/>
            <a:r>
              <a:rPr lang="en-US" sz="2200" dirty="0" smtClean="0">
                <a:solidFill>
                  <a:srgbClr val="000000"/>
                </a:solidFill>
                <a:latin typeface="Tahoma" pitchFamily="34" charset="0"/>
                <a:ea typeface="Tahoma" pitchFamily="34" charset="0"/>
                <a:cs typeface="Tahoma" pitchFamily="34" charset="0"/>
              </a:rPr>
              <a:t>Started in the 1960s</a:t>
            </a:r>
          </a:p>
          <a:p>
            <a:pPr lvl="1"/>
            <a:r>
              <a:rPr lang="en-US" sz="2200" dirty="0" smtClean="0">
                <a:solidFill>
                  <a:srgbClr val="000000"/>
                </a:solidFill>
                <a:latin typeface="Tahoma" pitchFamily="34" charset="0"/>
                <a:ea typeface="Tahoma" pitchFamily="34" charset="0"/>
                <a:cs typeface="Tahoma" pitchFamily="34" charset="0"/>
              </a:rPr>
              <a:t>U.S. Department of Defense project</a:t>
            </a:r>
          </a:p>
          <a:p>
            <a:pPr lvl="2"/>
            <a:r>
              <a:rPr lang="en-US" sz="2200" dirty="0" smtClean="0">
                <a:solidFill>
                  <a:srgbClr val="000000"/>
                </a:solidFill>
                <a:latin typeface="Tahoma" pitchFamily="34" charset="0"/>
                <a:ea typeface="Tahoma" pitchFamily="34" charset="0"/>
                <a:cs typeface="Tahoma" pitchFamily="34" charset="0"/>
              </a:rPr>
              <a:t>ARPANET (Advanced Research Projects Agency Network)</a:t>
            </a:r>
          </a:p>
          <a:p>
            <a:pPr lvl="2"/>
            <a:r>
              <a:rPr lang="en-US" sz="2200" dirty="0" smtClean="0">
                <a:solidFill>
                  <a:srgbClr val="000000"/>
                </a:solidFill>
                <a:latin typeface="Tahoma" pitchFamily="34" charset="0"/>
                <a:ea typeface="Tahoma" pitchFamily="34" charset="0"/>
                <a:cs typeface="Tahoma" pitchFamily="34" charset="0"/>
              </a:rPr>
              <a:t>The purpose was to </a:t>
            </a:r>
          </a:p>
          <a:p>
            <a:pPr lvl="3"/>
            <a:r>
              <a:rPr lang="en-US" sz="2000" dirty="0" smtClean="0">
                <a:solidFill>
                  <a:srgbClr val="000000"/>
                </a:solidFill>
                <a:latin typeface="Tahoma" pitchFamily="34" charset="0"/>
                <a:ea typeface="Tahoma" pitchFamily="34" charset="0"/>
                <a:cs typeface="Tahoma" pitchFamily="34" charset="0"/>
              </a:rPr>
              <a:t>Create a form of secure communication for military and scientific purposes</a:t>
            </a:r>
          </a:p>
          <a:p>
            <a:pPr lvl="3"/>
            <a:r>
              <a:rPr lang="en-US" sz="2000" dirty="0" smtClean="0">
                <a:solidFill>
                  <a:srgbClr val="000000"/>
                </a:solidFill>
                <a:latin typeface="Tahoma" pitchFamily="34" charset="0"/>
                <a:ea typeface="Tahoma" pitchFamily="34" charset="0"/>
                <a:cs typeface="Tahoma" pitchFamily="34" charset="0"/>
              </a:rPr>
              <a:t>Create a method for transferring such communication between computers</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a:t>
            </a:fld>
            <a:endParaRPr kumimoji="0" lang="en-US" dirty="0"/>
          </a:p>
        </p:txBody>
      </p:sp>
    </p:spTree>
    <p:extLst>
      <p:ext uri="{BB962C8B-B14F-4D97-AF65-F5344CB8AC3E}">
        <p14:creationId xmlns:p14="http://schemas.microsoft.com/office/powerpoint/2010/main" val="3129589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What Is the Internet and How Does It Work?</a:t>
            </a:r>
          </a:p>
        </p:txBody>
      </p:sp>
      <p:sp>
        <p:nvSpPr>
          <p:cNvPr id="106498" name="Rectangle 3"/>
          <p:cNvSpPr>
            <a:spLocks noGrp="1" noChangeArrowheads="1"/>
          </p:cNvSpPr>
          <p:nvPr>
            <p:ph idx="1"/>
          </p:nvPr>
        </p:nvSpPr>
        <p:spPr>
          <a:xfrm>
            <a:off x="0" y="1752600"/>
            <a:ext cx="4572000" cy="4495800"/>
          </a:xfrm>
        </p:spPr>
        <p:txBody>
          <a:bodyPr lIns="182562" tIns="46038" rIns="182562" bIns="46038">
            <a:noAutofit/>
          </a:bodyPr>
          <a:lstStyle/>
          <a:p>
            <a:pPr eaLnBrk="1" hangingPunct="1"/>
            <a:r>
              <a:rPr lang="en-US" sz="3000" b="1" dirty="0" smtClean="0">
                <a:solidFill>
                  <a:schemeClr val="tx1"/>
                </a:solidFill>
                <a:latin typeface="Tahoma" pitchFamily="34" charset="0"/>
                <a:ea typeface="Tahoma" pitchFamily="34" charset="0"/>
                <a:cs typeface="Tahoma" pitchFamily="34" charset="0"/>
              </a:rPr>
              <a:t>Internet</a:t>
            </a:r>
            <a:r>
              <a:rPr lang="en-US" sz="3000" dirty="0" smtClean="0">
                <a:solidFill>
                  <a:schemeClr val="tx1"/>
                </a:solidFill>
                <a:latin typeface="Tahoma" pitchFamily="34" charset="0"/>
                <a:ea typeface="Tahoma" pitchFamily="34" charset="0"/>
                <a:cs typeface="Tahoma" pitchFamily="34" charset="0"/>
              </a:rPr>
              <a:t>—composed of more than 750 million hosts</a:t>
            </a:r>
          </a:p>
          <a:p>
            <a:pPr eaLnBrk="1" hangingPunct="1"/>
            <a:r>
              <a:rPr lang="en-US" sz="3000" b="1" dirty="0" smtClean="0">
                <a:solidFill>
                  <a:schemeClr val="tx1"/>
                </a:solidFill>
                <a:latin typeface="Tahoma" pitchFamily="34" charset="0"/>
                <a:ea typeface="Tahoma" pitchFamily="34" charset="0"/>
                <a:cs typeface="Tahoma" pitchFamily="34" charset="0"/>
              </a:rPr>
              <a:t>Host</a:t>
            </a:r>
            <a:r>
              <a:rPr lang="en-US" sz="3000" dirty="0" smtClean="0">
                <a:solidFill>
                  <a:schemeClr val="tx1"/>
                </a:solidFill>
                <a:latin typeface="Tahoma" pitchFamily="34" charset="0"/>
                <a:ea typeface="Tahoma" pitchFamily="34" charset="0"/>
                <a:cs typeface="Tahoma" pitchFamily="34" charset="0"/>
              </a:rPr>
              <a:t>—computer that has two-way access to other computers</a:t>
            </a:r>
            <a:r>
              <a:rPr lang="en-US" sz="3200" dirty="0" smtClean="0">
                <a:solidFill>
                  <a:schemeClr val="tx1"/>
                </a:solidFill>
                <a:latin typeface="Tahoma" pitchFamily="34" charset="0"/>
                <a:ea typeface="Tahoma" pitchFamily="34" charset="0"/>
                <a:cs typeface="Tahoma" pitchFamily="34" charset="0"/>
              </a:rPr>
              <a:t>:</a:t>
            </a:r>
          </a:p>
          <a:p>
            <a:pPr lvl="1"/>
            <a:r>
              <a:rPr lang="en-US" sz="2000" dirty="0" smtClean="0">
                <a:solidFill>
                  <a:schemeClr val="tx1"/>
                </a:solidFill>
                <a:latin typeface="Tahoma" pitchFamily="34" charset="0"/>
                <a:ea typeface="Tahoma" pitchFamily="34" charset="0"/>
                <a:cs typeface="Tahoma" pitchFamily="34" charset="0"/>
              </a:rPr>
              <a:t>Receives requests </a:t>
            </a:r>
          </a:p>
          <a:p>
            <a:pPr lvl="1"/>
            <a:r>
              <a:rPr lang="en-US" sz="2000" dirty="0" smtClean="0">
                <a:solidFill>
                  <a:schemeClr val="tx1"/>
                </a:solidFill>
                <a:latin typeface="Tahoma" pitchFamily="34" charset="0"/>
                <a:ea typeface="Tahoma" pitchFamily="34" charset="0"/>
                <a:cs typeface="Tahoma" pitchFamily="34" charset="0"/>
              </a:rPr>
              <a:t>Replies to those requests</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a:t>
            </a:fld>
            <a:endParaRPr kumimoji="0"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2057400"/>
            <a:ext cx="3810000" cy="3276600"/>
          </a:xfrm>
          <a:prstGeom prst="rect">
            <a:avLst/>
          </a:prstGeom>
        </p:spPr>
      </p:pic>
    </p:spTree>
    <p:extLst>
      <p:ext uri="{BB962C8B-B14F-4D97-AF65-F5344CB8AC3E}">
        <p14:creationId xmlns:p14="http://schemas.microsoft.com/office/powerpoint/2010/main" val="932580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11"/>
          <p:cNvSpPr>
            <a:spLocks noGrp="1"/>
          </p:cNvSpPr>
          <p:nvPr>
            <p:ph sz="half" idx="4294967295"/>
          </p:nvPr>
        </p:nvSpPr>
        <p:spPr>
          <a:xfrm>
            <a:off x="609600" y="1828800"/>
            <a:ext cx="7772400" cy="4267200"/>
          </a:xfrm>
          <a:prstGeom prst="rect">
            <a:avLst/>
          </a:prstGeom>
        </p:spPr>
        <p:txBody>
          <a:bodyPr>
            <a:noAutofit/>
          </a:bodyPr>
          <a:lstStyle/>
          <a:p>
            <a:r>
              <a:rPr lang="en-US" sz="2800" dirty="0" smtClean="0">
                <a:solidFill>
                  <a:schemeClr val="tx1"/>
                </a:solidFill>
                <a:latin typeface="Tahoma" pitchFamily="34" charset="0"/>
                <a:ea typeface="Tahoma" pitchFamily="34" charset="0"/>
                <a:cs typeface="Tahoma" pitchFamily="34" charset="0"/>
              </a:rPr>
              <a:t>Volunteers maintain the Internet networks.</a:t>
            </a:r>
          </a:p>
          <a:p>
            <a:r>
              <a:rPr lang="en-US" sz="2800" dirty="0" smtClean="0">
                <a:solidFill>
                  <a:schemeClr val="tx1"/>
                </a:solidFill>
                <a:latin typeface="Tahoma" pitchFamily="34" charset="0"/>
                <a:ea typeface="Tahoma" pitchFamily="34" charset="0"/>
                <a:cs typeface="Tahoma" pitchFamily="34" charset="0"/>
              </a:rPr>
              <a:t>Private and public groups provide the equipment.</a:t>
            </a:r>
          </a:p>
          <a:p>
            <a:r>
              <a:rPr lang="en-US" sz="2800" b="1" dirty="0" smtClean="0">
                <a:solidFill>
                  <a:schemeClr val="tx1"/>
                </a:solidFill>
                <a:latin typeface="Tahoma" pitchFamily="34" charset="0"/>
                <a:ea typeface="Tahoma" pitchFamily="34" charset="0"/>
                <a:cs typeface="Tahoma" pitchFamily="34" charset="0"/>
              </a:rPr>
              <a:t>Network service providers (NSPs)</a:t>
            </a:r>
          </a:p>
          <a:p>
            <a:pPr lvl="1"/>
            <a:r>
              <a:rPr lang="en-US" sz="2400" dirty="0" smtClean="0">
                <a:solidFill>
                  <a:schemeClr val="tx1"/>
                </a:solidFill>
                <a:latin typeface="Tahoma" pitchFamily="34" charset="0"/>
                <a:ea typeface="Tahoma" pitchFamily="34" charset="0"/>
                <a:cs typeface="Tahoma" pitchFamily="34" charset="0"/>
              </a:rPr>
              <a:t>Maintain the </a:t>
            </a:r>
            <a:r>
              <a:rPr lang="en-US" sz="2400" b="1" dirty="0" smtClean="0">
                <a:solidFill>
                  <a:schemeClr val="tx1"/>
                </a:solidFill>
                <a:latin typeface="Tahoma" pitchFamily="34" charset="0"/>
                <a:ea typeface="Tahoma" pitchFamily="34" charset="0"/>
                <a:cs typeface="Tahoma" pitchFamily="34" charset="0"/>
              </a:rPr>
              <a:t>Internet backbone</a:t>
            </a:r>
            <a:r>
              <a:rPr lang="en-US" sz="2400" dirty="0" smtClean="0">
                <a:solidFill>
                  <a:schemeClr val="tx1"/>
                </a:solidFill>
                <a:latin typeface="Tahoma" pitchFamily="34" charset="0"/>
                <a:ea typeface="Tahoma" pitchFamily="34" charset="0"/>
                <a:cs typeface="Tahoma" pitchFamily="34" charset="0"/>
              </a:rPr>
              <a:t>—the main high-speed routes</a:t>
            </a:r>
            <a:endParaRPr lang="en-US" sz="2400" b="1" dirty="0" smtClean="0">
              <a:solidFill>
                <a:schemeClr val="tx1"/>
              </a:solidFill>
              <a:latin typeface="Tahoma" pitchFamily="34" charset="0"/>
              <a:ea typeface="Tahoma" pitchFamily="34" charset="0"/>
              <a:cs typeface="Tahoma" pitchFamily="34" charset="0"/>
            </a:endParaRPr>
          </a:p>
          <a:p>
            <a:pPr lvl="1"/>
            <a:endParaRPr lang="en-US"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7</a:t>
            </a:fld>
            <a:endParaRPr lang="en-US" dirty="0"/>
          </a:p>
        </p:txBody>
      </p:sp>
      <p:sp>
        <p:nvSpPr>
          <p:cNvPr id="9"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What Is the Internet and How Does It Work?</a:t>
            </a:r>
          </a:p>
        </p:txBody>
      </p:sp>
    </p:spTree>
    <p:extLst>
      <p:ext uri="{BB962C8B-B14F-4D97-AF65-F5344CB8AC3E}">
        <p14:creationId xmlns:p14="http://schemas.microsoft.com/office/powerpoint/2010/main" val="275743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the Internet and How Does It Work?</a:t>
            </a:r>
            <a:endParaRPr lang="en-US" dirty="0"/>
          </a:p>
        </p:txBody>
      </p:sp>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219200" y="1524000"/>
            <a:ext cx="6781800" cy="4730262"/>
          </a:xfrm>
        </p:spPr>
      </p:pic>
      <p:sp>
        <p:nvSpPr>
          <p:cNvPr id="4" name="Footer Placeholder 3"/>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pPr>
              <a:defRPr/>
            </a:pPr>
            <a:fld id="{ADECFD27-E205-4F2F-9A8F-1FE9A8E016E3}"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What </a:t>
            </a:r>
            <a:r>
              <a:rPr lang="en-US" dirty="0"/>
              <a:t>I</a:t>
            </a:r>
            <a:r>
              <a:rPr lang="en-US" dirty="0" smtClean="0"/>
              <a:t>s the Internet and How Does It Work?</a:t>
            </a:r>
          </a:p>
        </p:txBody>
      </p:sp>
      <p:sp>
        <p:nvSpPr>
          <p:cNvPr id="106498" name="Rectangle 3"/>
          <p:cNvSpPr>
            <a:spLocks noGrp="1" noChangeArrowheads="1"/>
          </p:cNvSpPr>
          <p:nvPr>
            <p:ph idx="1"/>
          </p:nvPr>
        </p:nvSpPr>
        <p:spPr>
          <a:xfrm>
            <a:off x="685800" y="1905000"/>
            <a:ext cx="7772400" cy="4114800"/>
          </a:xfrm>
        </p:spPr>
        <p:txBody>
          <a:bodyPr lIns="182562" tIns="46038" rIns="182562" bIns="46038">
            <a:normAutofit/>
          </a:bodyPr>
          <a:lstStyle/>
          <a:p>
            <a:r>
              <a:rPr lang="en-US" sz="3600" b="1" dirty="0" smtClean="0">
                <a:solidFill>
                  <a:schemeClr val="tx1"/>
                </a:solidFill>
                <a:latin typeface="Tahoma" pitchFamily="34" charset="0"/>
                <a:ea typeface="Tahoma" pitchFamily="34" charset="0"/>
                <a:cs typeface="Tahoma" pitchFamily="34" charset="0"/>
              </a:rPr>
              <a:t>Network </a:t>
            </a:r>
            <a:r>
              <a:rPr lang="en-US" sz="3600" b="1" dirty="0">
                <a:solidFill>
                  <a:schemeClr val="tx1"/>
                </a:solidFill>
                <a:latin typeface="Tahoma" pitchFamily="34" charset="0"/>
                <a:ea typeface="Tahoma" pitchFamily="34" charset="0"/>
                <a:cs typeface="Tahoma" pitchFamily="34" charset="0"/>
              </a:rPr>
              <a:t>access points (NAPs</a:t>
            </a:r>
            <a:r>
              <a:rPr lang="en-US" sz="3600" b="1" dirty="0" smtClean="0">
                <a:solidFill>
                  <a:schemeClr val="tx1"/>
                </a:solidFill>
                <a:latin typeface="Tahoma" pitchFamily="34" charset="0"/>
                <a:ea typeface="Tahoma" pitchFamily="34" charset="0"/>
                <a:cs typeface="Tahoma" pitchFamily="34" charset="0"/>
              </a:rPr>
              <a:t>)</a:t>
            </a:r>
          </a:p>
          <a:p>
            <a:pPr lvl="1"/>
            <a:r>
              <a:rPr lang="en-US" sz="2400" dirty="0" smtClean="0">
                <a:solidFill>
                  <a:schemeClr val="tx1"/>
                </a:solidFill>
                <a:latin typeface="Tahoma" pitchFamily="34" charset="0"/>
                <a:ea typeface="Tahoma" pitchFamily="34" charset="0"/>
                <a:cs typeface="Tahoma" pitchFamily="34" charset="0"/>
              </a:rPr>
              <a:t>How NSPs are linked</a:t>
            </a:r>
            <a:endParaRPr lang="en-US" sz="2400" b="1"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NAPs allow data to start on one network, then cross over to another network</a:t>
            </a:r>
          </a:p>
          <a:p>
            <a:r>
              <a:rPr lang="en-US" sz="3600" b="1" dirty="0" smtClean="0">
                <a:solidFill>
                  <a:schemeClr val="tx1"/>
                </a:solidFill>
                <a:latin typeface="Tahoma" pitchFamily="34" charset="0"/>
                <a:ea typeface="Tahoma" pitchFamily="34" charset="0"/>
                <a:cs typeface="Tahoma" pitchFamily="34" charset="0"/>
              </a:rPr>
              <a:t>Routers</a:t>
            </a:r>
          </a:p>
          <a:p>
            <a:pPr lvl="1"/>
            <a:r>
              <a:rPr lang="en-US" sz="2400" dirty="0">
                <a:solidFill>
                  <a:schemeClr val="tx1"/>
                </a:solidFill>
                <a:latin typeface="Tahoma" pitchFamily="34" charset="0"/>
                <a:ea typeface="Tahoma" pitchFamily="34" charset="0"/>
                <a:cs typeface="Tahoma" pitchFamily="34" charset="0"/>
              </a:rPr>
              <a:t>S</a:t>
            </a:r>
            <a:r>
              <a:rPr lang="en-US" sz="2400" dirty="0" smtClean="0">
                <a:solidFill>
                  <a:schemeClr val="tx1"/>
                </a:solidFill>
                <a:latin typeface="Tahoma" pitchFamily="34" charset="0"/>
                <a:ea typeface="Tahoma" pitchFamily="34" charset="0"/>
                <a:cs typeface="Tahoma" pitchFamily="34" charset="0"/>
              </a:rPr>
              <a:t>pecialized devices that connect networks, locate the best path of transmission, and ensure that data reaches its destination</a:t>
            </a:r>
          </a:p>
          <a:p>
            <a:pPr lvl="1"/>
            <a:endParaRPr lang="en-US" sz="1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9</a:t>
            </a:fld>
            <a:endParaRPr kumimoji="0" lang="en-US" dirty="0"/>
          </a:p>
        </p:txBody>
      </p:sp>
    </p:spTree>
    <p:extLst>
      <p:ext uri="{BB962C8B-B14F-4D97-AF65-F5344CB8AC3E}">
        <p14:creationId xmlns:p14="http://schemas.microsoft.com/office/powerpoint/2010/main" val="932580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7" name="Content Placeholder 11"/>
          <p:cNvSpPr>
            <a:spLocks noGrp="1"/>
          </p:cNvSpPr>
          <p:nvPr>
            <p:ph sz="half" idx="2"/>
          </p:nvPr>
        </p:nvSpPr>
        <p:spPr>
          <a:xfrm>
            <a:off x="685800" y="1905000"/>
            <a:ext cx="7467600" cy="4419600"/>
          </a:xfrm>
        </p:spPr>
        <p:txBody>
          <a:bodyPr>
            <a:normAutofit/>
          </a:bodyPr>
          <a:lstStyle/>
          <a:p>
            <a:pPr eaLnBrk="1" hangingPunct="1"/>
            <a:r>
              <a:rPr lang="en-US" sz="3200" b="1" dirty="0" smtClean="0">
                <a:solidFill>
                  <a:schemeClr val="tx1"/>
                </a:solidFill>
                <a:latin typeface="Tahoma" pitchFamily="34" charset="0"/>
                <a:ea typeface="Tahoma" pitchFamily="34" charset="0"/>
                <a:cs typeface="Tahoma" pitchFamily="34" charset="0"/>
              </a:rPr>
              <a:t>Interoperability</a:t>
            </a:r>
          </a:p>
          <a:p>
            <a:pPr lvl="1"/>
            <a:r>
              <a:rPr lang="en-US" sz="2400" dirty="0" smtClean="0">
                <a:solidFill>
                  <a:schemeClr val="tx1"/>
                </a:solidFill>
                <a:latin typeface="Tahoma" pitchFamily="34" charset="0"/>
                <a:ea typeface="Tahoma" pitchFamily="34" charset="0"/>
                <a:cs typeface="Tahoma" pitchFamily="34" charset="0"/>
              </a:rPr>
              <a:t>Ability to work with different brands and models of computers</a:t>
            </a:r>
            <a:r>
              <a:rPr lang="en-US" sz="1800" dirty="0" smtClean="0">
                <a:solidFill>
                  <a:schemeClr val="tx1"/>
                </a:solidFill>
                <a:latin typeface="Tahoma" pitchFamily="34" charset="0"/>
                <a:ea typeface="Tahoma" pitchFamily="34" charset="0"/>
                <a:cs typeface="Tahoma" pitchFamily="34" charset="0"/>
              </a:rPr>
              <a:t> </a:t>
            </a:r>
          </a:p>
          <a:p>
            <a:pPr eaLnBrk="1" hangingPunct="1"/>
            <a:r>
              <a:rPr lang="en-US" sz="3200" b="1" dirty="0" smtClean="0">
                <a:solidFill>
                  <a:schemeClr val="tx1"/>
                </a:solidFill>
                <a:latin typeface="Tahoma" pitchFamily="34" charset="0"/>
                <a:ea typeface="Tahoma" pitchFamily="34" charset="0"/>
                <a:cs typeface="Tahoma" pitchFamily="34" charset="0"/>
              </a:rPr>
              <a:t>Transmission Control Protocol/Internet Protocol (TCP/IP)</a:t>
            </a:r>
          </a:p>
          <a:p>
            <a:pPr lvl="1"/>
            <a:r>
              <a:rPr lang="en-US" sz="2400" dirty="0" smtClean="0">
                <a:solidFill>
                  <a:schemeClr val="tx1"/>
                </a:solidFill>
                <a:latin typeface="Tahoma" pitchFamily="34" charset="0"/>
                <a:ea typeface="Tahoma" pitchFamily="34" charset="0"/>
                <a:cs typeface="Tahoma" pitchFamily="34" charset="0"/>
              </a:rPr>
              <a:t>Provides methods for packaging and transmitting information</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10</a:t>
            </a:fld>
            <a:endParaRPr lang="en-US" dirty="0"/>
          </a:p>
        </p:txBody>
      </p:sp>
      <p:sp>
        <p:nvSpPr>
          <p:cNvPr id="8"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What Is the Internet and How Does It Work?</a:t>
            </a:r>
          </a:p>
        </p:txBody>
      </p:sp>
    </p:spTree>
    <p:extLst>
      <p:ext uri="{BB962C8B-B14F-4D97-AF65-F5344CB8AC3E}">
        <p14:creationId xmlns:p14="http://schemas.microsoft.com/office/powerpoint/2010/main" val="28444349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What Is the Internet and How Does It Work?</a:t>
            </a:r>
          </a:p>
        </p:txBody>
      </p:sp>
      <p:sp>
        <p:nvSpPr>
          <p:cNvPr id="106498" name="Rectangle 3"/>
          <p:cNvSpPr>
            <a:spLocks noGrp="1" noChangeArrowheads="1"/>
          </p:cNvSpPr>
          <p:nvPr>
            <p:ph idx="1"/>
          </p:nvPr>
        </p:nvSpPr>
        <p:spPr>
          <a:xfrm>
            <a:off x="685800" y="1676400"/>
            <a:ext cx="8458200" cy="4343400"/>
          </a:xfrm>
        </p:spPr>
        <p:txBody>
          <a:bodyPr lIns="182562" tIns="46038" rIns="182562" bIns="46038">
            <a:normAutofit/>
          </a:bodyPr>
          <a:lstStyle/>
          <a:p>
            <a:pPr eaLnBrk="1" hangingPunct="1"/>
            <a:r>
              <a:rPr lang="en-US" sz="3600" b="1" dirty="0" smtClean="0">
                <a:solidFill>
                  <a:schemeClr val="tx1"/>
                </a:solidFill>
                <a:latin typeface="Tahoma" pitchFamily="34" charset="0"/>
                <a:ea typeface="Tahoma" pitchFamily="34" charset="0"/>
                <a:cs typeface="Tahoma" pitchFamily="34" charset="0"/>
              </a:rPr>
              <a:t>Transmission Control Protocol</a:t>
            </a:r>
          </a:p>
          <a:p>
            <a:pPr lvl="1"/>
            <a:r>
              <a:rPr lang="en-US" sz="2400" dirty="0" smtClean="0">
                <a:solidFill>
                  <a:schemeClr val="tx1"/>
                </a:solidFill>
                <a:latin typeface="Tahoma" pitchFamily="34" charset="0"/>
                <a:ea typeface="Tahoma" pitchFamily="34" charset="0"/>
                <a:cs typeface="Tahoma" pitchFamily="34" charset="0"/>
              </a:rPr>
              <a:t>Manages assembling of a message or file into smaller packets </a:t>
            </a:r>
            <a:r>
              <a:rPr lang="en-US" sz="2400" dirty="0">
                <a:solidFill>
                  <a:schemeClr val="tx1"/>
                </a:solidFill>
                <a:latin typeface="Tahoma" pitchFamily="34" charset="0"/>
                <a:ea typeface="Tahoma" pitchFamily="34" charset="0"/>
                <a:cs typeface="Tahoma" pitchFamily="34" charset="0"/>
              </a:rPr>
              <a:t>	</a:t>
            </a:r>
            <a:endParaRPr lang="en-US" sz="2400" dirty="0" smtClean="0">
              <a:solidFill>
                <a:schemeClr val="tx1"/>
              </a:solidFill>
              <a:latin typeface="Tahoma" pitchFamily="34" charset="0"/>
              <a:ea typeface="Tahoma" pitchFamily="34" charset="0"/>
              <a:cs typeface="Tahoma" pitchFamily="34" charset="0"/>
            </a:endParaRPr>
          </a:p>
          <a:p>
            <a:pPr lvl="2"/>
            <a:r>
              <a:rPr lang="en-US" sz="2400" dirty="0" smtClean="0">
                <a:solidFill>
                  <a:schemeClr val="tx1"/>
                </a:solidFill>
                <a:latin typeface="Tahoma" pitchFamily="34" charset="0"/>
                <a:ea typeface="Tahoma" pitchFamily="34" charset="0"/>
                <a:cs typeface="Tahoma" pitchFamily="34" charset="0"/>
              </a:rPr>
              <a:t>Packets are transmitted over the Internet</a:t>
            </a:r>
          </a:p>
          <a:p>
            <a:pPr lvl="2"/>
            <a:r>
              <a:rPr lang="en-US" sz="2400" dirty="0" smtClean="0">
                <a:solidFill>
                  <a:schemeClr val="tx1"/>
                </a:solidFill>
                <a:latin typeface="Tahoma" pitchFamily="34" charset="0"/>
                <a:ea typeface="Tahoma" pitchFamily="34" charset="0"/>
                <a:cs typeface="Tahoma" pitchFamily="34" charset="0"/>
              </a:rPr>
              <a:t>TCP layer on the destination computer reassembles the packets into the original message</a:t>
            </a:r>
          </a:p>
          <a:p>
            <a:r>
              <a:rPr lang="en-US" sz="3600" b="1" dirty="0" smtClean="0">
                <a:solidFill>
                  <a:schemeClr val="tx1"/>
                </a:solidFill>
                <a:latin typeface="Tahoma" pitchFamily="34" charset="0"/>
                <a:ea typeface="Tahoma" pitchFamily="34" charset="0"/>
                <a:cs typeface="Tahoma" pitchFamily="34" charset="0"/>
              </a:rPr>
              <a:t>Internet Protocol</a:t>
            </a:r>
          </a:p>
          <a:p>
            <a:pPr lvl="1"/>
            <a:r>
              <a:rPr lang="en-US" sz="2400" dirty="0" smtClean="0">
                <a:solidFill>
                  <a:schemeClr val="tx1"/>
                </a:solidFill>
                <a:latin typeface="Tahoma" pitchFamily="34" charset="0"/>
                <a:ea typeface="Tahoma" pitchFamily="34" charset="0"/>
                <a:cs typeface="Tahoma" pitchFamily="34" charset="0"/>
              </a:rPr>
              <a:t>Handles the address part of each packet so that it gets to the right destination</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11</a:t>
            </a:fld>
            <a:endParaRPr kumimoji="0" lang="en-US" dirty="0"/>
          </a:p>
        </p:txBody>
      </p:sp>
    </p:spTree>
    <p:extLst>
      <p:ext uri="{BB962C8B-B14F-4D97-AF65-F5344CB8AC3E}">
        <p14:creationId xmlns:p14="http://schemas.microsoft.com/office/powerpoint/2010/main" val="932580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What is the Internet and How Does It Work?</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4400" y="1600200"/>
            <a:ext cx="6858000" cy="4724400"/>
          </a:xfrm>
        </p:spPr>
      </p:pic>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12</a:t>
            </a:fld>
            <a:endParaRPr kumimoji="0" lang="en-US" dirty="0"/>
          </a:p>
        </p:txBody>
      </p:sp>
    </p:spTree>
    <p:extLst>
      <p:ext uri="{BB962C8B-B14F-4D97-AF65-F5344CB8AC3E}">
        <p14:creationId xmlns:p14="http://schemas.microsoft.com/office/powerpoint/2010/main" val="9325807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Accessing the Internet: </a:t>
            </a:r>
            <a:br>
              <a:rPr lang="en-US" dirty="0" smtClean="0"/>
            </a:br>
            <a:r>
              <a:rPr lang="en-US" dirty="0" smtClean="0"/>
              <a:t>Going Online</a:t>
            </a:r>
          </a:p>
        </p:txBody>
      </p:sp>
      <p:sp>
        <p:nvSpPr>
          <p:cNvPr id="112642" name="Content Placeholder 11"/>
          <p:cNvSpPr>
            <a:spLocks noGrp="1"/>
          </p:cNvSpPr>
          <p:nvPr>
            <p:ph idx="1"/>
          </p:nvPr>
        </p:nvSpPr>
        <p:spPr>
          <a:xfrm>
            <a:off x="762000" y="1676400"/>
            <a:ext cx="8382000" cy="46482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Internet service providers (ISPs)</a:t>
            </a:r>
          </a:p>
          <a:p>
            <a:pPr lvl="1"/>
            <a:r>
              <a:rPr lang="en-US" sz="2400" dirty="0" smtClean="0">
                <a:solidFill>
                  <a:schemeClr val="tx1"/>
                </a:solidFill>
                <a:latin typeface="Tahoma" pitchFamily="34" charset="0"/>
                <a:ea typeface="Tahoma" pitchFamily="34" charset="0"/>
                <a:cs typeface="Tahoma" pitchFamily="34" charset="0"/>
              </a:rPr>
              <a:t>Supply and sustain user connections to the Internet</a:t>
            </a:r>
          </a:p>
          <a:p>
            <a:pPr lvl="1"/>
            <a:r>
              <a:rPr lang="en-US" sz="2400" dirty="0" smtClean="0">
                <a:solidFill>
                  <a:schemeClr val="tx1"/>
                </a:solidFill>
                <a:latin typeface="Tahoma" pitchFamily="34" charset="0"/>
                <a:ea typeface="Tahoma" pitchFamily="34" charset="0"/>
                <a:cs typeface="Tahoma" pitchFamily="34" charset="0"/>
              </a:rPr>
              <a:t>Maintain the hardware and software</a:t>
            </a:r>
          </a:p>
          <a:p>
            <a:pPr lvl="1"/>
            <a:r>
              <a:rPr lang="en-US" sz="2400" dirty="0" smtClean="0">
                <a:solidFill>
                  <a:schemeClr val="tx1"/>
                </a:solidFill>
                <a:latin typeface="Tahoma" pitchFamily="34" charset="0"/>
                <a:ea typeface="Tahoma" pitchFamily="34" charset="0"/>
                <a:cs typeface="Tahoma" pitchFamily="34" charset="0"/>
              </a:rPr>
              <a:t>Protect their sites and networks from outside threats</a:t>
            </a:r>
          </a:p>
          <a:p>
            <a:r>
              <a:rPr lang="en-US" sz="3600" b="1" dirty="0" smtClean="0">
                <a:solidFill>
                  <a:schemeClr val="tx1"/>
                </a:solidFill>
                <a:latin typeface="Tahoma" pitchFamily="34" charset="0"/>
                <a:ea typeface="Tahoma" pitchFamily="34" charset="0"/>
                <a:cs typeface="Tahoma" pitchFamily="34" charset="0"/>
              </a:rPr>
              <a:t>Online service provider (OSP)</a:t>
            </a:r>
          </a:p>
          <a:p>
            <a:pPr lvl="1"/>
            <a:r>
              <a:rPr lang="en-US" sz="2400" dirty="0" smtClean="0">
                <a:solidFill>
                  <a:schemeClr val="tx1"/>
                </a:solidFill>
                <a:latin typeface="Tahoma" pitchFamily="34" charset="0"/>
                <a:ea typeface="Tahoma" pitchFamily="34" charset="0"/>
                <a:cs typeface="Tahoma" pitchFamily="34" charset="0"/>
              </a:rPr>
              <a:t>A for-profit firm that provides a proprietary network</a:t>
            </a:r>
          </a:p>
          <a:p>
            <a:pPr lvl="1"/>
            <a:r>
              <a:rPr lang="en-US" sz="2400" dirty="0" smtClean="0">
                <a:solidFill>
                  <a:schemeClr val="tx1"/>
                </a:solidFill>
                <a:latin typeface="Tahoma" pitchFamily="34" charset="0"/>
                <a:ea typeface="Tahoma" pitchFamily="34" charset="0"/>
                <a:cs typeface="Tahoma" pitchFamily="34" charset="0"/>
              </a:rPr>
              <a:t>Offers special services only available to subscribers</a:t>
            </a:r>
          </a:p>
          <a:p>
            <a:pPr lvl="1"/>
            <a:r>
              <a:rPr lang="en-US" sz="2400" dirty="0" smtClean="0">
                <a:solidFill>
                  <a:schemeClr val="tx1"/>
                </a:solidFill>
                <a:latin typeface="Tahoma" pitchFamily="34" charset="0"/>
                <a:ea typeface="Tahoma" pitchFamily="34" charset="0"/>
                <a:cs typeface="Tahoma" pitchFamily="34" charset="0"/>
              </a:rPr>
              <a:t>Examples: MSN and AOL</a:t>
            </a:r>
          </a:p>
          <a:p>
            <a:pPr lvl="1"/>
            <a:endParaRPr lang="en-US" sz="1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13</a:t>
            </a:fld>
            <a:endParaRPr kumimoji="0" lang="en-US" dirty="0"/>
          </a:p>
        </p:txBody>
      </p:sp>
    </p:spTree>
    <p:extLst>
      <p:ext uri="{BB962C8B-B14F-4D97-AF65-F5344CB8AC3E}">
        <p14:creationId xmlns:p14="http://schemas.microsoft.com/office/powerpoint/2010/main" val="15290955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Accessing the Internet: </a:t>
            </a:r>
            <a:br>
              <a:rPr lang="en-US" dirty="0" smtClean="0"/>
            </a:br>
            <a:r>
              <a:rPr lang="en-US" dirty="0" smtClean="0"/>
              <a:t>Going Online</a:t>
            </a:r>
          </a:p>
        </p:txBody>
      </p:sp>
      <p:sp>
        <p:nvSpPr>
          <p:cNvPr id="114690" name="Content Placeholder 11"/>
          <p:cNvSpPr>
            <a:spLocks noGrp="1"/>
          </p:cNvSpPr>
          <p:nvPr>
            <p:ph idx="1"/>
          </p:nvPr>
        </p:nvSpPr>
        <p:spPr>
          <a:xfrm>
            <a:off x="533400" y="1676400"/>
            <a:ext cx="8382000" cy="4648200"/>
          </a:xfrm>
        </p:spPr>
        <p:txBody>
          <a:bodyPr>
            <a:normAutofit/>
          </a:bodyPr>
          <a:lstStyle/>
          <a:p>
            <a:r>
              <a:rPr lang="en-US" sz="3600" b="1" dirty="0">
                <a:solidFill>
                  <a:schemeClr val="tx1"/>
                </a:solidFill>
                <a:latin typeface="Tahoma" pitchFamily="34" charset="0"/>
                <a:ea typeface="Tahoma" pitchFamily="34" charset="0"/>
                <a:cs typeface="Tahoma" pitchFamily="34" charset="0"/>
              </a:rPr>
              <a:t>Wireless Internet service provider</a:t>
            </a:r>
          </a:p>
          <a:p>
            <a:pPr lvl="1"/>
            <a:r>
              <a:rPr lang="en-US" sz="2400" dirty="0" smtClean="0">
                <a:solidFill>
                  <a:schemeClr val="tx1"/>
                </a:solidFill>
                <a:latin typeface="Tahoma" pitchFamily="34" charset="0"/>
                <a:ea typeface="Tahoma" pitchFamily="34" charset="0"/>
                <a:cs typeface="Tahoma" pitchFamily="34" charset="0"/>
              </a:rPr>
              <a:t>A company </a:t>
            </a:r>
            <a:r>
              <a:rPr lang="en-US" sz="2400" dirty="0">
                <a:solidFill>
                  <a:schemeClr val="tx1"/>
                </a:solidFill>
                <a:latin typeface="Tahoma" pitchFamily="34" charset="0"/>
                <a:ea typeface="Tahoma" pitchFamily="34" charset="0"/>
                <a:cs typeface="Tahoma" pitchFamily="34" charset="0"/>
              </a:rPr>
              <a:t>that provides wireless Internet </a:t>
            </a:r>
            <a:r>
              <a:rPr lang="en-US" sz="2400" dirty="0" smtClean="0">
                <a:solidFill>
                  <a:schemeClr val="tx1"/>
                </a:solidFill>
                <a:latin typeface="Tahoma" pitchFamily="34" charset="0"/>
                <a:ea typeface="Tahoma" pitchFamily="34" charset="0"/>
                <a:cs typeface="Tahoma" pitchFamily="34" charset="0"/>
              </a:rPr>
              <a:t>access</a:t>
            </a:r>
            <a:endParaRPr lang="en-US" sz="2400" dirty="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Examples: AT&amp;T</a:t>
            </a:r>
            <a:r>
              <a:rPr lang="en-US" sz="2400" dirty="0">
                <a:solidFill>
                  <a:schemeClr val="tx1"/>
                </a:solidFill>
                <a:latin typeface="Tahoma" pitchFamily="34" charset="0"/>
                <a:ea typeface="Tahoma" pitchFamily="34" charset="0"/>
                <a:cs typeface="Tahoma" pitchFamily="34" charset="0"/>
              </a:rPr>
              <a:t>, T-Mobile, and Verizon Wireless</a:t>
            </a:r>
          </a:p>
          <a:p>
            <a:r>
              <a:rPr lang="en-US" sz="3600" b="1" dirty="0" smtClean="0">
                <a:solidFill>
                  <a:schemeClr val="tx1"/>
                </a:solidFill>
                <a:latin typeface="Tahoma" pitchFamily="34" charset="0"/>
                <a:ea typeface="Tahoma" pitchFamily="34" charset="0"/>
                <a:cs typeface="Tahoma" pitchFamily="34" charset="0"/>
              </a:rPr>
              <a:t>Hot spot</a:t>
            </a:r>
            <a:endParaRPr lang="en-US" sz="3600" dirty="0" smtClean="0">
              <a:solidFill>
                <a:schemeClr val="tx1"/>
              </a:solidFill>
              <a:latin typeface="Tahoma" pitchFamily="34" charset="0"/>
              <a:ea typeface="Tahoma" pitchFamily="34" charset="0"/>
              <a:cs typeface="Tahoma" pitchFamily="34" charset="0"/>
            </a:endParaRPr>
          </a:p>
          <a:p>
            <a:pPr lvl="1"/>
            <a:r>
              <a:rPr lang="en-US" sz="2400" dirty="0">
                <a:solidFill>
                  <a:schemeClr val="tx1"/>
                </a:solidFill>
                <a:latin typeface="Tahoma" pitchFamily="34" charset="0"/>
                <a:ea typeface="Tahoma" pitchFamily="34" charset="0"/>
                <a:cs typeface="Tahoma" pitchFamily="34" charset="0"/>
              </a:rPr>
              <a:t>P</a:t>
            </a:r>
            <a:r>
              <a:rPr lang="en-US" sz="2400" dirty="0" smtClean="0">
                <a:solidFill>
                  <a:schemeClr val="tx1"/>
                </a:solidFill>
                <a:latin typeface="Tahoma" pitchFamily="34" charset="0"/>
                <a:ea typeface="Tahoma" pitchFamily="34" charset="0"/>
                <a:cs typeface="Tahoma" pitchFamily="34" charset="0"/>
              </a:rPr>
              <a:t>ublic location that provides Internet access for wireless devices</a:t>
            </a:r>
          </a:p>
          <a:p>
            <a:pPr lvl="1"/>
            <a:r>
              <a:rPr lang="en-US" sz="2400" dirty="0" smtClean="0">
                <a:solidFill>
                  <a:schemeClr val="tx1"/>
                </a:solidFill>
                <a:latin typeface="Tahoma" pitchFamily="34" charset="0"/>
                <a:ea typeface="Tahoma" pitchFamily="34" charset="0"/>
                <a:cs typeface="Tahoma" pitchFamily="34" charset="0"/>
              </a:rPr>
              <a:t>Examples: airport, college campus, or coffee shop</a:t>
            </a:r>
          </a:p>
          <a:p>
            <a:pPr lvl="1"/>
            <a:endParaRPr lang="en-US" sz="20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14</a:t>
            </a:fld>
            <a:endParaRPr kumimoji="0" lang="en-US"/>
          </a:p>
        </p:txBody>
      </p:sp>
    </p:spTree>
    <p:extLst>
      <p:ext uri="{BB962C8B-B14F-4D97-AF65-F5344CB8AC3E}">
        <p14:creationId xmlns:p14="http://schemas.microsoft.com/office/powerpoint/2010/main" val="2026869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Accessing the Internet: </a:t>
            </a:r>
            <a:br>
              <a:rPr lang="en-US" smtClean="0"/>
            </a:br>
            <a:r>
              <a:rPr lang="en-US" smtClean="0"/>
              <a:t>Going Online</a:t>
            </a:r>
          </a:p>
        </p:txBody>
      </p:sp>
      <p:sp>
        <p:nvSpPr>
          <p:cNvPr id="114690" name="Content Placeholder 11"/>
          <p:cNvSpPr>
            <a:spLocks noGrp="1"/>
          </p:cNvSpPr>
          <p:nvPr>
            <p:ph idx="1"/>
          </p:nvPr>
        </p:nvSpPr>
        <p:spPr>
          <a:xfrm>
            <a:off x="457200" y="1524000"/>
            <a:ext cx="8382000" cy="5029200"/>
          </a:xfrm>
        </p:spPr>
        <p:txBody>
          <a:bodyPr>
            <a:noAutofit/>
          </a:bodyPr>
          <a:lstStyle/>
          <a:p>
            <a:r>
              <a:rPr lang="en-US" sz="3600" b="1" smtClean="0">
                <a:solidFill>
                  <a:schemeClr val="tx1"/>
                </a:solidFill>
                <a:latin typeface="Tahoma" pitchFamily="34" charset="0"/>
                <a:ea typeface="Tahoma" pitchFamily="34" charset="0"/>
                <a:cs typeface="Tahoma" pitchFamily="34" charset="0"/>
              </a:rPr>
              <a:t>Methods to access the Internet</a:t>
            </a:r>
          </a:p>
          <a:p>
            <a:pPr lvl="1"/>
            <a:r>
              <a:rPr lang="en-US" sz="2400" b="1" smtClean="0">
                <a:solidFill>
                  <a:schemeClr val="tx1"/>
                </a:solidFill>
                <a:latin typeface="Tahoma" pitchFamily="34" charset="0"/>
                <a:ea typeface="Tahoma" pitchFamily="34" charset="0"/>
                <a:cs typeface="Tahoma" pitchFamily="34" charset="0"/>
              </a:rPr>
              <a:t>Dial-up access</a:t>
            </a:r>
            <a:r>
              <a:rPr lang="en-US" sz="2400" smtClean="0">
                <a:solidFill>
                  <a:schemeClr val="tx1"/>
                </a:solidFill>
                <a:latin typeface="Tahoma" pitchFamily="34" charset="0"/>
                <a:ea typeface="Tahoma" pitchFamily="34" charset="0"/>
                <a:cs typeface="Tahoma" pitchFamily="34" charset="0"/>
              </a:rPr>
              <a:t>—uses modem and telephone line</a:t>
            </a:r>
          </a:p>
          <a:p>
            <a:pPr lvl="1"/>
            <a:r>
              <a:rPr lang="en-US" sz="2400" b="1" smtClean="0">
                <a:solidFill>
                  <a:schemeClr val="tx1"/>
                </a:solidFill>
                <a:latin typeface="Tahoma" pitchFamily="34" charset="0"/>
                <a:ea typeface="Tahoma" pitchFamily="34" charset="0"/>
                <a:cs typeface="Tahoma" pitchFamily="34" charset="0"/>
              </a:rPr>
              <a:t>Digital subscriber line (DSL)</a:t>
            </a:r>
            <a:r>
              <a:rPr lang="en-US" sz="2400" smtClean="0">
                <a:solidFill>
                  <a:schemeClr val="tx1"/>
                </a:solidFill>
                <a:latin typeface="Tahoma" pitchFamily="34" charset="0"/>
                <a:ea typeface="Tahoma" pitchFamily="34" charset="0"/>
                <a:cs typeface="Tahoma" pitchFamily="34" charset="0"/>
              </a:rPr>
              <a:t>—high-speed online connection—external modem with telephone lines</a:t>
            </a:r>
          </a:p>
          <a:p>
            <a:pPr lvl="1"/>
            <a:r>
              <a:rPr lang="en-US" sz="2400" b="1" smtClean="0">
                <a:solidFill>
                  <a:schemeClr val="tx1"/>
                </a:solidFill>
                <a:latin typeface="Tahoma" pitchFamily="34" charset="0"/>
                <a:ea typeface="Tahoma" pitchFamily="34" charset="0"/>
                <a:cs typeface="Tahoma" pitchFamily="34" charset="0"/>
              </a:rPr>
              <a:t>Cable access</a:t>
            </a:r>
            <a:r>
              <a:rPr lang="en-US" sz="2400" smtClean="0">
                <a:solidFill>
                  <a:schemeClr val="tx1"/>
                </a:solidFill>
                <a:latin typeface="Tahoma" pitchFamily="34" charset="0"/>
                <a:ea typeface="Tahoma" pitchFamily="34" charset="0"/>
                <a:cs typeface="Tahoma" pitchFamily="34" charset="0"/>
              </a:rPr>
              <a:t>—high-speed Internet connection—cable modem not a phone line</a:t>
            </a:r>
          </a:p>
          <a:p>
            <a:pPr lvl="1"/>
            <a:r>
              <a:rPr lang="en-US" sz="2400" b="1" smtClean="0">
                <a:solidFill>
                  <a:schemeClr val="tx1"/>
                </a:solidFill>
                <a:latin typeface="Tahoma" pitchFamily="34" charset="0"/>
                <a:ea typeface="Tahoma" pitchFamily="34" charset="0"/>
                <a:cs typeface="Tahoma" pitchFamily="34" charset="0"/>
              </a:rPr>
              <a:t>Satellite</a:t>
            </a:r>
            <a:r>
              <a:rPr lang="en-US" sz="2400" smtClean="0">
                <a:solidFill>
                  <a:schemeClr val="tx1"/>
                </a:solidFill>
                <a:latin typeface="Tahoma" pitchFamily="34" charset="0"/>
                <a:ea typeface="Tahoma" pitchFamily="34" charset="0"/>
                <a:cs typeface="Tahoma" pitchFamily="34" charset="0"/>
              </a:rPr>
              <a:t>—high-speed Internet service with antenna and dish connected to indoor receive unit (IRU) and indoor transmit unit (</a:t>
            </a:r>
            <a:r>
              <a:rPr lang="en-US" sz="2400" err="1" smtClean="0">
                <a:solidFill>
                  <a:schemeClr val="tx1"/>
                </a:solidFill>
                <a:latin typeface="Tahoma" pitchFamily="34" charset="0"/>
                <a:ea typeface="Tahoma" pitchFamily="34" charset="0"/>
                <a:cs typeface="Tahoma" pitchFamily="34" charset="0"/>
              </a:rPr>
              <a:t>IRU</a:t>
            </a:r>
            <a:r>
              <a:rPr lang="en-US" sz="2400" smtClean="0">
                <a:solidFill>
                  <a:schemeClr val="tx1"/>
                </a:solidFill>
                <a:latin typeface="Tahoma" pitchFamily="34" charset="0"/>
                <a:ea typeface="Tahoma" pitchFamily="34" charset="0"/>
                <a:cs typeface="Tahoma" pitchFamily="34" charset="0"/>
              </a:rPr>
              <a:t>)</a:t>
            </a:r>
            <a:endParaRPr lang="en-US" sz="2400" b="1" smtClean="0">
              <a:solidFill>
                <a:schemeClr val="tx1"/>
              </a:solidFill>
              <a:latin typeface="Tahoma" pitchFamily="34" charset="0"/>
              <a:ea typeface="Tahoma" pitchFamily="34" charset="0"/>
              <a:cs typeface="Tahoma" pitchFamily="34" charset="0"/>
            </a:endParaRPr>
          </a:p>
          <a:p>
            <a:pPr lvl="1"/>
            <a:r>
              <a:rPr lang="en-US" sz="2400" b="1" smtClean="0">
                <a:solidFill>
                  <a:schemeClr val="tx1"/>
                </a:solidFill>
                <a:latin typeface="Tahoma" pitchFamily="34" charset="0"/>
                <a:ea typeface="Tahoma" pitchFamily="34" charset="0"/>
                <a:cs typeface="Tahoma" pitchFamily="34" charset="0"/>
              </a:rPr>
              <a:t>Fiber-optic service</a:t>
            </a:r>
            <a:r>
              <a:rPr lang="en-US" sz="2400" smtClean="0">
                <a:solidFill>
                  <a:schemeClr val="tx1"/>
                </a:solidFill>
                <a:latin typeface="Tahoma" pitchFamily="34" charset="0"/>
                <a:ea typeface="Tahoma" pitchFamily="34" charset="0"/>
                <a:cs typeface="Tahoma" pitchFamily="34" charset="0"/>
              </a:rPr>
              <a:t>—high-speed Internet—fiber-optic lines direct</a:t>
            </a:r>
            <a:endParaRPr lang="en-US" sz="2400" b="1"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15</a:t>
            </a:fld>
            <a:endParaRPr kumimoji="0" lang="en-US"/>
          </a:p>
        </p:txBody>
      </p:sp>
    </p:spTree>
    <p:extLst>
      <p:ext uri="{BB962C8B-B14F-4D97-AF65-F5344CB8AC3E}">
        <p14:creationId xmlns:p14="http://schemas.microsoft.com/office/powerpoint/2010/main" val="3610532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Accessing the Internet: </a:t>
            </a:r>
            <a:br>
              <a:rPr lang="en-US" smtClean="0"/>
            </a:br>
            <a:r>
              <a:rPr lang="en-US" smtClean="0"/>
              <a:t>Going Online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16</a:t>
            </a:fld>
            <a:endParaRPr kumimoji="0" lang="en-US"/>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1828800"/>
            <a:ext cx="8321040" cy="3962400"/>
          </a:xfrm>
        </p:spPr>
      </p:pic>
    </p:spTree>
    <p:extLst>
      <p:ext uri="{BB962C8B-B14F-4D97-AF65-F5344CB8AC3E}">
        <p14:creationId xmlns:p14="http://schemas.microsoft.com/office/powerpoint/2010/main" val="764734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20834" name="Content Placeholder 5"/>
          <p:cNvSpPr>
            <a:spLocks noGrp="1"/>
          </p:cNvSpPr>
          <p:nvPr>
            <p:ph idx="1"/>
          </p:nvPr>
        </p:nvSpPr>
        <p:spPr>
          <a:xfrm>
            <a:off x="457200" y="1905000"/>
            <a:ext cx="8382000" cy="4114800"/>
          </a:xfrm>
        </p:spPr>
        <p:txBody>
          <a:bodyPr>
            <a:normAutofit fontScale="77500" lnSpcReduction="20000"/>
          </a:bodyPr>
          <a:lstStyle/>
          <a:p>
            <a:r>
              <a:rPr lang="en-US" sz="5100" b="1" smtClean="0">
                <a:solidFill>
                  <a:schemeClr val="tx1"/>
                </a:solidFill>
                <a:latin typeface="Tahoma" pitchFamily="34" charset="0"/>
                <a:ea typeface="Tahoma" pitchFamily="34" charset="0"/>
                <a:cs typeface="Tahoma" pitchFamily="34" charset="0"/>
              </a:rPr>
              <a:t>World Wide Web (also known as the Web or WWW</a:t>
            </a:r>
            <a:r>
              <a:rPr lang="en-US" sz="5100" b="1">
                <a:solidFill>
                  <a:schemeClr val="tx1"/>
                </a:solidFill>
                <a:latin typeface="Tahoma" pitchFamily="34" charset="0"/>
                <a:ea typeface="Tahoma" pitchFamily="34" charset="0"/>
                <a:cs typeface="Tahoma" pitchFamily="34" charset="0"/>
              </a:rPr>
              <a:t>)</a:t>
            </a:r>
            <a:endParaRPr lang="en-US" sz="5100" b="1" smtClean="0">
              <a:solidFill>
                <a:schemeClr val="tx1"/>
              </a:solidFill>
              <a:latin typeface="Tahoma" pitchFamily="34" charset="0"/>
              <a:ea typeface="Tahoma" pitchFamily="34" charset="0"/>
              <a:cs typeface="Tahoma" pitchFamily="34" charset="0"/>
            </a:endParaRPr>
          </a:p>
          <a:p>
            <a:pPr lvl="1"/>
            <a:r>
              <a:rPr lang="en-US" sz="3100" smtClean="0">
                <a:solidFill>
                  <a:schemeClr val="tx1"/>
                </a:solidFill>
                <a:latin typeface="Tahoma" pitchFamily="34" charset="0"/>
                <a:ea typeface="Tahoma" pitchFamily="34" charset="0"/>
                <a:cs typeface="Tahoma" pitchFamily="34" charset="0"/>
              </a:rPr>
              <a:t>Contains billions of documents</a:t>
            </a:r>
          </a:p>
          <a:p>
            <a:pPr lvl="1"/>
            <a:r>
              <a:rPr lang="en-US" sz="3100" smtClean="0">
                <a:solidFill>
                  <a:schemeClr val="tx1"/>
                </a:solidFill>
                <a:latin typeface="Tahoma" pitchFamily="34" charset="0"/>
                <a:ea typeface="Tahoma" pitchFamily="34" charset="0"/>
                <a:cs typeface="Tahoma" pitchFamily="34" charset="0"/>
              </a:rPr>
              <a:t>Part of the Internet</a:t>
            </a:r>
          </a:p>
          <a:p>
            <a:pPr lvl="1"/>
            <a:r>
              <a:rPr lang="en-US" sz="3100" smtClean="0">
                <a:solidFill>
                  <a:schemeClr val="tx1"/>
                </a:solidFill>
                <a:latin typeface="Tahoma" pitchFamily="34" charset="0"/>
                <a:ea typeface="Tahoma" pitchFamily="34" charset="0"/>
                <a:cs typeface="Tahoma" pitchFamily="34" charset="0"/>
              </a:rPr>
              <a:t>Uses the Internet to transport information</a:t>
            </a:r>
          </a:p>
          <a:p>
            <a:pPr lvl="1"/>
            <a:r>
              <a:rPr lang="en-US" sz="3100" smtClean="0">
                <a:solidFill>
                  <a:schemeClr val="tx1"/>
                </a:solidFill>
                <a:latin typeface="Tahoma" pitchFamily="34" charset="0"/>
                <a:ea typeface="Tahoma" pitchFamily="34" charset="0"/>
                <a:cs typeface="Tahoma" pitchFamily="34" charset="0"/>
              </a:rPr>
              <a:t>Separate entity from the Internet</a:t>
            </a:r>
          </a:p>
          <a:p>
            <a:pPr lvl="1"/>
            <a:r>
              <a:rPr lang="en-US" sz="3100" smtClean="0">
                <a:solidFill>
                  <a:schemeClr val="tx1"/>
                </a:solidFill>
                <a:latin typeface="Tahoma" pitchFamily="34" charset="0"/>
                <a:ea typeface="Tahoma" pitchFamily="34" charset="0"/>
                <a:cs typeface="Tahoma" pitchFamily="34" charset="0"/>
              </a:rPr>
              <a:t>No one owns the Web</a:t>
            </a:r>
          </a:p>
          <a:p>
            <a:pPr lvl="1"/>
            <a:r>
              <a:rPr lang="en-US" sz="3100" smtClean="0">
                <a:solidFill>
                  <a:schemeClr val="tx1"/>
                </a:solidFill>
                <a:latin typeface="Tahoma" pitchFamily="34" charset="0"/>
                <a:ea typeface="Tahoma" pitchFamily="34" charset="0"/>
                <a:cs typeface="Tahoma" pitchFamily="34" charset="0"/>
              </a:rPr>
              <a:t>Standards and guidelines for the Web are published by the World Wide Web Consortium (W3C)</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17</a:t>
            </a:fld>
            <a:endParaRPr kumimoji="0" lang="en-US"/>
          </a:p>
        </p:txBody>
      </p:sp>
    </p:spTree>
    <p:extLst>
      <p:ext uri="{BB962C8B-B14F-4D97-AF65-F5344CB8AC3E}">
        <p14:creationId xmlns:p14="http://schemas.microsoft.com/office/powerpoint/2010/main" val="15048675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1" name="Content Placeholder 10"/>
          <p:cNvSpPr>
            <a:spLocks noGrp="1"/>
          </p:cNvSpPr>
          <p:nvPr>
            <p:ph sz="half" idx="2"/>
          </p:nvPr>
        </p:nvSpPr>
        <p:spPr>
          <a:xfrm>
            <a:off x="4419600" y="1905000"/>
            <a:ext cx="4191000" cy="4114800"/>
          </a:xfrm>
        </p:spPr>
        <p:txBody>
          <a:bodyPr>
            <a:noAutofit/>
          </a:bodyPr>
          <a:lstStyle/>
          <a:p>
            <a:r>
              <a:rPr lang="en-US" sz="3200" b="1" smtClean="0">
                <a:solidFill>
                  <a:schemeClr val="tx1"/>
                </a:solidFill>
                <a:latin typeface="Tahoma" pitchFamily="34" charset="0"/>
                <a:ea typeface="Tahoma" pitchFamily="34" charset="0"/>
                <a:cs typeface="Tahoma" pitchFamily="34" charset="0"/>
              </a:rPr>
              <a:t>Web contains the information. </a:t>
            </a:r>
          </a:p>
          <a:p>
            <a:r>
              <a:rPr lang="en-US" sz="3200" b="1" smtClean="0">
                <a:solidFill>
                  <a:schemeClr val="tx1"/>
                </a:solidFill>
                <a:latin typeface="Tahoma" pitchFamily="34" charset="0"/>
                <a:ea typeface="Tahoma" pitchFamily="34" charset="0"/>
                <a:cs typeface="Tahoma" pitchFamily="34" charset="0"/>
              </a:rPr>
              <a:t>Internet transports information to and from users.</a:t>
            </a:r>
          </a:p>
        </p:txBody>
      </p:sp>
      <p:pic>
        <p:nvPicPr>
          <p:cNvPr id="3074" name="Picture 2"/>
          <p:cNvPicPr>
            <a:picLocks noGrp="1" noChangeAspect="1" noChangeArrowheads="1"/>
          </p:cNvPicPr>
          <p:nvPr>
            <p:ph sz="half" idx="4294967295"/>
          </p:nvPr>
        </p:nvPicPr>
        <p:blipFill>
          <a:blip r:embed="rId3" cstate="print"/>
          <a:srcRect/>
          <a:stretch>
            <a:fillRect/>
          </a:stretch>
        </p:blipFill>
        <p:spPr bwMode="auto">
          <a:xfrm>
            <a:off x="1219200" y="1752600"/>
            <a:ext cx="3045819" cy="4267200"/>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18</a:t>
            </a:fld>
            <a:endParaRPr lang="en-US"/>
          </a:p>
        </p:txBody>
      </p:sp>
    </p:spTree>
    <p:extLst>
      <p:ext uri="{BB962C8B-B14F-4D97-AF65-F5344CB8AC3E}">
        <p14:creationId xmlns:p14="http://schemas.microsoft.com/office/powerpoint/2010/main" val="3832763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24932" name="Content Placeholder 5"/>
          <p:cNvSpPr>
            <a:spLocks noGrp="1"/>
          </p:cNvSpPr>
          <p:nvPr>
            <p:ph idx="1"/>
          </p:nvPr>
        </p:nvSpPr>
        <p:spPr>
          <a:xfrm>
            <a:off x="762000" y="1600200"/>
            <a:ext cx="8382000" cy="4267200"/>
          </a:xfrm>
        </p:spPr>
        <p:txBody>
          <a:bodyPr>
            <a:noAutofit/>
          </a:bodyPr>
          <a:lstStyle/>
          <a:p>
            <a:r>
              <a:rPr lang="en-US" sz="3600" b="1" smtClean="0">
                <a:solidFill>
                  <a:schemeClr val="tx1"/>
                </a:solidFill>
                <a:latin typeface="Tahoma" pitchFamily="34" charset="0"/>
                <a:ea typeface="Tahoma" pitchFamily="34" charset="0"/>
                <a:cs typeface="Tahoma" pitchFamily="34" charset="0"/>
              </a:rPr>
              <a:t>Web page</a:t>
            </a:r>
          </a:p>
          <a:p>
            <a:pPr lvl="1"/>
            <a:r>
              <a:rPr lang="en-US" sz="2200" smtClean="0">
                <a:solidFill>
                  <a:schemeClr val="tx1"/>
                </a:solidFill>
                <a:latin typeface="Tahoma" pitchFamily="34" charset="0"/>
                <a:ea typeface="Tahoma" pitchFamily="34" charset="0"/>
                <a:cs typeface="Tahoma" pitchFamily="34" charset="0"/>
              </a:rPr>
              <a:t>Document that may include text, graphics, sound, animation, and video</a:t>
            </a:r>
          </a:p>
          <a:p>
            <a:r>
              <a:rPr lang="en-US" sz="3600" b="1" smtClean="0">
                <a:solidFill>
                  <a:schemeClr val="tx1"/>
                </a:solidFill>
                <a:latin typeface="Tahoma" pitchFamily="34" charset="0"/>
                <a:ea typeface="Tahoma" pitchFamily="34" charset="0"/>
                <a:cs typeface="Tahoma" pitchFamily="34" charset="0"/>
              </a:rPr>
              <a:t>Web browser</a:t>
            </a:r>
          </a:p>
          <a:p>
            <a:pPr lvl="1"/>
            <a:r>
              <a:rPr lang="en-US" sz="2200" smtClean="0">
                <a:solidFill>
                  <a:schemeClr val="tx1"/>
                </a:solidFill>
                <a:latin typeface="Tahoma" pitchFamily="34" charset="0"/>
                <a:ea typeface="Tahoma" pitchFamily="34" charset="0"/>
                <a:cs typeface="Tahoma" pitchFamily="34" charset="0"/>
              </a:rPr>
              <a:t>Program </a:t>
            </a:r>
            <a:r>
              <a:rPr lang="en-US" sz="2200">
                <a:solidFill>
                  <a:schemeClr val="tx1"/>
                </a:solidFill>
                <a:latin typeface="Tahoma" pitchFamily="34" charset="0"/>
                <a:ea typeface="Tahoma" pitchFamily="34" charset="0"/>
                <a:cs typeface="Tahoma" pitchFamily="34" charset="0"/>
              </a:rPr>
              <a:t>that displays Web pages and linked </a:t>
            </a:r>
            <a:r>
              <a:rPr lang="en-US" sz="2200" smtClean="0">
                <a:solidFill>
                  <a:schemeClr val="tx1"/>
                </a:solidFill>
                <a:latin typeface="Tahoma" pitchFamily="34" charset="0"/>
                <a:ea typeface="Tahoma" pitchFamily="34" charset="0"/>
                <a:cs typeface="Tahoma" pitchFamily="34" charset="0"/>
              </a:rPr>
              <a:t>items</a:t>
            </a:r>
            <a:endParaRPr lang="en-US" sz="2200" b="1">
              <a:solidFill>
                <a:schemeClr val="tx1"/>
              </a:solidFill>
              <a:latin typeface="Tahoma" pitchFamily="34" charset="0"/>
              <a:ea typeface="Tahoma" pitchFamily="34" charset="0"/>
              <a:cs typeface="Tahoma" pitchFamily="34" charset="0"/>
            </a:endParaRPr>
          </a:p>
          <a:p>
            <a:r>
              <a:rPr lang="en-US" sz="3600" b="1" smtClean="0">
                <a:solidFill>
                  <a:schemeClr val="tx1"/>
                </a:solidFill>
                <a:latin typeface="Tahoma" pitchFamily="34" charset="0"/>
                <a:ea typeface="Tahoma" pitchFamily="34" charset="0"/>
                <a:cs typeface="Tahoma" pitchFamily="34" charset="0"/>
              </a:rPr>
              <a:t>Web site</a:t>
            </a:r>
          </a:p>
          <a:p>
            <a:pPr lvl="1"/>
            <a:r>
              <a:rPr lang="en-US" sz="2200" smtClean="0">
                <a:solidFill>
                  <a:schemeClr val="tx1"/>
                </a:solidFill>
                <a:latin typeface="Tahoma" pitchFamily="34" charset="0"/>
                <a:ea typeface="Tahoma" pitchFamily="34" charset="0"/>
                <a:cs typeface="Tahoma" pitchFamily="34" charset="0"/>
              </a:rPr>
              <a:t>Collection of Web pages</a:t>
            </a:r>
          </a:p>
          <a:p>
            <a:pPr lvl="2"/>
            <a:r>
              <a:rPr lang="en-US" sz="2200" smtClean="0">
                <a:solidFill>
                  <a:schemeClr val="tx1"/>
                </a:solidFill>
                <a:latin typeface="Tahoma" pitchFamily="34" charset="0"/>
                <a:ea typeface="Tahoma" pitchFamily="34" charset="0"/>
                <a:cs typeface="Tahoma" pitchFamily="34" charset="0"/>
              </a:rPr>
              <a:t>Typically contains a </a:t>
            </a:r>
            <a:r>
              <a:rPr lang="en-US" sz="2200" b="1" smtClean="0">
                <a:solidFill>
                  <a:schemeClr val="tx1"/>
                </a:solidFill>
                <a:latin typeface="Tahoma" pitchFamily="34" charset="0"/>
                <a:ea typeface="Tahoma" pitchFamily="34" charset="0"/>
                <a:cs typeface="Tahoma" pitchFamily="34" charset="0"/>
              </a:rPr>
              <a:t>home page </a:t>
            </a:r>
            <a:r>
              <a:rPr lang="en-US" sz="2200" smtClean="0">
                <a:solidFill>
                  <a:schemeClr val="tx1"/>
                </a:solidFill>
                <a:latin typeface="Tahoma" pitchFamily="34" charset="0"/>
                <a:ea typeface="Tahoma" pitchFamily="34" charset="0"/>
                <a:cs typeface="Tahoma" pitchFamily="34" charset="0"/>
              </a:rPr>
              <a:t>(also called an </a:t>
            </a:r>
            <a:r>
              <a:rPr lang="en-US" sz="2200" b="1" smtClean="0">
                <a:solidFill>
                  <a:schemeClr val="tx1"/>
                </a:solidFill>
                <a:latin typeface="Tahoma" pitchFamily="34" charset="0"/>
                <a:ea typeface="Tahoma" pitchFamily="34" charset="0"/>
                <a:cs typeface="Tahoma" pitchFamily="34" charset="0"/>
              </a:rPr>
              <a:t>index page</a:t>
            </a:r>
            <a:r>
              <a:rPr lang="en-US" sz="2200" smtClean="0">
                <a:solidFill>
                  <a:schemeClr val="tx1"/>
                </a:solidFill>
                <a:latin typeface="Tahoma" pitchFamily="34" charset="0"/>
                <a:ea typeface="Tahoma" pitchFamily="34" charset="0"/>
                <a:cs typeface="Tahoma" pitchFamily="34" charset="0"/>
              </a:rPr>
              <a:t>)—default page displayed when you enter a site</a:t>
            </a:r>
          </a:p>
          <a:p>
            <a:endParaRPr lang="en-US" sz="2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19</a:t>
            </a:fld>
            <a:endParaRPr kumimoji="0" lang="en-US"/>
          </a:p>
        </p:txBody>
      </p:sp>
    </p:spTree>
    <p:extLst>
      <p:ext uri="{BB962C8B-B14F-4D97-AF65-F5344CB8AC3E}">
        <p14:creationId xmlns:p14="http://schemas.microsoft.com/office/powerpoint/2010/main" val="38279132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26980" name="Content Placeholder 5"/>
          <p:cNvSpPr>
            <a:spLocks noGrp="1"/>
          </p:cNvSpPr>
          <p:nvPr>
            <p:ph idx="1"/>
          </p:nvPr>
        </p:nvSpPr>
        <p:spPr>
          <a:xfrm>
            <a:off x="762000" y="1600200"/>
            <a:ext cx="8382000" cy="4419600"/>
          </a:xfrm>
        </p:spPr>
        <p:txBody>
          <a:bodyPr>
            <a:normAutofit fontScale="92500" lnSpcReduction="20000"/>
          </a:bodyPr>
          <a:lstStyle/>
          <a:p>
            <a:r>
              <a:rPr lang="en-US" sz="3600" b="1" smtClean="0">
                <a:solidFill>
                  <a:schemeClr val="tx1"/>
                </a:solidFill>
                <a:latin typeface="Tahoma" pitchFamily="34" charset="0"/>
                <a:ea typeface="Tahoma" pitchFamily="34" charset="0"/>
                <a:cs typeface="Tahoma" pitchFamily="34" charset="0"/>
              </a:rPr>
              <a:t>Hypertext</a:t>
            </a:r>
          </a:p>
          <a:p>
            <a:pPr lvl="1"/>
            <a:r>
              <a:rPr lang="en-US" sz="2400" smtClean="0">
                <a:solidFill>
                  <a:schemeClr val="tx1"/>
                </a:solidFill>
                <a:latin typeface="Tahoma" pitchFamily="34" charset="0"/>
                <a:ea typeface="Tahoma" pitchFamily="34" charset="0"/>
                <a:cs typeface="Tahoma" pitchFamily="34" charset="0"/>
              </a:rPr>
              <a:t>Uses links </a:t>
            </a:r>
            <a:r>
              <a:rPr lang="en-US" sz="2400">
                <a:solidFill>
                  <a:schemeClr val="tx1"/>
                </a:solidFill>
                <a:latin typeface="Tahoma" pitchFamily="34" charset="0"/>
                <a:ea typeface="Tahoma" pitchFamily="34" charset="0"/>
                <a:cs typeface="Tahoma" pitchFamily="34" charset="0"/>
              </a:rPr>
              <a:t>to </a:t>
            </a:r>
            <a:r>
              <a:rPr lang="en-US" sz="2400" smtClean="0">
                <a:solidFill>
                  <a:schemeClr val="tx1"/>
                </a:solidFill>
                <a:latin typeface="Tahoma" pitchFamily="34" charset="0"/>
                <a:ea typeface="Tahoma" pitchFamily="34" charset="0"/>
                <a:cs typeface="Tahoma" pitchFamily="34" charset="0"/>
              </a:rPr>
              <a:t>connect to </a:t>
            </a:r>
            <a:r>
              <a:rPr lang="en-US" sz="2400">
                <a:solidFill>
                  <a:schemeClr val="tx1"/>
                </a:solidFill>
                <a:latin typeface="Tahoma" pitchFamily="34" charset="0"/>
                <a:ea typeface="Tahoma" pitchFamily="34" charset="0"/>
                <a:cs typeface="Tahoma" pitchFamily="34" charset="0"/>
              </a:rPr>
              <a:t>additional related </a:t>
            </a:r>
            <a:r>
              <a:rPr lang="en-US" sz="2400" smtClean="0">
                <a:solidFill>
                  <a:schemeClr val="tx1"/>
                </a:solidFill>
                <a:latin typeface="Tahoma" pitchFamily="34" charset="0"/>
                <a:ea typeface="Tahoma" pitchFamily="34" charset="0"/>
                <a:cs typeface="Tahoma" pitchFamily="34" charset="0"/>
              </a:rPr>
              <a:t>information</a:t>
            </a:r>
            <a:endParaRPr lang="en-US" sz="2400">
              <a:solidFill>
                <a:schemeClr val="tx1"/>
              </a:solidFill>
              <a:latin typeface="Tahoma" pitchFamily="34" charset="0"/>
              <a:ea typeface="Tahoma" pitchFamily="34" charset="0"/>
              <a:cs typeface="Tahoma" pitchFamily="34" charset="0"/>
            </a:endParaRPr>
          </a:p>
          <a:p>
            <a:r>
              <a:rPr lang="en-US" sz="3600" b="1" smtClean="0">
                <a:solidFill>
                  <a:schemeClr val="tx1"/>
                </a:solidFill>
                <a:latin typeface="Tahoma" pitchFamily="34" charset="0"/>
                <a:ea typeface="Tahoma" pitchFamily="34" charset="0"/>
                <a:cs typeface="Tahoma" pitchFamily="34" charset="0"/>
              </a:rPr>
              <a:t>Hyperlinks</a:t>
            </a:r>
            <a:r>
              <a:rPr lang="en-US" sz="3600" smtClean="0">
                <a:solidFill>
                  <a:schemeClr val="tx1"/>
                </a:solidFill>
                <a:latin typeface="Tahoma" pitchFamily="34" charset="0"/>
                <a:ea typeface="Tahoma" pitchFamily="34" charset="0"/>
                <a:cs typeface="Tahoma" pitchFamily="34" charset="0"/>
              </a:rPr>
              <a:t> or </a:t>
            </a:r>
            <a:r>
              <a:rPr lang="en-US" sz="3600" b="1" smtClean="0">
                <a:solidFill>
                  <a:schemeClr val="tx1"/>
                </a:solidFill>
                <a:latin typeface="Tahoma" pitchFamily="34" charset="0"/>
                <a:ea typeface="Tahoma" pitchFamily="34" charset="0"/>
                <a:cs typeface="Tahoma" pitchFamily="34" charset="0"/>
              </a:rPr>
              <a:t>links</a:t>
            </a:r>
          </a:p>
          <a:p>
            <a:pPr lvl="1"/>
            <a:r>
              <a:rPr lang="en-US" sz="2400" smtClean="0">
                <a:solidFill>
                  <a:schemeClr val="tx1"/>
                </a:solidFill>
                <a:latin typeface="Tahoma" pitchFamily="34" charset="0"/>
                <a:ea typeface="Tahoma" pitchFamily="34" charset="0"/>
                <a:cs typeface="Tahoma" pitchFamily="34" charset="0"/>
              </a:rPr>
              <a:t>Words and images that bring other documents into view when clicked</a:t>
            </a:r>
          </a:p>
          <a:p>
            <a:r>
              <a:rPr lang="en-US" sz="3600" b="1" smtClean="0">
                <a:solidFill>
                  <a:schemeClr val="tx1"/>
                </a:solidFill>
                <a:latin typeface="Tahoma" pitchFamily="34" charset="0"/>
                <a:ea typeface="Tahoma" pitchFamily="34" charset="0"/>
                <a:cs typeface="Tahoma" pitchFamily="34" charset="0"/>
              </a:rPr>
              <a:t>Hypertext Markup Language (HTML)</a:t>
            </a:r>
          </a:p>
          <a:p>
            <a:pPr lvl="1"/>
            <a:r>
              <a:rPr lang="en-US" sz="2400" smtClean="0">
                <a:solidFill>
                  <a:schemeClr val="tx1"/>
                </a:solidFill>
                <a:latin typeface="Tahoma" pitchFamily="34" charset="0"/>
                <a:ea typeface="Tahoma" pitchFamily="34" charset="0"/>
                <a:cs typeface="Tahoma" pitchFamily="34" charset="0"/>
              </a:rPr>
              <a:t>Uses tags to specify how a Web page should display</a:t>
            </a:r>
          </a:p>
          <a:p>
            <a:r>
              <a:rPr lang="en-US" sz="3600" b="1">
                <a:solidFill>
                  <a:schemeClr val="tx1"/>
                </a:solidFill>
                <a:latin typeface="Tahoma" pitchFamily="34" charset="0"/>
                <a:ea typeface="Tahoma" pitchFamily="34" charset="0"/>
                <a:cs typeface="Tahoma" pitchFamily="34" charset="0"/>
              </a:rPr>
              <a:t>Extensible Hypertext Markup Language (</a:t>
            </a:r>
            <a:r>
              <a:rPr lang="en-US" sz="3600" b="1" err="1" smtClean="0">
                <a:solidFill>
                  <a:schemeClr val="tx1"/>
                </a:solidFill>
                <a:latin typeface="Tahoma" pitchFamily="34" charset="0"/>
                <a:ea typeface="Tahoma" pitchFamily="34" charset="0"/>
                <a:cs typeface="Tahoma" pitchFamily="34" charset="0"/>
              </a:rPr>
              <a:t>XHTML</a:t>
            </a:r>
            <a:r>
              <a:rPr lang="en-US" sz="3600" b="1" smtClean="0">
                <a:solidFill>
                  <a:schemeClr val="tx1"/>
                </a:solidFill>
                <a:latin typeface="Tahoma" pitchFamily="34" charset="0"/>
                <a:ea typeface="Tahoma" pitchFamily="34" charset="0"/>
                <a:cs typeface="Tahoma" pitchFamily="34" charset="0"/>
              </a:rPr>
              <a:t>)</a:t>
            </a:r>
          </a:p>
          <a:p>
            <a:pPr lvl="1"/>
            <a:r>
              <a:rPr lang="en-US" sz="2400" smtClean="0">
                <a:solidFill>
                  <a:schemeClr val="tx1"/>
                </a:solidFill>
                <a:latin typeface="Tahoma" pitchFamily="34" charset="0"/>
                <a:ea typeface="Tahoma" pitchFamily="34" charset="0"/>
                <a:cs typeface="Tahoma" pitchFamily="34" charset="0"/>
              </a:rPr>
              <a:t>HTML </a:t>
            </a:r>
            <a:r>
              <a:rPr lang="en-US" sz="2400">
                <a:solidFill>
                  <a:schemeClr val="tx1"/>
                </a:solidFill>
                <a:latin typeface="Tahoma" pitchFamily="34" charset="0"/>
                <a:ea typeface="Tahoma" pitchFamily="34" charset="0"/>
                <a:cs typeface="Tahoma" pitchFamily="34" charset="0"/>
              </a:rPr>
              <a:t>combined with </a:t>
            </a:r>
            <a:r>
              <a:rPr lang="en-US" sz="2400" b="1">
                <a:solidFill>
                  <a:schemeClr val="tx1"/>
                </a:solidFill>
                <a:latin typeface="Tahoma" pitchFamily="34" charset="0"/>
                <a:ea typeface="Tahoma" pitchFamily="34" charset="0"/>
                <a:cs typeface="Tahoma" pitchFamily="34" charset="0"/>
              </a:rPr>
              <a:t>Extensible Markup Language (XML) </a:t>
            </a:r>
            <a:r>
              <a:rPr lang="en-US" sz="2400">
                <a:solidFill>
                  <a:schemeClr val="tx1"/>
                </a:solidFill>
                <a:latin typeface="Tahoma" pitchFamily="34" charset="0"/>
                <a:ea typeface="Tahoma" pitchFamily="34" charset="0"/>
                <a:cs typeface="Tahoma" pitchFamily="34" charset="0"/>
              </a:rPr>
              <a:t>to reduce the complexity of </a:t>
            </a:r>
            <a:r>
              <a:rPr lang="en-US" sz="2400" smtClean="0">
                <a:solidFill>
                  <a:schemeClr val="tx1"/>
                </a:solidFill>
                <a:latin typeface="Tahoma" pitchFamily="34" charset="0"/>
                <a:ea typeface="Tahoma" pitchFamily="34" charset="0"/>
                <a:cs typeface="Tahoma" pitchFamily="34" charset="0"/>
              </a:rPr>
              <a:t>HTML</a:t>
            </a:r>
            <a:endParaRPr lang="en-US" sz="2400">
              <a:solidFill>
                <a:schemeClr val="tx1"/>
              </a:solidFill>
              <a:latin typeface="Tahoma" pitchFamily="34" charset="0"/>
              <a:ea typeface="Tahoma" pitchFamily="34" charset="0"/>
              <a:cs typeface="Tahoma" pitchFamily="34" charset="0"/>
            </a:endParaRPr>
          </a:p>
          <a:p>
            <a:endParaRPr lang="en-US"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20</a:t>
            </a:fld>
            <a:endParaRPr kumimoji="0" lang="en-US"/>
          </a:p>
        </p:txBody>
      </p:sp>
    </p:spTree>
    <p:extLst>
      <p:ext uri="{BB962C8B-B14F-4D97-AF65-F5344CB8AC3E}">
        <p14:creationId xmlns:p14="http://schemas.microsoft.com/office/powerpoint/2010/main" val="1943197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21</a:t>
            </a:fld>
            <a:endParaRPr kumimoji="0"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43000" y="1752599"/>
            <a:ext cx="6629400" cy="4278923"/>
          </a:xfrm>
        </p:spPr>
      </p:pic>
    </p:spTree>
    <p:extLst>
      <p:ext uri="{BB962C8B-B14F-4D97-AF65-F5344CB8AC3E}">
        <p14:creationId xmlns:p14="http://schemas.microsoft.com/office/powerpoint/2010/main" val="1650290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31074" name="Content Placeholder 5"/>
          <p:cNvSpPr>
            <a:spLocks noGrp="1"/>
          </p:cNvSpPr>
          <p:nvPr>
            <p:ph idx="1"/>
          </p:nvPr>
        </p:nvSpPr>
        <p:spPr>
          <a:xfrm>
            <a:off x="762000" y="1600200"/>
            <a:ext cx="8382000" cy="4648200"/>
          </a:xfrm>
        </p:spPr>
        <p:txBody>
          <a:bodyPr>
            <a:noAutofit/>
          </a:bodyPr>
          <a:lstStyle/>
          <a:p>
            <a:pPr>
              <a:spcBef>
                <a:spcPct val="0"/>
              </a:spcBef>
            </a:pPr>
            <a:r>
              <a:rPr lang="en-US" sz="3200" b="1" smtClean="0">
                <a:solidFill>
                  <a:schemeClr val="tx1"/>
                </a:solidFill>
                <a:latin typeface="Tahoma" pitchFamily="34" charset="0"/>
                <a:ea typeface="Tahoma" pitchFamily="34" charset="0"/>
                <a:cs typeface="Tahoma" pitchFamily="34" charset="0"/>
              </a:rPr>
              <a:t>Distributed hypermedia system</a:t>
            </a:r>
          </a:p>
          <a:p>
            <a:pPr lvl="1">
              <a:spcBef>
                <a:spcPct val="0"/>
              </a:spcBef>
            </a:pPr>
            <a:r>
              <a:rPr lang="en-US" sz="2000" smtClean="0">
                <a:solidFill>
                  <a:schemeClr val="tx1"/>
                </a:solidFill>
                <a:latin typeface="Tahoma" pitchFamily="34" charset="0"/>
                <a:ea typeface="Tahoma" pitchFamily="34" charset="0"/>
                <a:cs typeface="Tahoma" pitchFamily="34" charset="0"/>
              </a:rPr>
              <a:t>Network-based content development system</a:t>
            </a:r>
          </a:p>
          <a:p>
            <a:pPr lvl="1">
              <a:spcBef>
                <a:spcPct val="0"/>
              </a:spcBef>
            </a:pPr>
            <a:r>
              <a:rPr lang="en-US" sz="2000" smtClean="0">
                <a:solidFill>
                  <a:schemeClr val="tx1"/>
                </a:solidFill>
                <a:latin typeface="Tahoma" pitchFamily="34" charset="0"/>
                <a:ea typeface="Tahoma" pitchFamily="34" charset="0"/>
                <a:cs typeface="Tahoma" pitchFamily="34" charset="0"/>
              </a:rPr>
              <a:t>Uses multimedia resources as a means to of navigation or illustration</a:t>
            </a:r>
          </a:p>
          <a:p>
            <a:pPr>
              <a:spcBef>
                <a:spcPct val="0"/>
              </a:spcBef>
            </a:pPr>
            <a:r>
              <a:rPr lang="en-US" sz="3200" b="1" smtClean="0">
                <a:solidFill>
                  <a:schemeClr val="tx1"/>
                </a:solidFill>
                <a:latin typeface="Tahoma" pitchFamily="34" charset="0"/>
                <a:ea typeface="Tahoma" pitchFamily="34" charset="0"/>
                <a:cs typeface="Tahoma" pitchFamily="34" charset="0"/>
              </a:rPr>
              <a:t>Web 2.0</a:t>
            </a:r>
          </a:p>
          <a:p>
            <a:pPr lvl="1">
              <a:spcBef>
                <a:spcPct val="0"/>
              </a:spcBef>
            </a:pPr>
            <a:r>
              <a:rPr lang="en-US" sz="2000" smtClean="0">
                <a:solidFill>
                  <a:schemeClr val="tx1"/>
                </a:solidFill>
                <a:latin typeface="Tahoma" pitchFamily="34" charset="0"/>
                <a:ea typeface="Tahoma" pitchFamily="34" charset="0"/>
                <a:cs typeface="Tahoma" pitchFamily="34" charset="0"/>
              </a:rPr>
              <a:t>Current generation of the Web</a:t>
            </a:r>
          </a:p>
          <a:p>
            <a:pPr lvl="1">
              <a:spcBef>
                <a:spcPct val="0"/>
              </a:spcBef>
            </a:pPr>
            <a:r>
              <a:rPr lang="en-US" sz="2000" smtClean="0">
                <a:solidFill>
                  <a:schemeClr val="tx1"/>
                </a:solidFill>
                <a:latin typeface="Tahoma" pitchFamily="34" charset="0"/>
                <a:ea typeface="Tahoma" pitchFamily="34" charset="0"/>
                <a:cs typeface="Tahoma" pitchFamily="34" charset="0"/>
              </a:rPr>
              <a:t>Provides opportunities to collaborate, interface, and create new content using blogs, Wikis, and podcasts</a:t>
            </a:r>
          </a:p>
          <a:p>
            <a:pPr>
              <a:spcBef>
                <a:spcPct val="0"/>
              </a:spcBef>
            </a:pPr>
            <a:r>
              <a:rPr lang="en-US" sz="3200" b="1" smtClean="0">
                <a:solidFill>
                  <a:schemeClr val="tx1"/>
                </a:solidFill>
                <a:latin typeface="Tahoma" pitchFamily="34" charset="0"/>
                <a:ea typeface="Tahoma" pitchFamily="34" charset="0"/>
                <a:cs typeface="Tahoma" pitchFamily="34" charset="0"/>
              </a:rPr>
              <a:t>Some issues with Web distribution include:</a:t>
            </a:r>
          </a:p>
          <a:p>
            <a:pPr lvl="1">
              <a:spcBef>
                <a:spcPct val="0"/>
              </a:spcBef>
            </a:pPr>
            <a:r>
              <a:rPr lang="en-US" sz="2000" smtClean="0">
                <a:solidFill>
                  <a:schemeClr val="tx1"/>
                </a:solidFill>
                <a:latin typeface="Tahoma" pitchFamily="34" charset="0"/>
                <a:ea typeface="Tahoma" pitchFamily="34" charset="0"/>
                <a:cs typeface="Tahoma" pitchFamily="34" charset="0"/>
              </a:rPr>
              <a:t>Dead links (also known as broken links)</a:t>
            </a:r>
          </a:p>
          <a:p>
            <a:pPr lvl="1">
              <a:spcBef>
                <a:spcPct val="0"/>
              </a:spcBef>
            </a:pPr>
            <a:r>
              <a:rPr lang="en-US" sz="2000" smtClean="0">
                <a:solidFill>
                  <a:schemeClr val="tx1"/>
                </a:solidFill>
                <a:latin typeface="Tahoma" pitchFamily="34" charset="0"/>
                <a:ea typeface="Tahoma" pitchFamily="34" charset="0"/>
                <a:cs typeface="Tahoma" pitchFamily="34" charset="0"/>
              </a:rPr>
              <a:t>Information posted on the Web is not validated.</a:t>
            </a:r>
          </a:p>
          <a:p>
            <a:pPr lvl="1">
              <a:spcBef>
                <a:spcPct val="0"/>
              </a:spcBef>
            </a:pPr>
            <a:r>
              <a:rPr lang="en-US" sz="2000" smtClean="0">
                <a:solidFill>
                  <a:schemeClr val="tx1"/>
                </a:solidFill>
                <a:latin typeface="Tahoma" pitchFamily="34" charset="0"/>
                <a:ea typeface="Tahoma" pitchFamily="34" charset="0"/>
                <a:cs typeface="Tahoma" pitchFamily="34" charset="0"/>
              </a:rPr>
              <a:t>Information overload due to too much data</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22</a:t>
            </a:fld>
            <a:endParaRPr kumimoji="0" lang="en-US"/>
          </a:p>
        </p:txBody>
      </p:sp>
    </p:spTree>
    <p:extLst>
      <p:ext uri="{BB962C8B-B14F-4D97-AF65-F5344CB8AC3E}">
        <p14:creationId xmlns:p14="http://schemas.microsoft.com/office/powerpoint/2010/main" val="14795917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31074" name="Content Placeholder 5"/>
          <p:cNvSpPr>
            <a:spLocks noGrp="1"/>
          </p:cNvSpPr>
          <p:nvPr>
            <p:ph idx="1"/>
          </p:nvPr>
        </p:nvSpPr>
        <p:spPr>
          <a:xfrm>
            <a:off x="762000" y="1524000"/>
            <a:ext cx="7772400" cy="4495800"/>
          </a:xfrm>
        </p:spPr>
        <p:txBody>
          <a:bodyPr>
            <a:normAutofit/>
          </a:bodyPr>
          <a:lstStyle/>
          <a:p>
            <a:pPr>
              <a:spcBef>
                <a:spcPct val="0"/>
              </a:spcBef>
            </a:pPr>
            <a:r>
              <a:rPr lang="en-US" sz="3200" b="1" smtClean="0">
                <a:solidFill>
                  <a:schemeClr val="tx1"/>
                </a:solidFill>
                <a:latin typeface="Tahoma" pitchFamily="34" charset="0"/>
                <a:ea typeface="Tahoma" pitchFamily="34" charset="0"/>
                <a:cs typeface="Tahoma" pitchFamily="34" charset="0"/>
              </a:rPr>
              <a:t>The most popular Web browsers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23</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2362200"/>
            <a:ext cx="6629400" cy="3238162"/>
          </a:xfrm>
          <a:prstGeom prst="rect">
            <a:avLst/>
          </a:prstGeom>
        </p:spPr>
      </p:pic>
    </p:spTree>
    <p:extLst>
      <p:ext uri="{BB962C8B-B14F-4D97-AF65-F5344CB8AC3E}">
        <p14:creationId xmlns:p14="http://schemas.microsoft.com/office/powerpoint/2010/main" val="32738429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31074" name="Content Placeholder 5"/>
          <p:cNvSpPr>
            <a:spLocks noGrp="1"/>
          </p:cNvSpPr>
          <p:nvPr>
            <p:ph idx="1"/>
          </p:nvPr>
        </p:nvSpPr>
        <p:spPr>
          <a:xfrm>
            <a:off x="685800" y="1600200"/>
            <a:ext cx="8458200" cy="4724400"/>
          </a:xfrm>
        </p:spPr>
        <p:txBody>
          <a:bodyPr>
            <a:no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Plug-ins</a:t>
            </a:r>
          </a:p>
          <a:p>
            <a:pPr lvl="1">
              <a:spcBef>
                <a:spcPct val="0"/>
              </a:spcBef>
            </a:pPr>
            <a:r>
              <a:rPr lang="en-US" sz="2000" smtClean="0">
                <a:solidFill>
                  <a:schemeClr val="tx1"/>
                </a:solidFill>
                <a:latin typeface="Tahoma" pitchFamily="34" charset="0"/>
                <a:ea typeface="Tahoma" pitchFamily="34" charset="0"/>
                <a:cs typeface="Tahoma" pitchFamily="34" charset="0"/>
              </a:rPr>
              <a:t>Additional software programs to extend the ability of the browser</a:t>
            </a:r>
          </a:p>
          <a:p>
            <a:pPr lvl="1">
              <a:spcBef>
                <a:spcPct val="0"/>
              </a:spcBef>
            </a:pPr>
            <a:r>
              <a:rPr lang="en-US" sz="2000" smtClean="0">
                <a:solidFill>
                  <a:schemeClr val="tx1"/>
                </a:solidFill>
                <a:latin typeface="Tahoma" pitchFamily="34" charset="0"/>
                <a:ea typeface="Tahoma" pitchFamily="34" charset="0"/>
                <a:cs typeface="Tahoma" pitchFamily="34" charset="0"/>
              </a:rPr>
              <a:t>Examples:</a:t>
            </a:r>
          </a:p>
          <a:p>
            <a:pPr lvl="2">
              <a:spcBef>
                <a:spcPct val="0"/>
              </a:spcBef>
            </a:pPr>
            <a:r>
              <a:rPr lang="en-US" sz="2000" smtClean="0">
                <a:solidFill>
                  <a:schemeClr val="tx1"/>
                </a:solidFill>
                <a:latin typeface="Tahoma" pitchFamily="34" charset="0"/>
                <a:ea typeface="Tahoma" pitchFamily="34" charset="0"/>
                <a:cs typeface="Tahoma" pitchFamily="34" charset="0"/>
              </a:rPr>
              <a:t>Acrobat Reader</a:t>
            </a:r>
          </a:p>
          <a:p>
            <a:pPr lvl="2">
              <a:spcBef>
                <a:spcPct val="0"/>
              </a:spcBef>
            </a:pPr>
            <a:r>
              <a:rPr lang="en-US" sz="2000" smtClean="0">
                <a:solidFill>
                  <a:schemeClr val="tx1"/>
                </a:solidFill>
                <a:latin typeface="Tahoma" pitchFamily="34" charset="0"/>
                <a:ea typeface="Tahoma" pitchFamily="34" charset="0"/>
                <a:cs typeface="Tahoma" pitchFamily="34" charset="0"/>
              </a:rPr>
              <a:t>Adobe Flash Player</a:t>
            </a:r>
          </a:p>
          <a:p>
            <a:pPr lvl="2">
              <a:spcBef>
                <a:spcPct val="0"/>
              </a:spcBef>
            </a:pPr>
            <a:r>
              <a:rPr lang="en-US" sz="2000" smtClean="0">
                <a:solidFill>
                  <a:schemeClr val="tx1"/>
                </a:solidFill>
                <a:latin typeface="Tahoma" pitchFamily="34" charset="0"/>
                <a:ea typeface="Tahoma" pitchFamily="34" charset="0"/>
                <a:cs typeface="Tahoma" pitchFamily="34" charset="0"/>
              </a:rPr>
              <a:t>Adobe Shockwave Player</a:t>
            </a:r>
          </a:p>
          <a:p>
            <a:pPr lvl="2">
              <a:spcBef>
                <a:spcPct val="0"/>
              </a:spcBef>
            </a:pPr>
            <a:r>
              <a:rPr lang="en-US" sz="2000" smtClean="0">
                <a:solidFill>
                  <a:schemeClr val="tx1"/>
                </a:solidFill>
                <a:latin typeface="Tahoma" pitchFamily="34" charset="0"/>
                <a:ea typeface="Tahoma" pitchFamily="34" charset="0"/>
                <a:cs typeface="Tahoma" pitchFamily="34" charset="0"/>
              </a:rPr>
              <a:t>Apple QuickTime</a:t>
            </a:r>
          </a:p>
          <a:p>
            <a:pPr lvl="2">
              <a:spcBef>
                <a:spcPct val="0"/>
              </a:spcBef>
            </a:pPr>
            <a:r>
              <a:rPr lang="en-US" sz="2000" smtClean="0">
                <a:solidFill>
                  <a:schemeClr val="tx1"/>
                </a:solidFill>
                <a:latin typeface="Tahoma" pitchFamily="34" charset="0"/>
                <a:ea typeface="Tahoma" pitchFamily="34" charset="0"/>
                <a:cs typeface="Tahoma" pitchFamily="34" charset="0"/>
              </a:rPr>
              <a:t>Real Player</a:t>
            </a:r>
          </a:p>
          <a:p>
            <a:pPr lvl="2">
              <a:spcBef>
                <a:spcPct val="0"/>
              </a:spcBef>
            </a:pPr>
            <a:r>
              <a:rPr lang="en-US" sz="2000" smtClean="0">
                <a:solidFill>
                  <a:schemeClr val="tx1"/>
                </a:solidFill>
                <a:latin typeface="Tahoma" pitchFamily="34" charset="0"/>
                <a:ea typeface="Tahoma" pitchFamily="34" charset="0"/>
                <a:cs typeface="Tahoma" pitchFamily="34" charset="0"/>
              </a:rPr>
              <a:t>Windows Media Player</a:t>
            </a:r>
          </a:p>
          <a:p>
            <a:pPr>
              <a:spcBef>
                <a:spcPct val="0"/>
              </a:spcBef>
            </a:pPr>
            <a:r>
              <a:rPr lang="en-US" sz="3600" b="1">
                <a:solidFill>
                  <a:schemeClr val="tx1"/>
                </a:solidFill>
                <a:latin typeface="Tahoma" pitchFamily="34" charset="0"/>
                <a:ea typeface="Tahoma" pitchFamily="34" charset="0"/>
                <a:cs typeface="Tahoma" pitchFamily="34" charset="0"/>
              </a:rPr>
              <a:t>B</a:t>
            </a:r>
            <a:r>
              <a:rPr lang="en-US" sz="3600" b="1" smtClean="0">
                <a:solidFill>
                  <a:schemeClr val="tx1"/>
                </a:solidFill>
                <a:latin typeface="Tahoma" pitchFamily="34" charset="0"/>
                <a:ea typeface="Tahoma" pitchFamily="34" charset="0"/>
                <a:cs typeface="Tahoma" pitchFamily="34" charset="0"/>
              </a:rPr>
              <a:t>rowser cache</a:t>
            </a:r>
          </a:p>
          <a:p>
            <a:pPr lvl="1">
              <a:spcBef>
                <a:spcPct val="0"/>
              </a:spcBef>
            </a:pPr>
            <a:r>
              <a:rPr lang="en-US" sz="2000" smtClean="0">
                <a:solidFill>
                  <a:schemeClr val="tx1"/>
                </a:solidFill>
                <a:latin typeface="Tahoma" pitchFamily="34" charset="0"/>
                <a:ea typeface="Tahoma" pitchFamily="34" charset="0"/>
                <a:cs typeface="Tahoma" pitchFamily="34" charset="0"/>
              </a:rPr>
              <a:t>Stores Web page files and graphics on a computer hard drive when the user visits a site for the first time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24</a:t>
            </a:fld>
            <a:endParaRPr kumimoji="0" lang="en-US"/>
          </a:p>
        </p:txBody>
      </p:sp>
    </p:spTree>
    <p:extLst>
      <p:ext uri="{BB962C8B-B14F-4D97-AF65-F5344CB8AC3E}">
        <p14:creationId xmlns:p14="http://schemas.microsoft.com/office/powerpoint/2010/main" val="14795917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 y="1676399"/>
            <a:ext cx="8001000" cy="4559793"/>
          </a:xfrm>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25</a:t>
            </a:fld>
            <a:endParaRPr kumimoji="0" lang="en-US"/>
          </a:p>
        </p:txBody>
      </p:sp>
    </p:spTree>
    <p:extLst>
      <p:ext uri="{BB962C8B-B14F-4D97-AF65-F5344CB8AC3E}">
        <p14:creationId xmlns:p14="http://schemas.microsoft.com/office/powerpoint/2010/main" val="14795917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The Internet and the Web: What’s the Difference?</a:t>
            </a:r>
          </a:p>
        </p:txBody>
      </p:sp>
      <p:sp>
        <p:nvSpPr>
          <p:cNvPr id="131074" name="Content Placeholder 5"/>
          <p:cNvSpPr>
            <a:spLocks noGrp="1"/>
          </p:cNvSpPr>
          <p:nvPr>
            <p:ph idx="1"/>
          </p:nvPr>
        </p:nvSpPr>
        <p:spPr>
          <a:xfrm>
            <a:off x="762000" y="1905000"/>
            <a:ext cx="7772400" cy="4114800"/>
          </a:xfrm>
        </p:spPr>
        <p:txBody>
          <a:bodyPr>
            <a:normAutofit/>
          </a:bodyPr>
          <a:lstStyle/>
          <a:p>
            <a:pPr>
              <a:spcBef>
                <a:spcPct val="0"/>
              </a:spcBef>
            </a:pPr>
            <a:r>
              <a:rPr lang="en-US" sz="3600" b="1">
                <a:solidFill>
                  <a:schemeClr val="tx1"/>
                </a:solidFill>
                <a:latin typeface="Tahoma" pitchFamily="34" charset="0"/>
                <a:ea typeface="Tahoma" pitchFamily="34" charset="0"/>
                <a:cs typeface="Tahoma" pitchFamily="34" charset="0"/>
              </a:rPr>
              <a:t>Web </a:t>
            </a:r>
            <a:r>
              <a:rPr lang="en-US" sz="3600" b="1" smtClean="0">
                <a:solidFill>
                  <a:schemeClr val="tx1"/>
                </a:solidFill>
                <a:latin typeface="Tahoma" pitchFamily="34" charset="0"/>
                <a:ea typeface="Tahoma" pitchFamily="34" charset="0"/>
                <a:cs typeface="Tahoma" pitchFamily="34" charset="0"/>
              </a:rPr>
              <a:t>servers</a:t>
            </a:r>
          </a:p>
          <a:p>
            <a:pPr lvl="1">
              <a:spcBef>
                <a:spcPct val="0"/>
              </a:spcBef>
            </a:pPr>
            <a:r>
              <a:rPr lang="en-US" sz="2400" smtClean="0">
                <a:solidFill>
                  <a:schemeClr val="tx1"/>
                </a:solidFill>
                <a:latin typeface="Tahoma" pitchFamily="34" charset="0"/>
                <a:ea typeface="Tahoma" pitchFamily="34" charset="0"/>
                <a:cs typeface="Tahoma" pitchFamily="34" charset="0"/>
              </a:rPr>
              <a:t>Web sites and their associated information are stored here</a:t>
            </a:r>
          </a:p>
          <a:p>
            <a:pPr lvl="1">
              <a:spcBef>
                <a:spcPct val="0"/>
              </a:spcBef>
            </a:pPr>
            <a:r>
              <a:rPr lang="en-US" sz="2400" smtClean="0">
                <a:solidFill>
                  <a:schemeClr val="tx1"/>
                </a:solidFill>
                <a:latin typeface="Tahoma" pitchFamily="34" charset="0"/>
                <a:ea typeface="Tahoma" pitchFamily="34" charset="0"/>
                <a:cs typeface="Tahoma" pitchFamily="34" charset="0"/>
              </a:rPr>
              <a:t>Used to recognize information requests, process the requests, and send the requested documents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26</a:t>
            </a:fld>
            <a:endParaRPr kumimoji="0" lang="en-US"/>
          </a:p>
        </p:txBody>
      </p:sp>
    </p:spTree>
    <p:extLst>
      <p:ext uri="{BB962C8B-B14F-4D97-AF65-F5344CB8AC3E}">
        <p14:creationId xmlns:p14="http://schemas.microsoft.com/office/powerpoint/2010/main" val="1072109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Finding Information</a:t>
            </a:r>
            <a:br>
              <a:rPr lang="en-US" smtClean="0"/>
            </a:br>
            <a:r>
              <a:rPr lang="en-US" smtClean="0"/>
              <a:t>on the Web</a:t>
            </a:r>
          </a:p>
        </p:txBody>
      </p:sp>
      <p:sp>
        <p:nvSpPr>
          <p:cNvPr id="133122" name="Content Placeholder 5"/>
          <p:cNvSpPr>
            <a:spLocks noGrp="1"/>
          </p:cNvSpPr>
          <p:nvPr>
            <p:ph idx="1"/>
          </p:nvPr>
        </p:nvSpPr>
        <p:spPr>
          <a:xfrm>
            <a:off x="762000" y="1905000"/>
            <a:ext cx="7772400" cy="4114800"/>
          </a:xfrm>
        </p:spPr>
        <p:txBody>
          <a:bodyPr>
            <a:normAutofit/>
          </a:bodyPr>
          <a:lstStyle/>
          <a:p>
            <a:pPr>
              <a:spcBef>
                <a:spcPct val="0"/>
              </a:spcBef>
            </a:pPr>
            <a:r>
              <a:rPr lang="en-US" sz="2800" b="1">
                <a:solidFill>
                  <a:schemeClr val="tx1"/>
                </a:solidFill>
                <a:latin typeface="Tahoma" pitchFamily="34" charset="0"/>
                <a:ea typeface="Tahoma" pitchFamily="34" charset="0"/>
                <a:cs typeface="Tahoma" pitchFamily="34" charset="0"/>
              </a:rPr>
              <a:t>Internet Protocol (IP) </a:t>
            </a:r>
            <a:r>
              <a:rPr lang="en-US" sz="2800" b="1" smtClean="0">
                <a:solidFill>
                  <a:schemeClr val="tx1"/>
                </a:solidFill>
                <a:latin typeface="Tahoma" pitchFamily="34" charset="0"/>
                <a:ea typeface="Tahoma" pitchFamily="34" charset="0"/>
                <a:cs typeface="Tahoma" pitchFamily="34" charset="0"/>
              </a:rPr>
              <a:t>address</a:t>
            </a:r>
          </a:p>
          <a:p>
            <a:pPr lvl="1">
              <a:spcBef>
                <a:spcPct val="0"/>
              </a:spcBef>
            </a:pPr>
            <a:r>
              <a:rPr lang="en-US" sz="2000" smtClean="0">
                <a:solidFill>
                  <a:schemeClr val="tx1"/>
                </a:solidFill>
                <a:latin typeface="Tahoma" pitchFamily="34" charset="0"/>
                <a:ea typeface="Tahoma" pitchFamily="34" charset="0"/>
                <a:cs typeface="Tahoma" pitchFamily="34" charset="0"/>
              </a:rPr>
              <a:t>Every device connected to the Internet, including PCs and servers, is given a unique network identifier</a:t>
            </a:r>
          </a:p>
          <a:p>
            <a:pPr lvl="1">
              <a:spcBef>
                <a:spcPct val="0"/>
              </a:spcBef>
            </a:pPr>
            <a:r>
              <a:rPr lang="en-US" sz="2000" smtClean="0">
                <a:solidFill>
                  <a:schemeClr val="tx1"/>
                </a:solidFill>
                <a:latin typeface="Tahoma" pitchFamily="34" charset="0"/>
                <a:ea typeface="Tahoma" pitchFamily="34" charset="0"/>
                <a:cs typeface="Tahoma" pitchFamily="34" charset="0"/>
              </a:rPr>
              <a:t>Numerical identification and logical address</a:t>
            </a:r>
          </a:p>
          <a:p>
            <a:pPr>
              <a:spcBef>
                <a:spcPct val="0"/>
              </a:spcBef>
            </a:pPr>
            <a:r>
              <a:rPr lang="en-US" sz="2800" b="1">
                <a:solidFill>
                  <a:schemeClr val="tx1"/>
                </a:solidFill>
                <a:latin typeface="Tahoma" pitchFamily="34" charset="0"/>
                <a:ea typeface="Tahoma" pitchFamily="34" charset="0"/>
                <a:cs typeface="Tahoma" pitchFamily="34" charset="0"/>
              </a:rPr>
              <a:t>Uniform Resource Locator (URL</a:t>
            </a:r>
            <a:r>
              <a:rPr lang="en-US" sz="2800" b="1" smtClean="0">
                <a:solidFill>
                  <a:schemeClr val="tx1"/>
                </a:solidFill>
                <a:latin typeface="Tahoma" pitchFamily="34" charset="0"/>
                <a:ea typeface="Tahoma" pitchFamily="34" charset="0"/>
                <a:cs typeface="Tahoma" pitchFamily="34" charset="0"/>
              </a:rPr>
              <a:t>)</a:t>
            </a:r>
          </a:p>
          <a:p>
            <a:pPr lvl="1">
              <a:spcBef>
                <a:spcPct val="0"/>
              </a:spcBef>
            </a:pPr>
            <a:r>
              <a:rPr lang="en-US" sz="2000" smtClean="0">
                <a:solidFill>
                  <a:schemeClr val="tx1"/>
                </a:solidFill>
                <a:latin typeface="Tahoma" pitchFamily="34" charset="0"/>
                <a:ea typeface="Tahoma" pitchFamily="34" charset="0"/>
                <a:cs typeface="Tahoma" pitchFamily="34" charset="0"/>
              </a:rPr>
              <a:t>Identifies Internet resource’s type and location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27</a:t>
            </a:fld>
            <a:endParaRPr kumimoji="0" lang="en-US"/>
          </a:p>
        </p:txBody>
      </p:sp>
    </p:spTree>
    <p:extLst>
      <p:ext uri="{BB962C8B-B14F-4D97-AF65-F5344CB8AC3E}">
        <p14:creationId xmlns:p14="http://schemas.microsoft.com/office/powerpoint/2010/main" val="3453577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135170" name="Content Placeholder 5"/>
          <p:cNvSpPr>
            <a:spLocks noGrp="1"/>
          </p:cNvSpPr>
          <p:nvPr>
            <p:ph idx="1"/>
          </p:nvPr>
        </p:nvSpPr>
        <p:spPr>
          <a:xfrm>
            <a:off x="762000" y="1905000"/>
            <a:ext cx="7772400" cy="41148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Complete URL is made up of the Hypertext Transfer Protocol (HTTP), domain name, path, and resource name.</a:t>
            </a:r>
          </a:p>
          <a:p>
            <a:pPr>
              <a:spcBef>
                <a:spcPct val="0"/>
              </a:spcBef>
              <a:buFont typeface="Wingdings" pitchFamily="2" charset="2"/>
              <a:buNone/>
            </a:pPr>
            <a:endParaRPr lang="en-US" sz="32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28</a:t>
            </a:fld>
            <a:endParaRPr kumimoji="0" lang="en-US"/>
          </a:p>
        </p:txBody>
      </p:sp>
    </p:spTree>
    <p:extLst>
      <p:ext uri="{BB962C8B-B14F-4D97-AF65-F5344CB8AC3E}">
        <p14:creationId xmlns:p14="http://schemas.microsoft.com/office/powerpoint/2010/main" val="1178063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137218" name="Content Placeholder 9"/>
          <p:cNvSpPr>
            <a:spLocks noGrp="1"/>
          </p:cNvSpPr>
          <p:nvPr>
            <p:ph idx="1"/>
          </p:nvPr>
        </p:nvSpPr>
        <p:spPr>
          <a:xfrm>
            <a:off x="762000" y="1905000"/>
            <a:ext cx="8382000" cy="4495800"/>
          </a:xfrm>
        </p:spPr>
        <p:txBody>
          <a:bodyPr>
            <a:normAutofit/>
          </a:bodyPr>
          <a:lstStyle/>
          <a:p>
            <a:r>
              <a:rPr lang="en-US" sz="3600" b="1" smtClean="0">
                <a:solidFill>
                  <a:schemeClr val="tx1"/>
                </a:solidFill>
                <a:latin typeface="Tahoma" pitchFamily="34" charset="0"/>
                <a:ea typeface="Tahoma" pitchFamily="34" charset="0"/>
                <a:cs typeface="Tahoma" pitchFamily="34" charset="0"/>
              </a:rPr>
              <a:t>Surfing the Web</a:t>
            </a:r>
          </a:p>
          <a:p>
            <a:pPr lvl="1"/>
            <a:r>
              <a:rPr lang="en-US" sz="2400" smtClean="0">
                <a:solidFill>
                  <a:schemeClr val="tx1"/>
                </a:solidFill>
                <a:latin typeface="Tahoma" pitchFamily="34" charset="0"/>
                <a:ea typeface="Tahoma" pitchFamily="34" charset="0"/>
                <a:cs typeface="Tahoma" pitchFamily="34" charset="0"/>
              </a:rPr>
              <a:t>Type a URL into the address bar</a:t>
            </a:r>
          </a:p>
          <a:p>
            <a:pPr lvl="1"/>
            <a:r>
              <a:rPr lang="en-US" sz="2400" smtClean="0">
                <a:solidFill>
                  <a:schemeClr val="tx1"/>
                </a:solidFill>
                <a:latin typeface="Tahoma" pitchFamily="34" charset="0"/>
                <a:ea typeface="Tahoma" pitchFamily="34" charset="0"/>
                <a:cs typeface="Tahoma" pitchFamily="34" charset="0"/>
              </a:rPr>
              <a:t>Click a tab in the browser window</a:t>
            </a:r>
          </a:p>
          <a:p>
            <a:pPr lvl="1"/>
            <a:r>
              <a:rPr lang="en-US" sz="2400" smtClean="0">
                <a:solidFill>
                  <a:schemeClr val="tx1"/>
                </a:solidFill>
                <a:latin typeface="Tahoma" pitchFamily="34" charset="0"/>
                <a:ea typeface="Tahoma" pitchFamily="34" charset="0"/>
                <a:cs typeface="Tahoma" pitchFamily="34" charset="0"/>
              </a:rPr>
              <a:t>Click a hyperlink</a:t>
            </a:r>
          </a:p>
          <a:p>
            <a:r>
              <a:rPr lang="en-US" sz="3600" b="1" smtClean="0">
                <a:solidFill>
                  <a:schemeClr val="tx1"/>
                </a:solidFill>
                <a:latin typeface="Tahoma" pitchFamily="34" charset="0"/>
                <a:ea typeface="Tahoma" pitchFamily="34" charset="0"/>
                <a:cs typeface="Tahoma" pitchFamily="34" charset="0"/>
              </a:rPr>
              <a:t>History list</a:t>
            </a:r>
          </a:p>
          <a:p>
            <a:pPr lvl="1"/>
            <a:r>
              <a:rPr lang="en-US" sz="2400" smtClean="0">
                <a:solidFill>
                  <a:schemeClr val="tx1"/>
                </a:solidFill>
                <a:latin typeface="Tahoma" pitchFamily="34" charset="0"/>
                <a:ea typeface="Tahoma" pitchFamily="34" charset="0"/>
                <a:cs typeface="Tahoma" pitchFamily="34" charset="0"/>
              </a:rPr>
              <a:t>Compiles a list of the Web pages visited</a:t>
            </a:r>
          </a:p>
          <a:p>
            <a:r>
              <a:rPr lang="en-US" sz="3600" b="1" smtClean="0">
                <a:solidFill>
                  <a:schemeClr val="tx1"/>
                </a:solidFill>
                <a:latin typeface="Tahoma" pitchFamily="34" charset="0"/>
                <a:ea typeface="Tahoma" pitchFamily="34" charset="0"/>
                <a:cs typeface="Tahoma" pitchFamily="34" charset="0"/>
              </a:rPr>
              <a:t>Favorites or Bookmarks feature</a:t>
            </a:r>
          </a:p>
          <a:p>
            <a:pPr lvl="1"/>
            <a:r>
              <a:rPr lang="en-US" sz="2400">
                <a:solidFill>
                  <a:schemeClr val="tx1"/>
                </a:solidFill>
                <a:latin typeface="Tahoma" pitchFamily="34" charset="0"/>
                <a:ea typeface="Tahoma" pitchFamily="34" charset="0"/>
                <a:cs typeface="Tahoma" pitchFamily="34" charset="0"/>
              </a:rPr>
              <a:t>A</a:t>
            </a:r>
            <a:r>
              <a:rPr lang="en-US" sz="2400" smtClean="0">
                <a:solidFill>
                  <a:schemeClr val="tx1"/>
                </a:solidFill>
                <a:latin typeface="Tahoma" pitchFamily="34" charset="0"/>
                <a:ea typeface="Tahoma" pitchFamily="34" charset="0"/>
                <a:cs typeface="Tahoma" pitchFamily="34" charset="0"/>
              </a:rPr>
              <a:t>llows Web pages visited often to be marked</a:t>
            </a:r>
          </a:p>
          <a:p>
            <a:pPr lvl="1"/>
            <a:endParaRPr lang="en-US" sz="1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29</a:t>
            </a:fld>
            <a:endParaRPr kumimoji="0" lang="en-US"/>
          </a:p>
        </p:txBody>
      </p:sp>
    </p:spTree>
    <p:extLst>
      <p:ext uri="{BB962C8B-B14F-4D97-AF65-F5344CB8AC3E}">
        <p14:creationId xmlns:p14="http://schemas.microsoft.com/office/powerpoint/2010/main" val="17153525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30</a:t>
            </a:fld>
            <a:endParaRPr kumimoji="0" lang="en-US"/>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2000" y="1828800"/>
            <a:ext cx="7391400" cy="4109784"/>
          </a:xfrm>
        </p:spPr>
      </p:pic>
    </p:spTree>
    <p:extLst>
      <p:ext uri="{BB962C8B-B14F-4D97-AF65-F5344CB8AC3E}">
        <p14:creationId xmlns:p14="http://schemas.microsoft.com/office/powerpoint/2010/main" val="11849630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141316" name="Content Placeholder 6"/>
          <p:cNvSpPr>
            <a:spLocks noGrp="1"/>
          </p:cNvSpPr>
          <p:nvPr>
            <p:ph idx="1"/>
          </p:nvPr>
        </p:nvSpPr>
        <p:spPr>
          <a:xfrm>
            <a:off x="762000" y="1905000"/>
            <a:ext cx="8382000" cy="4114800"/>
          </a:xfrm>
        </p:spPr>
        <p:txBody>
          <a:bodyPr>
            <a:normAutofit/>
          </a:bodyPr>
          <a:lstStyle/>
          <a:p>
            <a:r>
              <a:rPr lang="en-US" sz="3600" b="1" smtClean="0">
                <a:solidFill>
                  <a:schemeClr val="tx1"/>
                </a:solidFill>
                <a:latin typeface="Tahoma" pitchFamily="34" charset="0"/>
                <a:ea typeface="Tahoma" pitchFamily="34" charset="0"/>
                <a:cs typeface="Tahoma" pitchFamily="34" charset="0"/>
              </a:rPr>
              <a:t>Downloading</a:t>
            </a:r>
          </a:p>
          <a:p>
            <a:pPr lvl="1"/>
            <a:r>
              <a:rPr lang="en-US" sz="2400" smtClean="0">
                <a:solidFill>
                  <a:schemeClr val="tx1"/>
                </a:solidFill>
                <a:latin typeface="Tahoma" pitchFamily="34" charset="0"/>
                <a:ea typeface="Tahoma" pitchFamily="34" charset="0"/>
                <a:cs typeface="Tahoma" pitchFamily="34" charset="0"/>
              </a:rPr>
              <a:t>Process of transferring a file or document from one computer to user’s computer</a:t>
            </a:r>
          </a:p>
          <a:p>
            <a:r>
              <a:rPr lang="en-US" sz="3600" b="1" smtClean="0">
                <a:solidFill>
                  <a:schemeClr val="tx1"/>
                </a:solidFill>
                <a:latin typeface="Tahoma" pitchFamily="34" charset="0"/>
                <a:ea typeface="Tahoma" pitchFamily="34" charset="0"/>
                <a:cs typeface="Tahoma" pitchFamily="34" charset="0"/>
              </a:rPr>
              <a:t>Uploading</a:t>
            </a:r>
            <a:endParaRPr lang="en-US" sz="3600" smtClean="0">
              <a:solidFill>
                <a:schemeClr val="tx1"/>
              </a:solidFill>
              <a:latin typeface="Tahoma" pitchFamily="34" charset="0"/>
              <a:ea typeface="Tahoma" pitchFamily="34" charset="0"/>
              <a:cs typeface="Tahoma" pitchFamily="34" charset="0"/>
            </a:endParaRPr>
          </a:p>
          <a:p>
            <a:pPr lvl="1"/>
            <a:r>
              <a:rPr lang="en-US" sz="2400" smtClean="0">
                <a:solidFill>
                  <a:schemeClr val="tx1"/>
                </a:solidFill>
                <a:latin typeface="Tahoma" pitchFamily="34" charset="0"/>
                <a:ea typeface="Tahoma" pitchFamily="34" charset="0"/>
                <a:cs typeface="Tahoma" pitchFamily="34" charset="0"/>
              </a:rPr>
              <a:t>Process of transferring a file or document from user’s computer to another computer</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31</a:t>
            </a:fld>
            <a:endParaRPr kumimoji="0" lang="en-US"/>
          </a:p>
        </p:txBody>
      </p:sp>
    </p:spTree>
    <p:extLst>
      <p:ext uri="{BB962C8B-B14F-4D97-AF65-F5344CB8AC3E}">
        <p14:creationId xmlns:p14="http://schemas.microsoft.com/office/powerpoint/2010/main" val="2441191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32</a:t>
            </a:fld>
            <a:endParaRPr kumimoji="0" lang="en-US"/>
          </a:p>
        </p:txBody>
      </p:sp>
      <p:sp>
        <p:nvSpPr>
          <p:cNvPr id="4" name="Content Placeholder 3"/>
          <p:cNvSpPr>
            <a:spLocks noGrp="1"/>
          </p:cNvSpPr>
          <p:nvPr>
            <p:ph idx="1"/>
          </p:nvPr>
        </p:nvSpPr>
        <p:spPr>
          <a:xfrm>
            <a:off x="762000" y="1600200"/>
            <a:ext cx="8382000" cy="4830763"/>
          </a:xfrm>
        </p:spPr>
        <p:txBody>
          <a:bodyPr>
            <a:normAutofit/>
          </a:bodyPr>
          <a:lstStyle/>
          <a:p>
            <a:r>
              <a:rPr lang="en-US" sz="3600" b="1">
                <a:solidFill>
                  <a:schemeClr val="tx1"/>
                </a:solidFill>
                <a:latin typeface="Tahoma" pitchFamily="34" charset="0"/>
                <a:ea typeface="Tahoma" pitchFamily="34" charset="0"/>
                <a:cs typeface="Tahoma" pitchFamily="34" charset="0"/>
              </a:rPr>
              <a:t>Really Simple Syndication (</a:t>
            </a:r>
            <a:r>
              <a:rPr lang="en-US" sz="3600" b="1" smtClean="0">
                <a:solidFill>
                  <a:schemeClr val="tx1"/>
                </a:solidFill>
                <a:latin typeface="Tahoma" pitchFamily="34" charset="0"/>
                <a:ea typeface="Tahoma" pitchFamily="34" charset="0"/>
                <a:cs typeface="Tahoma" pitchFamily="34" charset="0"/>
              </a:rPr>
              <a:t>RSS)</a:t>
            </a:r>
          </a:p>
          <a:p>
            <a:pPr lvl="1"/>
            <a:r>
              <a:rPr lang="en-US" sz="2400">
                <a:solidFill>
                  <a:schemeClr val="tx1"/>
                </a:solidFill>
                <a:latin typeface="Tahoma" pitchFamily="34" charset="0"/>
                <a:ea typeface="Tahoma" pitchFamily="34" charset="0"/>
                <a:cs typeface="Tahoma" pitchFamily="34" charset="0"/>
              </a:rPr>
              <a:t>C</a:t>
            </a:r>
            <a:r>
              <a:rPr lang="en-US" sz="2400" smtClean="0">
                <a:solidFill>
                  <a:schemeClr val="tx1"/>
                </a:solidFill>
                <a:latin typeface="Tahoma" pitchFamily="34" charset="0"/>
                <a:ea typeface="Tahoma" pitchFamily="34" charset="0"/>
                <a:cs typeface="Tahoma" pitchFamily="34" charset="0"/>
              </a:rPr>
              <a:t>onnection </a:t>
            </a:r>
            <a:r>
              <a:rPr lang="en-US" sz="2400">
                <a:solidFill>
                  <a:schemeClr val="tx1"/>
                </a:solidFill>
                <a:latin typeface="Tahoma" pitchFamily="34" charset="0"/>
                <a:ea typeface="Tahoma" pitchFamily="34" charset="0"/>
                <a:cs typeface="Tahoma" pitchFamily="34" charset="0"/>
              </a:rPr>
              <a:t>to a Web site that allows users to receive constant </a:t>
            </a:r>
            <a:r>
              <a:rPr lang="en-US" sz="2400" smtClean="0">
                <a:solidFill>
                  <a:schemeClr val="tx1"/>
                </a:solidFill>
                <a:latin typeface="Tahoma" pitchFamily="34" charset="0"/>
                <a:ea typeface="Tahoma" pitchFamily="34" charset="0"/>
                <a:cs typeface="Tahoma" pitchFamily="34" charset="0"/>
              </a:rPr>
              <a:t>updates</a:t>
            </a:r>
          </a:p>
          <a:p>
            <a:r>
              <a:rPr lang="en-US" sz="3600" b="1" smtClean="0">
                <a:solidFill>
                  <a:schemeClr val="tx1"/>
                </a:solidFill>
                <a:latin typeface="Tahoma" pitchFamily="34" charset="0"/>
                <a:ea typeface="Tahoma" pitchFamily="34" charset="0"/>
                <a:cs typeface="Tahoma" pitchFamily="34" charset="0"/>
              </a:rPr>
              <a:t>Aggregator</a:t>
            </a:r>
          </a:p>
          <a:p>
            <a:pPr lvl="1"/>
            <a:r>
              <a:rPr lang="en-US" sz="2400" smtClean="0">
                <a:solidFill>
                  <a:schemeClr val="tx1"/>
                </a:solidFill>
                <a:latin typeface="Tahoma" pitchFamily="34" charset="0"/>
                <a:ea typeface="Tahoma" pitchFamily="34" charset="0"/>
                <a:cs typeface="Tahoma" pitchFamily="34" charset="0"/>
              </a:rPr>
              <a:t>Regularly</a:t>
            </a:r>
            <a:r>
              <a:rPr lang="en-US" sz="2400" b="1" smtClean="0">
                <a:solidFill>
                  <a:schemeClr val="tx1"/>
                </a:solidFill>
                <a:latin typeface="Tahoma" pitchFamily="34" charset="0"/>
                <a:ea typeface="Tahoma" pitchFamily="34" charset="0"/>
                <a:cs typeface="Tahoma" pitchFamily="34" charset="0"/>
              </a:rPr>
              <a:t> </a:t>
            </a:r>
            <a:r>
              <a:rPr lang="en-US" sz="2400" smtClean="0">
                <a:solidFill>
                  <a:schemeClr val="tx1"/>
                </a:solidFill>
                <a:latin typeface="Tahoma" pitchFamily="34" charset="0"/>
                <a:ea typeface="Tahoma" pitchFamily="34" charset="0"/>
                <a:cs typeface="Tahoma" pitchFamily="34" charset="0"/>
              </a:rPr>
              <a:t>checks each site on your subscriptions list and sends alerts if new information has been published</a:t>
            </a:r>
            <a:endParaRPr lang="en-US" sz="2400">
              <a:solidFill>
                <a:schemeClr val="tx1"/>
              </a:solidFill>
              <a:latin typeface="Tahoma" pitchFamily="34" charset="0"/>
              <a:ea typeface="Tahoma" pitchFamily="34" charset="0"/>
              <a:cs typeface="Tahoma" pitchFamily="34" charset="0"/>
            </a:endParaRPr>
          </a:p>
          <a:p>
            <a:endParaRPr lang="en-US" sz="2800" b="1">
              <a:solidFill>
                <a:schemeClr val="tx1"/>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1233602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33</a:t>
            </a:fld>
            <a:endParaRPr kumimoji="0" lang="en-US"/>
          </a:p>
        </p:txBody>
      </p:sp>
      <p:sp>
        <p:nvSpPr>
          <p:cNvPr id="4" name="Content Placeholder 3"/>
          <p:cNvSpPr>
            <a:spLocks noGrp="1"/>
          </p:cNvSpPr>
          <p:nvPr>
            <p:ph idx="1"/>
          </p:nvPr>
        </p:nvSpPr>
        <p:spPr>
          <a:xfrm>
            <a:off x="762000" y="1905000"/>
            <a:ext cx="8305800" cy="4525963"/>
          </a:xfrm>
        </p:spPr>
        <p:txBody>
          <a:bodyPr>
            <a:normAutofit/>
          </a:bodyPr>
          <a:lstStyle/>
          <a:p>
            <a:r>
              <a:rPr lang="en-US" sz="3600" b="1" smtClean="0">
                <a:solidFill>
                  <a:schemeClr val="tx1"/>
                </a:solidFill>
                <a:latin typeface="Tahoma" pitchFamily="34" charset="0"/>
                <a:ea typeface="Tahoma" pitchFamily="34" charset="0"/>
                <a:cs typeface="Tahoma" pitchFamily="34" charset="0"/>
              </a:rPr>
              <a:t>Wiki (short for the Hawaiian word for “fast”)</a:t>
            </a:r>
          </a:p>
          <a:p>
            <a:pPr lvl="1"/>
            <a:r>
              <a:rPr lang="en-US" sz="2400" smtClean="0">
                <a:solidFill>
                  <a:schemeClr val="tx1"/>
                </a:solidFill>
                <a:latin typeface="Tahoma" pitchFamily="34" charset="0"/>
                <a:ea typeface="Tahoma" pitchFamily="34" charset="0"/>
                <a:cs typeface="Tahoma" pitchFamily="34" charset="0"/>
              </a:rPr>
              <a:t>Simple Web page where any visitor can post text or images, change posted information, and track earlier changes</a:t>
            </a:r>
          </a:p>
          <a:p>
            <a:r>
              <a:rPr lang="en-US" sz="3600" b="1" smtClean="0">
                <a:solidFill>
                  <a:schemeClr val="tx1"/>
                </a:solidFill>
                <a:latin typeface="Tahoma" pitchFamily="34" charset="0"/>
                <a:ea typeface="Tahoma" pitchFamily="34" charset="0"/>
                <a:cs typeface="Tahoma" pitchFamily="34" charset="0"/>
              </a:rPr>
              <a:t>Blog (short for Weblog)</a:t>
            </a:r>
          </a:p>
          <a:p>
            <a:pPr lvl="1"/>
            <a:r>
              <a:rPr lang="en-US" sz="2400" smtClean="0">
                <a:solidFill>
                  <a:schemeClr val="tx1"/>
                </a:solidFill>
                <a:latin typeface="Tahoma" pitchFamily="34" charset="0"/>
                <a:ea typeface="Tahoma" pitchFamily="34" charset="0"/>
                <a:cs typeface="Tahoma" pitchFamily="34" charset="0"/>
              </a:rPr>
              <a:t>Internet equivalent of a journal or diary where bloggers post opinions, thoughts, and interesting links</a:t>
            </a:r>
          </a:p>
        </p:txBody>
      </p:sp>
    </p:spTree>
    <p:extLst>
      <p:ext uri="{BB962C8B-B14F-4D97-AF65-F5344CB8AC3E}">
        <p14:creationId xmlns:p14="http://schemas.microsoft.com/office/powerpoint/2010/main" val="10518423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34</a:t>
            </a:fld>
            <a:endParaRPr kumimoji="0" lang="en-US"/>
          </a:p>
        </p:txBody>
      </p:sp>
      <p:sp>
        <p:nvSpPr>
          <p:cNvPr id="4" name="Content Placeholder 3"/>
          <p:cNvSpPr>
            <a:spLocks noGrp="1"/>
          </p:cNvSpPr>
          <p:nvPr>
            <p:ph idx="1"/>
          </p:nvPr>
        </p:nvSpPr>
        <p:spPr>
          <a:xfrm>
            <a:off x="762000" y="1905000"/>
            <a:ext cx="8229600" cy="4525963"/>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Podcasts</a:t>
            </a:r>
          </a:p>
          <a:p>
            <a:pPr lvl="1"/>
            <a:r>
              <a:rPr lang="en-US" sz="2400" dirty="0" smtClean="0">
                <a:solidFill>
                  <a:schemeClr val="tx1"/>
                </a:solidFill>
                <a:latin typeface="Tahoma" pitchFamily="34" charset="0"/>
                <a:ea typeface="Tahoma" pitchFamily="34" charset="0"/>
                <a:cs typeface="Tahoma" pitchFamily="34" charset="0"/>
              </a:rPr>
              <a:t>Audio, image, or video files released by Web syndication</a:t>
            </a:r>
          </a:p>
          <a:p>
            <a:r>
              <a:rPr lang="en-US" sz="3600" b="1" dirty="0" smtClean="0">
                <a:solidFill>
                  <a:schemeClr val="tx1"/>
                </a:solidFill>
                <a:latin typeface="Tahoma" pitchFamily="34" charset="0"/>
                <a:ea typeface="Tahoma" pitchFamily="34" charset="0"/>
                <a:cs typeface="Tahoma" pitchFamily="34" charset="0"/>
              </a:rPr>
              <a:t>Pod-catchers</a:t>
            </a:r>
            <a:endParaRPr lang="en-US" sz="36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Automatically identify and retrieve new files in a given series and make them available</a:t>
            </a:r>
          </a:p>
          <a:p>
            <a:pPr lvl="1"/>
            <a:r>
              <a:rPr lang="en-US" sz="2400" dirty="0" smtClean="0">
                <a:solidFill>
                  <a:schemeClr val="tx1"/>
                </a:solidFill>
                <a:latin typeface="Tahoma" pitchFamily="34" charset="0"/>
                <a:ea typeface="Tahoma" pitchFamily="34" charset="0"/>
                <a:cs typeface="Tahoma" pitchFamily="34" charset="0"/>
              </a:rPr>
              <a:t>Examples: iTunes </a:t>
            </a:r>
            <a:r>
              <a:rPr lang="en-US" sz="2400" dirty="0">
                <a:solidFill>
                  <a:schemeClr val="tx1"/>
                </a:solidFill>
                <a:latin typeface="Tahoma" pitchFamily="34" charset="0"/>
                <a:ea typeface="Tahoma" pitchFamily="34" charset="0"/>
                <a:cs typeface="Tahoma" pitchFamily="34" charset="0"/>
              </a:rPr>
              <a:t>or </a:t>
            </a:r>
            <a:r>
              <a:rPr lang="en-US" sz="2400" dirty="0" err="1" smtClean="0">
                <a:solidFill>
                  <a:schemeClr val="tx1"/>
                </a:solidFill>
                <a:latin typeface="Tahoma" pitchFamily="34" charset="0"/>
                <a:ea typeface="Tahoma" pitchFamily="34" charset="0"/>
                <a:cs typeface="Tahoma" pitchFamily="34" charset="0"/>
              </a:rPr>
              <a:t>Winamp</a:t>
            </a:r>
            <a:endParaRPr lang="en-US" sz="2400" dirty="0">
              <a:solidFill>
                <a:schemeClr val="tx1"/>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1233602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Finding Information </a:t>
            </a:r>
            <a:br>
              <a:rPr lang="en-US" smtClean="0"/>
            </a:br>
            <a:r>
              <a:rPr lang="en-US" smtClean="0"/>
              <a:t>on the Web</a:t>
            </a:r>
          </a:p>
        </p:txBody>
      </p:sp>
      <p:sp>
        <p:nvSpPr>
          <p:cNvPr id="143364" name="Content Placeholder 6"/>
          <p:cNvSpPr>
            <a:spLocks noGrp="1"/>
          </p:cNvSpPr>
          <p:nvPr>
            <p:ph idx="1"/>
          </p:nvPr>
        </p:nvSpPr>
        <p:spPr>
          <a:xfrm>
            <a:off x="762000" y="1676400"/>
            <a:ext cx="8382000" cy="4343400"/>
          </a:xfrm>
        </p:spPr>
        <p:txBody>
          <a:bodyPr>
            <a:normAutofit/>
          </a:bodyPr>
          <a:lstStyle/>
          <a:p>
            <a:r>
              <a:rPr lang="en-US" sz="3600" b="1" smtClean="0">
                <a:solidFill>
                  <a:schemeClr val="tx1"/>
                </a:solidFill>
                <a:latin typeface="Tahoma" pitchFamily="34" charset="0"/>
                <a:ea typeface="Tahoma" pitchFamily="34" charset="0"/>
                <a:cs typeface="Tahoma" pitchFamily="34" charset="0"/>
              </a:rPr>
              <a:t>Subject guide</a:t>
            </a:r>
          </a:p>
          <a:p>
            <a:pPr lvl="1"/>
            <a:r>
              <a:rPr lang="en-US" sz="2400" smtClean="0">
                <a:solidFill>
                  <a:schemeClr val="tx1"/>
                </a:solidFill>
                <a:latin typeface="Tahoma" pitchFamily="34" charset="0"/>
                <a:ea typeface="Tahoma" pitchFamily="34" charset="0"/>
                <a:cs typeface="Tahoma" pitchFamily="34" charset="0"/>
              </a:rPr>
              <a:t>Web pages grouped under specific headings—offered by some search sites</a:t>
            </a:r>
          </a:p>
          <a:p>
            <a:r>
              <a:rPr lang="en-US" sz="3600" b="1" smtClean="0">
                <a:solidFill>
                  <a:schemeClr val="tx1"/>
                </a:solidFill>
                <a:latin typeface="Tahoma" pitchFamily="34" charset="0"/>
                <a:ea typeface="Tahoma" pitchFamily="34" charset="0"/>
                <a:cs typeface="Tahoma" pitchFamily="34" charset="0"/>
              </a:rPr>
              <a:t>Portal</a:t>
            </a:r>
          </a:p>
          <a:p>
            <a:pPr lvl="1"/>
            <a:r>
              <a:rPr lang="en-US" sz="2400" smtClean="0">
                <a:solidFill>
                  <a:schemeClr val="tx1"/>
                </a:solidFill>
                <a:latin typeface="Tahoma" pitchFamily="34" charset="0"/>
                <a:ea typeface="Tahoma" pitchFamily="34" charset="0"/>
                <a:cs typeface="Tahoma" pitchFamily="34" charset="0"/>
              </a:rPr>
              <a:t>Web page that acts as a gateway to diverse sources and presents them in an organized way</a:t>
            </a:r>
          </a:p>
          <a:p>
            <a:r>
              <a:rPr lang="en-US" sz="3600" b="1" smtClean="0">
                <a:solidFill>
                  <a:schemeClr val="tx1"/>
                </a:solidFill>
                <a:latin typeface="Tahoma" pitchFamily="34" charset="0"/>
                <a:ea typeface="Tahoma" pitchFamily="34" charset="0"/>
                <a:cs typeface="Tahoma" pitchFamily="34" charset="0"/>
              </a:rPr>
              <a:t>Clickstream</a:t>
            </a:r>
          </a:p>
          <a:p>
            <a:pPr lvl="1"/>
            <a:r>
              <a:rPr lang="en-US" sz="2400">
                <a:solidFill>
                  <a:schemeClr val="tx1"/>
                </a:solidFill>
                <a:latin typeface="Tahoma" pitchFamily="34" charset="0"/>
                <a:ea typeface="Tahoma" pitchFamily="34" charset="0"/>
                <a:cs typeface="Tahoma" pitchFamily="34" charset="0"/>
              </a:rPr>
              <a:t>T</a:t>
            </a:r>
            <a:r>
              <a:rPr lang="en-US" sz="2400" smtClean="0">
                <a:solidFill>
                  <a:schemeClr val="tx1"/>
                </a:solidFill>
                <a:latin typeface="Tahoma" pitchFamily="34" charset="0"/>
                <a:ea typeface="Tahoma" pitchFamily="34" charset="0"/>
                <a:cs typeface="Tahoma" pitchFamily="34" charset="0"/>
              </a:rPr>
              <a:t>rail of Web links followed to arrive at a particular site</a:t>
            </a:r>
          </a:p>
          <a:p>
            <a:endParaRPr lang="en-US" sz="2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35</a:t>
            </a:fld>
            <a:endParaRPr kumimoji="0" lang="en-US"/>
          </a:p>
        </p:txBody>
      </p:sp>
    </p:spTree>
    <p:extLst>
      <p:ext uri="{BB962C8B-B14F-4D97-AF65-F5344CB8AC3E}">
        <p14:creationId xmlns:p14="http://schemas.microsoft.com/office/powerpoint/2010/main" val="12768604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36</a:t>
            </a:fld>
            <a:endParaRPr kumimoji="0" lang="en-US"/>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752600"/>
            <a:ext cx="7239000" cy="4129759"/>
          </a:xfrm>
        </p:spPr>
      </p:pic>
    </p:spTree>
    <p:extLst>
      <p:ext uri="{BB962C8B-B14F-4D97-AF65-F5344CB8AC3E}">
        <p14:creationId xmlns:p14="http://schemas.microsoft.com/office/powerpoint/2010/main" val="1233602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Finding Information </a:t>
            </a:r>
            <a:br>
              <a:rPr lang="en-US" smtClean="0"/>
            </a:br>
            <a:r>
              <a:rPr lang="en-US" smtClean="0"/>
              <a:t>on the Web</a:t>
            </a:r>
          </a:p>
        </p:txBody>
      </p:sp>
      <p:sp>
        <p:nvSpPr>
          <p:cNvPr id="145411" name="Content Placeholder 6"/>
          <p:cNvSpPr>
            <a:spLocks noGrp="1"/>
          </p:cNvSpPr>
          <p:nvPr>
            <p:ph idx="1"/>
          </p:nvPr>
        </p:nvSpPr>
        <p:spPr>
          <a:xfrm>
            <a:off x="760412" y="1600200"/>
            <a:ext cx="8002588" cy="46482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Search engines</a:t>
            </a:r>
          </a:p>
          <a:p>
            <a:pPr lvl="1">
              <a:spcBef>
                <a:spcPct val="0"/>
              </a:spcBef>
            </a:pPr>
            <a:r>
              <a:rPr lang="en-US" sz="2400" smtClean="0">
                <a:solidFill>
                  <a:schemeClr val="tx1"/>
                </a:solidFill>
                <a:latin typeface="Tahoma" pitchFamily="34" charset="0"/>
                <a:ea typeface="Tahoma" pitchFamily="34" charset="0"/>
                <a:cs typeface="Tahoma" pitchFamily="34" charset="0"/>
              </a:rPr>
              <a:t>Index databases of Web pages to enable fast information searches</a:t>
            </a:r>
          </a:p>
          <a:p>
            <a:pPr>
              <a:spcBef>
                <a:spcPct val="0"/>
              </a:spcBef>
            </a:pPr>
            <a:r>
              <a:rPr lang="en-US" sz="3600" b="1" smtClean="0">
                <a:solidFill>
                  <a:schemeClr val="tx1"/>
                </a:solidFill>
                <a:latin typeface="Tahoma" pitchFamily="34" charset="0"/>
                <a:ea typeface="Tahoma" pitchFamily="34" charset="0"/>
                <a:cs typeface="Tahoma" pitchFamily="34" charset="0"/>
              </a:rPr>
              <a:t>Spiders</a:t>
            </a:r>
          </a:p>
          <a:p>
            <a:pPr lvl="1">
              <a:spcBef>
                <a:spcPct val="0"/>
              </a:spcBef>
            </a:pPr>
            <a:r>
              <a:rPr lang="en-US" sz="2400" smtClean="0">
                <a:solidFill>
                  <a:schemeClr val="tx1"/>
                </a:solidFill>
                <a:latin typeface="Tahoma" pitchFamily="34" charset="0"/>
                <a:ea typeface="Tahoma" pitchFamily="34" charset="0"/>
                <a:cs typeface="Tahoma" pitchFamily="34" charset="0"/>
              </a:rPr>
              <a:t>Programs that roam the Web to add new Web pages to search engine indexes</a:t>
            </a:r>
          </a:p>
          <a:p>
            <a:r>
              <a:rPr lang="en-US" sz="3600" b="1" smtClean="0">
                <a:solidFill>
                  <a:schemeClr val="tx1"/>
                </a:solidFill>
                <a:latin typeface="Tahoma" pitchFamily="34" charset="0"/>
                <a:ea typeface="Tahoma" pitchFamily="34" charset="0"/>
                <a:cs typeface="Tahoma" pitchFamily="34" charset="0"/>
              </a:rPr>
              <a:t>Link rot</a:t>
            </a:r>
          </a:p>
          <a:p>
            <a:pPr lvl="1"/>
            <a:r>
              <a:rPr lang="en-US" sz="2400" smtClean="0">
                <a:solidFill>
                  <a:schemeClr val="tx1"/>
                </a:solidFill>
                <a:latin typeface="Tahoma" pitchFamily="34" charset="0"/>
                <a:ea typeface="Tahoma" pitchFamily="34" charset="0"/>
                <a:cs typeface="Tahoma" pitchFamily="34" charset="0"/>
              </a:rPr>
              <a:t>Results from hyperlinks that no longer work or Web pages that have been removed or restructured</a:t>
            </a:r>
          </a:p>
          <a:p>
            <a:endParaRPr lang="en-US" sz="2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37</a:t>
            </a:fld>
            <a:endParaRPr kumimoji="0" lang="en-US"/>
          </a:p>
        </p:txBody>
      </p:sp>
    </p:spTree>
    <p:extLst>
      <p:ext uri="{BB962C8B-B14F-4D97-AF65-F5344CB8AC3E}">
        <p14:creationId xmlns:p14="http://schemas.microsoft.com/office/powerpoint/2010/main" val="1408357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0" y="0"/>
            <a:ext cx="9144000" cy="1600200"/>
          </a:xfrm>
        </p:spPr>
        <p:txBody>
          <a:bodyPr lIns="92075" tIns="46038" rIns="92075" bIns="46038" anchor="b"/>
          <a:lstStyle/>
          <a:p>
            <a:r>
              <a:rPr lang="en-US"/>
              <a:t>Finding Information</a:t>
            </a:r>
            <a:br>
              <a:rPr lang="en-US"/>
            </a:br>
            <a:r>
              <a:rPr lang="en-US"/>
              <a:t>on the Web</a:t>
            </a:r>
            <a:endParaRPr lang="en-US"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38</a:t>
            </a:fld>
            <a:endParaRPr kumimoji="0" lang="en-US"/>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4906394" y="1828800"/>
            <a:ext cx="3780406" cy="4267200"/>
          </a:xfr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9600" y="1575815"/>
            <a:ext cx="4038600" cy="4703513"/>
          </a:xfrm>
          <a:prstGeom prst="rect">
            <a:avLst/>
          </a:prstGeom>
        </p:spPr>
      </p:pic>
    </p:spTree>
    <p:extLst>
      <p:ext uri="{BB962C8B-B14F-4D97-AF65-F5344CB8AC3E}">
        <p14:creationId xmlns:p14="http://schemas.microsoft.com/office/powerpoint/2010/main" val="1233602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Finding Information </a:t>
            </a:r>
            <a:br>
              <a:rPr lang="en-US" smtClean="0"/>
            </a:br>
            <a:r>
              <a:rPr lang="en-US" smtClean="0"/>
              <a:t>on the Web</a:t>
            </a:r>
          </a:p>
        </p:txBody>
      </p:sp>
      <p:sp>
        <p:nvSpPr>
          <p:cNvPr id="147458" name="Content Placeholder 6"/>
          <p:cNvSpPr>
            <a:spLocks noGrp="1"/>
          </p:cNvSpPr>
          <p:nvPr>
            <p:ph idx="1"/>
          </p:nvPr>
        </p:nvSpPr>
        <p:spPr>
          <a:xfrm>
            <a:off x="76200" y="1905000"/>
            <a:ext cx="4495800" cy="4343400"/>
          </a:xfrm>
        </p:spPr>
        <p:txBody>
          <a:bodyPr>
            <a:normAutofit/>
          </a:bodyPr>
          <a:lstStyle/>
          <a:p>
            <a:r>
              <a:rPr lang="en-US" sz="3200" b="1" smtClean="0">
                <a:solidFill>
                  <a:schemeClr val="tx1"/>
                </a:solidFill>
                <a:latin typeface="Tahoma" pitchFamily="34" charset="0"/>
                <a:ea typeface="Tahoma" pitchFamily="34" charset="0"/>
                <a:cs typeface="Tahoma" pitchFamily="34" charset="0"/>
              </a:rPr>
              <a:t>Specialized search engines</a:t>
            </a:r>
          </a:p>
          <a:p>
            <a:pPr lvl="1"/>
            <a:r>
              <a:rPr lang="en-US" sz="2400" smtClean="0">
                <a:solidFill>
                  <a:schemeClr val="tx1"/>
                </a:solidFill>
                <a:latin typeface="Tahoma" pitchFamily="34" charset="0"/>
                <a:ea typeface="Tahoma" pitchFamily="34" charset="0"/>
                <a:cs typeface="Tahoma" pitchFamily="34" charset="0"/>
              </a:rPr>
              <a:t>Index information, such as job advertisements, and names and addresses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39</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200" y="1828800"/>
            <a:ext cx="4072525" cy="3886200"/>
          </a:xfrm>
          <a:prstGeom prst="rect">
            <a:avLst/>
          </a:prstGeom>
        </p:spPr>
      </p:pic>
    </p:spTree>
    <p:extLst>
      <p:ext uri="{BB962C8B-B14F-4D97-AF65-F5344CB8AC3E}">
        <p14:creationId xmlns:p14="http://schemas.microsoft.com/office/powerpoint/2010/main" val="4193292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Finding Information </a:t>
            </a:r>
            <a:br>
              <a:rPr lang="en-US" smtClean="0"/>
            </a:br>
            <a:r>
              <a:rPr lang="en-US" smtClean="0"/>
              <a:t>on the Web</a:t>
            </a:r>
          </a:p>
        </p:txBody>
      </p:sp>
      <p:sp>
        <p:nvSpPr>
          <p:cNvPr id="153602" name="Content Placeholder 6"/>
          <p:cNvSpPr>
            <a:spLocks noGrp="1"/>
          </p:cNvSpPr>
          <p:nvPr>
            <p:ph idx="1"/>
          </p:nvPr>
        </p:nvSpPr>
        <p:spPr>
          <a:xfrm>
            <a:off x="762000" y="1524000"/>
            <a:ext cx="8382000" cy="4876800"/>
          </a:xfrm>
        </p:spPr>
        <p:txBody>
          <a:bodyPr>
            <a:normAutofit lnSpcReduction="10000"/>
          </a:bodyPr>
          <a:lstStyle/>
          <a:p>
            <a:pPr>
              <a:spcBef>
                <a:spcPct val="0"/>
              </a:spcBef>
            </a:pPr>
            <a:r>
              <a:rPr lang="en-US" sz="3600" b="1">
                <a:solidFill>
                  <a:schemeClr val="tx1"/>
                </a:solidFill>
                <a:latin typeface="Tahoma" pitchFamily="34" charset="0"/>
                <a:ea typeface="Tahoma" pitchFamily="34" charset="0"/>
                <a:cs typeface="Tahoma" pitchFamily="34" charset="0"/>
              </a:rPr>
              <a:t>Search </a:t>
            </a:r>
            <a:r>
              <a:rPr lang="en-US" sz="3600" b="1" smtClean="0">
                <a:solidFill>
                  <a:schemeClr val="tx1"/>
                </a:solidFill>
                <a:latin typeface="Tahoma" pitchFamily="34" charset="0"/>
                <a:ea typeface="Tahoma" pitchFamily="34" charset="0"/>
                <a:cs typeface="Tahoma" pitchFamily="34" charset="0"/>
              </a:rPr>
              <a:t>operators</a:t>
            </a:r>
          </a:p>
          <a:p>
            <a:pPr lvl="1">
              <a:spcBef>
                <a:spcPct val="0"/>
              </a:spcBef>
            </a:pPr>
            <a:r>
              <a:rPr lang="en-US" sz="2400" smtClean="0">
                <a:solidFill>
                  <a:schemeClr val="tx1"/>
                </a:solidFill>
                <a:latin typeface="Tahoma" pitchFamily="34" charset="0"/>
                <a:ea typeface="Tahoma" pitchFamily="34" charset="0"/>
                <a:cs typeface="Tahoma" pitchFamily="34" charset="0"/>
              </a:rPr>
              <a:t>Perform </a:t>
            </a:r>
            <a:r>
              <a:rPr lang="en-US" sz="2400">
                <a:solidFill>
                  <a:schemeClr val="tx1"/>
                </a:solidFill>
                <a:latin typeface="Tahoma" pitchFamily="34" charset="0"/>
                <a:ea typeface="Tahoma" pitchFamily="34" charset="0"/>
                <a:cs typeface="Tahoma" pitchFamily="34" charset="0"/>
              </a:rPr>
              <a:t>complex </a:t>
            </a:r>
            <a:r>
              <a:rPr lang="en-US" sz="2400" smtClean="0">
                <a:solidFill>
                  <a:schemeClr val="tx1"/>
                </a:solidFill>
                <a:latin typeface="Tahoma" pitchFamily="34" charset="0"/>
                <a:ea typeface="Tahoma" pitchFamily="34" charset="0"/>
                <a:cs typeface="Tahoma" pitchFamily="34" charset="0"/>
              </a:rPr>
              <a:t>searches</a:t>
            </a:r>
            <a:endParaRPr lang="en-US" sz="2400">
              <a:solidFill>
                <a:schemeClr val="tx1"/>
              </a:solidFill>
              <a:latin typeface="Tahoma" pitchFamily="34" charset="0"/>
              <a:ea typeface="Tahoma" pitchFamily="34" charset="0"/>
              <a:cs typeface="Tahoma" pitchFamily="34" charset="0"/>
            </a:endParaRPr>
          </a:p>
          <a:p>
            <a:pPr>
              <a:spcBef>
                <a:spcPct val="0"/>
              </a:spcBef>
            </a:pPr>
            <a:r>
              <a:rPr lang="en-US" sz="3600" b="1" smtClean="0">
                <a:solidFill>
                  <a:schemeClr val="tx1"/>
                </a:solidFill>
                <a:latin typeface="Tahoma" pitchFamily="34" charset="0"/>
                <a:ea typeface="Tahoma" pitchFamily="34" charset="0"/>
                <a:cs typeface="Tahoma" pitchFamily="34" charset="0"/>
              </a:rPr>
              <a:t>Wildcard symbols (also called truncation symbols</a:t>
            </a:r>
            <a:r>
              <a:rPr lang="en-US" sz="3600" smtClean="0">
                <a:solidFill>
                  <a:schemeClr val="tx1"/>
                </a:solidFill>
                <a:latin typeface="Tahoma" pitchFamily="34" charset="0"/>
                <a:ea typeface="Tahoma" pitchFamily="34" charset="0"/>
                <a:cs typeface="Tahoma" pitchFamily="34" charset="0"/>
              </a:rPr>
              <a:t>)</a:t>
            </a:r>
          </a:p>
          <a:p>
            <a:pPr lvl="1">
              <a:spcBef>
                <a:spcPct val="0"/>
              </a:spcBef>
            </a:pPr>
            <a:r>
              <a:rPr lang="en-US" sz="2400" smtClean="0">
                <a:solidFill>
                  <a:schemeClr val="tx1"/>
                </a:solidFill>
                <a:latin typeface="Tahoma" pitchFamily="34" charset="0"/>
                <a:ea typeface="Tahoma" pitchFamily="34" charset="0"/>
                <a:cs typeface="Tahoma" pitchFamily="34" charset="0"/>
              </a:rPr>
              <a:t>Replace the zero or additional characters in search words to improve search accuracy</a:t>
            </a:r>
          </a:p>
          <a:p>
            <a:pPr lvl="1">
              <a:spcBef>
                <a:spcPct val="0"/>
              </a:spcBef>
            </a:pPr>
            <a:r>
              <a:rPr lang="en-US" sz="2400" smtClean="0">
                <a:solidFill>
                  <a:schemeClr val="tx1"/>
                </a:solidFill>
                <a:latin typeface="Tahoma" pitchFamily="34" charset="0"/>
                <a:ea typeface="Tahoma" pitchFamily="34" charset="0"/>
                <a:cs typeface="Tahoma" pitchFamily="34" charset="0"/>
              </a:rPr>
              <a:t>Examples: </a:t>
            </a:r>
            <a:r>
              <a:rPr lang="en-US" sz="2400">
                <a:solidFill>
                  <a:schemeClr val="tx1"/>
                </a:solidFill>
                <a:latin typeface="Tahoma" pitchFamily="34" charset="0"/>
                <a:ea typeface="Tahoma" pitchFamily="34" charset="0"/>
                <a:cs typeface="Tahoma" pitchFamily="34" charset="0"/>
              </a:rPr>
              <a:t>? and </a:t>
            </a:r>
            <a:r>
              <a:rPr lang="en-US" sz="2400" smtClean="0">
                <a:solidFill>
                  <a:schemeClr val="tx1"/>
                </a:solidFill>
                <a:latin typeface="Tahoma" pitchFamily="34" charset="0"/>
                <a:ea typeface="Tahoma" pitchFamily="34" charset="0"/>
                <a:cs typeface="Tahoma" pitchFamily="34" charset="0"/>
              </a:rPr>
              <a:t>*</a:t>
            </a:r>
          </a:p>
          <a:p>
            <a:pPr>
              <a:spcBef>
                <a:spcPct val="0"/>
              </a:spcBef>
            </a:pPr>
            <a:r>
              <a:rPr lang="en-US" sz="3600" b="1" smtClean="0">
                <a:solidFill>
                  <a:schemeClr val="tx1"/>
                </a:solidFill>
                <a:latin typeface="Tahoma" pitchFamily="34" charset="0"/>
                <a:ea typeface="Tahoma" pitchFamily="34" charset="0"/>
                <a:cs typeface="Tahoma" pitchFamily="34" charset="0"/>
              </a:rPr>
              <a:t>Phrase searching</a:t>
            </a:r>
          </a:p>
          <a:p>
            <a:pPr lvl="1">
              <a:spcBef>
                <a:spcPct val="0"/>
              </a:spcBef>
            </a:pPr>
            <a:r>
              <a:rPr lang="en-US" sz="2400" smtClean="0">
                <a:solidFill>
                  <a:schemeClr val="tx1"/>
                </a:solidFill>
                <a:latin typeface="Tahoma" pitchFamily="34" charset="0"/>
                <a:ea typeface="Tahoma" pitchFamily="34" charset="0"/>
                <a:cs typeface="Tahoma" pitchFamily="34" charset="0"/>
              </a:rPr>
              <a:t>Place quotation marks around a phrase to create a complete unit for search purposes</a:t>
            </a:r>
          </a:p>
          <a:p>
            <a:pPr lvl="1">
              <a:spcBef>
                <a:spcPct val="0"/>
              </a:spcBef>
            </a:pPr>
            <a:r>
              <a:rPr lang="en-US" sz="2400" smtClean="0">
                <a:solidFill>
                  <a:schemeClr val="tx1"/>
                </a:solidFill>
                <a:latin typeface="Tahoma" pitchFamily="34" charset="0"/>
                <a:ea typeface="Tahoma" pitchFamily="34" charset="0"/>
                <a:cs typeface="Tahoma" pitchFamily="34" charset="0"/>
              </a:rPr>
              <a:t>The result—search engines retrieve only those sites that contain the exact phrase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40</a:t>
            </a:fld>
            <a:endParaRPr kumimoji="0" lang="en-US"/>
          </a:p>
        </p:txBody>
      </p:sp>
    </p:spTree>
    <p:extLst>
      <p:ext uri="{BB962C8B-B14F-4D97-AF65-F5344CB8AC3E}">
        <p14:creationId xmlns:p14="http://schemas.microsoft.com/office/powerpoint/2010/main" val="36139388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Finding Information </a:t>
            </a:r>
            <a:br>
              <a:rPr lang="en-US" smtClean="0"/>
            </a:br>
            <a:r>
              <a:rPr lang="en-US" smtClean="0"/>
              <a:t>on the Web</a:t>
            </a:r>
          </a:p>
        </p:txBody>
      </p:sp>
      <p:sp>
        <p:nvSpPr>
          <p:cNvPr id="151554" name="Content Placeholder 6"/>
          <p:cNvSpPr>
            <a:spLocks noGrp="1"/>
          </p:cNvSpPr>
          <p:nvPr>
            <p:ph idx="1"/>
          </p:nvPr>
        </p:nvSpPr>
        <p:spPr>
          <a:xfrm>
            <a:off x="762000" y="1905000"/>
            <a:ext cx="7848600" cy="44958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Inclusion operators</a:t>
            </a:r>
          </a:p>
          <a:p>
            <a:pPr lvl="1">
              <a:spcBef>
                <a:spcPct val="0"/>
              </a:spcBef>
            </a:pPr>
            <a:r>
              <a:rPr lang="en-US" sz="2400" smtClean="0">
                <a:solidFill>
                  <a:schemeClr val="tx1"/>
                </a:solidFill>
                <a:latin typeface="Tahoma" pitchFamily="34" charset="0"/>
                <a:ea typeface="Tahoma" pitchFamily="34" charset="0"/>
                <a:cs typeface="Tahoma" pitchFamily="34" charset="0"/>
              </a:rPr>
              <a:t>Used so only Web pages including those criteria are retrieved</a:t>
            </a:r>
            <a:endParaRPr lang="en-US" sz="2400">
              <a:solidFill>
                <a:schemeClr val="tx1"/>
              </a:solidFill>
              <a:latin typeface="Tahoma" pitchFamily="34" charset="0"/>
              <a:ea typeface="Tahoma" pitchFamily="34" charset="0"/>
              <a:cs typeface="Tahoma" pitchFamily="34" charset="0"/>
            </a:endParaRPr>
          </a:p>
          <a:p>
            <a:pPr lvl="1">
              <a:spcBef>
                <a:spcPct val="0"/>
              </a:spcBef>
            </a:pPr>
            <a:r>
              <a:rPr lang="en-US" sz="2400">
                <a:solidFill>
                  <a:schemeClr val="tx1"/>
                </a:solidFill>
                <a:latin typeface="Tahoma" pitchFamily="34" charset="0"/>
                <a:ea typeface="Tahoma" pitchFamily="34" charset="0"/>
                <a:cs typeface="Tahoma" pitchFamily="34" charset="0"/>
              </a:rPr>
              <a:t>Example: p</a:t>
            </a:r>
            <a:r>
              <a:rPr lang="en-US" sz="2400" smtClean="0">
                <a:solidFill>
                  <a:schemeClr val="tx1"/>
                </a:solidFill>
                <a:latin typeface="Tahoma" pitchFamily="34" charset="0"/>
                <a:ea typeface="Tahoma" pitchFamily="34" charset="0"/>
                <a:cs typeface="Tahoma" pitchFamily="34" charset="0"/>
              </a:rPr>
              <a:t>lus </a:t>
            </a:r>
            <a:r>
              <a:rPr lang="en-US" sz="2400">
                <a:solidFill>
                  <a:schemeClr val="tx1"/>
                </a:solidFill>
                <a:latin typeface="Tahoma" pitchFamily="34" charset="0"/>
                <a:ea typeface="Tahoma" pitchFamily="34" charset="0"/>
                <a:cs typeface="Tahoma" pitchFamily="34" charset="0"/>
              </a:rPr>
              <a:t>sign </a:t>
            </a:r>
            <a:r>
              <a:rPr lang="en-US" sz="2400" smtClean="0">
                <a:solidFill>
                  <a:schemeClr val="tx1"/>
                </a:solidFill>
                <a:latin typeface="Tahoma" pitchFamily="34" charset="0"/>
                <a:ea typeface="Tahoma" pitchFamily="34" charset="0"/>
                <a:cs typeface="Tahoma" pitchFamily="34" charset="0"/>
              </a:rPr>
              <a:t>(+) </a:t>
            </a:r>
          </a:p>
          <a:p>
            <a:pPr>
              <a:spcBef>
                <a:spcPct val="0"/>
              </a:spcBef>
            </a:pPr>
            <a:r>
              <a:rPr lang="en-US" sz="3600" b="1" smtClean="0">
                <a:solidFill>
                  <a:schemeClr val="tx1"/>
                </a:solidFill>
                <a:latin typeface="Tahoma" pitchFamily="34" charset="0"/>
                <a:ea typeface="Tahoma" pitchFamily="34" charset="0"/>
                <a:cs typeface="Tahoma" pitchFamily="34" charset="0"/>
              </a:rPr>
              <a:t>Exclusion operators</a:t>
            </a:r>
          </a:p>
          <a:p>
            <a:pPr lvl="1">
              <a:spcBef>
                <a:spcPct val="0"/>
              </a:spcBef>
            </a:pPr>
            <a:r>
              <a:rPr lang="en-US" sz="2400" smtClean="0">
                <a:solidFill>
                  <a:schemeClr val="tx1"/>
                </a:solidFill>
                <a:latin typeface="Tahoma" pitchFamily="34" charset="0"/>
                <a:ea typeface="Tahoma" pitchFamily="34" charset="0"/>
                <a:cs typeface="Tahoma" pitchFamily="34" charset="0"/>
              </a:rPr>
              <a:t>Used so only Web pages excluding those criteria are retrieved</a:t>
            </a:r>
          </a:p>
          <a:p>
            <a:pPr lvl="1">
              <a:spcBef>
                <a:spcPct val="0"/>
              </a:spcBef>
            </a:pPr>
            <a:r>
              <a:rPr lang="en-US" sz="2400" smtClean="0">
                <a:solidFill>
                  <a:schemeClr val="tx1"/>
                </a:solidFill>
                <a:latin typeface="Tahoma" pitchFamily="34" charset="0"/>
                <a:ea typeface="Tahoma" pitchFamily="34" charset="0"/>
                <a:cs typeface="Tahoma" pitchFamily="34" charset="0"/>
              </a:rPr>
              <a:t>Example: minus </a:t>
            </a:r>
            <a:r>
              <a:rPr lang="en-US" sz="2400">
                <a:solidFill>
                  <a:schemeClr val="tx1"/>
                </a:solidFill>
                <a:latin typeface="Tahoma" pitchFamily="34" charset="0"/>
                <a:ea typeface="Tahoma" pitchFamily="34" charset="0"/>
                <a:cs typeface="Tahoma" pitchFamily="34" charset="0"/>
              </a:rPr>
              <a:t>sign </a:t>
            </a:r>
            <a:r>
              <a:rPr lang="en-US" sz="2400" smtClean="0">
                <a:solidFill>
                  <a:schemeClr val="tx1"/>
                </a:solidFill>
                <a:latin typeface="Tahoma" pitchFamily="34" charset="0"/>
                <a:ea typeface="Tahoma" pitchFamily="34" charset="0"/>
                <a:cs typeface="Tahoma" pitchFamily="34" charset="0"/>
              </a:rPr>
              <a:t>(-) </a:t>
            </a:r>
            <a:endParaRPr lang="en-US" sz="2400" b="1"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41</a:t>
            </a:fld>
            <a:endParaRPr kumimoji="0" lang="en-US"/>
          </a:p>
        </p:txBody>
      </p:sp>
    </p:spTree>
    <p:extLst>
      <p:ext uri="{BB962C8B-B14F-4D97-AF65-F5344CB8AC3E}">
        <p14:creationId xmlns:p14="http://schemas.microsoft.com/office/powerpoint/2010/main" val="5294370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Finding Information </a:t>
            </a:r>
            <a:br>
              <a:rPr lang="en-US" smtClean="0"/>
            </a:br>
            <a:r>
              <a:rPr lang="en-US" smtClean="0"/>
              <a:t>on the Web</a:t>
            </a:r>
          </a:p>
        </p:txBody>
      </p:sp>
      <p:sp>
        <p:nvSpPr>
          <p:cNvPr id="157700" name="Content Placeholder 6"/>
          <p:cNvSpPr>
            <a:spLocks noGrp="1"/>
          </p:cNvSpPr>
          <p:nvPr>
            <p:ph idx="1"/>
          </p:nvPr>
        </p:nvSpPr>
        <p:spPr>
          <a:xfrm>
            <a:off x="762000" y="1600200"/>
            <a:ext cx="8382000" cy="47244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Boolean searches</a:t>
            </a:r>
            <a:endParaRPr lang="en-US" sz="3600" smtClean="0">
              <a:solidFill>
                <a:schemeClr val="tx1"/>
              </a:solidFill>
              <a:latin typeface="Tahoma" pitchFamily="34" charset="0"/>
              <a:ea typeface="Tahoma" pitchFamily="34" charset="0"/>
              <a:cs typeface="Tahoma" pitchFamily="34" charset="0"/>
            </a:endParaRPr>
          </a:p>
          <a:p>
            <a:pPr lvl="1">
              <a:spcBef>
                <a:spcPct val="0"/>
              </a:spcBef>
            </a:pPr>
            <a:r>
              <a:rPr lang="en-US" smtClean="0">
                <a:solidFill>
                  <a:schemeClr val="tx1"/>
                </a:solidFill>
                <a:latin typeface="Tahoma" pitchFamily="34" charset="0"/>
                <a:ea typeface="Tahoma" pitchFamily="34" charset="0"/>
                <a:cs typeface="Tahoma" pitchFamily="34" charset="0"/>
              </a:rPr>
              <a:t>L</a:t>
            </a:r>
            <a:r>
              <a:rPr lang="en-US" sz="2400" smtClean="0">
                <a:solidFill>
                  <a:schemeClr val="tx1"/>
                </a:solidFill>
                <a:latin typeface="Tahoma" pitchFamily="34" charset="0"/>
                <a:ea typeface="Tahoma" pitchFamily="34" charset="0"/>
                <a:cs typeface="Tahoma" pitchFamily="34" charset="0"/>
              </a:rPr>
              <a:t>ink search words by using logical operators such as AND, OR, and NOT</a:t>
            </a:r>
          </a:p>
          <a:p>
            <a:pPr lvl="1">
              <a:spcBef>
                <a:spcPct val="0"/>
              </a:spcBef>
            </a:pPr>
            <a:r>
              <a:rPr lang="en-US" sz="2400" smtClean="0">
                <a:solidFill>
                  <a:schemeClr val="tx1"/>
                </a:solidFill>
                <a:latin typeface="Tahoma" pitchFamily="34" charset="0"/>
                <a:ea typeface="Tahoma" pitchFamily="34" charset="0"/>
                <a:cs typeface="Tahoma" pitchFamily="34" charset="0"/>
              </a:rPr>
              <a:t>Using the AND, OR, and NOT logical operators provides additional criteria for a search engine to use when retrieving documents</a:t>
            </a:r>
          </a:p>
          <a:p>
            <a:pPr>
              <a:spcBef>
                <a:spcPct val="0"/>
              </a:spcBef>
            </a:pPr>
            <a:r>
              <a:rPr lang="en-US" sz="3600" b="1" smtClean="0">
                <a:solidFill>
                  <a:schemeClr val="tx1"/>
                </a:solidFill>
                <a:latin typeface="Tahoma" pitchFamily="34" charset="0"/>
                <a:ea typeface="Tahoma" pitchFamily="34" charset="0"/>
                <a:cs typeface="Tahoma" pitchFamily="34" charset="0"/>
              </a:rPr>
              <a:t>Nesting</a:t>
            </a:r>
          </a:p>
          <a:p>
            <a:pPr lvl="1">
              <a:spcBef>
                <a:spcPct val="0"/>
              </a:spcBef>
            </a:pPr>
            <a:r>
              <a:rPr lang="en-US" sz="2400" smtClean="0">
                <a:solidFill>
                  <a:schemeClr val="tx1"/>
                </a:solidFill>
                <a:latin typeface="Tahoma" pitchFamily="34" charset="0"/>
                <a:ea typeface="Tahoma" pitchFamily="34" charset="0"/>
                <a:cs typeface="Tahoma" pitchFamily="34" charset="0"/>
              </a:rPr>
              <a:t>A Boolean search operator that uses parentheses</a:t>
            </a:r>
          </a:p>
          <a:p>
            <a:pPr lvl="1">
              <a:spcBef>
                <a:spcPct val="0"/>
              </a:spcBef>
            </a:pPr>
            <a:r>
              <a:rPr lang="en-US" sz="2400" smtClean="0">
                <a:solidFill>
                  <a:schemeClr val="tx1"/>
                </a:solidFill>
                <a:latin typeface="Tahoma" pitchFamily="34" charset="0"/>
                <a:ea typeface="Tahoma" pitchFamily="34" charset="0"/>
                <a:cs typeface="Tahoma" pitchFamily="34" charset="0"/>
              </a:rPr>
              <a:t>The search engine evaluates the expression from left to right, and searches for content in the parentheses first</a:t>
            </a:r>
          </a:p>
          <a:p>
            <a:pPr>
              <a:spcBef>
                <a:spcPct val="0"/>
              </a:spcBef>
            </a:pPr>
            <a:endParaRPr lang="en-US" b="1"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42</a:t>
            </a:fld>
            <a:endParaRPr kumimoji="0" lang="en-US"/>
          </a:p>
        </p:txBody>
      </p:sp>
    </p:spTree>
    <p:extLst>
      <p:ext uri="{BB962C8B-B14F-4D97-AF65-F5344CB8AC3E}">
        <p14:creationId xmlns:p14="http://schemas.microsoft.com/office/powerpoint/2010/main" val="23702810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Using Information </a:t>
            </a:r>
            <a:br>
              <a:rPr lang="en-US" smtClean="0"/>
            </a:br>
            <a:r>
              <a:rPr lang="en-US" smtClean="0"/>
              <a:t>from the Web</a:t>
            </a:r>
          </a:p>
        </p:txBody>
      </p:sp>
      <p:sp>
        <p:nvSpPr>
          <p:cNvPr id="161794" name="Content Placeholder 6"/>
          <p:cNvSpPr>
            <a:spLocks noGrp="1"/>
          </p:cNvSpPr>
          <p:nvPr>
            <p:ph idx="1"/>
          </p:nvPr>
        </p:nvSpPr>
        <p:spPr>
          <a:xfrm>
            <a:off x="762000" y="1676400"/>
            <a:ext cx="8382000" cy="4648200"/>
          </a:xfrm>
        </p:spPr>
        <p:txBody>
          <a:bodyPr>
            <a:normAutofit/>
          </a:bodyPr>
          <a:lstStyle/>
          <a:p>
            <a:r>
              <a:rPr lang="en-US" sz="3600" b="1" smtClean="0">
                <a:solidFill>
                  <a:schemeClr val="tx1"/>
                </a:solidFill>
                <a:latin typeface="Tahoma" pitchFamily="34" charset="0"/>
                <a:ea typeface="Tahoma" pitchFamily="34" charset="0"/>
                <a:cs typeface="Tahoma" pitchFamily="34" charset="0"/>
              </a:rPr>
              <a:t>Evaluate information obtained from the Web:</a:t>
            </a:r>
          </a:p>
          <a:p>
            <a:pPr lvl="1"/>
            <a:r>
              <a:rPr lang="en-US" sz="2400" smtClean="0">
                <a:solidFill>
                  <a:schemeClr val="tx1"/>
                </a:solidFill>
                <a:latin typeface="Tahoma" pitchFamily="34" charset="0"/>
                <a:ea typeface="Tahoma" pitchFamily="34" charset="0"/>
                <a:cs typeface="Tahoma" pitchFamily="34" charset="0"/>
              </a:rPr>
              <a:t>Who is author?</a:t>
            </a:r>
          </a:p>
          <a:p>
            <a:pPr lvl="1"/>
            <a:r>
              <a:rPr lang="en-US" sz="2400" smtClean="0">
                <a:solidFill>
                  <a:schemeClr val="tx1"/>
                </a:solidFill>
                <a:latin typeface="Tahoma" pitchFamily="34" charset="0"/>
                <a:ea typeface="Tahoma" pitchFamily="34" charset="0"/>
                <a:cs typeface="Tahoma" pitchFamily="34" charset="0"/>
              </a:rPr>
              <a:t>Does the author reference sources?</a:t>
            </a:r>
          </a:p>
          <a:p>
            <a:pPr lvl="1"/>
            <a:r>
              <a:rPr lang="en-US" sz="2400" smtClean="0">
                <a:solidFill>
                  <a:schemeClr val="tx1"/>
                </a:solidFill>
                <a:latin typeface="Tahoma" pitchFamily="34" charset="0"/>
                <a:ea typeface="Tahoma" pitchFamily="34" charset="0"/>
                <a:cs typeface="Tahoma" pitchFamily="34" charset="0"/>
              </a:rPr>
              <a:t>Who is the Web page affiliated with? Who pays for it?</a:t>
            </a:r>
          </a:p>
          <a:p>
            <a:pPr lvl="1"/>
            <a:r>
              <a:rPr lang="en-US" sz="2400" smtClean="0">
                <a:solidFill>
                  <a:schemeClr val="tx1"/>
                </a:solidFill>
                <a:latin typeface="Tahoma" pitchFamily="34" charset="0"/>
                <a:ea typeface="Tahoma" pitchFamily="34" charset="0"/>
                <a:cs typeface="Tahoma" pitchFamily="34" charset="0"/>
              </a:rPr>
              <a:t>Is the language objective/dispassionate or strident/argumentative?</a:t>
            </a:r>
          </a:p>
          <a:p>
            <a:pPr lvl="1"/>
            <a:r>
              <a:rPr lang="en-US" sz="2400" smtClean="0">
                <a:solidFill>
                  <a:schemeClr val="tx1"/>
                </a:solidFill>
                <a:latin typeface="Tahoma" pitchFamily="34" charset="0"/>
                <a:ea typeface="Tahoma" pitchFamily="34" charset="0"/>
                <a:cs typeface="Tahoma" pitchFamily="34" charset="0"/>
              </a:rPr>
              <a:t>What is the purpose of the page?</a:t>
            </a:r>
          </a:p>
          <a:p>
            <a:pPr lvl="1"/>
            <a:r>
              <a:rPr lang="en-US" sz="2400" smtClean="0">
                <a:solidFill>
                  <a:schemeClr val="tx1"/>
                </a:solidFill>
                <a:latin typeface="Tahoma" pitchFamily="34" charset="0"/>
                <a:ea typeface="Tahoma" pitchFamily="34" charset="0"/>
                <a:cs typeface="Tahoma" pitchFamily="34" charset="0"/>
              </a:rPr>
              <a:t>Does the information appear to be accurate?</a:t>
            </a:r>
          </a:p>
          <a:p>
            <a:pPr lvl="1"/>
            <a:r>
              <a:rPr lang="en-US" sz="2400" smtClean="0">
                <a:solidFill>
                  <a:schemeClr val="tx1"/>
                </a:solidFill>
                <a:latin typeface="Tahoma" pitchFamily="34" charset="0"/>
                <a:ea typeface="Tahoma" pitchFamily="34" charset="0"/>
                <a:cs typeface="Tahoma" pitchFamily="34" charset="0"/>
              </a:rPr>
              <a:t>Is the page current?</a:t>
            </a:r>
            <a:endParaRPr lang="en-US" sz="240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43</a:t>
            </a:fld>
            <a:endParaRPr kumimoji="0" lang="en-US"/>
          </a:p>
        </p:txBody>
      </p:sp>
    </p:spTree>
    <p:extLst>
      <p:ext uri="{BB962C8B-B14F-4D97-AF65-F5344CB8AC3E}">
        <p14:creationId xmlns:p14="http://schemas.microsoft.com/office/powerpoint/2010/main" val="30053180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noChangeArrowheads="1"/>
          </p:cNvSpPr>
          <p:nvPr>
            <p:ph type="title"/>
          </p:nvPr>
        </p:nvSpPr>
        <p:spPr>
          <a:xfrm>
            <a:off x="0" y="0"/>
            <a:ext cx="9144000" cy="1600200"/>
          </a:xfrm>
        </p:spPr>
        <p:txBody>
          <a:bodyPr lIns="92075" tIns="46038" rIns="92075" bIns="46038" anchor="b"/>
          <a:lstStyle/>
          <a:p>
            <a:r>
              <a:rPr lang="en-US"/>
              <a:t>Using Information </a:t>
            </a:r>
            <a:br>
              <a:rPr lang="en-US"/>
            </a:br>
            <a:r>
              <a:rPr lang="en-US"/>
              <a:t>from the Web</a:t>
            </a:r>
            <a:endParaRPr lang="en-US" smtClean="0"/>
          </a:p>
        </p:txBody>
      </p:sp>
      <p:sp>
        <p:nvSpPr>
          <p:cNvPr id="163842" name="Content Placeholder 6"/>
          <p:cNvSpPr>
            <a:spLocks noGrp="1"/>
          </p:cNvSpPr>
          <p:nvPr>
            <p:ph idx="1"/>
          </p:nvPr>
        </p:nvSpPr>
        <p:spPr>
          <a:xfrm>
            <a:off x="762000" y="1676400"/>
            <a:ext cx="8382000" cy="4343400"/>
          </a:xfrm>
        </p:spPr>
        <p:txBody>
          <a:bodyPr>
            <a:normAutofit/>
          </a:bodyPr>
          <a:lstStyle/>
          <a:p>
            <a:r>
              <a:rPr lang="en-US" sz="3600" b="1" smtClean="0">
                <a:solidFill>
                  <a:schemeClr val="tx1"/>
                </a:solidFill>
                <a:latin typeface="Tahoma" pitchFamily="34" charset="0"/>
                <a:ea typeface="Tahoma" pitchFamily="34" charset="0"/>
                <a:cs typeface="Tahoma" pitchFamily="34" charset="0"/>
              </a:rPr>
              <a:t>Use Web information for schoolwork.</a:t>
            </a:r>
            <a:r>
              <a:rPr lang="en-US" sz="3200" smtClean="0">
                <a:solidFill>
                  <a:schemeClr val="tx1"/>
                </a:solidFill>
                <a:latin typeface="Tahoma" pitchFamily="34" charset="0"/>
                <a:ea typeface="Tahoma" pitchFamily="34" charset="0"/>
                <a:cs typeface="Tahoma" pitchFamily="34" charset="0"/>
              </a:rPr>
              <a:t> </a:t>
            </a:r>
          </a:p>
          <a:p>
            <a:pPr lvl="1"/>
            <a:r>
              <a:rPr lang="en-US" sz="2400" smtClean="0">
                <a:solidFill>
                  <a:schemeClr val="tx1"/>
                </a:solidFill>
                <a:latin typeface="Tahoma" pitchFamily="34" charset="0"/>
                <a:ea typeface="Tahoma" pitchFamily="34" charset="0"/>
                <a:cs typeface="Tahoma" pitchFamily="34" charset="0"/>
              </a:rPr>
              <a:t>Access authoritative online sources.</a:t>
            </a:r>
          </a:p>
          <a:p>
            <a:pPr lvl="1"/>
            <a:r>
              <a:rPr lang="en-US" sz="2400" smtClean="0">
                <a:solidFill>
                  <a:schemeClr val="tx1"/>
                </a:solidFill>
                <a:latin typeface="Tahoma" pitchFamily="34" charset="0"/>
                <a:ea typeface="Tahoma" pitchFamily="34" charset="0"/>
                <a:cs typeface="Tahoma" pitchFamily="34" charset="0"/>
              </a:rPr>
              <a:t>Locate published works.</a:t>
            </a:r>
          </a:p>
          <a:p>
            <a:pPr lvl="1"/>
            <a:r>
              <a:rPr lang="en-US" sz="2400" smtClean="0">
                <a:solidFill>
                  <a:schemeClr val="tx1"/>
                </a:solidFill>
                <a:latin typeface="Tahoma" pitchFamily="34" charset="0"/>
                <a:ea typeface="Tahoma" pitchFamily="34" charset="0"/>
                <a:cs typeface="Tahoma" pitchFamily="34" charset="0"/>
              </a:rPr>
              <a:t>Provide appropriate online and offline reference citations in your work.</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44</a:t>
            </a:fld>
            <a:endParaRPr kumimoji="0" lang="en-US"/>
          </a:p>
        </p:txBody>
      </p:sp>
    </p:spTree>
    <p:extLst>
      <p:ext uri="{BB962C8B-B14F-4D97-AF65-F5344CB8AC3E}">
        <p14:creationId xmlns:p14="http://schemas.microsoft.com/office/powerpoint/2010/main" val="1535008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ChangeArrowheads="1"/>
          </p:cNvSpPr>
          <p:nvPr>
            <p:ph type="title"/>
          </p:nvPr>
        </p:nvSpPr>
        <p:spPr>
          <a:xfrm>
            <a:off x="0" y="0"/>
            <a:ext cx="9144000" cy="1600200"/>
          </a:xfrm>
        </p:spPr>
        <p:txBody>
          <a:bodyPr lIns="92075" tIns="46038" rIns="92075" bIns="46038" anchor="b"/>
          <a:lstStyle/>
          <a:p>
            <a:r>
              <a:rPr lang="en-US"/>
              <a:t>Exploring </a:t>
            </a:r>
            <a:r>
              <a:rPr lang="en-US" smtClean="0"/>
              <a:t>Internet</a:t>
            </a:r>
            <a:br>
              <a:rPr lang="en-US" smtClean="0"/>
            </a:br>
            <a:r>
              <a:rPr lang="en-US" smtClean="0"/>
              <a:t>Services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45</a:t>
            </a:fld>
            <a:endParaRPr kumimoji="0" lang="en-US"/>
          </a:p>
        </p:txBody>
      </p:sp>
      <p:sp>
        <p:nvSpPr>
          <p:cNvPr id="4" name="Content Placeholder 3"/>
          <p:cNvSpPr>
            <a:spLocks noGrp="1"/>
          </p:cNvSpPr>
          <p:nvPr>
            <p:ph idx="1"/>
          </p:nvPr>
        </p:nvSpPr>
        <p:spPr>
          <a:xfrm>
            <a:off x="609600" y="1600201"/>
            <a:ext cx="8001000" cy="1905000"/>
          </a:xfrm>
        </p:spPr>
        <p:txBody>
          <a:bodyPr>
            <a:normAutofit/>
          </a:bodyPr>
          <a:lstStyle/>
          <a:p>
            <a:r>
              <a:rPr lang="en-US" sz="3200" b="1" smtClean="0">
                <a:solidFill>
                  <a:schemeClr val="tx1"/>
                </a:solidFill>
                <a:latin typeface="Tahoma" pitchFamily="34" charset="0"/>
                <a:ea typeface="Tahoma" pitchFamily="34" charset="0"/>
                <a:cs typeface="Tahoma" pitchFamily="34" charset="0"/>
              </a:rPr>
              <a:t>Internet service</a:t>
            </a:r>
          </a:p>
          <a:p>
            <a:pPr lvl="1"/>
            <a:r>
              <a:rPr lang="en-US" sz="2400" smtClean="0">
                <a:solidFill>
                  <a:schemeClr val="tx1"/>
                </a:solidFill>
                <a:latin typeface="Tahoma" pitchFamily="34" charset="0"/>
                <a:ea typeface="Tahoma" pitchFamily="34" charset="0"/>
                <a:cs typeface="Tahoma" pitchFamily="34" charset="0"/>
              </a:rPr>
              <a:t>Set </a:t>
            </a:r>
            <a:r>
              <a:rPr lang="en-US" sz="2400">
                <a:solidFill>
                  <a:schemeClr val="tx1"/>
                </a:solidFill>
                <a:latin typeface="Tahoma" pitchFamily="34" charset="0"/>
                <a:ea typeface="Tahoma" pitchFamily="34" charset="0"/>
                <a:cs typeface="Tahoma" pitchFamily="34" charset="0"/>
              </a:rPr>
              <a:t>of standards or protocols that identify how computers communicate through the </a:t>
            </a:r>
            <a:r>
              <a:rPr lang="en-US" sz="2400" smtClean="0">
                <a:solidFill>
                  <a:schemeClr val="tx1"/>
                </a:solidFill>
                <a:latin typeface="Tahoma" pitchFamily="34" charset="0"/>
                <a:ea typeface="Tahoma" pitchFamily="34" charset="0"/>
                <a:cs typeface="Tahoma" pitchFamily="34" charset="0"/>
              </a:rPr>
              <a:t>Internet</a:t>
            </a:r>
            <a:endParaRPr lang="en-US" sz="2400">
              <a:solidFill>
                <a:schemeClr val="tx1"/>
              </a:solidFill>
              <a:latin typeface="Tahoma" pitchFamily="34" charset="0"/>
              <a:ea typeface="Tahoma" pitchFamily="34" charset="0"/>
              <a:cs typeface="Tahoma" pitchFamily="34" charset="0"/>
            </a:endParaRPr>
          </a:p>
          <a:p>
            <a:endParaRPr lang="en-US" sz="2800">
              <a:solidFill>
                <a:schemeClr val="tx1"/>
              </a:solidFill>
              <a:latin typeface="Tahoma" pitchFamily="34" charset="0"/>
              <a:ea typeface="Tahoma" pitchFamily="34" charset="0"/>
              <a:cs typeface="Tahom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2971800"/>
            <a:ext cx="6629400" cy="3505200"/>
          </a:xfrm>
          <a:prstGeom prst="rect">
            <a:avLst/>
          </a:prstGeom>
        </p:spPr>
      </p:pic>
    </p:spTree>
    <p:extLst>
      <p:ext uri="{BB962C8B-B14F-4D97-AF65-F5344CB8AC3E}">
        <p14:creationId xmlns:p14="http://schemas.microsoft.com/office/powerpoint/2010/main" val="1233602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67938" name="Content Placeholder 6"/>
          <p:cNvSpPr>
            <a:spLocks noGrp="1"/>
          </p:cNvSpPr>
          <p:nvPr>
            <p:ph idx="1"/>
          </p:nvPr>
        </p:nvSpPr>
        <p:spPr>
          <a:xfrm>
            <a:off x="762000" y="1905000"/>
            <a:ext cx="7772400" cy="4114800"/>
          </a:xfrm>
        </p:spPr>
        <p:txBody>
          <a:bodyPr>
            <a:normAutofit/>
          </a:bodyPr>
          <a:lstStyle/>
          <a:p>
            <a:r>
              <a:rPr lang="en-US" sz="3600" b="1" smtClean="0">
                <a:solidFill>
                  <a:schemeClr val="tx1"/>
                </a:solidFill>
                <a:latin typeface="Tahoma" pitchFamily="34" charset="0"/>
                <a:ea typeface="Tahoma" pitchFamily="34" charset="0"/>
                <a:cs typeface="Tahoma" pitchFamily="34" charset="0"/>
              </a:rPr>
              <a:t>Electronic mail (e-mail)</a:t>
            </a:r>
          </a:p>
          <a:p>
            <a:pPr lvl="1"/>
            <a:r>
              <a:rPr lang="en-US" sz="2400">
                <a:solidFill>
                  <a:schemeClr val="tx1"/>
                </a:solidFill>
                <a:latin typeface="Tahoma" pitchFamily="34" charset="0"/>
                <a:ea typeface="Tahoma" pitchFamily="34" charset="0"/>
                <a:cs typeface="Tahoma" pitchFamily="34" charset="0"/>
              </a:rPr>
              <a:t>T</a:t>
            </a:r>
            <a:r>
              <a:rPr lang="en-US" sz="2400" smtClean="0">
                <a:solidFill>
                  <a:schemeClr val="tx1"/>
                </a:solidFill>
                <a:latin typeface="Tahoma" pitchFamily="34" charset="0"/>
                <a:ea typeface="Tahoma" pitchFamily="34" charset="0"/>
                <a:cs typeface="Tahoma" pitchFamily="34" charset="0"/>
              </a:rPr>
              <a:t>ype of application software that makes sending and receiving messages through computer networks possible</a:t>
            </a:r>
          </a:p>
          <a:p>
            <a:r>
              <a:rPr lang="en-US" sz="3600" b="1" smtClean="0">
                <a:solidFill>
                  <a:schemeClr val="tx1"/>
                </a:solidFill>
                <a:latin typeface="Tahoma" pitchFamily="34" charset="0"/>
                <a:ea typeface="Tahoma" pitchFamily="34" charset="0"/>
                <a:cs typeface="Tahoma" pitchFamily="34" charset="0"/>
              </a:rPr>
              <a:t>E-mail attachment</a:t>
            </a:r>
          </a:p>
          <a:p>
            <a:pPr lvl="1"/>
            <a:r>
              <a:rPr lang="en-US" sz="2400" smtClean="0">
                <a:solidFill>
                  <a:schemeClr val="tx1"/>
                </a:solidFill>
                <a:latin typeface="Tahoma" pitchFamily="34" charset="0"/>
                <a:ea typeface="Tahoma" pitchFamily="34" charset="0"/>
                <a:cs typeface="Tahoma" pitchFamily="34" charset="0"/>
              </a:rPr>
              <a:t>Computer file included with an e-mail message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46</a:t>
            </a:fld>
            <a:endParaRPr kumimoji="0" lang="en-US"/>
          </a:p>
        </p:txBody>
      </p:sp>
    </p:spTree>
    <p:extLst>
      <p:ext uri="{BB962C8B-B14F-4D97-AF65-F5344CB8AC3E}">
        <p14:creationId xmlns:p14="http://schemas.microsoft.com/office/powerpoint/2010/main" val="263187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69986" name="Content Placeholder 6"/>
          <p:cNvSpPr>
            <a:spLocks noGrp="1"/>
          </p:cNvSpPr>
          <p:nvPr>
            <p:ph idx="1"/>
          </p:nvPr>
        </p:nvSpPr>
        <p:spPr>
          <a:xfrm>
            <a:off x="762000" y="1905000"/>
            <a:ext cx="7848600" cy="4114800"/>
          </a:xfrm>
        </p:spPr>
        <p:txBody>
          <a:bodyPr>
            <a:normAutofit/>
          </a:bodyPr>
          <a:lstStyle/>
          <a:p>
            <a:r>
              <a:rPr lang="en-US" sz="3600" b="1" smtClean="0">
                <a:solidFill>
                  <a:schemeClr val="tx1"/>
                </a:solidFill>
                <a:latin typeface="Tahoma" pitchFamily="34" charset="0"/>
                <a:ea typeface="Tahoma" pitchFamily="34" charset="0"/>
                <a:cs typeface="Tahoma" pitchFamily="34" charset="0"/>
              </a:rPr>
              <a:t>E-mail address</a:t>
            </a:r>
          </a:p>
          <a:p>
            <a:pPr lvl="1"/>
            <a:r>
              <a:rPr lang="en-US" sz="2400" smtClean="0">
                <a:solidFill>
                  <a:schemeClr val="tx1"/>
                </a:solidFill>
                <a:latin typeface="Tahoma" pitchFamily="34" charset="0"/>
                <a:ea typeface="Tahoma" pitchFamily="34" charset="0"/>
                <a:cs typeface="Tahoma" pitchFamily="34" charset="0"/>
              </a:rPr>
              <a:t>Unique cyberspace address for each individual</a:t>
            </a:r>
          </a:p>
          <a:p>
            <a:pPr lvl="1"/>
            <a:r>
              <a:rPr lang="en-US" sz="2400">
                <a:solidFill>
                  <a:schemeClr val="tx1"/>
                </a:solidFill>
                <a:latin typeface="Tahoma" pitchFamily="34" charset="0"/>
                <a:ea typeface="Tahoma" pitchFamily="34" charset="0"/>
                <a:cs typeface="Tahoma" pitchFamily="34" charset="0"/>
              </a:rPr>
              <a:t>C</a:t>
            </a:r>
            <a:r>
              <a:rPr lang="en-US" sz="2400" smtClean="0">
                <a:solidFill>
                  <a:schemeClr val="tx1"/>
                </a:solidFill>
                <a:latin typeface="Tahoma" pitchFamily="34" charset="0"/>
                <a:ea typeface="Tahoma" pitchFamily="34" charset="0"/>
                <a:cs typeface="Tahoma" pitchFamily="34" charset="0"/>
              </a:rPr>
              <a:t>onsists of a user name, the name of the hosting e-mail service, and the top-level domain</a:t>
            </a:r>
          </a:p>
          <a:p>
            <a:r>
              <a:rPr lang="en-US" sz="3600" b="1" smtClean="0">
                <a:solidFill>
                  <a:schemeClr val="tx1"/>
                </a:solidFill>
                <a:latin typeface="Tahoma" pitchFamily="34" charset="0"/>
                <a:ea typeface="Tahoma" pitchFamily="34" charset="0"/>
                <a:cs typeface="Tahoma" pitchFamily="34" charset="0"/>
              </a:rPr>
              <a:t>Spam</a:t>
            </a:r>
          </a:p>
          <a:p>
            <a:pPr lvl="1"/>
            <a:r>
              <a:rPr lang="en-US" sz="2400" smtClean="0">
                <a:solidFill>
                  <a:schemeClr val="tx1"/>
                </a:solidFill>
                <a:latin typeface="Tahoma" pitchFamily="34" charset="0"/>
                <a:ea typeface="Tahoma" pitchFamily="34" charset="0"/>
                <a:cs typeface="Tahoma" pitchFamily="34" charset="0"/>
              </a:rPr>
              <a:t>Unsolicited e-mails, </a:t>
            </a:r>
            <a:r>
              <a:rPr lang="en-US" sz="2400">
                <a:solidFill>
                  <a:schemeClr val="tx1"/>
                </a:solidFill>
                <a:latin typeface="Tahoma" pitchFamily="34" charset="0"/>
                <a:ea typeface="Tahoma" pitchFamily="34" charset="0"/>
                <a:cs typeface="Tahoma" pitchFamily="34" charset="0"/>
              </a:rPr>
              <a:t>usually from </a:t>
            </a:r>
            <a:r>
              <a:rPr lang="en-US" sz="2400" smtClean="0">
                <a:solidFill>
                  <a:schemeClr val="tx1"/>
                </a:solidFill>
                <a:latin typeface="Tahoma" pitchFamily="34" charset="0"/>
                <a:ea typeface="Tahoma" pitchFamily="34" charset="0"/>
                <a:cs typeface="Tahoma" pitchFamily="34" charset="0"/>
              </a:rPr>
              <a:t>advertisers</a:t>
            </a:r>
          </a:p>
          <a:p>
            <a:pPr lvl="1"/>
            <a:r>
              <a:rPr lang="en-US" sz="2400" smtClean="0">
                <a:solidFill>
                  <a:schemeClr val="tx1"/>
                </a:solidFill>
                <a:latin typeface="Tahoma" pitchFamily="34" charset="0"/>
                <a:ea typeface="Tahoma" pitchFamily="34" charset="0"/>
                <a:cs typeface="Tahoma" pitchFamily="34" charset="0"/>
              </a:rPr>
              <a:t>Do </a:t>
            </a:r>
            <a:r>
              <a:rPr lang="en-US" sz="2400">
                <a:solidFill>
                  <a:schemeClr val="tx1"/>
                </a:solidFill>
                <a:latin typeface="Tahoma" pitchFamily="34" charset="0"/>
                <a:ea typeface="Tahoma" pitchFamily="34" charset="0"/>
                <a:cs typeface="Tahoma" pitchFamily="34" charset="0"/>
              </a:rPr>
              <a:t>not open </a:t>
            </a:r>
            <a:r>
              <a:rPr lang="en-US" sz="2400" smtClean="0">
                <a:solidFill>
                  <a:schemeClr val="tx1"/>
                </a:solidFill>
                <a:latin typeface="Tahoma" pitchFamily="34" charset="0"/>
                <a:ea typeface="Tahoma" pitchFamily="34" charset="0"/>
                <a:cs typeface="Tahoma" pitchFamily="34" charset="0"/>
              </a:rPr>
              <a:t>spam</a:t>
            </a:r>
            <a:endParaRPr lang="en-US" sz="2400">
              <a:solidFill>
                <a:schemeClr val="tx1"/>
              </a:solidFill>
              <a:latin typeface="Tahoma" pitchFamily="34" charset="0"/>
              <a:ea typeface="Tahoma" pitchFamily="34" charset="0"/>
              <a:cs typeface="Tahoma" pitchFamily="34" charset="0"/>
            </a:endParaRPr>
          </a:p>
          <a:p>
            <a:endParaRPr lang="en-US" sz="2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47</a:t>
            </a:fld>
            <a:endParaRPr kumimoji="0" lang="en-US"/>
          </a:p>
        </p:txBody>
      </p:sp>
    </p:spTree>
    <p:extLst>
      <p:ext uri="{BB962C8B-B14F-4D97-AF65-F5344CB8AC3E}">
        <p14:creationId xmlns:p14="http://schemas.microsoft.com/office/powerpoint/2010/main" val="27514766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69986" name="Content Placeholder 6"/>
          <p:cNvSpPr>
            <a:spLocks noGrp="1"/>
          </p:cNvSpPr>
          <p:nvPr>
            <p:ph idx="1"/>
          </p:nvPr>
        </p:nvSpPr>
        <p:spPr>
          <a:xfrm>
            <a:off x="762000" y="1600200"/>
            <a:ext cx="7696200" cy="4572000"/>
          </a:xfrm>
        </p:spPr>
        <p:txBody>
          <a:bodyPr>
            <a:normAutofit/>
          </a:bodyPr>
          <a:lstStyle/>
          <a:p>
            <a:r>
              <a:rPr lang="en-US" sz="2800" b="1" smtClean="0">
                <a:solidFill>
                  <a:schemeClr val="tx1"/>
                </a:solidFill>
                <a:latin typeface="Tahoma" pitchFamily="34" charset="0"/>
                <a:ea typeface="Tahoma" pitchFamily="34" charset="0"/>
                <a:cs typeface="Tahoma" pitchFamily="34" charset="0"/>
              </a:rPr>
              <a:t>Malware</a:t>
            </a:r>
          </a:p>
          <a:p>
            <a:pPr lvl="1"/>
            <a:r>
              <a:rPr lang="en-US" sz="2400" smtClean="0">
                <a:solidFill>
                  <a:schemeClr val="tx1"/>
                </a:solidFill>
                <a:latin typeface="Tahoma" pitchFamily="34" charset="0"/>
                <a:ea typeface="Tahoma" pitchFamily="34" charset="0"/>
                <a:cs typeface="Tahoma" pitchFamily="34" charset="0"/>
              </a:rPr>
              <a:t>Malicious software that places a computer in the spammer’s control</a:t>
            </a:r>
          </a:p>
          <a:p>
            <a:r>
              <a:rPr lang="en-US" sz="2800" b="1" smtClean="0">
                <a:solidFill>
                  <a:schemeClr val="tx1"/>
                </a:solidFill>
                <a:latin typeface="Tahoma" pitchFamily="34" charset="0"/>
                <a:ea typeface="Tahoma" pitchFamily="34" charset="0"/>
                <a:cs typeface="Tahoma" pitchFamily="34" charset="0"/>
              </a:rPr>
              <a:t>Spyware</a:t>
            </a:r>
          </a:p>
          <a:p>
            <a:pPr lvl="1"/>
            <a:r>
              <a:rPr lang="en-US" sz="2400">
                <a:solidFill>
                  <a:schemeClr val="tx1"/>
                </a:solidFill>
                <a:latin typeface="Tahoma" pitchFamily="34" charset="0"/>
                <a:ea typeface="Tahoma" pitchFamily="34" charset="0"/>
                <a:cs typeface="Tahoma" pitchFamily="34" charset="0"/>
              </a:rPr>
              <a:t>G</a:t>
            </a:r>
            <a:r>
              <a:rPr lang="en-US" sz="2400" smtClean="0">
                <a:solidFill>
                  <a:schemeClr val="tx1"/>
                </a:solidFill>
                <a:latin typeface="Tahoma" pitchFamily="34" charset="0"/>
                <a:ea typeface="Tahoma" pitchFamily="34" charset="0"/>
                <a:cs typeface="Tahoma" pitchFamily="34" charset="0"/>
              </a:rPr>
              <a:t>athers data from a system without knowledge</a:t>
            </a:r>
          </a:p>
          <a:p>
            <a:r>
              <a:rPr lang="en-US" sz="2800" b="1" smtClean="0">
                <a:solidFill>
                  <a:schemeClr val="tx1"/>
                </a:solidFill>
                <a:latin typeface="Tahoma" pitchFamily="34" charset="0"/>
                <a:ea typeface="Tahoma" pitchFamily="34" charset="0"/>
                <a:cs typeface="Tahoma" pitchFamily="34" charset="0"/>
              </a:rPr>
              <a:t>Botnet</a:t>
            </a:r>
          </a:p>
          <a:p>
            <a:pPr lvl="1"/>
            <a:r>
              <a:rPr lang="en-US" sz="2400" smtClean="0">
                <a:solidFill>
                  <a:schemeClr val="tx1"/>
                </a:solidFill>
                <a:latin typeface="Tahoma" pitchFamily="34" charset="0"/>
                <a:ea typeface="Tahoma" pitchFamily="34" charset="0"/>
                <a:cs typeface="Tahoma" pitchFamily="34" charset="0"/>
              </a:rPr>
              <a:t>Set of infected computers that places computers under the control of a </a:t>
            </a:r>
            <a:r>
              <a:rPr lang="en-US" sz="2400" b="1" smtClean="0">
                <a:solidFill>
                  <a:schemeClr val="tx1"/>
                </a:solidFill>
                <a:latin typeface="Tahoma" pitchFamily="34" charset="0"/>
                <a:ea typeface="Tahoma" pitchFamily="34" charset="0"/>
                <a:cs typeface="Tahoma" pitchFamily="34" charset="0"/>
              </a:rPr>
              <a:t>bot herder</a:t>
            </a:r>
            <a:endParaRPr lang="en-US" sz="24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48</a:t>
            </a:fld>
            <a:endParaRPr kumimoji="0" lang="en-US"/>
          </a:p>
        </p:txBody>
      </p:sp>
    </p:spTree>
    <p:extLst>
      <p:ext uri="{BB962C8B-B14F-4D97-AF65-F5344CB8AC3E}">
        <p14:creationId xmlns:p14="http://schemas.microsoft.com/office/powerpoint/2010/main" val="7251623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69986" name="Content Placeholder 6"/>
          <p:cNvSpPr>
            <a:spLocks noGrp="1"/>
          </p:cNvSpPr>
          <p:nvPr>
            <p:ph idx="1"/>
          </p:nvPr>
        </p:nvSpPr>
        <p:spPr>
          <a:xfrm>
            <a:off x="762000" y="1981200"/>
            <a:ext cx="8077200" cy="4114800"/>
          </a:xfrm>
        </p:spPr>
        <p:txBody>
          <a:bodyPr/>
          <a:lstStyle/>
          <a:p>
            <a:r>
              <a:rPr lang="en-US" smtClean="0"/>
              <a: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49</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865193"/>
            <a:ext cx="8176022" cy="3812275"/>
          </a:xfrm>
          <a:prstGeom prst="rect">
            <a:avLst/>
          </a:prstGeom>
        </p:spPr>
      </p:pic>
    </p:spTree>
    <p:extLst>
      <p:ext uri="{BB962C8B-B14F-4D97-AF65-F5344CB8AC3E}">
        <p14:creationId xmlns:p14="http://schemas.microsoft.com/office/powerpoint/2010/main" val="7251623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74082" name="Content Placeholder 6"/>
          <p:cNvSpPr>
            <a:spLocks noGrp="1"/>
          </p:cNvSpPr>
          <p:nvPr>
            <p:ph idx="1"/>
          </p:nvPr>
        </p:nvSpPr>
        <p:spPr>
          <a:xfrm>
            <a:off x="762000" y="1905000"/>
            <a:ext cx="8382000" cy="4419600"/>
          </a:xfrm>
        </p:spPr>
        <p:txBody>
          <a:bodyPr>
            <a:normAutofit/>
          </a:bodyPr>
          <a:lstStyle/>
          <a:p>
            <a:r>
              <a:rPr lang="en-US" sz="2800" b="1" smtClean="0">
                <a:solidFill>
                  <a:schemeClr val="tx1"/>
                </a:solidFill>
                <a:latin typeface="Tahoma" pitchFamily="34" charset="0"/>
                <a:ea typeface="Tahoma" pitchFamily="34" charset="0"/>
                <a:cs typeface="Tahoma" pitchFamily="34" charset="0"/>
              </a:rPr>
              <a:t>Instant messaging (IM) systems</a:t>
            </a:r>
            <a:endParaRPr lang="en-US" sz="2800" smtClean="0">
              <a:solidFill>
                <a:schemeClr val="tx1"/>
              </a:solidFill>
              <a:latin typeface="Tahoma" pitchFamily="34" charset="0"/>
              <a:ea typeface="Tahoma" pitchFamily="34" charset="0"/>
              <a:cs typeface="Tahoma" pitchFamily="34" charset="0"/>
            </a:endParaRPr>
          </a:p>
          <a:p>
            <a:pPr lvl="1"/>
            <a:r>
              <a:rPr lang="en-US" sz="2400" smtClean="0">
                <a:solidFill>
                  <a:schemeClr val="tx1"/>
                </a:solidFill>
                <a:latin typeface="Tahoma" pitchFamily="34" charset="0"/>
                <a:ea typeface="Tahoma" pitchFamily="34" charset="0"/>
                <a:cs typeface="Tahoma" pitchFamily="34" charset="0"/>
              </a:rPr>
              <a:t>Allow immediate, real-time communication with contacts</a:t>
            </a:r>
          </a:p>
          <a:p>
            <a:pPr lvl="2"/>
            <a:r>
              <a:rPr lang="en-US" sz="2400" smtClean="0">
                <a:solidFill>
                  <a:schemeClr val="tx1"/>
                </a:solidFill>
                <a:latin typeface="Tahoma" pitchFamily="34" charset="0"/>
                <a:ea typeface="Tahoma" pitchFamily="34" charset="0"/>
                <a:cs typeface="Tahoma" pitchFamily="34" charset="0"/>
              </a:rPr>
              <a:t>Requires additional software</a:t>
            </a:r>
          </a:p>
          <a:p>
            <a:pPr lvl="2"/>
            <a:r>
              <a:rPr lang="en-US" sz="2400" smtClean="0">
                <a:solidFill>
                  <a:schemeClr val="tx1"/>
                </a:solidFill>
                <a:latin typeface="Tahoma" pitchFamily="34" charset="0"/>
                <a:ea typeface="Tahoma" pitchFamily="34" charset="0"/>
                <a:cs typeface="Tahoma" pitchFamily="34" charset="0"/>
              </a:rPr>
              <a:t>Notifies users when a contact is connected to the Internet</a:t>
            </a:r>
          </a:p>
          <a:p>
            <a:pPr lvl="2"/>
            <a:r>
              <a:rPr lang="en-US" sz="2400" b="1" err="1" smtClean="0">
                <a:solidFill>
                  <a:schemeClr val="tx1"/>
                </a:solidFill>
                <a:latin typeface="Tahoma" pitchFamily="34" charset="0"/>
                <a:ea typeface="Tahoma" pitchFamily="34" charset="0"/>
                <a:cs typeface="Tahoma" pitchFamily="34" charset="0"/>
              </a:rPr>
              <a:t>Spimming</a:t>
            </a:r>
            <a:r>
              <a:rPr lang="en-US" sz="2400" smtClean="0">
                <a:solidFill>
                  <a:schemeClr val="tx1"/>
                </a:solidFill>
                <a:latin typeface="Tahoma" pitchFamily="34" charset="0"/>
                <a:ea typeface="Tahoma" pitchFamily="34" charset="0"/>
                <a:cs typeface="Tahoma" pitchFamily="34" charset="0"/>
              </a:rPr>
              <a:t>—spam for instant messaging</a:t>
            </a:r>
          </a:p>
          <a:p>
            <a:pPr lvl="1"/>
            <a:endParaRPr lang="en-US" sz="1800" b="1"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50</a:t>
            </a:fld>
            <a:endParaRPr kumimoji="0" lang="en-US"/>
          </a:p>
        </p:txBody>
      </p:sp>
    </p:spTree>
    <p:extLst>
      <p:ext uri="{BB962C8B-B14F-4D97-AF65-F5344CB8AC3E}">
        <p14:creationId xmlns:p14="http://schemas.microsoft.com/office/powerpoint/2010/main" val="3172407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51</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524000"/>
            <a:ext cx="6705600" cy="4648200"/>
          </a:xfrm>
          <a:prstGeom prst="rect">
            <a:avLst/>
          </a:prstGeom>
        </p:spPr>
      </p:pic>
    </p:spTree>
    <p:extLst>
      <p:ext uri="{BB962C8B-B14F-4D97-AF65-F5344CB8AC3E}">
        <p14:creationId xmlns:p14="http://schemas.microsoft.com/office/powerpoint/2010/main" val="41242679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76130" name="Content Placeholder 6"/>
          <p:cNvSpPr>
            <a:spLocks noGrp="1"/>
          </p:cNvSpPr>
          <p:nvPr>
            <p:ph idx="1"/>
          </p:nvPr>
        </p:nvSpPr>
        <p:spPr>
          <a:xfrm>
            <a:off x="762000" y="1905000"/>
            <a:ext cx="8382000" cy="41148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Internet relay chat (IRC)</a:t>
            </a:r>
            <a:endParaRPr lang="en-US" sz="3600" smtClean="0">
              <a:solidFill>
                <a:schemeClr val="tx1"/>
              </a:solidFill>
              <a:latin typeface="Tahoma" pitchFamily="34" charset="0"/>
              <a:ea typeface="Tahoma" pitchFamily="34" charset="0"/>
              <a:cs typeface="Tahoma" pitchFamily="34" charset="0"/>
            </a:endParaRPr>
          </a:p>
          <a:p>
            <a:pPr lvl="1">
              <a:spcBef>
                <a:spcPct val="0"/>
              </a:spcBef>
            </a:pPr>
            <a:r>
              <a:rPr lang="en-US" sz="2400">
                <a:solidFill>
                  <a:schemeClr val="tx1"/>
                </a:solidFill>
                <a:latin typeface="Tahoma" pitchFamily="34" charset="0"/>
                <a:ea typeface="Tahoma" pitchFamily="34" charset="0"/>
                <a:cs typeface="Tahoma" pitchFamily="34" charset="0"/>
              </a:rPr>
              <a:t>S</a:t>
            </a:r>
            <a:r>
              <a:rPr lang="en-US" sz="2400" smtClean="0">
                <a:solidFill>
                  <a:schemeClr val="tx1"/>
                </a:solidFill>
                <a:latin typeface="Tahoma" pitchFamily="34" charset="0"/>
                <a:ea typeface="Tahoma" pitchFamily="34" charset="0"/>
                <a:cs typeface="Tahoma" pitchFamily="34" charset="0"/>
              </a:rPr>
              <a:t>pecial type of Internet service that gives users the ability to join chat groups called </a:t>
            </a:r>
            <a:r>
              <a:rPr lang="en-US" sz="2400" b="1" smtClean="0">
                <a:solidFill>
                  <a:schemeClr val="tx1"/>
                </a:solidFill>
                <a:latin typeface="Tahoma" pitchFamily="34" charset="0"/>
                <a:ea typeface="Tahoma" pitchFamily="34" charset="0"/>
                <a:cs typeface="Tahoma" pitchFamily="34" charset="0"/>
              </a:rPr>
              <a:t>channels</a:t>
            </a:r>
            <a:endParaRPr lang="en-US" sz="2400" smtClean="0">
              <a:solidFill>
                <a:schemeClr val="tx1"/>
              </a:solidFill>
              <a:latin typeface="Tahoma" pitchFamily="34" charset="0"/>
              <a:ea typeface="Tahoma" pitchFamily="34" charset="0"/>
              <a:cs typeface="Tahoma" pitchFamily="34" charset="0"/>
            </a:endParaRPr>
          </a:p>
          <a:p>
            <a:pPr>
              <a:spcBef>
                <a:spcPct val="0"/>
              </a:spcBef>
            </a:pPr>
            <a:r>
              <a:rPr lang="en-US" sz="3600" b="1" smtClean="0">
                <a:solidFill>
                  <a:schemeClr val="tx1"/>
                </a:solidFill>
                <a:latin typeface="Tahoma" pitchFamily="34" charset="0"/>
                <a:ea typeface="Tahoma" pitchFamily="34" charset="0"/>
                <a:cs typeface="Tahoma" pitchFamily="34" charset="0"/>
              </a:rPr>
              <a:t>Social networking</a:t>
            </a:r>
            <a:endParaRPr lang="en-US" sz="3600" smtClean="0">
              <a:solidFill>
                <a:schemeClr val="tx1"/>
              </a:solidFill>
              <a:latin typeface="Tahoma" pitchFamily="34" charset="0"/>
              <a:ea typeface="Tahoma" pitchFamily="34" charset="0"/>
              <a:cs typeface="Tahoma" pitchFamily="34" charset="0"/>
            </a:endParaRPr>
          </a:p>
          <a:p>
            <a:pPr lvl="1">
              <a:spcBef>
                <a:spcPct val="0"/>
              </a:spcBef>
            </a:pPr>
            <a:r>
              <a:rPr lang="en-US" sz="2400">
                <a:solidFill>
                  <a:schemeClr val="tx1"/>
                </a:solidFill>
                <a:latin typeface="Tahoma" pitchFamily="34" charset="0"/>
                <a:ea typeface="Tahoma" pitchFamily="34" charset="0"/>
                <a:cs typeface="Tahoma" pitchFamily="34" charset="0"/>
              </a:rPr>
              <a:t>H</a:t>
            </a:r>
            <a:r>
              <a:rPr lang="en-US" sz="2400" smtClean="0">
                <a:solidFill>
                  <a:schemeClr val="tx1"/>
                </a:solidFill>
                <a:latin typeface="Tahoma" pitchFamily="34" charset="0"/>
                <a:ea typeface="Tahoma" pitchFamily="34" charset="0"/>
                <a:cs typeface="Tahoma" pitchFamily="34" charset="0"/>
              </a:rPr>
              <a:t>elps people connect</a:t>
            </a:r>
          </a:p>
          <a:p>
            <a:pPr lvl="1">
              <a:spcBef>
                <a:spcPct val="0"/>
              </a:spcBef>
            </a:pPr>
            <a:r>
              <a:rPr lang="en-US" sz="2400" smtClean="0">
                <a:solidFill>
                  <a:schemeClr val="tx1"/>
                </a:solidFill>
                <a:latin typeface="Tahoma" pitchFamily="34" charset="0"/>
                <a:ea typeface="Tahoma" pitchFamily="34" charset="0"/>
                <a:cs typeface="Tahoma" pitchFamily="34" charset="0"/>
              </a:rPr>
              <a:t>Sites such as MySpace provide the ability to create large communities online.</a:t>
            </a:r>
            <a:endParaRPr lang="en-US" sz="2400" b="1"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52</a:t>
            </a:fld>
            <a:endParaRPr kumimoji="0" lang="en-US"/>
          </a:p>
        </p:txBody>
      </p:sp>
    </p:spTree>
    <p:extLst>
      <p:ext uri="{BB962C8B-B14F-4D97-AF65-F5344CB8AC3E}">
        <p14:creationId xmlns:p14="http://schemas.microsoft.com/office/powerpoint/2010/main" val="39307154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80226" name="Content Placeholder 6"/>
          <p:cNvSpPr>
            <a:spLocks noGrp="1"/>
          </p:cNvSpPr>
          <p:nvPr>
            <p:ph idx="1"/>
          </p:nvPr>
        </p:nvSpPr>
        <p:spPr>
          <a:xfrm>
            <a:off x="762000" y="1600200"/>
            <a:ext cx="8382000" cy="48006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Usenet</a:t>
            </a:r>
          </a:p>
          <a:p>
            <a:pPr lvl="1">
              <a:spcBef>
                <a:spcPct val="0"/>
              </a:spcBef>
            </a:pPr>
            <a:r>
              <a:rPr lang="en-US" sz="2400">
                <a:solidFill>
                  <a:schemeClr val="tx1"/>
                </a:solidFill>
                <a:latin typeface="Tahoma" pitchFamily="34" charset="0"/>
                <a:ea typeface="Tahoma" pitchFamily="34" charset="0"/>
                <a:cs typeface="Tahoma" pitchFamily="34" charset="0"/>
              </a:rPr>
              <a:t>W</a:t>
            </a:r>
            <a:r>
              <a:rPr lang="en-US" sz="2400" smtClean="0">
                <a:solidFill>
                  <a:schemeClr val="tx1"/>
                </a:solidFill>
                <a:latin typeface="Tahoma" pitchFamily="34" charset="0"/>
                <a:ea typeface="Tahoma" pitchFamily="34" charset="0"/>
                <a:cs typeface="Tahoma" pitchFamily="34" charset="0"/>
              </a:rPr>
              <a:t>orldwide discussion system available through the Internet</a:t>
            </a:r>
          </a:p>
          <a:p>
            <a:pPr lvl="1">
              <a:spcBef>
                <a:spcPct val="0"/>
              </a:spcBef>
            </a:pPr>
            <a:r>
              <a:rPr lang="en-US" sz="2400" smtClean="0">
                <a:solidFill>
                  <a:schemeClr val="tx1"/>
                </a:solidFill>
                <a:latin typeface="Tahoma" pitchFamily="34" charset="0"/>
                <a:ea typeface="Tahoma" pitchFamily="34" charset="0"/>
                <a:cs typeface="Tahoma" pitchFamily="34" charset="0"/>
              </a:rPr>
              <a:t>Made up of many </a:t>
            </a:r>
            <a:r>
              <a:rPr lang="en-US" sz="2400" b="1" smtClean="0">
                <a:solidFill>
                  <a:schemeClr val="tx1"/>
                </a:solidFill>
                <a:latin typeface="Tahoma" pitchFamily="34" charset="0"/>
                <a:ea typeface="Tahoma" pitchFamily="34" charset="0"/>
                <a:cs typeface="Tahoma" pitchFamily="34" charset="0"/>
              </a:rPr>
              <a:t>newsgroups</a:t>
            </a:r>
            <a:r>
              <a:rPr lang="en-US" sz="2400" smtClean="0">
                <a:solidFill>
                  <a:schemeClr val="tx1"/>
                </a:solidFill>
                <a:latin typeface="Tahoma" pitchFamily="34" charset="0"/>
                <a:ea typeface="Tahoma" pitchFamily="34" charset="0"/>
                <a:cs typeface="Tahoma" pitchFamily="34" charset="0"/>
              </a:rPr>
              <a:t>—discussion groups dedicated to one topic</a:t>
            </a:r>
          </a:p>
          <a:p>
            <a:pPr lvl="1">
              <a:spcBef>
                <a:spcPct val="0"/>
              </a:spcBef>
            </a:pPr>
            <a:r>
              <a:rPr lang="en-US" sz="2400" smtClean="0">
                <a:solidFill>
                  <a:schemeClr val="tx1"/>
                </a:solidFill>
                <a:latin typeface="Tahoma" pitchFamily="34" charset="0"/>
                <a:ea typeface="Tahoma" pitchFamily="34" charset="0"/>
                <a:cs typeface="Tahoma" pitchFamily="34" charset="0"/>
              </a:rPr>
              <a:t>Discussions within newsgroups are in </a:t>
            </a:r>
            <a:r>
              <a:rPr lang="en-US" sz="2400" b="1" smtClean="0">
                <a:solidFill>
                  <a:schemeClr val="tx1"/>
                </a:solidFill>
                <a:latin typeface="Tahoma" pitchFamily="34" charset="0"/>
                <a:ea typeface="Tahoma" pitchFamily="34" charset="0"/>
                <a:cs typeface="Tahoma" pitchFamily="34" charset="0"/>
              </a:rPr>
              <a:t>threads</a:t>
            </a:r>
            <a:r>
              <a:rPr lang="en-US" sz="2400" smtClean="0">
                <a:solidFill>
                  <a:schemeClr val="tx1"/>
                </a:solidFill>
                <a:latin typeface="Tahoma" pitchFamily="34" charset="0"/>
                <a:ea typeface="Tahoma" pitchFamily="34" charset="0"/>
                <a:cs typeface="Tahoma" pitchFamily="34" charset="0"/>
              </a:rPr>
              <a:t>—groupings of commentaries on a particular subject</a:t>
            </a:r>
          </a:p>
          <a:p>
            <a:pPr lvl="2">
              <a:spcBef>
                <a:spcPct val="0"/>
              </a:spcBef>
            </a:pPr>
            <a:r>
              <a:rPr lang="en-US" sz="2400" b="1">
                <a:solidFill>
                  <a:schemeClr val="tx1"/>
                </a:solidFill>
                <a:latin typeface="Tahoma" pitchFamily="34" charset="0"/>
                <a:ea typeface="Tahoma" pitchFamily="34" charset="0"/>
                <a:cs typeface="Tahoma" pitchFamily="34" charset="0"/>
              </a:rPr>
              <a:t>Standard </a:t>
            </a:r>
            <a:r>
              <a:rPr lang="en-US" sz="2400" b="1" smtClean="0">
                <a:solidFill>
                  <a:schemeClr val="tx1"/>
                </a:solidFill>
                <a:latin typeface="Tahoma" pitchFamily="34" charset="0"/>
                <a:ea typeface="Tahoma" pitchFamily="34" charset="0"/>
                <a:cs typeface="Tahoma" pitchFamily="34" charset="0"/>
              </a:rPr>
              <a:t>newsgroups</a:t>
            </a:r>
            <a:r>
              <a:rPr lang="en-US" sz="2400" smtClean="0">
                <a:solidFill>
                  <a:schemeClr val="tx1"/>
                </a:solidFill>
                <a:latin typeface="Tahoma" pitchFamily="34" charset="0"/>
                <a:ea typeface="Tahoma" pitchFamily="34" charset="0"/>
                <a:cs typeface="Tahoma" pitchFamily="34" charset="0"/>
              </a:rPr>
              <a:t>—of </a:t>
            </a:r>
            <a:r>
              <a:rPr lang="en-US" sz="2400">
                <a:solidFill>
                  <a:schemeClr val="tx1"/>
                </a:solidFill>
                <a:latin typeface="Tahoma" pitchFamily="34" charset="0"/>
                <a:ea typeface="Tahoma" pitchFamily="34" charset="0"/>
                <a:cs typeface="Tahoma" pitchFamily="34" charset="0"/>
              </a:rPr>
              <a:t>high-quality discussions</a:t>
            </a:r>
          </a:p>
          <a:p>
            <a:pPr lvl="2">
              <a:spcBef>
                <a:spcPct val="0"/>
              </a:spcBef>
            </a:pPr>
            <a:r>
              <a:rPr lang="en-US" sz="2400" b="1">
                <a:solidFill>
                  <a:schemeClr val="tx1"/>
                </a:solidFill>
                <a:latin typeface="Tahoma" pitchFamily="34" charset="0"/>
                <a:ea typeface="Tahoma" pitchFamily="34" charset="0"/>
                <a:cs typeface="Tahoma" pitchFamily="34" charset="0"/>
              </a:rPr>
              <a:t>Alt </a:t>
            </a:r>
            <a:r>
              <a:rPr lang="en-US" sz="2400" b="1" smtClean="0">
                <a:solidFill>
                  <a:schemeClr val="tx1"/>
                </a:solidFill>
                <a:latin typeface="Tahoma" pitchFamily="34" charset="0"/>
                <a:ea typeface="Tahoma" pitchFamily="34" charset="0"/>
                <a:cs typeface="Tahoma" pitchFamily="34" charset="0"/>
              </a:rPr>
              <a:t>newsgroups</a:t>
            </a:r>
            <a:r>
              <a:rPr lang="en-US" sz="2400" smtClean="0">
                <a:solidFill>
                  <a:schemeClr val="tx1"/>
                </a:solidFill>
                <a:latin typeface="Tahoma" pitchFamily="34" charset="0"/>
                <a:ea typeface="Tahoma" pitchFamily="34" charset="0"/>
                <a:cs typeface="Tahoma" pitchFamily="34" charset="0"/>
              </a:rPr>
              <a:t>—created </a:t>
            </a:r>
            <a:r>
              <a:rPr lang="en-US" sz="2400">
                <a:solidFill>
                  <a:schemeClr val="tx1"/>
                </a:solidFill>
                <a:latin typeface="Tahoma" pitchFamily="34" charset="0"/>
                <a:ea typeface="Tahoma" pitchFamily="34" charset="0"/>
                <a:cs typeface="Tahoma" pitchFamily="34" charset="0"/>
              </a:rPr>
              <a:t>by anyone </a:t>
            </a:r>
          </a:p>
          <a:p>
            <a:pPr lvl="2">
              <a:spcBef>
                <a:spcPct val="0"/>
              </a:spcBef>
            </a:pPr>
            <a:r>
              <a:rPr lang="en-US" sz="2400" b="1">
                <a:solidFill>
                  <a:schemeClr val="tx1"/>
                </a:solidFill>
                <a:latin typeface="Tahoma" pitchFamily="34" charset="0"/>
                <a:ea typeface="Tahoma" pitchFamily="34" charset="0"/>
                <a:cs typeface="Tahoma" pitchFamily="34" charset="0"/>
              </a:rPr>
              <a:t>Biz </a:t>
            </a:r>
            <a:r>
              <a:rPr lang="en-US" sz="2400" b="1" smtClean="0">
                <a:solidFill>
                  <a:schemeClr val="tx1"/>
                </a:solidFill>
                <a:latin typeface="Tahoma" pitchFamily="34" charset="0"/>
                <a:ea typeface="Tahoma" pitchFamily="34" charset="0"/>
                <a:cs typeface="Tahoma" pitchFamily="34" charset="0"/>
              </a:rPr>
              <a:t>newsgroups</a:t>
            </a:r>
            <a:r>
              <a:rPr lang="en-US" sz="2400" smtClean="0">
                <a:solidFill>
                  <a:schemeClr val="tx1"/>
                </a:solidFill>
                <a:latin typeface="Tahoma" pitchFamily="34" charset="0"/>
                <a:ea typeface="Tahoma" pitchFamily="34" charset="0"/>
                <a:cs typeface="Tahoma" pitchFamily="34" charset="0"/>
              </a:rPr>
              <a:t>—devoted </a:t>
            </a:r>
            <a:r>
              <a:rPr lang="en-US" sz="2400">
                <a:solidFill>
                  <a:schemeClr val="tx1"/>
                </a:solidFill>
                <a:latin typeface="Tahoma" pitchFamily="34" charset="0"/>
                <a:ea typeface="Tahoma" pitchFamily="34" charset="0"/>
                <a:cs typeface="Tahoma" pitchFamily="34" charset="0"/>
              </a:rPr>
              <a:t>to commercial use</a:t>
            </a:r>
          </a:p>
          <a:p>
            <a:pPr lvl="1">
              <a:spcBef>
                <a:spcPct val="0"/>
              </a:spcBef>
            </a:pPr>
            <a:endParaRPr lang="en-US" sz="2400" smtClean="0">
              <a:solidFill>
                <a:schemeClr val="tx1"/>
              </a:solidFill>
              <a:latin typeface="Tahoma" pitchFamily="34" charset="0"/>
              <a:ea typeface="Tahoma" pitchFamily="34" charset="0"/>
              <a:cs typeface="Tahoma" pitchFamily="34" charset="0"/>
            </a:endParaRPr>
          </a:p>
          <a:p>
            <a:pPr>
              <a:spcBef>
                <a:spcPct val="0"/>
              </a:spcBef>
            </a:pPr>
            <a:endParaRPr lang="en-US" sz="2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53</a:t>
            </a:fld>
            <a:endParaRPr kumimoji="0" lang="en-US"/>
          </a:p>
        </p:txBody>
      </p:sp>
    </p:spTree>
    <p:extLst>
      <p:ext uri="{BB962C8B-B14F-4D97-AF65-F5344CB8AC3E}">
        <p14:creationId xmlns:p14="http://schemas.microsoft.com/office/powerpoint/2010/main" val="1596479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82274" name="Content Placeholder 6"/>
          <p:cNvSpPr>
            <a:spLocks noGrp="1"/>
          </p:cNvSpPr>
          <p:nvPr>
            <p:ph idx="1"/>
          </p:nvPr>
        </p:nvSpPr>
        <p:spPr>
          <a:xfrm>
            <a:off x="762000" y="1905000"/>
            <a:ext cx="7772400" cy="4114800"/>
          </a:xfrm>
        </p:spPr>
        <p:txBody>
          <a:bodyPr>
            <a:normAutofit/>
          </a:bodyPr>
          <a:lstStyle/>
          <a:p>
            <a:pPr>
              <a:spcBef>
                <a:spcPct val="0"/>
              </a:spcBef>
            </a:pPr>
            <a:r>
              <a:rPr lang="en-US" sz="3600" b="1">
                <a:solidFill>
                  <a:schemeClr val="tx1"/>
                </a:solidFill>
                <a:latin typeface="Tahoma" pitchFamily="34" charset="0"/>
                <a:ea typeface="Tahoma" pitchFamily="34" charset="0"/>
                <a:cs typeface="Tahoma" pitchFamily="34" charset="0"/>
              </a:rPr>
              <a:t>Message board</a:t>
            </a:r>
          </a:p>
          <a:p>
            <a:pPr lvl="1">
              <a:spcBef>
                <a:spcPct val="0"/>
              </a:spcBef>
            </a:pPr>
            <a:r>
              <a:rPr lang="en-US" sz="2400">
                <a:solidFill>
                  <a:schemeClr val="tx1"/>
                </a:solidFill>
                <a:latin typeface="Tahoma" pitchFamily="34" charset="0"/>
                <a:ea typeface="Tahoma" pitchFamily="34" charset="0"/>
                <a:cs typeface="Tahoma" pitchFamily="34" charset="0"/>
              </a:rPr>
              <a:t>Similar to a newsgroup</a:t>
            </a:r>
          </a:p>
          <a:p>
            <a:pPr lvl="1">
              <a:spcBef>
                <a:spcPct val="0"/>
              </a:spcBef>
            </a:pPr>
            <a:r>
              <a:rPr lang="en-US" sz="2400">
                <a:solidFill>
                  <a:schemeClr val="tx1"/>
                </a:solidFill>
                <a:latin typeface="Tahoma" pitchFamily="34" charset="0"/>
                <a:ea typeface="Tahoma" pitchFamily="34" charset="0"/>
                <a:cs typeface="Tahoma" pitchFamily="34" charset="0"/>
              </a:rPr>
              <a:t>Easier to use</a:t>
            </a:r>
          </a:p>
          <a:p>
            <a:pPr lvl="1">
              <a:spcBef>
                <a:spcPct val="0"/>
              </a:spcBef>
            </a:pPr>
            <a:r>
              <a:rPr lang="en-US" sz="2400">
                <a:solidFill>
                  <a:schemeClr val="tx1"/>
                </a:solidFill>
                <a:latin typeface="Tahoma" pitchFamily="34" charset="0"/>
                <a:ea typeface="Tahoma" pitchFamily="34" charset="0"/>
                <a:cs typeface="Tahoma" pitchFamily="34" charset="0"/>
              </a:rPr>
              <a:t>Does not require a newsreader</a:t>
            </a:r>
          </a:p>
          <a:p>
            <a:pPr>
              <a:spcBef>
                <a:spcPct val="0"/>
              </a:spcBef>
            </a:pPr>
            <a:endParaRPr lang="en-US" sz="32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54</a:t>
            </a:fld>
            <a:endParaRPr kumimoji="0" lang="en-US"/>
          </a:p>
        </p:txBody>
      </p:sp>
    </p:spTree>
    <p:extLst>
      <p:ext uri="{BB962C8B-B14F-4D97-AF65-F5344CB8AC3E}">
        <p14:creationId xmlns:p14="http://schemas.microsoft.com/office/powerpoint/2010/main" val="2789270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86370" name="Content Placeholder 6"/>
          <p:cNvSpPr>
            <a:spLocks noGrp="1"/>
          </p:cNvSpPr>
          <p:nvPr>
            <p:ph idx="1"/>
          </p:nvPr>
        </p:nvSpPr>
        <p:spPr>
          <a:xfrm>
            <a:off x="762000" y="1905000"/>
            <a:ext cx="7696200" cy="41148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Electronic mailing lists</a:t>
            </a:r>
          </a:p>
          <a:p>
            <a:pPr lvl="1">
              <a:spcBef>
                <a:spcPct val="0"/>
              </a:spcBef>
            </a:pPr>
            <a:r>
              <a:rPr lang="en-US" sz="2400" smtClean="0">
                <a:solidFill>
                  <a:schemeClr val="tx1"/>
                </a:solidFill>
                <a:latin typeface="Tahoma" pitchFamily="34" charset="0"/>
                <a:ea typeface="Tahoma" pitchFamily="34" charset="0"/>
                <a:cs typeface="Tahoma" pitchFamily="34" charset="0"/>
              </a:rPr>
              <a:t>Similar to newsgroups and forums, except that:</a:t>
            </a:r>
          </a:p>
          <a:p>
            <a:pPr lvl="2">
              <a:spcBef>
                <a:spcPct val="0"/>
              </a:spcBef>
            </a:pPr>
            <a:r>
              <a:rPr lang="en-US" sz="2400" smtClean="0">
                <a:solidFill>
                  <a:schemeClr val="tx1"/>
                </a:solidFill>
                <a:latin typeface="Tahoma" pitchFamily="34" charset="0"/>
                <a:ea typeface="Tahoma" pitchFamily="34" charset="0"/>
                <a:cs typeface="Tahoma" pitchFamily="34" charset="0"/>
              </a:rPr>
              <a:t>Only subscribers can receive and view messages.</a:t>
            </a:r>
          </a:p>
          <a:p>
            <a:pPr lvl="2">
              <a:spcBef>
                <a:spcPct val="0"/>
              </a:spcBef>
            </a:pPr>
            <a:r>
              <a:rPr lang="en-US" sz="2400" smtClean="0">
                <a:solidFill>
                  <a:schemeClr val="tx1"/>
                </a:solidFill>
                <a:latin typeface="Tahoma" pitchFamily="34" charset="0"/>
                <a:ea typeface="Tahoma" pitchFamily="34" charset="0"/>
                <a:cs typeface="Tahoma" pitchFamily="34" charset="0"/>
              </a:rPr>
              <a:t>Messages posted to the mailing list are automatically sent to everyone on the list.</a:t>
            </a:r>
          </a:p>
          <a:p>
            <a:pPr lvl="1">
              <a:spcBef>
                <a:spcPct val="0"/>
              </a:spcBef>
            </a:pPr>
            <a:r>
              <a:rPr lang="en-US" sz="2400" smtClean="0">
                <a:solidFill>
                  <a:schemeClr val="tx1"/>
                </a:solidFill>
                <a:latin typeface="Tahoma" pitchFamily="34" charset="0"/>
                <a:ea typeface="Tahoma" pitchFamily="34" charset="0"/>
                <a:cs typeface="Tahoma" pitchFamily="34" charset="0"/>
              </a:rPr>
              <a:t>Majordomo is a common freeware electronic mailing list manager.</a:t>
            </a:r>
            <a:endParaRPr lang="en-US" sz="2400" b="1"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55</a:t>
            </a:fld>
            <a:endParaRPr kumimoji="0" lang="en-US"/>
          </a:p>
        </p:txBody>
      </p:sp>
    </p:spTree>
    <p:extLst>
      <p:ext uri="{BB962C8B-B14F-4D97-AF65-F5344CB8AC3E}">
        <p14:creationId xmlns:p14="http://schemas.microsoft.com/office/powerpoint/2010/main" val="42132766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78179" name="Content Placeholder 9"/>
          <p:cNvSpPr>
            <a:spLocks noGrp="1"/>
          </p:cNvSpPr>
          <p:nvPr>
            <p:ph idx="1"/>
          </p:nvPr>
        </p:nvSpPr>
        <p:spPr>
          <a:xfrm>
            <a:off x="762000" y="1600200"/>
            <a:ext cx="8382000" cy="4724400"/>
          </a:xfrm>
        </p:spPr>
        <p:txBody>
          <a:bodyPr>
            <a:normAutofit/>
          </a:bodyPr>
          <a:lstStyle/>
          <a:p>
            <a:r>
              <a:rPr lang="en-US" sz="3600" b="1" smtClean="0">
                <a:solidFill>
                  <a:schemeClr val="tx1"/>
                </a:solidFill>
                <a:latin typeface="Tahoma" pitchFamily="34" charset="0"/>
                <a:ea typeface="Tahoma" pitchFamily="34" charset="0"/>
                <a:cs typeface="Tahoma" pitchFamily="34" charset="0"/>
              </a:rPr>
              <a:t>VoIP (Voice over Internet Protocol)</a:t>
            </a:r>
          </a:p>
          <a:p>
            <a:pPr lvl="1"/>
            <a:r>
              <a:rPr lang="en-US" sz="2400" smtClean="0">
                <a:solidFill>
                  <a:schemeClr val="tx1"/>
                </a:solidFill>
                <a:latin typeface="Tahoma" pitchFamily="34" charset="0"/>
                <a:ea typeface="Tahoma" pitchFamily="34" charset="0"/>
                <a:cs typeface="Tahoma" pitchFamily="34" charset="0"/>
              </a:rPr>
              <a:t>Users can speak to others over a broadband Internet connection instead of an analog phone line</a:t>
            </a:r>
          </a:p>
          <a:p>
            <a:pPr lvl="1"/>
            <a:r>
              <a:rPr lang="en-US" sz="2400" smtClean="0">
                <a:solidFill>
                  <a:schemeClr val="tx1"/>
                </a:solidFill>
                <a:latin typeface="Tahoma" pitchFamily="34" charset="0"/>
                <a:ea typeface="Tahoma" pitchFamily="34" charset="0"/>
                <a:cs typeface="Tahoma" pitchFamily="34" charset="0"/>
              </a:rPr>
              <a:t>Requires a broadband Internet connection</a:t>
            </a:r>
            <a:endParaRPr lang="en-US" sz="2400">
              <a:solidFill>
                <a:schemeClr val="tx1"/>
              </a:solidFill>
              <a:latin typeface="Tahoma" pitchFamily="34" charset="0"/>
              <a:ea typeface="Tahoma" pitchFamily="34" charset="0"/>
              <a:cs typeface="Tahoma" pitchFamily="34" charset="0"/>
            </a:endParaRPr>
          </a:p>
          <a:p>
            <a:pPr lvl="1"/>
            <a:r>
              <a:rPr lang="en-US" sz="2400" smtClean="0">
                <a:solidFill>
                  <a:schemeClr val="tx1"/>
                </a:solidFill>
                <a:latin typeface="Tahoma" pitchFamily="34" charset="0"/>
                <a:ea typeface="Tahoma" pitchFamily="34" charset="0"/>
                <a:cs typeface="Tahoma" pitchFamily="34" charset="0"/>
              </a:rPr>
              <a:t>A VoIP service provider such as Skype</a:t>
            </a:r>
          </a:p>
          <a:p>
            <a:pPr lvl="1"/>
            <a:r>
              <a:rPr lang="en-US" sz="2400" smtClean="0">
                <a:solidFill>
                  <a:schemeClr val="tx1"/>
                </a:solidFill>
                <a:latin typeface="Tahoma" pitchFamily="34" charset="0"/>
                <a:ea typeface="Tahoma" pitchFamily="34" charset="0"/>
                <a:cs typeface="Tahoma" pitchFamily="34" charset="0"/>
              </a:rPr>
              <a:t>A VoIP adapter or computer with supporting software</a:t>
            </a:r>
          </a:p>
          <a:p>
            <a:pPr lvl="1"/>
            <a:r>
              <a:rPr lang="en-US" sz="2400" smtClean="0">
                <a:solidFill>
                  <a:schemeClr val="tx1"/>
                </a:solidFill>
                <a:latin typeface="Tahoma" pitchFamily="34" charset="0"/>
                <a:ea typeface="Tahoma" pitchFamily="34" charset="0"/>
                <a:cs typeface="Tahoma" pitchFamily="34" charset="0"/>
              </a:rPr>
              <a:t>Calls are usually free to others using the same service.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56</a:t>
            </a:fld>
            <a:endParaRPr kumimoji="0" lang="en-US"/>
          </a:p>
        </p:txBody>
      </p:sp>
    </p:spTree>
    <p:extLst>
      <p:ext uri="{BB962C8B-B14F-4D97-AF65-F5344CB8AC3E}">
        <p14:creationId xmlns:p14="http://schemas.microsoft.com/office/powerpoint/2010/main" val="1267841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Exploring Internet</a:t>
            </a:r>
            <a:br>
              <a:rPr lang="en-US" smtClean="0"/>
            </a:br>
            <a:r>
              <a:rPr lang="en-US" smtClean="0"/>
              <a:t>Services</a:t>
            </a:r>
          </a:p>
        </p:txBody>
      </p:sp>
      <p:sp>
        <p:nvSpPr>
          <p:cNvPr id="178179" name="Content Placeholder 9"/>
          <p:cNvSpPr>
            <a:spLocks noGrp="1"/>
          </p:cNvSpPr>
          <p:nvPr>
            <p:ph idx="1"/>
          </p:nvPr>
        </p:nvSpPr>
        <p:spPr>
          <a:xfrm>
            <a:off x="762000" y="1600200"/>
            <a:ext cx="8382000" cy="4419600"/>
          </a:xfrm>
        </p:spPr>
        <p:txBody>
          <a:bodyPr>
            <a:normAutofit/>
          </a:bodyPr>
          <a:lstStyle/>
          <a:p>
            <a:r>
              <a:rPr lang="en-US" sz="3600" b="1" smtClean="0">
                <a:solidFill>
                  <a:schemeClr val="tx1"/>
                </a:solidFill>
                <a:latin typeface="Tahoma" pitchFamily="34" charset="0"/>
                <a:ea typeface="Tahoma" pitchFamily="34" charset="0"/>
                <a:cs typeface="Tahoma" pitchFamily="34" charset="0"/>
              </a:rPr>
              <a:t>File Transfer Protocol (FTP)</a:t>
            </a:r>
            <a:endParaRPr lang="en-US" sz="3600" smtClean="0">
              <a:solidFill>
                <a:schemeClr val="tx1"/>
              </a:solidFill>
              <a:latin typeface="Tahoma" pitchFamily="34" charset="0"/>
              <a:ea typeface="Tahoma" pitchFamily="34" charset="0"/>
              <a:cs typeface="Tahoma" pitchFamily="34" charset="0"/>
            </a:endParaRPr>
          </a:p>
          <a:p>
            <a:pPr lvl="1"/>
            <a:r>
              <a:rPr lang="en-US" sz="2400" smtClean="0">
                <a:solidFill>
                  <a:schemeClr val="tx1"/>
                </a:solidFill>
                <a:latin typeface="Tahoma" pitchFamily="34" charset="0"/>
                <a:ea typeface="Tahoma" pitchFamily="34" charset="0"/>
                <a:cs typeface="Tahoma" pitchFamily="34" charset="0"/>
              </a:rPr>
              <a:t>Method to transfer files over the Internet</a:t>
            </a:r>
          </a:p>
          <a:p>
            <a:pPr lvl="1"/>
            <a:r>
              <a:rPr lang="en-US" sz="2400" smtClean="0">
                <a:solidFill>
                  <a:schemeClr val="tx1"/>
                </a:solidFill>
                <a:latin typeface="Tahoma" pitchFamily="34" charset="0"/>
                <a:ea typeface="Tahoma" pitchFamily="34" charset="0"/>
                <a:cs typeface="Tahoma" pitchFamily="34" charset="0"/>
              </a:rPr>
              <a:t>Use when files are too large to attach to e-mails</a:t>
            </a:r>
          </a:p>
          <a:p>
            <a:pPr lvl="1"/>
            <a:r>
              <a:rPr lang="en-US" sz="2400" smtClean="0">
                <a:solidFill>
                  <a:schemeClr val="tx1"/>
                </a:solidFill>
                <a:latin typeface="Tahoma" pitchFamily="34" charset="0"/>
                <a:ea typeface="Tahoma" pitchFamily="34" charset="0"/>
                <a:cs typeface="Tahoma" pitchFamily="34" charset="0"/>
              </a:rPr>
              <a:t>Usually requires a user name and a password</a:t>
            </a:r>
          </a:p>
          <a:p>
            <a:pPr lvl="1"/>
            <a:r>
              <a:rPr lang="en-US" sz="2400" smtClean="0">
                <a:solidFill>
                  <a:schemeClr val="tx1"/>
                </a:solidFill>
                <a:latin typeface="Tahoma" pitchFamily="34" charset="0"/>
                <a:ea typeface="Tahoma" pitchFamily="34" charset="0"/>
                <a:cs typeface="Tahoma" pitchFamily="34" charset="0"/>
              </a:rPr>
              <a:t>Use to upload Web pages</a:t>
            </a:r>
          </a:p>
          <a:p>
            <a:r>
              <a:rPr lang="en-US" sz="3600" b="1" smtClean="0">
                <a:solidFill>
                  <a:schemeClr val="tx1"/>
                </a:solidFill>
                <a:latin typeface="Tahoma" pitchFamily="34" charset="0"/>
                <a:ea typeface="Tahoma" pitchFamily="34" charset="0"/>
                <a:cs typeface="Tahoma" pitchFamily="34" charset="0"/>
              </a:rPr>
              <a:t>Anonymous FTP</a:t>
            </a:r>
            <a:endParaRPr lang="en-US" sz="3600" smtClean="0">
              <a:solidFill>
                <a:schemeClr val="tx1"/>
              </a:solidFill>
              <a:latin typeface="Tahoma" pitchFamily="34" charset="0"/>
              <a:ea typeface="Tahoma" pitchFamily="34" charset="0"/>
              <a:cs typeface="Tahoma" pitchFamily="34" charset="0"/>
            </a:endParaRPr>
          </a:p>
          <a:p>
            <a:pPr lvl="1"/>
            <a:r>
              <a:rPr lang="en-US" sz="2400">
                <a:solidFill>
                  <a:schemeClr val="tx1"/>
                </a:solidFill>
                <a:latin typeface="Tahoma" pitchFamily="34" charset="0"/>
                <a:ea typeface="Tahoma" pitchFamily="34" charset="0"/>
                <a:cs typeface="Tahoma" pitchFamily="34" charset="0"/>
              </a:rPr>
              <a:t>F</a:t>
            </a:r>
            <a:r>
              <a:rPr lang="en-US" sz="2400" smtClean="0">
                <a:solidFill>
                  <a:schemeClr val="tx1"/>
                </a:solidFill>
                <a:latin typeface="Tahoma" pitchFamily="34" charset="0"/>
                <a:ea typeface="Tahoma" pitchFamily="34" charset="0"/>
                <a:cs typeface="Tahoma" pitchFamily="34" charset="0"/>
              </a:rPr>
              <a:t>iles are available publicly available for downloading</a:t>
            </a:r>
          </a:p>
          <a:p>
            <a:pPr lvl="1"/>
            <a:r>
              <a:rPr lang="en-US" sz="2400" smtClean="0">
                <a:solidFill>
                  <a:schemeClr val="tx1"/>
                </a:solidFill>
                <a:latin typeface="Tahoma" pitchFamily="34" charset="0"/>
                <a:ea typeface="Tahoma" pitchFamily="34" charset="0"/>
                <a:cs typeface="Tahoma" pitchFamily="34" charset="0"/>
              </a:rPr>
              <a:t>Lack of security</a:t>
            </a:r>
          </a:p>
          <a:p>
            <a:pPr lvl="1"/>
            <a:r>
              <a:rPr lang="en-US" sz="2400" smtClean="0">
                <a:solidFill>
                  <a:schemeClr val="tx1"/>
                </a:solidFill>
                <a:latin typeface="Tahoma" pitchFamily="34" charset="0"/>
                <a:ea typeface="Tahoma" pitchFamily="34" charset="0"/>
                <a:cs typeface="Tahoma" pitchFamily="34" charset="0"/>
              </a:rPr>
              <a:t>Do not send sensitive material</a:t>
            </a:r>
          </a:p>
          <a:p>
            <a:pPr lvl="1"/>
            <a:endParaRPr lang="en-US" sz="1800">
              <a:solidFill>
                <a:schemeClr val="tx1"/>
              </a:solidFill>
              <a:latin typeface="Tahoma" pitchFamily="34" charset="0"/>
              <a:ea typeface="Tahoma" pitchFamily="34" charset="0"/>
              <a:cs typeface="Tahoma" pitchFamily="34" charset="0"/>
            </a:endParaRPr>
          </a:p>
          <a:p>
            <a:pPr lvl="1"/>
            <a:endParaRPr lang="en-US" sz="1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57</a:t>
            </a:fld>
            <a:endParaRPr kumimoji="0" lang="en-US"/>
          </a:p>
        </p:txBody>
      </p:sp>
    </p:spTree>
    <p:extLst>
      <p:ext uri="{BB962C8B-B14F-4D97-AF65-F5344CB8AC3E}">
        <p14:creationId xmlns:p14="http://schemas.microsoft.com/office/powerpoint/2010/main" val="9622908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1066800"/>
          </a:xfrm>
        </p:spPr>
        <p:txBody>
          <a:bodyPr lIns="92075" tIns="46038" rIns="92075" bIns="46038" anchor="b"/>
          <a:lstStyle/>
          <a:p>
            <a:pPr eaLnBrk="1" hangingPunct="1"/>
            <a:r>
              <a:rPr lang="en-US" smtClean="0"/>
              <a:t>E-Commerce</a:t>
            </a:r>
          </a:p>
        </p:txBody>
      </p:sp>
      <p:sp>
        <p:nvSpPr>
          <p:cNvPr id="186370" name="Content Placeholder 6"/>
          <p:cNvSpPr>
            <a:spLocks noGrp="1"/>
          </p:cNvSpPr>
          <p:nvPr>
            <p:ph idx="1"/>
          </p:nvPr>
        </p:nvSpPr>
        <p:spPr>
          <a:xfrm>
            <a:off x="762000" y="1371600"/>
            <a:ext cx="8382000" cy="4648200"/>
          </a:xfrm>
        </p:spPr>
        <p:txBody>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E-commerce</a:t>
            </a:r>
          </a:p>
          <a:p>
            <a:pPr lvl="1">
              <a:spcBef>
                <a:spcPct val="0"/>
              </a:spcBef>
            </a:pPr>
            <a:r>
              <a:rPr lang="en-US" sz="2400" dirty="0">
                <a:solidFill>
                  <a:schemeClr val="tx1"/>
                </a:solidFill>
                <a:latin typeface="Tahoma" pitchFamily="34" charset="0"/>
                <a:ea typeface="Tahoma" pitchFamily="34" charset="0"/>
                <a:cs typeface="Tahoma" pitchFamily="34" charset="0"/>
              </a:rPr>
              <a:t>C</a:t>
            </a:r>
            <a:r>
              <a:rPr lang="en-US" sz="2400" dirty="0" smtClean="0">
                <a:solidFill>
                  <a:schemeClr val="tx1"/>
                </a:solidFill>
                <a:latin typeface="Tahoma" pitchFamily="34" charset="0"/>
                <a:ea typeface="Tahoma" pitchFamily="34" charset="0"/>
                <a:cs typeface="Tahoma" pitchFamily="34" charset="0"/>
              </a:rPr>
              <a:t>onducting business through the use of networks or the Internet</a:t>
            </a:r>
          </a:p>
          <a:p>
            <a:pPr>
              <a:spcBef>
                <a:spcPct val="0"/>
              </a:spcBef>
            </a:pPr>
            <a:r>
              <a:rPr lang="en-US" sz="3600" b="1" dirty="0" smtClean="0">
                <a:solidFill>
                  <a:schemeClr val="tx1"/>
                </a:solidFill>
                <a:latin typeface="Tahoma" pitchFamily="34" charset="0"/>
                <a:ea typeface="Tahoma" pitchFamily="34" charset="0"/>
                <a:cs typeface="Tahoma" pitchFamily="34" charset="0"/>
              </a:rPr>
              <a:t>E-</a:t>
            </a:r>
            <a:r>
              <a:rPr lang="en-US" sz="3600" b="1" dirty="0" err="1" smtClean="0">
                <a:solidFill>
                  <a:schemeClr val="tx1"/>
                </a:solidFill>
                <a:latin typeface="Tahoma" pitchFamily="34" charset="0"/>
                <a:ea typeface="Tahoma" pitchFamily="34" charset="0"/>
                <a:cs typeface="Tahoma" pitchFamily="34" charset="0"/>
              </a:rPr>
              <a:t>tailers</a:t>
            </a:r>
            <a:r>
              <a:rPr lang="en-US" sz="3600" b="1" dirty="0" smtClean="0">
                <a:solidFill>
                  <a:schemeClr val="tx1"/>
                </a:solidFill>
                <a:latin typeface="Tahoma" pitchFamily="34" charset="0"/>
                <a:ea typeface="Tahoma" pitchFamily="34" charset="0"/>
                <a:cs typeface="Tahoma" pitchFamily="34" charset="0"/>
              </a:rPr>
              <a:t> (Web-based retailers)</a:t>
            </a:r>
          </a:p>
          <a:p>
            <a:pPr lvl="1">
              <a:spcBef>
                <a:spcPct val="0"/>
              </a:spcBef>
            </a:pPr>
            <a:r>
              <a:rPr lang="en-US" sz="2400" dirty="0">
                <a:solidFill>
                  <a:schemeClr val="tx1"/>
                </a:solidFill>
                <a:latin typeface="Tahoma" pitchFamily="34" charset="0"/>
                <a:ea typeface="Tahoma" pitchFamily="34" charset="0"/>
                <a:cs typeface="Tahoma" pitchFamily="34" charset="0"/>
              </a:rPr>
              <a:t>O</a:t>
            </a:r>
            <a:r>
              <a:rPr lang="en-US" sz="2400" dirty="0" smtClean="0">
                <a:solidFill>
                  <a:schemeClr val="tx1"/>
                </a:solidFill>
                <a:latin typeface="Tahoma" pitchFamily="34" charset="0"/>
                <a:ea typeface="Tahoma" pitchFamily="34" charset="0"/>
                <a:cs typeface="Tahoma" pitchFamily="34" charset="0"/>
              </a:rPr>
              <a:t>nline merchants</a:t>
            </a:r>
            <a:endParaRPr lang="en-US" sz="2400" b="1" dirty="0" smtClean="0">
              <a:solidFill>
                <a:schemeClr val="tx1"/>
              </a:solidFill>
              <a:latin typeface="Tahoma" pitchFamily="34" charset="0"/>
              <a:ea typeface="Tahoma" pitchFamily="34" charset="0"/>
              <a:cs typeface="Tahoma" pitchFamily="34" charset="0"/>
            </a:endParaRPr>
          </a:p>
          <a:p>
            <a:pPr>
              <a:spcBef>
                <a:spcPct val="0"/>
              </a:spcBef>
            </a:pPr>
            <a:r>
              <a:rPr lang="en-US" sz="3600" b="1" dirty="0" smtClean="0">
                <a:solidFill>
                  <a:schemeClr val="tx1"/>
                </a:solidFill>
                <a:latin typeface="Tahoma" pitchFamily="34" charset="0"/>
                <a:ea typeface="Tahoma" pitchFamily="34" charset="0"/>
                <a:cs typeface="Tahoma" pitchFamily="34" charset="0"/>
              </a:rPr>
              <a:t>Business-to-business (B2B) e-commerce</a:t>
            </a:r>
          </a:p>
          <a:p>
            <a:pPr lvl="1">
              <a:spcBef>
                <a:spcPct val="0"/>
              </a:spcBef>
            </a:pPr>
            <a:r>
              <a:rPr lang="en-US" sz="2400" dirty="0">
                <a:solidFill>
                  <a:schemeClr val="tx1"/>
                </a:solidFill>
                <a:latin typeface="Tahoma" pitchFamily="34" charset="0"/>
                <a:ea typeface="Tahoma" pitchFamily="34" charset="0"/>
                <a:cs typeface="Tahoma" pitchFamily="34" charset="0"/>
              </a:rPr>
              <a:t>R</a:t>
            </a:r>
            <a:r>
              <a:rPr lang="en-US" sz="2400" dirty="0" smtClean="0">
                <a:solidFill>
                  <a:schemeClr val="tx1"/>
                </a:solidFill>
                <a:latin typeface="Tahoma" pitchFamily="34" charset="0"/>
                <a:ea typeface="Tahoma" pitchFamily="34" charset="0"/>
                <a:cs typeface="Tahoma" pitchFamily="34" charset="0"/>
              </a:rPr>
              <a:t>efers to a business providing supplies to other businesses via the Internet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58</a:t>
            </a:fld>
            <a:endParaRPr kumimoji="0" lang="en-US"/>
          </a:p>
        </p:txBody>
      </p:sp>
    </p:spTree>
    <p:extLst>
      <p:ext uri="{BB962C8B-B14F-4D97-AF65-F5344CB8AC3E}">
        <p14:creationId xmlns:p14="http://schemas.microsoft.com/office/powerpoint/2010/main" val="818515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990600"/>
          </a:xfrm>
        </p:spPr>
        <p:txBody>
          <a:bodyPr lIns="92075" tIns="46038" rIns="92075" bIns="46038" anchor="b"/>
          <a:lstStyle/>
          <a:p>
            <a:pPr eaLnBrk="1" hangingPunct="1"/>
            <a:r>
              <a:rPr lang="en-US" smtClean="0"/>
              <a:t>E-Commerce</a:t>
            </a:r>
          </a:p>
        </p:txBody>
      </p:sp>
      <p:sp>
        <p:nvSpPr>
          <p:cNvPr id="186370" name="Content Placeholder 6"/>
          <p:cNvSpPr>
            <a:spLocks noGrp="1"/>
          </p:cNvSpPr>
          <p:nvPr>
            <p:ph idx="1"/>
          </p:nvPr>
        </p:nvSpPr>
        <p:spPr>
          <a:xfrm>
            <a:off x="762000" y="1066800"/>
            <a:ext cx="8382000" cy="51054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Consumer-to-consumer (C2C) e-commerce</a:t>
            </a:r>
          </a:p>
          <a:p>
            <a:pPr lvl="1">
              <a:spcBef>
                <a:spcPct val="0"/>
              </a:spcBef>
            </a:pPr>
            <a:r>
              <a:rPr lang="en-US" sz="2400" smtClean="0">
                <a:solidFill>
                  <a:schemeClr val="tx1"/>
                </a:solidFill>
                <a:latin typeface="Tahoma" pitchFamily="34" charset="0"/>
                <a:ea typeface="Tahoma" pitchFamily="34" charset="0"/>
                <a:cs typeface="Tahoma" pitchFamily="34" charset="0"/>
              </a:rPr>
              <a:t>Refers to the exchange of business between individuals</a:t>
            </a:r>
          </a:p>
          <a:p>
            <a:pPr lvl="1">
              <a:spcBef>
                <a:spcPct val="0"/>
              </a:spcBef>
            </a:pPr>
            <a:r>
              <a:rPr lang="en-US" sz="2400" smtClean="0">
                <a:solidFill>
                  <a:schemeClr val="tx1"/>
                </a:solidFill>
                <a:latin typeface="Tahoma" pitchFamily="34" charset="0"/>
                <a:ea typeface="Tahoma" pitchFamily="34" charset="0"/>
                <a:cs typeface="Tahoma" pitchFamily="34" charset="0"/>
              </a:rPr>
              <a:t>Example: eBay</a:t>
            </a:r>
          </a:p>
          <a:p>
            <a:pPr>
              <a:spcBef>
                <a:spcPct val="0"/>
              </a:spcBef>
            </a:pPr>
            <a:r>
              <a:rPr lang="en-US" sz="3600" b="1" smtClean="0">
                <a:solidFill>
                  <a:schemeClr val="tx1"/>
                </a:solidFill>
                <a:latin typeface="Tahoma" pitchFamily="34" charset="0"/>
                <a:ea typeface="Tahoma" pitchFamily="34" charset="0"/>
                <a:cs typeface="Tahoma" pitchFamily="34" charset="0"/>
              </a:rPr>
              <a:t>Business-to-consumer (B2C) e-commerce</a:t>
            </a:r>
          </a:p>
          <a:p>
            <a:pPr lvl="1">
              <a:spcBef>
                <a:spcPct val="0"/>
              </a:spcBef>
            </a:pPr>
            <a:r>
              <a:rPr lang="en-US" sz="2400" smtClean="0">
                <a:solidFill>
                  <a:schemeClr val="tx1"/>
                </a:solidFill>
                <a:latin typeface="Tahoma" pitchFamily="34" charset="0"/>
                <a:ea typeface="Tahoma" pitchFamily="34" charset="0"/>
                <a:cs typeface="Tahoma" pitchFamily="34" charset="0"/>
              </a:rPr>
              <a:t>Refers to shopping online rather than at a physical store</a:t>
            </a:r>
            <a:endParaRPr lang="en-US" sz="2400" b="1"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59</a:t>
            </a:fld>
            <a:endParaRPr kumimoji="0" lang="en-US"/>
          </a:p>
        </p:txBody>
      </p:sp>
    </p:spTree>
    <p:extLst>
      <p:ext uri="{BB962C8B-B14F-4D97-AF65-F5344CB8AC3E}">
        <p14:creationId xmlns:p14="http://schemas.microsoft.com/office/powerpoint/2010/main" val="15936683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914400"/>
          </a:xfrm>
        </p:spPr>
        <p:txBody>
          <a:bodyPr lIns="92075" tIns="46038" rIns="92075" bIns="46038" anchor="b"/>
          <a:lstStyle/>
          <a:p>
            <a:pPr eaLnBrk="1" hangingPunct="1"/>
            <a:r>
              <a:rPr lang="en-US" smtClean="0"/>
              <a:t>E-Commerce</a:t>
            </a:r>
          </a:p>
        </p:txBody>
      </p:sp>
      <p:sp>
        <p:nvSpPr>
          <p:cNvPr id="186370" name="Content Placeholder 6"/>
          <p:cNvSpPr>
            <a:spLocks noGrp="1"/>
          </p:cNvSpPr>
          <p:nvPr>
            <p:ph idx="1"/>
          </p:nvPr>
        </p:nvSpPr>
        <p:spPr>
          <a:xfrm>
            <a:off x="762000" y="1905000"/>
            <a:ext cx="7620000" cy="41148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Online shopping</a:t>
            </a:r>
          </a:p>
          <a:p>
            <a:pPr lvl="1">
              <a:spcBef>
                <a:spcPct val="0"/>
              </a:spcBef>
            </a:pPr>
            <a:r>
              <a:rPr lang="en-US" sz="2400" smtClean="0">
                <a:solidFill>
                  <a:schemeClr val="tx1"/>
                </a:solidFill>
                <a:latin typeface="Tahoma" pitchFamily="34" charset="0"/>
                <a:ea typeface="Tahoma" pitchFamily="34" charset="0"/>
                <a:cs typeface="Tahoma" pitchFamily="34" charset="0"/>
              </a:rPr>
              <a:t>Shop for good deals</a:t>
            </a:r>
          </a:p>
          <a:p>
            <a:pPr lvl="1">
              <a:spcBef>
                <a:spcPct val="0"/>
              </a:spcBef>
            </a:pPr>
            <a:r>
              <a:rPr lang="en-US" sz="2400" smtClean="0">
                <a:solidFill>
                  <a:schemeClr val="tx1"/>
                </a:solidFill>
                <a:latin typeface="Tahoma" pitchFamily="34" charset="0"/>
                <a:ea typeface="Tahoma" pitchFamily="34" charset="0"/>
                <a:cs typeface="Tahoma" pitchFamily="34" charset="0"/>
              </a:rPr>
              <a:t>Use shopping portals to compare prices and products</a:t>
            </a:r>
          </a:p>
          <a:p>
            <a:pPr lvl="2">
              <a:spcBef>
                <a:spcPct val="0"/>
              </a:spcBef>
            </a:pPr>
            <a:r>
              <a:rPr lang="en-US" sz="2400" smtClean="0">
                <a:solidFill>
                  <a:schemeClr val="tx1"/>
                </a:solidFill>
                <a:latin typeface="Tahoma" pitchFamily="34" charset="0"/>
                <a:ea typeface="Tahoma" pitchFamily="34" charset="0"/>
                <a:cs typeface="Tahoma" pitchFamily="34" charset="0"/>
              </a:rPr>
              <a:t>Example:</a:t>
            </a:r>
            <a:r>
              <a:rPr lang="en-US" sz="2400">
                <a:solidFill>
                  <a:schemeClr val="tx1"/>
                </a:solidFill>
                <a:latin typeface="Tahoma" pitchFamily="34" charset="0"/>
                <a:ea typeface="Tahoma" pitchFamily="34" charset="0"/>
                <a:cs typeface="Tahoma" pitchFamily="34" charset="0"/>
              </a:rPr>
              <a:t> </a:t>
            </a:r>
            <a:r>
              <a:rPr lang="en-US" sz="2400" smtClean="0">
                <a:solidFill>
                  <a:schemeClr val="tx1"/>
                </a:solidFill>
                <a:latin typeface="Tahoma" pitchFamily="34" charset="0"/>
                <a:ea typeface="Tahoma" pitchFamily="34" charset="0"/>
                <a:cs typeface="Tahoma" pitchFamily="34" charset="0"/>
              </a:rPr>
              <a:t>PriceGrabber.com </a:t>
            </a:r>
          </a:p>
          <a:p>
            <a:pPr lvl="1">
              <a:spcBef>
                <a:spcPct val="0"/>
              </a:spcBef>
            </a:pPr>
            <a:r>
              <a:rPr lang="en-US" sz="2400" smtClean="0">
                <a:solidFill>
                  <a:schemeClr val="tx1"/>
                </a:solidFill>
                <a:latin typeface="Tahoma" pitchFamily="34" charset="0"/>
                <a:ea typeface="Tahoma" pitchFamily="34" charset="0"/>
                <a:cs typeface="Tahoma" pitchFamily="34" charset="0"/>
              </a:rPr>
              <a:t>Look for coupons and rebates</a:t>
            </a:r>
          </a:p>
          <a:p>
            <a:pPr lvl="1">
              <a:spcBef>
                <a:spcPct val="0"/>
              </a:spcBef>
            </a:pPr>
            <a:endParaRPr lang="en-US" sz="20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60</a:t>
            </a:fld>
            <a:endParaRPr kumimoji="0" lang="en-US"/>
          </a:p>
        </p:txBody>
      </p:sp>
    </p:spTree>
    <p:extLst>
      <p:ext uri="{BB962C8B-B14F-4D97-AF65-F5344CB8AC3E}">
        <p14:creationId xmlns:p14="http://schemas.microsoft.com/office/powerpoint/2010/main" val="3869665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990600"/>
          </a:xfrm>
        </p:spPr>
        <p:txBody>
          <a:bodyPr lIns="92075" tIns="46038" rIns="92075" bIns="46038" anchor="b"/>
          <a:lstStyle/>
          <a:p>
            <a:pPr eaLnBrk="1" hangingPunct="1"/>
            <a:r>
              <a:rPr lang="en-US" smtClean="0"/>
              <a:t>E-Commerce</a:t>
            </a:r>
          </a:p>
        </p:txBody>
      </p:sp>
      <p:sp>
        <p:nvSpPr>
          <p:cNvPr id="186370" name="Content Placeholder 6"/>
          <p:cNvSpPr>
            <a:spLocks noGrp="1"/>
          </p:cNvSpPr>
          <p:nvPr>
            <p:ph idx="1"/>
          </p:nvPr>
        </p:nvSpPr>
        <p:spPr>
          <a:xfrm>
            <a:off x="762000" y="1066800"/>
            <a:ext cx="8001000" cy="5257800"/>
          </a:xfrm>
        </p:spPr>
        <p:txBody>
          <a:bodyPr>
            <a:noAutofit/>
          </a:bodyPr>
          <a:lstStyle/>
          <a:p>
            <a:pPr>
              <a:spcBef>
                <a:spcPct val="0"/>
              </a:spcBef>
            </a:pPr>
            <a:r>
              <a:rPr lang="en-US" sz="3200" b="1" smtClean="0">
                <a:solidFill>
                  <a:schemeClr val="tx1"/>
                </a:solidFill>
                <a:latin typeface="Tahoma" pitchFamily="34" charset="0"/>
                <a:ea typeface="Tahoma" pitchFamily="34" charset="0"/>
                <a:cs typeface="Tahoma" pitchFamily="34" charset="0"/>
              </a:rPr>
              <a:t>The dot.com phenomenon</a:t>
            </a:r>
          </a:p>
          <a:p>
            <a:pPr lvl="1">
              <a:spcBef>
                <a:spcPct val="0"/>
              </a:spcBef>
            </a:pPr>
            <a:r>
              <a:rPr lang="en-US" sz="2000" smtClean="0">
                <a:solidFill>
                  <a:schemeClr val="tx1"/>
                </a:solidFill>
                <a:latin typeface="Tahoma" pitchFamily="34" charset="0"/>
                <a:ea typeface="Tahoma" pitchFamily="34" charset="0"/>
                <a:cs typeface="Tahoma" pitchFamily="34" charset="0"/>
              </a:rPr>
              <a:t>E-commerce primarily uses Web sites with a .com suffix.</a:t>
            </a:r>
          </a:p>
          <a:p>
            <a:pPr lvl="1">
              <a:spcBef>
                <a:spcPct val="0"/>
              </a:spcBef>
            </a:pPr>
            <a:r>
              <a:rPr lang="en-US" sz="2000" smtClean="0">
                <a:solidFill>
                  <a:schemeClr val="tx1"/>
                </a:solidFill>
                <a:latin typeface="Tahoma" pitchFamily="34" charset="0"/>
                <a:ea typeface="Tahoma" pitchFamily="34" charset="0"/>
                <a:cs typeface="Tahoma" pitchFamily="34" charset="0"/>
              </a:rPr>
              <a:t>Period between 1995 and 2000 called the dot-com boom.</a:t>
            </a:r>
          </a:p>
          <a:p>
            <a:pPr lvl="1">
              <a:spcBef>
                <a:spcPct val="0"/>
              </a:spcBef>
            </a:pPr>
            <a:r>
              <a:rPr lang="en-US" sz="2000" smtClean="0">
                <a:solidFill>
                  <a:schemeClr val="tx1"/>
                </a:solidFill>
                <a:latin typeface="Tahoma" pitchFamily="34" charset="0"/>
                <a:ea typeface="Tahoma" pitchFamily="34" charset="0"/>
                <a:cs typeface="Tahoma" pitchFamily="34" charset="0"/>
              </a:rPr>
              <a:t>Many dot-coms crashed in 2000.</a:t>
            </a:r>
          </a:p>
          <a:p>
            <a:pPr lvl="1">
              <a:spcBef>
                <a:spcPct val="0"/>
              </a:spcBef>
            </a:pPr>
            <a:r>
              <a:rPr lang="en-US" sz="2000" smtClean="0">
                <a:solidFill>
                  <a:schemeClr val="tx1"/>
                </a:solidFill>
                <a:latin typeface="Tahoma" pitchFamily="34" charset="0"/>
                <a:ea typeface="Tahoma" pitchFamily="34" charset="0"/>
                <a:cs typeface="Tahoma" pitchFamily="34" charset="0"/>
              </a:rPr>
              <a:t>Amazon.com is a profitable company.</a:t>
            </a:r>
          </a:p>
          <a:p>
            <a:pPr>
              <a:spcBef>
                <a:spcPct val="0"/>
              </a:spcBef>
            </a:pPr>
            <a:r>
              <a:rPr lang="en-US" sz="3200" b="1" smtClean="0">
                <a:solidFill>
                  <a:schemeClr val="tx1"/>
                </a:solidFill>
                <a:latin typeface="Tahoma" pitchFamily="34" charset="0"/>
                <a:ea typeface="Tahoma" pitchFamily="34" charset="0"/>
                <a:cs typeface="Tahoma" pitchFamily="34" charset="0"/>
              </a:rPr>
              <a:t>Drawbacks to B2C e-commerce</a:t>
            </a:r>
          </a:p>
          <a:p>
            <a:pPr lvl="1">
              <a:spcBef>
                <a:spcPct val="0"/>
              </a:spcBef>
            </a:pPr>
            <a:r>
              <a:rPr lang="en-US" sz="2000" smtClean="0">
                <a:solidFill>
                  <a:schemeClr val="tx1"/>
                </a:solidFill>
                <a:latin typeface="Tahoma" pitchFamily="34" charset="0"/>
                <a:ea typeface="Tahoma" pitchFamily="34" charset="0"/>
                <a:cs typeface="Tahoma" pitchFamily="34" charset="0"/>
              </a:rPr>
              <a:t>Buyers miss speaking with real sales clerks.</a:t>
            </a:r>
          </a:p>
          <a:p>
            <a:pPr lvl="1">
              <a:spcBef>
                <a:spcPct val="0"/>
              </a:spcBef>
            </a:pPr>
            <a:r>
              <a:rPr lang="en-US" sz="2000" smtClean="0">
                <a:solidFill>
                  <a:schemeClr val="tx1"/>
                </a:solidFill>
                <a:latin typeface="Tahoma" pitchFamily="34" charset="0"/>
                <a:ea typeface="Tahoma" pitchFamily="34" charset="0"/>
                <a:cs typeface="Tahoma" pitchFamily="34" charset="0"/>
              </a:rPr>
              <a:t>Buyers cannot touch merchandise before purchase.</a:t>
            </a:r>
          </a:p>
          <a:p>
            <a:pPr lvl="1">
              <a:spcBef>
                <a:spcPct val="0"/>
              </a:spcBef>
            </a:pPr>
            <a:r>
              <a:rPr lang="en-US" sz="2000" smtClean="0">
                <a:solidFill>
                  <a:schemeClr val="tx1"/>
                </a:solidFill>
                <a:latin typeface="Tahoma" pitchFamily="34" charset="0"/>
                <a:ea typeface="Tahoma" pitchFamily="34" charset="0"/>
                <a:cs typeface="Tahoma" pitchFamily="34" charset="0"/>
              </a:rPr>
              <a:t>Buyers have to wait for delivery of merchandise.</a:t>
            </a:r>
          </a:p>
          <a:p>
            <a:pPr>
              <a:spcBef>
                <a:spcPct val="0"/>
              </a:spcBef>
            </a:pPr>
            <a:r>
              <a:rPr lang="en-US" sz="3200" b="1" smtClean="0">
                <a:solidFill>
                  <a:schemeClr val="tx1"/>
                </a:solidFill>
                <a:latin typeface="Tahoma" pitchFamily="34" charset="0"/>
                <a:ea typeface="Tahoma" pitchFamily="34" charset="0"/>
                <a:cs typeface="Tahoma" pitchFamily="34" charset="0"/>
              </a:rPr>
              <a:t>Online e-commerce solutions to drawbacks</a:t>
            </a:r>
          </a:p>
          <a:p>
            <a:pPr lvl="1">
              <a:spcBef>
                <a:spcPct val="0"/>
              </a:spcBef>
            </a:pPr>
            <a:r>
              <a:rPr lang="en-US" sz="2000" smtClean="0">
                <a:solidFill>
                  <a:schemeClr val="tx1"/>
                </a:solidFill>
                <a:latin typeface="Tahoma" pitchFamily="34" charset="0"/>
                <a:ea typeface="Tahoma" pitchFamily="34" charset="0"/>
                <a:cs typeface="Tahoma" pitchFamily="34" charset="0"/>
              </a:rPr>
              <a:t>Online chats with live customer service representatives</a:t>
            </a:r>
          </a:p>
          <a:p>
            <a:pPr lvl="1">
              <a:spcBef>
                <a:spcPct val="0"/>
              </a:spcBef>
            </a:pPr>
            <a:r>
              <a:rPr lang="en-US" sz="2000" smtClean="0">
                <a:solidFill>
                  <a:schemeClr val="tx1"/>
                </a:solidFill>
                <a:latin typeface="Tahoma" pitchFamily="34" charset="0"/>
                <a:ea typeface="Tahoma" pitchFamily="34" charset="0"/>
                <a:cs typeface="Tahoma" pitchFamily="34" charset="0"/>
              </a:rPr>
              <a:t>Provide a wide variety of shipping options</a:t>
            </a:r>
          </a:p>
          <a:p>
            <a:pPr lvl="1">
              <a:spcBef>
                <a:spcPct val="0"/>
              </a:spcBef>
            </a:pPr>
            <a:r>
              <a:rPr lang="en-US" sz="2000" smtClean="0">
                <a:solidFill>
                  <a:schemeClr val="tx1"/>
                </a:solidFill>
                <a:latin typeface="Tahoma" pitchFamily="34" charset="0"/>
                <a:ea typeface="Tahoma" pitchFamily="34" charset="0"/>
                <a:cs typeface="Tahoma" pitchFamily="34" charset="0"/>
              </a:rPr>
              <a:t>Provide good customer service by responding quickly to customer inquiries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61</a:t>
            </a:fld>
            <a:endParaRPr kumimoji="0" lang="en-US"/>
          </a:p>
        </p:txBody>
      </p:sp>
    </p:spTree>
    <p:extLst>
      <p:ext uri="{BB962C8B-B14F-4D97-AF65-F5344CB8AC3E}">
        <p14:creationId xmlns:p14="http://schemas.microsoft.com/office/powerpoint/2010/main" val="22745706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1066800"/>
          </a:xfrm>
        </p:spPr>
        <p:txBody>
          <a:bodyPr lIns="92075" tIns="46038" rIns="92075" bIns="46038" anchor="b"/>
          <a:lstStyle/>
          <a:p>
            <a:pPr eaLnBrk="1" hangingPunct="1"/>
            <a:r>
              <a:rPr lang="en-US" smtClean="0"/>
              <a:t>E-Commerce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62</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292" y="1389068"/>
            <a:ext cx="7105707" cy="4490329"/>
          </a:xfrm>
          <a:prstGeom prst="rect">
            <a:avLst/>
          </a:prstGeom>
        </p:spPr>
      </p:pic>
    </p:spTree>
    <p:extLst>
      <p:ext uri="{BB962C8B-B14F-4D97-AF65-F5344CB8AC3E}">
        <p14:creationId xmlns:p14="http://schemas.microsoft.com/office/powerpoint/2010/main" val="6509630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990600"/>
          </a:xfrm>
        </p:spPr>
        <p:txBody>
          <a:bodyPr lIns="92075" tIns="46038" rIns="92075" bIns="46038" anchor="b"/>
          <a:lstStyle/>
          <a:p>
            <a:pPr eaLnBrk="1" hangingPunct="1"/>
            <a:r>
              <a:rPr lang="en-US" smtClean="0"/>
              <a:t>E-Commerce</a:t>
            </a:r>
          </a:p>
        </p:txBody>
      </p:sp>
      <p:sp>
        <p:nvSpPr>
          <p:cNvPr id="186370" name="Content Placeholder 6"/>
          <p:cNvSpPr>
            <a:spLocks noGrp="1"/>
          </p:cNvSpPr>
          <p:nvPr>
            <p:ph idx="1"/>
          </p:nvPr>
        </p:nvSpPr>
        <p:spPr>
          <a:xfrm>
            <a:off x="381000" y="1219200"/>
            <a:ext cx="3962400" cy="4800600"/>
          </a:xfrm>
        </p:spPr>
        <p:txBody>
          <a:bodyPr>
            <a:normAutofit/>
          </a:bodyPr>
          <a:lstStyle/>
          <a:p>
            <a:pPr>
              <a:spcBef>
                <a:spcPct val="0"/>
              </a:spcBef>
            </a:pPr>
            <a:r>
              <a:rPr lang="en-US" sz="3200" b="1" smtClean="0">
                <a:solidFill>
                  <a:schemeClr val="tx1"/>
                </a:solidFill>
                <a:latin typeface="Tahoma" pitchFamily="34" charset="0"/>
                <a:ea typeface="Tahoma" pitchFamily="34" charset="0"/>
                <a:cs typeface="Tahoma" pitchFamily="34" charset="0"/>
              </a:rPr>
              <a:t>Building your own business</a:t>
            </a:r>
          </a:p>
          <a:p>
            <a:pPr marL="0" indent="0">
              <a:spcBef>
                <a:spcPct val="0"/>
              </a:spcBef>
              <a:buNone/>
            </a:pPr>
            <a:endParaRPr lang="en-US" sz="3200" b="1" smtClean="0">
              <a:solidFill>
                <a:schemeClr val="tx1"/>
              </a:solidFill>
              <a:latin typeface="Tahoma" pitchFamily="34" charset="0"/>
              <a:ea typeface="Tahoma" pitchFamily="34" charset="0"/>
              <a:cs typeface="Tahoma" pitchFamily="34" charset="0"/>
            </a:endParaRPr>
          </a:p>
          <a:p>
            <a:pPr lvl="1">
              <a:spcBef>
                <a:spcPct val="0"/>
              </a:spcBef>
            </a:pPr>
            <a:r>
              <a:rPr lang="en-US" sz="2000" smtClean="0">
                <a:solidFill>
                  <a:schemeClr val="tx1"/>
                </a:solidFill>
                <a:latin typeface="Tahoma" pitchFamily="34" charset="0"/>
                <a:ea typeface="Tahoma" pitchFamily="34" charset="0"/>
                <a:cs typeface="Tahoma" pitchFamily="34" charset="0"/>
              </a:rPr>
              <a:t>Only needs </a:t>
            </a:r>
            <a:r>
              <a:rPr lang="en-US" sz="2000">
                <a:solidFill>
                  <a:schemeClr val="tx1"/>
                </a:solidFill>
                <a:latin typeface="Tahoma" pitchFamily="34" charset="0"/>
                <a:ea typeface="Tahoma" pitchFamily="34" charset="0"/>
                <a:cs typeface="Tahoma" pitchFamily="34" charset="0"/>
              </a:rPr>
              <a:t>a </a:t>
            </a:r>
            <a:r>
              <a:rPr lang="en-US" sz="2000" smtClean="0">
                <a:solidFill>
                  <a:schemeClr val="tx1"/>
                </a:solidFill>
                <a:latin typeface="Tahoma" pitchFamily="34" charset="0"/>
                <a:ea typeface="Tahoma" pitchFamily="34" charset="0"/>
                <a:cs typeface="Tahoma" pitchFamily="34" charset="0"/>
              </a:rPr>
              <a:t>low capital investment</a:t>
            </a:r>
          </a:p>
          <a:p>
            <a:pPr lvl="1">
              <a:spcBef>
                <a:spcPct val="0"/>
              </a:spcBef>
            </a:pPr>
            <a:r>
              <a:rPr lang="en-US" sz="2000" smtClean="0">
                <a:solidFill>
                  <a:schemeClr val="tx1"/>
                </a:solidFill>
                <a:latin typeface="Tahoma" pitchFamily="34" charset="0"/>
                <a:ea typeface="Tahoma" pitchFamily="34" charset="0"/>
                <a:cs typeface="Tahoma" pitchFamily="34" charset="0"/>
              </a:rPr>
              <a:t>Requires an ISP, a Web site, and the ability to ship purchases</a:t>
            </a:r>
          </a:p>
          <a:p>
            <a:pPr lvl="1">
              <a:spcBef>
                <a:spcPct val="0"/>
              </a:spcBef>
            </a:pPr>
            <a:endParaRPr lang="en-US" sz="20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63</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066800"/>
            <a:ext cx="3810000" cy="4944026"/>
          </a:xfrm>
          <a:prstGeom prst="rect">
            <a:avLst/>
          </a:prstGeom>
        </p:spPr>
      </p:pic>
    </p:spTree>
    <p:extLst>
      <p:ext uri="{BB962C8B-B14F-4D97-AF65-F5344CB8AC3E}">
        <p14:creationId xmlns:p14="http://schemas.microsoft.com/office/powerpoint/2010/main" val="9903241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1066800"/>
          </a:xfrm>
        </p:spPr>
        <p:txBody>
          <a:bodyPr lIns="92075" tIns="46038" rIns="92075" bIns="46038" anchor="b"/>
          <a:lstStyle/>
          <a:p>
            <a:pPr eaLnBrk="1" hangingPunct="1"/>
            <a:r>
              <a:rPr lang="en-US" smtClean="0"/>
              <a:t>E-Commerce</a:t>
            </a:r>
          </a:p>
        </p:txBody>
      </p:sp>
      <p:sp>
        <p:nvSpPr>
          <p:cNvPr id="186370" name="Content Placeholder 6"/>
          <p:cNvSpPr>
            <a:spLocks noGrp="1"/>
          </p:cNvSpPr>
          <p:nvPr>
            <p:ph idx="1"/>
          </p:nvPr>
        </p:nvSpPr>
        <p:spPr>
          <a:xfrm>
            <a:off x="762000" y="1371600"/>
            <a:ext cx="8382000" cy="46482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Other growth areas</a:t>
            </a:r>
          </a:p>
          <a:p>
            <a:pPr lvl="1">
              <a:spcBef>
                <a:spcPct val="0"/>
              </a:spcBef>
            </a:pPr>
            <a:r>
              <a:rPr lang="en-US" sz="2400" smtClean="0">
                <a:solidFill>
                  <a:schemeClr val="tx1"/>
                </a:solidFill>
                <a:latin typeface="Tahoma" pitchFamily="34" charset="0"/>
                <a:ea typeface="Tahoma" pitchFamily="34" charset="0"/>
                <a:cs typeface="Tahoma" pitchFamily="34" charset="0"/>
              </a:rPr>
              <a:t>Travel reservations</a:t>
            </a:r>
          </a:p>
          <a:p>
            <a:pPr lvl="1">
              <a:spcBef>
                <a:spcPct val="0"/>
              </a:spcBef>
            </a:pPr>
            <a:r>
              <a:rPr lang="en-US" sz="2400" smtClean="0">
                <a:solidFill>
                  <a:schemeClr val="tx1"/>
                </a:solidFill>
                <a:latin typeface="Tahoma" pitchFamily="34" charset="0"/>
                <a:ea typeface="Tahoma" pitchFamily="34" charset="0"/>
                <a:cs typeface="Tahoma" pitchFamily="34" charset="0"/>
              </a:rPr>
              <a:t>Banking</a:t>
            </a:r>
          </a:p>
          <a:p>
            <a:pPr lvl="1">
              <a:spcBef>
                <a:spcPct val="0"/>
              </a:spcBef>
            </a:pPr>
            <a:r>
              <a:rPr lang="en-US" sz="2400" smtClean="0">
                <a:solidFill>
                  <a:schemeClr val="tx1"/>
                </a:solidFill>
                <a:latin typeface="Tahoma" pitchFamily="34" charset="0"/>
                <a:ea typeface="Tahoma" pitchFamily="34" charset="0"/>
                <a:cs typeface="Tahoma" pitchFamily="34" charset="0"/>
              </a:rPr>
              <a:t>Online stock trading</a:t>
            </a:r>
          </a:p>
          <a:p>
            <a:pPr lvl="1">
              <a:spcBef>
                <a:spcPct val="0"/>
              </a:spcBef>
            </a:pPr>
            <a:r>
              <a:rPr lang="en-US" sz="2400" smtClean="0">
                <a:solidFill>
                  <a:schemeClr val="tx1"/>
                </a:solidFill>
                <a:latin typeface="Tahoma" pitchFamily="34" charset="0"/>
                <a:ea typeface="Tahoma" pitchFamily="34" charset="0"/>
                <a:cs typeface="Tahoma" pitchFamily="34" charset="0"/>
              </a:rPr>
              <a:t>Nonretail services, such as health, news, and dating services</a:t>
            </a:r>
          </a:p>
          <a:p>
            <a:pPr lvl="1">
              <a:spcBef>
                <a:spcPct val="0"/>
              </a:spcBef>
            </a:pPr>
            <a:endParaRPr lang="en-US" sz="24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64</a:t>
            </a:fld>
            <a:endParaRPr kumimoji="0" lang="en-US"/>
          </a:p>
        </p:txBody>
      </p:sp>
    </p:spTree>
    <p:extLst>
      <p:ext uri="{BB962C8B-B14F-4D97-AF65-F5344CB8AC3E}">
        <p14:creationId xmlns:p14="http://schemas.microsoft.com/office/powerpoint/2010/main" val="1065051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p:cNvSpPr>
            <a:spLocks noGrp="1" noChangeArrowheads="1"/>
          </p:cNvSpPr>
          <p:nvPr>
            <p:ph type="title"/>
          </p:nvPr>
        </p:nvSpPr>
        <p:spPr>
          <a:xfrm>
            <a:off x="0" y="0"/>
            <a:ext cx="9144000" cy="1219200"/>
          </a:xfrm>
        </p:spPr>
        <p:txBody>
          <a:bodyPr lIns="92075" tIns="46038" rIns="92075" bIns="46038" anchor="b"/>
          <a:lstStyle/>
          <a:p>
            <a:pPr eaLnBrk="1" hangingPunct="1"/>
            <a:r>
              <a:rPr lang="en-US" smtClean="0"/>
              <a:t>Rules of Netiquette</a:t>
            </a:r>
          </a:p>
        </p:txBody>
      </p:sp>
      <p:sp>
        <p:nvSpPr>
          <p:cNvPr id="184322" name="Content Placeholder 6"/>
          <p:cNvSpPr>
            <a:spLocks noGrp="1"/>
          </p:cNvSpPr>
          <p:nvPr>
            <p:ph idx="1"/>
          </p:nvPr>
        </p:nvSpPr>
        <p:spPr>
          <a:xfrm>
            <a:off x="762000" y="1447800"/>
            <a:ext cx="8382000" cy="45720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Netiquette</a:t>
            </a:r>
          </a:p>
          <a:p>
            <a:pPr lvl="1">
              <a:spcBef>
                <a:spcPct val="0"/>
              </a:spcBef>
            </a:pPr>
            <a:r>
              <a:rPr lang="en-US" sz="2400" smtClean="0">
                <a:solidFill>
                  <a:schemeClr val="tx1"/>
                </a:solidFill>
                <a:latin typeface="Tahoma" pitchFamily="34" charset="0"/>
                <a:ea typeface="Tahoma" pitchFamily="34" charset="0"/>
                <a:cs typeface="Tahoma" pitchFamily="34" charset="0"/>
              </a:rPr>
              <a:t>Series of guidelines for good manners when using an Internet service</a:t>
            </a:r>
          </a:p>
          <a:p>
            <a:pPr>
              <a:spcBef>
                <a:spcPct val="0"/>
              </a:spcBef>
            </a:pPr>
            <a:r>
              <a:rPr lang="en-US" sz="3600" b="1" smtClean="0">
                <a:solidFill>
                  <a:schemeClr val="tx1"/>
                </a:solidFill>
                <a:latin typeface="Tahoma" pitchFamily="34" charset="0"/>
                <a:ea typeface="Tahoma" pitchFamily="34" charset="0"/>
                <a:cs typeface="Tahoma" pitchFamily="34" charset="0"/>
              </a:rPr>
              <a:t>Flames</a:t>
            </a:r>
            <a:endParaRPr lang="en-US" sz="3600" smtClean="0">
              <a:solidFill>
                <a:schemeClr val="tx1"/>
              </a:solidFill>
              <a:latin typeface="Tahoma" pitchFamily="34" charset="0"/>
              <a:ea typeface="Tahoma" pitchFamily="34" charset="0"/>
              <a:cs typeface="Tahoma" pitchFamily="34" charset="0"/>
            </a:endParaRPr>
          </a:p>
          <a:p>
            <a:pPr lvl="1">
              <a:spcBef>
                <a:spcPct val="0"/>
              </a:spcBef>
            </a:pPr>
            <a:r>
              <a:rPr lang="en-US" sz="2400">
                <a:solidFill>
                  <a:schemeClr val="tx1"/>
                </a:solidFill>
                <a:latin typeface="Tahoma" pitchFamily="34" charset="0"/>
                <a:ea typeface="Tahoma" pitchFamily="34" charset="0"/>
                <a:cs typeface="Tahoma" pitchFamily="34" charset="0"/>
              </a:rPr>
              <a:t>A</a:t>
            </a:r>
            <a:r>
              <a:rPr lang="en-US" sz="2400" smtClean="0">
                <a:solidFill>
                  <a:schemeClr val="tx1"/>
                </a:solidFill>
                <a:latin typeface="Tahoma" pitchFamily="34" charset="0"/>
                <a:ea typeface="Tahoma" pitchFamily="34" charset="0"/>
                <a:cs typeface="Tahoma" pitchFamily="34" charset="0"/>
              </a:rPr>
              <a:t>ngry messages sent by other users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65</a:t>
            </a:fld>
            <a:endParaRPr kumimoji="0" lang="en-US"/>
          </a:p>
        </p:txBody>
      </p:sp>
    </p:spTree>
    <p:extLst>
      <p:ext uri="{BB962C8B-B14F-4D97-AF65-F5344CB8AC3E}">
        <p14:creationId xmlns:p14="http://schemas.microsoft.com/office/powerpoint/2010/main" val="41693272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p:cNvSpPr>
            <a:spLocks noGrp="1" noChangeArrowheads="1"/>
          </p:cNvSpPr>
          <p:nvPr>
            <p:ph type="title"/>
          </p:nvPr>
        </p:nvSpPr>
        <p:spPr>
          <a:xfrm>
            <a:off x="0" y="0"/>
            <a:ext cx="9144000" cy="1143000"/>
          </a:xfrm>
        </p:spPr>
        <p:txBody>
          <a:bodyPr lIns="92075" tIns="46038" rIns="92075" bIns="46038" anchor="b"/>
          <a:lstStyle/>
          <a:p>
            <a:pPr eaLnBrk="1" hangingPunct="1"/>
            <a:r>
              <a:rPr lang="en-US" smtClean="0"/>
              <a:t>Safe Surfing</a:t>
            </a:r>
          </a:p>
        </p:txBody>
      </p:sp>
      <p:sp>
        <p:nvSpPr>
          <p:cNvPr id="186370" name="Content Placeholder 6"/>
          <p:cNvSpPr>
            <a:spLocks noGrp="1"/>
          </p:cNvSpPr>
          <p:nvPr>
            <p:ph idx="1"/>
          </p:nvPr>
        </p:nvSpPr>
        <p:spPr>
          <a:xfrm>
            <a:off x="762000" y="1143000"/>
            <a:ext cx="7772400" cy="5181600"/>
          </a:xfrm>
        </p:spPr>
        <p:txBody>
          <a:bodyPr>
            <a:normAutofit/>
          </a:bodyPr>
          <a:lstStyle/>
          <a:p>
            <a:pPr>
              <a:spcBef>
                <a:spcPct val="0"/>
              </a:spcBef>
            </a:pPr>
            <a:r>
              <a:rPr lang="en-US" sz="3600" b="1" smtClean="0">
                <a:solidFill>
                  <a:schemeClr val="tx1"/>
                </a:solidFill>
                <a:latin typeface="Tahoma" pitchFamily="34" charset="0"/>
                <a:ea typeface="Tahoma" pitchFamily="34" charset="0"/>
                <a:cs typeface="Tahoma" pitchFamily="34" charset="0"/>
              </a:rPr>
              <a:t>Guidelines for safe surfing</a:t>
            </a:r>
          </a:p>
          <a:p>
            <a:pPr lvl="1">
              <a:spcBef>
                <a:spcPct val="0"/>
              </a:spcBef>
            </a:pPr>
            <a:r>
              <a:rPr lang="en-US" sz="2400" smtClean="0">
                <a:solidFill>
                  <a:schemeClr val="tx1"/>
                </a:solidFill>
                <a:latin typeface="Tahoma" pitchFamily="34" charset="0"/>
                <a:ea typeface="Tahoma" pitchFamily="34" charset="0"/>
                <a:cs typeface="Tahoma" pitchFamily="34" charset="0"/>
              </a:rPr>
              <a:t>Never give out identifying information.</a:t>
            </a:r>
          </a:p>
          <a:p>
            <a:pPr lvl="1">
              <a:spcBef>
                <a:spcPct val="0"/>
              </a:spcBef>
            </a:pPr>
            <a:r>
              <a:rPr lang="en-US" sz="2400" smtClean="0">
                <a:solidFill>
                  <a:schemeClr val="tx1"/>
                </a:solidFill>
                <a:latin typeface="Tahoma" pitchFamily="34" charset="0"/>
                <a:ea typeface="Tahoma" pitchFamily="34" charset="0"/>
                <a:cs typeface="Tahoma" pitchFamily="34" charset="0"/>
              </a:rPr>
              <a:t>Never respond to suggestive messages.</a:t>
            </a:r>
          </a:p>
          <a:p>
            <a:pPr lvl="1">
              <a:spcBef>
                <a:spcPct val="0"/>
              </a:spcBef>
            </a:pPr>
            <a:r>
              <a:rPr lang="en-US" sz="2400" smtClean="0">
                <a:solidFill>
                  <a:schemeClr val="tx1"/>
                </a:solidFill>
                <a:latin typeface="Tahoma" pitchFamily="34" charset="0"/>
                <a:ea typeface="Tahoma" pitchFamily="34" charset="0"/>
                <a:cs typeface="Tahoma" pitchFamily="34" charset="0"/>
              </a:rPr>
              <a:t>Never open e-mail from an unknown source.</a:t>
            </a:r>
          </a:p>
          <a:p>
            <a:pPr lvl="1">
              <a:spcBef>
                <a:spcPct val="0"/>
              </a:spcBef>
            </a:pPr>
            <a:r>
              <a:rPr lang="en-US" sz="2400" smtClean="0">
                <a:solidFill>
                  <a:schemeClr val="tx1"/>
                </a:solidFill>
                <a:latin typeface="Tahoma" pitchFamily="34" charset="0"/>
                <a:ea typeface="Tahoma" pitchFamily="34" charset="0"/>
                <a:cs typeface="Tahoma" pitchFamily="34" charset="0"/>
              </a:rPr>
              <a:t>Never allow a child to make arrangements for a face-to-face meeting alone.</a:t>
            </a:r>
          </a:p>
          <a:p>
            <a:pPr lvl="1">
              <a:spcBef>
                <a:spcPct val="0"/>
              </a:spcBef>
            </a:pPr>
            <a:r>
              <a:rPr lang="en-US" sz="2400" smtClean="0">
                <a:solidFill>
                  <a:schemeClr val="tx1"/>
                </a:solidFill>
                <a:latin typeface="Tahoma" pitchFamily="34" charset="0"/>
                <a:ea typeface="Tahoma" pitchFamily="34" charset="0"/>
                <a:cs typeface="Tahoma" pitchFamily="34" charset="0"/>
              </a:rPr>
              <a:t>Remember individuals online may not be who they claim to be.</a:t>
            </a:r>
          </a:p>
          <a:p>
            <a:pPr lvl="1">
              <a:spcBef>
                <a:spcPct val="0"/>
              </a:spcBef>
            </a:pPr>
            <a:r>
              <a:rPr lang="en-US" sz="2400" smtClean="0">
                <a:solidFill>
                  <a:schemeClr val="tx1"/>
                </a:solidFill>
                <a:latin typeface="Tahoma" pitchFamily="34" charset="0"/>
                <a:ea typeface="Tahoma" pitchFamily="34" charset="0"/>
                <a:cs typeface="Tahoma" pitchFamily="34" charset="0"/>
              </a:rPr>
              <a:t>Set reasonable rules and guidelines for computer use by children.</a:t>
            </a:r>
          </a:p>
          <a:p>
            <a:pPr lvl="1">
              <a:spcBef>
                <a:spcPct val="0"/>
              </a:spcBef>
            </a:pPr>
            <a:r>
              <a:rPr lang="en-US" sz="2400" smtClean="0">
                <a:solidFill>
                  <a:schemeClr val="tx1"/>
                </a:solidFill>
                <a:latin typeface="Tahoma" pitchFamily="34" charset="0"/>
                <a:ea typeface="Tahoma" pitchFamily="34" charset="0"/>
                <a:cs typeface="Tahoma" pitchFamily="34" charset="0"/>
              </a:rPr>
              <a:t>Make using the computer a family activity.</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66</a:t>
            </a:fld>
            <a:endParaRPr kumimoji="0" lang="en-US"/>
          </a:p>
        </p:txBody>
      </p:sp>
    </p:spTree>
    <p:extLst>
      <p:ext uri="{BB962C8B-B14F-4D97-AF65-F5344CB8AC3E}">
        <p14:creationId xmlns:p14="http://schemas.microsoft.com/office/powerpoint/2010/main" val="8148639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noChangeArrowheads="1"/>
          </p:cNvSpPr>
          <p:nvPr>
            <p:ph type="title"/>
          </p:nvPr>
        </p:nvSpPr>
        <p:spPr>
          <a:xfrm>
            <a:off x="0" y="0"/>
            <a:ext cx="9144000" cy="1143000"/>
          </a:xfrm>
        </p:spPr>
        <p:txBody>
          <a:bodyPr lIns="92075" tIns="46038" rIns="92075" bIns="46038" anchor="b"/>
          <a:lstStyle/>
          <a:p>
            <a:pPr eaLnBrk="1" hangingPunct="1"/>
            <a:r>
              <a:rPr lang="en-US" smtClean="0"/>
              <a:t>Safe Surfing</a:t>
            </a:r>
          </a:p>
        </p:txBody>
      </p:sp>
      <p:sp>
        <p:nvSpPr>
          <p:cNvPr id="178179" name="Content Placeholder 9"/>
          <p:cNvSpPr>
            <a:spLocks noGrp="1"/>
          </p:cNvSpPr>
          <p:nvPr>
            <p:ph idx="1"/>
          </p:nvPr>
        </p:nvSpPr>
        <p:spPr>
          <a:xfrm>
            <a:off x="762000" y="1295400"/>
            <a:ext cx="8382000" cy="47244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Additional online hazards to avoid:</a:t>
            </a:r>
          </a:p>
          <a:p>
            <a:pPr lvl="1"/>
            <a:r>
              <a:rPr lang="en-US" sz="2400" dirty="0" smtClean="0">
                <a:solidFill>
                  <a:schemeClr val="tx1"/>
                </a:solidFill>
                <a:latin typeface="Tahoma" pitchFamily="34" charset="0"/>
                <a:ea typeface="Tahoma" pitchFamily="34" charset="0"/>
                <a:cs typeface="Tahoma" pitchFamily="34" charset="0"/>
              </a:rPr>
              <a:t>Malware</a:t>
            </a:r>
          </a:p>
          <a:p>
            <a:pPr lvl="1"/>
            <a:r>
              <a:rPr lang="en-US" sz="2400" dirty="0" smtClean="0">
                <a:solidFill>
                  <a:schemeClr val="tx1"/>
                </a:solidFill>
                <a:latin typeface="Tahoma" pitchFamily="34" charset="0"/>
                <a:ea typeface="Tahoma" pitchFamily="34" charset="0"/>
                <a:cs typeface="Tahoma" pitchFamily="34" charset="0"/>
              </a:rPr>
              <a:t>Identity </a:t>
            </a:r>
            <a:r>
              <a:rPr lang="en-US" sz="2400" dirty="0" smtClean="0">
                <a:solidFill>
                  <a:schemeClr val="tx1"/>
                </a:solidFill>
                <a:latin typeface="Tahoma" pitchFamily="34" charset="0"/>
                <a:ea typeface="Tahoma" pitchFamily="34" charset="0"/>
                <a:cs typeface="Tahoma" pitchFamily="34" charset="0"/>
              </a:rPr>
              <a:t>theft</a:t>
            </a:r>
            <a:endParaRPr lang="en-US" sz="24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Threats to you and your family</a:t>
            </a:r>
          </a:p>
          <a:p>
            <a:pPr lvl="1"/>
            <a:r>
              <a:rPr lang="en-US" sz="2400" dirty="0" smtClean="0">
                <a:solidFill>
                  <a:schemeClr val="tx1"/>
                </a:solidFill>
                <a:latin typeface="Tahoma" pitchFamily="34" charset="0"/>
                <a:ea typeface="Tahoma" pitchFamily="34" charset="0"/>
                <a:cs typeface="Tahoma" pitchFamily="34" charset="0"/>
              </a:rPr>
              <a:t>Unscrupulous vendors</a:t>
            </a:r>
            <a:endParaRPr lang="en-US" sz="2400" dirty="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67</a:t>
            </a:fld>
            <a:endParaRPr kumimoji="0" lang="en-US"/>
          </a:p>
        </p:txBody>
      </p:sp>
    </p:spTree>
    <p:extLst>
      <p:ext uri="{BB962C8B-B14F-4D97-AF65-F5344CB8AC3E}">
        <p14:creationId xmlns:p14="http://schemas.microsoft.com/office/powerpoint/2010/main" val="1267841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noChangeArrowheads="1"/>
          </p:cNvSpPr>
          <p:nvPr>
            <p:ph type="title"/>
          </p:nvPr>
        </p:nvSpPr>
        <p:spPr>
          <a:xfrm>
            <a:off x="0" y="0"/>
            <a:ext cx="9144000" cy="1143000"/>
          </a:xfrm>
        </p:spPr>
        <p:txBody>
          <a:bodyPr lIns="92075" tIns="46038" rIns="92075" bIns="46038" anchor="b"/>
          <a:lstStyle/>
          <a:p>
            <a:pPr eaLnBrk="1" hangingPunct="1"/>
            <a:r>
              <a:rPr lang="en-US" smtClean="0"/>
              <a:t>Safe Surfing</a:t>
            </a:r>
          </a:p>
        </p:txBody>
      </p:sp>
      <p:sp>
        <p:nvSpPr>
          <p:cNvPr id="178179" name="Content Placeholder 9"/>
          <p:cNvSpPr>
            <a:spLocks noGrp="1"/>
          </p:cNvSpPr>
          <p:nvPr>
            <p:ph idx="1"/>
          </p:nvPr>
        </p:nvSpPr>
        <p:spPr>
          <a:xfrm>
            <a:off x="609600" y="1295400"/>
            <a:ext cx="8458200" cy="5029200"/>
          </a:xfrm>
        </p:spPr>
        <p:txBody>
          <a:bodyPr>
            <a:noAutofit/>
          </a:bodyPr>
          <a:lstStyle/>
          <a:p>
            <a:r>
              <a:rPr lang="en-US" sz="3600" b="1" smtClean="0">
                <a:solidFill>
                  <a:schemeClr val="tx1"/>
                </a:solidFill>
                <a:latin typeface="Tahoma" pitchFamily="34" charset="0"/>
                <a:ea typeface="Tahoma" pitchFamily="34" charset="0"/>
                <a:cs typeface="Tahoma" pitchFamily="34" charset="0"/>
              </a:rPr>
              <a:t>Protecting your identity</a:t>
            </a:r>
          </a:p>
          <a:p>
            <a:pPr lvl="1"/>
            <a:r>
              <a:rPr lang="en-US" sz="2200" smtClean="0">
                <a:solidFill>
                  <a:schemeClr val="tx1"/>
                </a:solidFill>
                <a:latin typeface="Tahoma" pitchFamily="34" charset="0"/>
                <a:ea typeface="Tahoma" pitchFamily="34" charset="0"/>
                <a:cs typeface="Tahoma" pitchFamily="34" charset="0"/>
              </a:rPr>
              <a:t>Avoid shoulder-surfers, people who stand close enough to see PIN numbers</a:t>
            </a:r>
          </a:p>
          <a:p>
            <a:pPr lvl="1"/>
            <a:r>
              <a:rPr lang="en-US" sz="2200" smtClean="0">
                <a:solidFill>
                  <a:schemeClr val="tx1"/>
                </a:solidFill>
                <a:latin typeface="Tahoma" pitchFamily="34" charset="0"/>
                <a:ea typeface="Tahoma" pitchFamily="34" charset="0"/>
                <a:cs typeface="Tahoma" pitchFamily="34" charset="0"/>
              </a:rPr>
              <a:t>Look for secure Web site features before entering information.</a:t>
            </a:r>
          </a:p>
          <a:p>
            <a:pPr lvl="2"/>
            <a:r>
              <a:rPr lang="en-US" sz="2200" smtClean="0">
                <a:solidFill>
                  <a:schemeClr val="tx1"/>
                </a:solidFill>
                <a:latin typeface="Tahoma" pitchFamily="34" charset="0"/>
                <a:ea typeface="Tahoma" pitchFamily="34" charset="0"/>
                <a:cs typeface="Tahoma" pitchFamily="34" charset="0"/>
              </a:rPr>
              <a:t>https:// in the address instead of http://</a:t>
            </a:r>
          </a:p>
          <a:p>
            <a:pPr lvl="2"/>
            <a:r>
              <a:rPr lang="en-US" sz="2200" smtClean="0">
                <a:solidFill>
                  <a:schemeClr val="tx1"/>
                </a:solidFill>
                <a:latin typeface="Tahoma" pitchFamily="34" charset="0"/>
                <a:ea typeface="Tahoma" pitchFamily="34" charset="0"/>
                <a:cs typeface="Tahoma" pitchFamily="34" charset="0"/>
              </a:rPr>
              <a:t>Site seal provided by a security vendor such as VeriSign</a:t>
            </a:r>
          </a:p>
          <a:p>
            <a:pPr lvl="2"/>
            <a:r>
              <a:rPr lang="en-US" sz="2200" smtClean="0">
                <a:solidFill>
                  <a:schemeClr val="tx1"/>
                </a:solidFill>
                <a:latin typeface="Tahoma" pitchFamily="34" charset="0"/>
                <a:ea typeface="Tahoma" pitchFamily="34" charset="0"/>
                <a:cs typeface="Tahoma" pitchFamily="34" charset="0"/>
              </a:rPr>
              <a:t>Locked padlock symbol on the Web site—be sure it is not a fake image</a:t>
            </a:r>
          </a:p>
          <a:p>
            <a:pPr lvl="2"/>
            <a:r>
              <a:rPr lang="en-US" sz="2200" smtClean="0">
                <a:solidFill>
                  <a:schemeClr val="tx1"/>
                </a:solidFill>
                <a:latin typeface="Tahoma" pitchFamily="34" charset="0"/>
                <a:ea typeface="Tahoma" pitchFamily="34" charset="0"/>
                <a:cs typeface="Tahoma" pitchFamily="34" charset="0"/>
              </a:rPr>
              <a:t>Logo from other site-security entities, such as Verified by Visa</a:t>
            </a:r>
          </a:p>
          <a:p>
            <a:pPr lvl="2"/>
            <a:r>
              <a:rPr lang="en-US" sz="2200" smtClean="0">
                <a:solidFill>
                  <a:schemeClr val="tx1"/>
                </a:solidFill>
                <a:latin typeface="Tahoma" pitchFamily="34" charset="0"/>
                <a:ea typeface="Tahoma" pitchFamily="34" charset="0"/>
                <a:cs typeface="Tahoma" pitchFamily="34" charset="0"/>
              </a:rPr>
              <a:t>Message box that identifies you are entering or leaving a secure site</a:t>
            </a:r>
          </a:p>
          <a:p>
            <a:pPr lvl="1"/>
            <a:endParaRPr lang="en-US" sz="1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68</a:t>
            </a:fld>
            <a:endParaRPr kumimoji="0" lang="en-US"/>
          </a:p>
        </p:txBody>
      </p:sp>
    </p:spTree>
    <p:extLst>
      <p:ext uri="{BB962C8B-B14F-4D97-AF65-F5344CB8AC3E}">
        <p14:creationId xmlns:p14="http://schemas.microsoft.com/office/powerpoint/2010/main" val="1267841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noChangeArrowheads="1"/>
          </p:cNvSpPr>
          <p:nvPr>
            <p:ph type="title"/>
          </p:nvPr>
        </p:nvSpPr>
        <p:spPr>
          <a:xfrm>
            <a:off x="0" y="0"/>
            <a:ext cx="9144000" cy="1066800"/>
          </a:xfrm>
        </p:spPr>
        <p:txBody>
          <a:bodyPr lIns="92075" tIns="46038" rIns="92075" bIns="46038" anchor="b"/>
          <a:lstStyle/>
          <a:p>
            <a:pPr eaLnBrk="1" hangingPunct="1"/>
            <a:r>
              <a:rPr lang="en-US" smtClean="0"/>
              <a:t>Safe Surfing</a:t>
            </a:r>
          </a:p>
        </p:txBody>
      </p:sp>
      <p:sp>
        <p:nvSpPr>
          <p:cNvPr id="178179" name="Content Placeholder 9"/>
          <p:cNvSpPr>
            <a:spLocks noGrp="1"/>
          </p:cNvSpPr>
          <p:nvPr>
            <p:ph idx="1"/>
          </p:nvPr>
        </p:nvSpPr>
        <p:spPr>
          <a:xfrm>
            <a:off x="762000" y="1219200"/>
            <a:ext cx="8382000" cy="50292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Protecting children in cyberspace</a:t>
            </a:r>
          </a:p>
          <a:p>
            <a:pPr lvl="1"/>
            <a:r>
              <a:rPr lang="en-US" sz="2400" b="1" dirty="0" smtClean="0">
                <a:solidFill>
                  <a:schemeClr val="tx1"/>
                </a:solidFill>
                <a:latin typeface="Tahoma" pitchFamily="34" charset="0"/>
                <a:ea typeface="Tahoma" pitchFamily="34" charset="0"/>
                <a:cs typeface="Tahoma" pitchFamily="34" charset="0"/>
              </a:rPr>
              <a:t>Cyber-bullying</a:t>
            </a:r>
            <a:endParaRPr lang="en-US" sz="2400" dirty="0" smtClean="0">
              <a:solidFill>
                <a:schemeClr val="tx1"/>
              </a:solidFill>
              <a:latin typeface="Tahoma" pitchFamily="34" charset="0"/>
              <a:ea typeface="Tahoma" pitchFamily="34" charset="0"/>
              <a:cs typeface="Tahoma" pitchFamily="34" charset="0"/>
            </a:endParaRPr>
          </a:p>
          <a:p>
            <a:pPr lvl="2"/>
            <a:r>
              <a:rPr lang="en-US" sz="2400" dirty="0" smtClean="0">
                <a:solidFill>
                  <a:schemeClr val="tx1"/>
                </a:solidFill>
                <a:latin typeface="Tahoma" pitchFamily="34" charset="0"/>
                <a:ea typeface="Tahoma" pitchFamily="34" charset="0"/>
                <a:cs typeface="Tahoma" pitchFamily="34" charset="0"/>
              </a:rPr>
              <a:t>When a child is targeted for some form of torment or abuse through digital tools</a:t>
            </a:r>
          </a:p>
          <a:p>
            <a:pPr lvl="1"/>
            <a:r>
              <a:rPr lang="en-US" sz="2400" b="1" dirty="0" smtClean="0">
                <a:solidFill>
                  <a:schemeClr val="tx1"/>
                </a:solidFill>
                <a:latin typeface="Tahoma" pitchFamily="34" charset="0"/>
                <a:ea typeface="Tahoma" pitchFamily="34" charset="0"/>
                <a:cs typeface="Tahoma" pitchFamily="34" charset="0"/>
              </a:rPr>
              <a:t>Cyber-stalkers</a:t>
            </a:r>
            <a:endParaRPr lang="en-US" sz="2400" b="1" dirty="0" smtClean="0">
              <a:solidFill>
                <a:schemeClr val="tx1"/>
              </a:solidFill>
              <a:latin typeface="Tahoma" pitchFamily="34" charset="0"/>
              <a:ea typeface="Tahoma" pitchFamily="34" charset="0"/>
              <a:cs typeface="Tahoma" pitchFamily="34" charset="0"/>
            </a:endParaRPr>
          </a:p>
          <a:p>
            <a:pPr lvl="2"/>
            <a:r>
              <a:rPr lang="en-US" sz="2400" dirty="0" smtClean="0">
                <a:solidFill>
                  <a:schemeClr val="tx1"/>
                </a:solidFill>
                <a:latin typeface="Tahoma" pitchFamily="34" charset="0"/>
                <a:ea typeface="Tahoma" pitchFamily="34" charset="0"/>
                <a:cs typeface="Tahoma" pitchFamily="34" charset="0"/>
              </a:rPr>
              <a:t>Use e-mail, instant messaging, chat rooms, pagers, cell phones, and other forms of information technology to make repeated, credible threats of violence against an individual or family</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69</a:t>
            </a:fld>
            <a:endParaRPr kumimoji="0" lang="en-US"/>
          </a:p>
        </p:txBody>
      </p:sp>
    </p:spTree>
    <p:extLst>
      <p:ext uri="{BB962C8B-B14F-4D97-AF65-F5344CB8AC3E}">
        <p14:creationId xmlns:p14="http://schemas.microsoft.com/office/powerpoint/2010/main" val="42270195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Summary</a:t>
            </a:r>
          </a:p>
        </p:txBody>
      </p:sp>
      <p:sp>
        <p:nvSpPr>
          <p:cNvPr id="101378" name="Rectangle 3"/>
          <p:cNvSpPr>
            <a:spLocks noGrp="1" noChangeArrowheads="1"/>
          </p:cNvSpPr>
          <p:nvPr>
            <p:ph type="body" idx="1"/>
          </p:nvPr>
        </p:nvSpPr>
        <p:spPr>
          <a:xfrm>
            <a:off x="685800" y="1752600"/>
            <a:ext cx="8305800" cy="4459287"/>
          </a:xfrm>
        </p:spPr>
        <p:txBody>
          <a:bodyPr lIns="182562" tIns="46038" rIns="182562" bIns="46038">
            <a:normAutofit/>
          </a:bodyPr>
          <a:lstStyle/>
          <a:p>
            <a:pPr eaLnBrk="1" hangingPunct="1"/>
            <a:r>
              <a:rPr lang="en-US" sz="3200" smtClean="0">
                <a:solidFill>
                  <a:schemeClr val="tx1"/>
                </a:solidFill>
                <a:latin typeface="Tahoma" pitchFamily="34" charset="0"/>
                <a:ea typeface="Tahoma" pitchFamily="34" charset="0"/>
                <a:cs typeface="Tahoma" pitchFamily="34" charset="0"/>
              </a:rPr>
              <a:t>Define the Internet, and explain how it works.</a:t>
            </a:r>
          </a:p>
          <a:p>
            <a:pPr eaLnBrk="1" hangingPunct="1"/>
            <a:r>
              <a:rPr lang="en-US" sz="3200" smtClean="0">
                <a:solidFill>
                  <a:schemeClr val="tx1"/>
                </a:solidFill>
                <a:latin typeface="Tahoma" pitchFamily="34" charset="0"/>
                <a:ea typeface="Tahoma" pitchFamily="34" charset="0"/>
                <a:cs typeface="Tahoma" pitchFamily="34" charset="0"/>
              </a:rPr>
              <a:t>Describe methods for accessing the Internet.</a:t>
            </a:r>
          </a:p>
          <a:p>
            <a:pPr eaLnBrk="1" hangingPunct="1"/>
            <a:r>
              <a:rPr lang="en-US" sz="3200" smtClean="0">
                <a:solidFill>
                  <a:schemeClr val="tx1"/>
                </a:solidFill>
                <a:latin typeface="Tahoma" pitchFamily="34" charset="0"/>
                <a:ea typeface="Tahoma" pitchFamily="34" charset="0"/>
                <a:cs typeface="Tahoma" pitchFamily="34" charset="0"/>
              </a:rPr>
              <a:t>Differentiate between the Internet and the World Wide Web, and describe the elements that enable Web content to be displayed.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70</a:t>
            </a:fld>
            <a:endParaRPr kumimoji="0" lang="en-US"/>
          </a:p>
        </p:txBody>
      </p:sp>
    </p:spTree>
    <p:extLst>
      <p:ext uri="{BB962C8B-B14F-4D97-AF65-F5344CB8AC3E}">
        <p14:creationId xmlns:p14="http://schemas.microsoft.com/office/powerpoint/2010/main" val="32534325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Summary</a:t>
            </a:r>
          </a:p>
        </p:txBody>
      </p:sp>
      <p:sp>
        <p:nvSpPr>
          <p:cNvPr id="102402" name="Rectangle 3"/>
          <p:cNvSpPr>
            <a:spLocks noGrp="1" noChangeArrowheads="1"/>
          </p:cNvSpPr>
          <p:nvPr>
            <p:ph type="body" idx="1"/>
          </p:nvPr>
        </p:nvSpPr>
        <p:spPr>
          <a:xfrm>
            <a:off x="685800" y="1905000"/>
            <a:ext cx="7772400" cy="4230687"/>
          </a:xfrm>
        </p:spPr>
        <p:txBody>
          <a:bodyPr lIns="182562" tIns="46038" rIns="182562" bIns="46038">
            <a:normAutofit/>
          </a:bodyPr>
          <a:lstStyle/>
          <a:p>
            <a:r>
              <a:rPr lang="en-US" sz="3200">
                <a:solidFill>
                  <a:schemeClr val="tx1"/>
                </a:solidFill>
                <a:latin typeface="Tahoma" pitchFamily="34" charset="0"/>
                <a:ea typeface="Tahoma" pitchFamily="34" charset="0"/>
                <a:cs typeface="Tahoma" pitchFamily="34" charset="0"/>
              </a:rPr>
              <a:t>Describe several methods of finding information on the Web including the use of a URL, surfing, conducting searches, and sharing with other Web users through RSS feeds, blogs, wikis, and podcasts.</a:t>
            </a:r>
          </a:p>
          <a:p>
            <a:pPr eaLnBrk="1" hangingPunct="1"/>
            <a:r>
              <a:rPr lang="en-US" sz="3200" smtClean="0">
                <a:solidFill>
                  <a:schemeClr val="tx1"/>
                </a:solidFill>
                <a:latin typeface="Tahoma" pitchFamily="34" charset="0"/>
                <a:ea typeface="Tahoma" pitchFamily="34" charset="0"/>
                <a:cs typeface="Tahoma" pitchFamily="34" charset="0"/>
              </a:rPr>
              <a:t>Identify features to look for when evaluating a Web site or its content.</a:t>
            </a:r>
          </a:p>
          <a:p>
            <a:pPr eaLnBrk="1" hangingPunct="1"/>
            <a:endParaRPr lang="en-US" sz="2800" smtClean="0">
              <a:solidFill>
                <a:schemeClr val="tx1"/>
              </a:solidFill>
              <a:latin typeface="Tahoma" pitchFamily="34" charset="0"/>
              <a:ea typeface="Tahoma" pitchFamily="34" charset="0"/>
              <a:cs typeface="Tahoma" pitchFamily="34" charset="0"/>
            </a:endParaRPr>
          </a:p>
          <a:p>
            <a:pPr eaLnBrk="1" hangingPunct="1"/>
            <a:endParaRPr lang="en-US" sz="280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71</a:t>
            </a:fld>
            <a:endParaRPr kumimoji="0" lang="en-US"/>
          </a:p>
        </p:txBody>
      </p:sp>
    </p:spTree>
    <p:extLst>
      <p:ext uri="{BB962C8B-B14F-4D97-AF65-F5344CB8AC3E}">
        <p14:creationId xmlns:p14="http://schemas.microsoft.com/office/powerpoint/2010/main" val="2792891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smtClean="0"/>
              <a:t>Summary</a:t>
            </a:r>
          </a:p>
        </p:txBody>
      </p:sp>
      <p:sp>
        <p:nvSpPr>
          <p:cNvPr id="103426" name="Rectangle 3"/>
          <p:cNvSpPr>
            <a:spLocks noGrp="1" noChangeArrowheads="1"/>
          </p:cNvSpPr>
          <p:nvPr>
            <p:ph type="body" idx="1"/>
          </p:nvPr>
        </p:nvSpPr>
        <p:spPr>
          <a:xfrm>
            <a:off x="685800" y="1905000"/>
            <a:ext cx="8153400" cy="4230687"/>
          </a:xfrm>
        </p:spPr>
        <p:txBody>
          <a:bodyPr lIns="182562" tIns="46038" rIns="182562" bIns="46038">
            <a:normAutofit/>
          </a:bodyPr>
          <a:lstStyle/>
          <a:p>
            <a:pPr eaLnBrk="1" hangingPunct="1"/>
            <a:r>
              <a:rPr lang="en-US" sz="3200" smtClean="0">
                <a:solidFill>
                  <a:schemeClr val="tx1"/>
                </a:solidFill>
                <a:latin typeface="Tahoma" pitchFamily="34" charset="0"/>
                <a:ea typeface="Tahoma" pitchFamily="34" charset="0"/>
                <a:cs typeface="Tahoma" pitchFamily="34" charset="0"/>
              </a:rPr>
              <a:t>List the most popular Internet services, and explain what they do.</a:t>
            </a:r>
          </a:p>
          <a:p>
            <a:pPr eaLnBrk="1" hangingPunct="1"/>
            <a:r>
              <a:rPr lang="en-US" sz="3200" smtClean="0">
                <a:solidFill>
                  <a:schemeClr val="tx1"/>
                </a:solidFill>
                <a:latin typeface="Tahoma" pitchFamily="34" charset="0"/>
                <a:ea typeface="Tahoma" pitchFamily="34" charset="0"/>
                <a:cs typeface="Tahoma" pitchFamily="34" charset="0"/>
              </a:rPr>
              <a:t>Describe the three types of e-commerce.</a:t>
            </a:r>
          </a:p>
          <a:p>
            <a:pPr eaLnBrk="1" hangingPunct="1"/>
            <a:r>
              <a:rPr lang="en-US" sz="3200" smtClean="0">
                <a:solidFill>
                  <a:schemeClr val="tx1"/>
                </a:solidFill>
                <a:latin typeface="Tahoma" pitchFamily="34" charset="0"/>
                <a:ea typeface="Tahoma" pitchFamily="34" charset="0"/>
                <a:cs typeface="Tahoma" pitchFamily="34" charset="0"/>
              </a:rPr>
              <a:t>List the rules of netiquette.</a:t>
            </a:r>
          </a:p>
          <a:p>
            <a:pPr eaLnBrk="1" hangingPunct="1"/>
            <a:r>
              <a:rPr lang="en-US" sz="3200" smtClean="0">
                <a:solidFill>
                  <a:schemeClr val="tx1"/>
                </a:solidFill>
                <a:latin typeface="Tahoma" pitchFamily="34" charset="0"/>
                <a:ea typeface="Tahoma" pitchFamily="34" charset="0"/>
                <a:cs typeface="Tahoma" pitchFamily="34" charset="0"/>
              </a:rPr>
              <a:t>List safe surfing procedures, and identify hazards of the Web. </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72</a:t>
            </a:fld>
            <a:endParaRPr kumimoji="0" lang="en-US"/>
          </a:p>
        </p:txBody>
      </p:sp>
    </p:spTree>
    <p:extLst>
      <p:ext uri="{BB962C8B-B14F-4D97-AF65-F5344CB8AC3E}">
        <p14:creationId xmlns:p14="http://schemas.microsoft.com/office/powerpoint/2010/main" val="4066626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3"/>
          <p:cNvSpPr>
            <a:spLocks noChangeArrowheads="1"/>
          </p:cNvSpPr>
          <p:nvPr/>
        </p:nvSpPr>
        <p:spPr bwMode="auto">
          <a:xfrm>
            <a:off x="-3725863" y="2297113"/>
            <a:ext cx="9144001" cy="0"/>
          </a:xfrm>
          <a:prstGeom prst="rect">
            <a:avLst/>
          </a:prstGeom>
          <a:noFill/>
          <a:ln w="25400">
            <a:noFill/>
            <a:miter lim="800000"/>
            <a:headEnd/>
            <a:tailEnd/>
          </a:ln>
        </p:spPr>
        <p:txBody>
          <a:bodyPr wrap="none" anchor="ctr">
            <a:spAutoFit/>
          </a:bodyPr>
          <a:lstStyle/>
          <a:p>
            <a:pPr eaLnBrk="0" hangingPunct="0"/>
            <a:endParaRPr lang="en-US"/>
          </a:p>
        </p:txBody>
      </p:sp>
      <p:pic>
        <p:nvPicPr>
          <p:cNvPr id="99331" name="Picture 4" descr="cid:3287383400_2177562"/>
          <p:cNvPicPr>
            <a:picLocks noChangeAspect="1" noChangeArrowheads="1"/>
          </p:cNvPicPr>
          <p:nvPr/>
        </p:nvPicPr>
        <p:blipFill>
          <a:blip r:embed="rId3" r:link="rId4" cstate="print"/>
          <a:srcRect/>
          <a:stretch>
            <a:fillRect/>
          </a:stretch>
        </p:blipFill>
        <p:spPr bwMode="auto">
          <a:xfrm>
            <a:off x="0" y="923131"/>
            <a:ext cx="8423275" cy="2747963"/>
          </a:xfrm>
          <a:prstGeom prst="rect">
            <a:avLst/>
          </a:prstGeom>
          <a:solidFill>
            <a:schemeClr val="hlink"/>
          </a:solidFill>
          <a:ln w="9525">
            <a:solidFill>
              <a:schemeClr val="bg1"/>
            </a:solidFill>
            <a:miter lim="800000"/>
            <a:headEnd/>
            <a:tailEnd/>
          </a:ln>
        </p:spPr>
      </p:pic>
      <p:sp>
        <p:nvSpPr>
          <p:cNvPr id="99332" name="Rectangle 5"/>
          <p:cNvSpPr>
            <a:spLocks noChangeArrowheads="1"/>
          </p:cNvSpPr>
          <p:nvPr/>
        </p:nvSpPr>
        <p:spPr bwMode="auto">
          <a:xfrm>
            <a:off x="708025" y="3894138"/>
            <a:ext cx="7589838" cy="1069975"/>
          </a:xfrm>
          <a:prstGeom prst="rect">
            <a:avLst/>
          </a:prstGeom>
          <a:noFill/>
          <a:ln w="25400">
            <a:noFill/>
            <a:miter lim="800000"/>
            <a:headEnd/>
            <a:tailEnd/>
          </a:ln>
        </p:spPr>
        <p:txBody>
          <a:bodyPr anchor="ctr">
            <a:spAutoFit/>
          </a:bodyPr>
          <a:lstStyle/>
          <a:p>
            <a:pPr algn="ctr" eaLnBrk="0" hangingPunct="0"/>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38188" y="5327650"/>
            <a:ext cx="7845425" cy="636588"/>
          </a:xfrm>
          <a:prstGeom prst="rect">
            <a:avLst/>
          </a:prstGeom>
          <a:noFill/>
          <a:ln>
            <a:miter lim="800000"/>
            <a:headEnd/>
            <a:tailEnd/>
          </a:ln>
        </p:spPr>
        <p:txBody>
          <a:bodyPr anchor="b"/>
          <a:lstStyle/>
          <a:p>
            <a:pPr algn="ctr" eaLnBrk="0" hangingPunct="0">
              <a:defRPr/>
            </a:pPr>
            <a:r>
              <a:rPr lang="en-US">
                <a:solidFill>
                  <a:srgbClr val="000000"/>
                </a:solidFill>
                <a:effectLst>
                  <a:outerShdw blurRad="38100" dist="38100" dir="2700000" algn="tl">
                    <a:srgbClr val="C0C0C0"/>
                  </a:outerShdw>
                </a:effectLst>
                <a:latin typeface="Tahoma" pitchFamily="34" charset="0"/>
                <a:cs typeface="Arial" pitchFamily="34" charset="0"/>
              </a:rPr>
              <a:t>Copyright © </a:t>
            </a:r>
            <a:r>
              <a:rPr lang="en-US" smtClean="0">
                <a:solidFill>
                  <a:srgbClr val="000000"/>
                </a:solidFill>
                <a:effectLst>
                  <a:outerShdw blurRad="38100" dist="38100" dir="2700000" algn="tl">
                    <a:srgbClr val="C0C0C0"/>
                  </a:outerShdw>
                </a:effectLst>
                <a:latin typeface="Tahoma" pitchFamily="34" charset="0"/>
                <a:cs typeface="Arial" pitchFamily="34" charset="0"/>
              </a:rPr>
              <a:t>2012 </a:t>
            </a:r>
            <a:r>
              <a:rPr lang="en-US">
                <a:solidFill>
                  <a:srgbClr val="000000"/>
                </a:solidFill>
                <a:effectLst>
                  <a:outerShdw blurRad="38100" dist="38100" dir="2700000" algn="tl">
                    <a:srgbClr val="C0C0C0"/>
                  </a:outerShdw>
                </a:effectLst>
                <a:latin typeface="Tahoma" pitchFamily="34" charset="0"/>
                <a:cs typeface="Arial" pitchFamily="34" charset="0"/>
              </a:rPr>
              <a:t>Pearson Education, Inc.  </a:t>
            </a:r>
          </a:p>
          <a:p>
            <a:pPr algn="ctr" eaLnBrk="0" hangingPunct="0">
              <a:defRPr/>
            </a:pPr>
            <a:r>
              <a:rPr lang="en-US">
                <a:solidFill>
                  <a:srgbClr val="000000"/>
                </a:solidFill>
                <a:effectLst>
                  <a:outerShdw blurRad="38100" dist="38100" dir="2700000" algn="tl">
                    <a:srgbClr val="C0C0C0"/>
                  </a:outerShdw>
                </a:effectLst>
                <a:latin typeface="Tahoma" pitchFamily="34" charset="0"/>
                <a:cs typeface="Arial" pitchFamily="34" charset="0"/>
              </a:rPr>
              <a:t>Publishing as Prentice Hall</a:t>
            </a:r>
            <a:endParaRPr lang="en-US">
              <a:solidFill>
                <a:srgbClr val="000000"/>
              </a:solidFill>
              <a:effectLst>
                <a:outerShdw blurRad="38100" dist="38100" dir="2700000" algn="tl">
                  <a:srgbClr val="C0C0C0"/>
                </a:outerShdw>
              </a:effectLst>
              <a:cs typeface="Arial" pitchFamily="34" charset="0"/>
            </a:endParaRPr>
          </a:p>
        </p:txBody>
      </p:sp>
      <p:sp>
        <p:nvSpPr>
          <p:cNvPr id="2" name="Footer Placeholder 1"/>
          <p:cNvSpPr>
            <a:spLocks noGrp="1"/>
          </p:cNvSpPr>
          <p:nvPr>
            <p:ph type="ftr" sz="quarter" idx="11"/>
          </p:nvPr>
        </p:nvSpPr>
        <p:spPr>
          <a:xfrm>
            <a:off x="659165" y="6356350"/>
            <a:ext cx="6503635" cy="365125"/>
          </a:xfrm>
        </p:spPr>
        <p:txBody>
          <a:bodyPr/>
          <a:lstStyle/>
          <a:p>
            <a:r>
              <a:rPr lang="en-US" smtClean="0"/>
              <a:t>Copyright © 2012 Pearson Education, Inc. Publishing as Prentice Hall</a:t>
            </a:r>
            <a:endParaRPr lang="en-US"/>
          </a:p>
        </p:txBody>
      </p:sp>
      <p:sp>
        <p:nvSpPr>
          <p:cNvPr id="3" name="Slide Number Placeholder 2"/>
          <p:cNvSpPr>
            <a:spLocks noGrp="1"/>
          </p:cNvSpPr>
          <p:nvPr>
            <p:ph type="sldNum" sz="quarter" idx="12"/>
          </p:nvPr>
        </p:nvSpPr>
        <p:spPr/>
        <p:txBody>
          <a:bodyPr/>
          <a:lstStyle/>
          <a:p>
            <a:fld id="{6E2D2B3B-882E-40F3-A32F-6DD516915044}" type="slidenum">
              <a:rPr lang="en-US" smtClean="0"/>
              <a:pPr/>
              <a:t>73</a:t>
            </a:fld>
            <a:endParaRPr lang="en-US"/>
          </a:p>
        </p:txBody>
      </p:sp>
    </p:spTree>
  </p:cSld>
  <p:clrMapOvr>
    <a:masterClrMapping/>
  </p:clrMapOvr>
  <p:transition/>
  <p:timing>
    <p:tnLst>
      <p:par>
        <p:cTn id="1" dur="indefinite" restart="never" nodeType="tmRoot"/>
      </p:par>
    </p:tnLst>
  </p:timing>
</p:sld>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6_Custom Desig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Staff training presentation</Template>
  <TotalTime>6192</TotalTime>
  <Words>4088</Words>
  <Application>Microsoft Office PowerPoint</Application>
  <PresentationFormat>On-screen Show (4:3)</PresentationFormat>
  <Paragraphs>858</Paragraphs>
  <Slides>73</Slides>
  <Notes>73</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73</vt:i4>
      </vt:variant>
    </vt:vector>
  </HeadingPairs>
  <TitlesOfParts>
    <vt:vector size="89" baseType="lpstr">
      <vt:lpstr>Arial</vt:lpstr>
      <vt:lpstr>Calibri</vt:lpstr>
      <vt:lpstr>Century Gothic</vt:lpstr>
      <vt:lpstr>Courier New</vt:lpstr>
      <vt:lpstr>Palatino Linotype</vt:lpstr>
      <vt:lpstr>Tahoma</vt:lpstr>
      <vt:lpstr>Times New Roman</vt:lpstr>
      <vt:lpstr>Wingdings</vt:lpstr>
      <vt:lpstr>6_Custom Design</vt:lpstr>
      <vt:lpstr>5_Custom Design</vt:lpstr>
      <vt:lpstr>4_Custom Design</vt:lpstr>
      <vt:lpstr>3_Custom Design</vt:lpstr>
      <vt:lpstr>2_Custom Design</vt:lpstr>
      <vt:lpstr>1_Custom Design</vt:lpstr>
      <vt:lpstr>Custom Design</vt:lpstr>
      <vt:lpstr>Executive</vt:lpstr>
      <vt:lpstr>Computers Are Your Future Twelfth Edition</vt:lpstr>
      <vt:lpstr>Objectives </vt:lpstr>
      <vt:lpstr>Objectives </vt:lpstr>
      <vt:lpstr>Objectives </vt:lpstr>
      <vt:lpstr>What Is the Internet and How Does It Work?</vt:lpstr>
      <vt:lpstr>What Is the Internet and How Does It Work?</vt:lpstr>
      <vt:lpstr>What Is the Internet and How Does It Work?</vt:lpstr>
      <vt:lpstr>What Is the Internet and How Does It Work?</vt:lpstr>
      <vt:lpstr>What Is the Internet and How Does It Work?</vt:lpstr>
      <vt:lpstr>What Is the Internet and How Does It Work?</vt:lpstr>
      <vt:lpstr>What Is the Internet and How Does It Work?</vt:lpstr>
      <vt:lpstr>What is the Internet and How Does It Work?</vt:lpstr>
      <vt:lpstr>Accessing the Internet:  Going Online</vt:lpstr>
      <vt:lpstr>Accessing the Internet:  Going Online</vt:lpstr>
      <vt:lpstr>Accessing the Internet:  Going Online</vt:lpstr>
      <vt:lpstr>Accessing the Internet:  Going Online</vt:lpstr>
      <vt:lpstr>The Internet and the Web: What’s the Difference?</vt:lpstr>
      <vt:lpstr>The Internet and the Web: What’s the Difference?</vt:lpstr>
      <vt:lpstr>The Internet and the Web: What’s the Difference?</vt:lpstr>
      <vt:lpstr>The Internet and the Web: What’s the Difference?</vt:lpstr>
      <vt:lpstr>The Internet and the Web: What’s the Difference?</vt:lpstr>
      <vt:lpstr>The Internet and the Web: What’s the Difference?</vt:lpstr>
      <vt:lpstr>The Internet and the Web: What’s the Difference?</vt:lpstr>
      <vt:lpstr>The Internet and the Web: What’s the Difference?</vt:lpstr>
      <vt:lpstr>The Internet and the Web: What’s the Difference?</vt:lpstr>
      <vt:lpstr>The Internet and the Web: What’s the Difference?</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Finding Information  on the Web</vt:lpstr>
      <vt:lpstr>Using Information  from the Web</vt:lpstr>
      <vt:lpstr>Using Information  from the Web</vt:lpstr>
      <vt:lpstr>Exploring Internet Services</vt:lpstr>
      <vt:lpstr>Exploring Internet Services</vt:lpstr>
      <vt:lpstr>Exploring Internet Services</vt:lpstr>
      <vt:lpstr>Exploring Internet Services</vt:lpstr>
      <vt:lpstr>Exploring Internet Services</vt:lpstr>
      <vt:lpstr>Exploring Internet Services</vt:lpstr>
      <vt:lpstr>Exploring Internet Services</vt:lpstr>
      <vt:lpstr>Exploring Internet Services</vt:lpstr>
      <vt:lpstr>Exploring Internet Services</vt:lpstr>
      <vt:lpstr>Exploring Internet Services</vt:lpstr>
      <vt:lpstr>Exploring Internet Services</vt:lpstr>
      <vt:lpstr>Exploring Internet Services</vt:lpstr>
      <vt:lpstr>Exploring Internet Services</vt:lpstr>
      <vt:lpstr>E-Commerce</vt:lpstr>
      <vt:lpstr>E-Commerce</vt:lpstr>
      <vt:lpstr>E-Commerce</vt:lpstr>
      <vt:lpstr>E-Commerce</vt:lpstr>
      <vt:lpstr>E-Commerce</vt:lpstr>
      <vt:lpstr>E-Commerce</vt:lpstr>
      <vt:lpstr>E-Commerce</vt:lpstr>
      <vt:lpstr>Rules of Netiquette</vt:lpstr>
      <vt:lpstr>Safe Surfing</vt:lpstr>
      <vt:lpstr>Safe Surfing</vt:lpstr>
      <vt:lpstr>Safe Surfing</vt:lpstr>
      <vt:lpstr>Safe Surfing</vt:lpstr>
      <vt:lpstr>Summary</vt:lpstr>
      <vt:lpstr>Summary</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Computers Are Your Future Twelfth Edition</dc:title>
  <dc:creator>Computers Are Your Future</dc:creator>
  <cp:lastModifiedBy>Windows User</cp:lastModifiedBy>
  <cp:revision>3</cp:revision>
  <dcterms:created xsi:type="dcterms:W3CDTF">2008-05-17T17:07:47Z</dcterms:created>
  <dcterms:modified xsi:type="dcterms:W3CDTF">2018-01-24T13:25:04Z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TC010130221033</vt:lpwstr>
  </property>
</Properties>
</file>