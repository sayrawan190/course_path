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56"/>
  </p:notesMasterIdLst>
  <p:handoutMasterIdLst>
    <p:handoutMasterId r:id="rId57"/>
  </p:handoutMasterIdLst>
  <p:sldIdLst>
    <p:sldId id="256" r:id="rId2"/>
    <p:sldId id="276" r:id="rId3"/>
    <p:sldId id="277" r:id="rId4"/>
    <p:sldId id="280" r:id="rId5"/>
    <p:sldId id="257" r:id="rId6"/>
    <p:sldId id="258" r:id="rId7"/>
    <p:sldId id="378" r:id="rId8"/>
    <p:sldId id="379" r:id="rId9"/>
    <p:sldId id="380" r:id="rId10"/>
    <p:sldId id="351" r:id="rId11"/>
    <p:sldId id="281" r:id="rId12"/>
    <p:sldId id="282" r:id="rId13"/>
    <p:sldId id="283" r:id="rId14"/>
    <p:sldId id="285" r:id="rId15"/>
    <p:sldId id="286" r:id="rId16"/>
    <p:sldId id="287" r:id="rId17"/>
    <p:sldId id="259" r:id="rId18"/>
    <p:sldId id="310" r:id="rId19"/>
    <p:sldId id="288" r:id="rId20"/>
    <p:sldId id="260" r:id="rId21"/>
    <p:sldId id="311" r:id="rId22"/>
    <p:sldId id="261" r:id="rId23"/>
    <p:sldId id="302" r:id="rId24"/>
    <p:sldId id="303" r:id="rId25"/>
    <p:sldId id="333" r:id="rId26"/>
    <p:sldId id="304" r:id="rId27"/>
    <p:sldId id="270" r:id="rId28"/>
    <p:sldId id="340" r:id="rId29"/>
    <p:sldId id="335" r:id="rId30"/>
    <p:sldId id="336" r:id="rId31"/>
    <p:sldId id="345" r:id="rId32"/>
    <p:sldId id="383" r:id="rId33"/>
    <p:sldId id="346" r:id="rId34"/>
    <p:sldId id="365" r:id="rId35"/>
    <p:sldId id="366" r:id="rId36"/>
    <p:sldId id="367" r:id="rId37"/>
    <p:sldId id="368" r:id="rId38"/>
    <p:sldId id="369" r:id="rId39"/>
    <p:sldId id="370" r:id="rId40"/>
    <p:sldId id="372" r:id="rId41"/>
    <p:sldId id="373" r:id="rId42"/>
    <p:sldId id="391" r:id="rId43"/>
    <p:sldId id="295" r:id="rId44"/>
    <p:sldId id="296" r:id="rId45"/>
    <p:sldId id="297" r:id="rId46"/>
    <p:sldId id="298" r:id="rId47"/>
    <p:sldId id="299" r:id="rId48"/>
    <p:sldId id="347" r:id="rId49"/>
    <p:sldId id="348" r:id="rId50"/>
    <p:sldId id="274" r:id="rId51"/>
    <p:sldId id="399" r:id="rId52"/>
    <p:sldId id="349" r:id="rId53"/>
    <p:sldId id="350" r:id="rId54"/>
    <p:sldId id="275" r:id="rId55"/>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88"/>
    <p:restoredTop sz="88960"/>
  </p:normalViewPr>
  <p:slideViewPr>
    <p:cSldViewPr snapToObjects="1">
      <p:cViewPr varScale="1">
        <p:scale>
          <a:sx n="91" d="100"/>
          <a:sy n="91" d="100"/>
        </p:scale>
        <p:origin x="1264" y="176"/>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9/3/25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2512104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9/3/25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557350352"/>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4 Requirements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a:t>Chapter 4 – Requirements Engineering</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Functional and non-functional requirements</a:t>
            </a:r>
            <a:endParaRPr lang="en-GB" dirty="0"/>
          </a:p>
          <a:p>
            <a:r>
              <a:rPr lang="en-US" dirty="0"/>
              <a:t>Requirements engineering processes</a:t>
            </a:r>
          </a:p>
          <a:p>
            <a:r>
              <a:rPr lang="en-US" dirty="0"/>
              <a:t>Requirements elicitation</a:t>
            </a:r>
            <a:endParaRPr lang="en-GB" dirty="0"/>
          </a:p>
          <a:p>
            <a:r>
              <a:rPr lang="en-US" dirty="0"/>
              <a:t>Requirements </a:t>
            </a:r>
            <a:r>
              <a:rPr lang="en-GB" dirty="0"/>
              <a:t>specification</a:t>
            </a:r>
          </a:p>
          <a:p>
            <a:r>
              <a:rPr lang="en-US" dirty="0"/>
              <a:t>Requirements validation</a:t>
            </a:r>
            <a:endParaRPr lang="en-GB" dirty="0"/>
          </a:p>
          <a:p>
            <a:r>
              <a:rPr lang="en-US" dirty="0"/>
              <a:t>Requirements change</a:t>
            </a:r>
            <a:endParaRPr lang="en-GB" dirty="0"/>
          </a:p>
          <a:p>
            <a:pPr marL="0" indent="0">
              <a:buNone/>
            </a:pPr>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noFill/>
          <a:ln/>
        </p:spPr>
        <p:txBody>
          <a:bodyPr lIns="90487" tIns="44450" rIns="90487" bIns="44450"/>
          <a:lstStyle/>
          <a:p>
            <a:r>
              <a:rPr lang="en-GB" dirty="0"/>
              <a:t>The process of establishing the services that a customer requires from a system and the constraints under which it operates and is developed.</a:t>
            </a:r>
          </a:p>
          <a:p>
            <a:r>
              <a:rPr lang="en-GB" dirty="0"/>
              <a:t>The system requirements are the descriptions of the system services and constraints that are generated during the requirements engineering process.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xfrm>
            <a:off x="457200" y="1600200"/>
            <a:ext cx="8229600" cy="3917031"/>
          </a:xfrm>
          <a:noFill/>
          <a:ln/>
        </p:spPr>
        <p:txBody>
          <a:bodyPr lIns="90487" tIns="44450" rIns="90487" bIns="44450"/>
          <a:lstStyle/>
          <a:p>
            <a:r>
              <a:rPr lang="en-GB" dirty="0"/>
              <a:t>User requirements</a:t>
            </a:r>
          </a:p>
          <a:p>
            <a:pPr lvl="1"/>
            <a:r>
              <a:rPr lang="en-GB" dirty="0"/>
              <a:t>Statements in natural language plus diagrams of the services the system provides and its operational constraints. Written for customers.</a:t>
            </a:r>
          </a:p>
          <a:p>
            <a:r>
              <a:rPr lang="en-GB" dirty="0"/>
              <a:t>System requirements</a:t>
            </a:r>
          </a:p>
          <a:p>
            <a:pPr lvl="1"/>
            <a:r>
              <a:rPr lang="en-GB" dirty="0"/>
              <a:t>A structured document setting out detailed descriptions of the system’s functions, services and operational constraints. Defines what should be implemented so may be part of a contract between client and contractor.</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a:t>User and system requirements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pic>
        <p:nvPicPr>
          <p:cNvPr id="2" name="Picture 1" descr="4.1 UserSysReq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120" y="1556791"/>
            <a:ext cx="6262207" cy="4830845"/>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a:t>Readers of different types of requirements specification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pic>
        <p:nvPicPr>
          <p:cNvPr id="4" name="Picture 3" descr="4.2 ReqReaders.eps"/>
          <p:cNvPicPr>
            <a:picLocks noChangeAspect="1"/>
          </p:cNvPicPr>
          <p:nvPr/>
        </p:nvPicPr>
        <p:blipFill>
          <a:blip r:embed="rId2"/>
          <a:stretch>
            <a:fillRect/>
          </a:stretch>
        </p:blipFill>
        <p:spPr>
          <a:xfrm>
            <a:off x="1219200" y="2057400"/>
            <a:ext cx="6531232" cy="3651553"/>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stakeholders</a:t>
            </a:r>
          </a:p>
        </p:txBody>
      </p:sp>
      <p:sp>
        <p:nvSpPr>
          <p:cNvPr id="3" name="Content Placeholder 2"/>
          <p:cNvSpPr>
            <a:spLocks noGrp="1"/>
          </p:cNvSpPr>
          <p:nvPr>
            <p:ph idx="1"/>
          </p:nvPr>
        </p:nvSpPr>
        <p:spPr/>
        <p:txBody>
          <a:bodyPr/>
          <a:lstStyle/>
          <a:p>
            <a:r>
              <a:rPr lang="en-US" dirty="0"/>
              <a:t>Any person or organization who is affected by the system in some way and so who has a legitimate interest</a:t>
            </a:r>
          </a:p>
          <a:p>
            <a:r>
              <a:rPr lang="en-US" dirty="0"/>
              <a:t>Stakeholder types</a:t>
            </a:r>
          </a:p>
          <a:p>
            <a:pPr lvl="1"/>
            <a:r>
              <a:rPr lang="en-US" dirty="0"/>
              <a:t>End users</a:t>
            </a:r>
          </a:p>
          <a:p>
            <a:pPr lvl="1"/>
            <a:r>
              <a:rPr lang="en-US" dirty="0"/>
              <a:t>System managers</a:t>
            </a:r>
          </a:p>
          <a:p>
            <a:pPr lvl="1"/>
            <a:r>
              <a:rPr lang="en-US" dirty="0"/>
              <a:t>System owners</a:t>
            </a:r>
          </a:p>
          <a:p>
            <a:pPr lvl="1"/>
            <a:r>
              <a:rPr lang="en-US" dirty="0"/>
              <a:t>External stakeholders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670292469"/>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Mentcare system</a:t>
            </a:r>
          </a:p>
        </p:txBody>
      </p:sp>
      <p:sp>
        <p:nvSpPr>
          <p:cNvPr id="3" name="Content Placeholder 2"/>
          <p:cNvSpPr>
            <a:spLocks noGrp="1"/>
          </p:cNvSpPr>
          <p:nvPr>
            <p:ph idx="1"/>
          </p:nvPr>
        </p:nvSpPr>
        <p:spPr/>
        <p:txBody>
          <a:bodyPr/>
          <a:lstStyle/>
          <a:p>
            <a:r>
              <a:rPr lang="en-US" dirty="0"/>
              <a:t>Patients</a:t>
            </a:r>
            <a:r>
              <a:rPr lang="en-US" i="1" dirty="0"/>
              <a:t> </a:t>
            </a:r>
            <a:r>
              <a:rPr lang="en-US" dirty="0"/>
              <a:t>whose information is recorded in the system.</a:t>
            </a:r>
            <a:endParaRPr lang="en-GB" dirty="0"/>
          </a:p>
          <a:p>
            <a:r>
              <a:rPr lang="en-US" dirty="0"/>
              <a:t>Doctors</a:t>
            </a:r>
            <a:r>
              <a:rPr lang="en-US" i="1" dirty="0"/>
              <a:t> </a:t>
            </a:r>
            <a:r>
              <a:rPr lang="en-US" dirty="0"/>
              <a:t>who are responsible for assessing and treating patients.</a:t>
            </a:r>
            <a:endParaRPr lang="en-GB" dirty="0"/>
          </a:p>
          <a:p>
            <a:r>
              <a:rPr lang="en-US" dirty="0"/>
              <a:t>Nurses who coordinate the consultations with doctors and administer some treatments.</a:t>
            </a:r>
            <a:endParaRPr lang="en-GB" dirty="0"/>
          </a:p>
          <a:p>
            <a:r>
              <a:rPr lang="en-US" dirty="0"/>
              <a:t>Medical receptionists</a:t>
            </a:r>
            <a:r>
              <a:rPr lang="en-US" i="1" dirty="0"/>
              <a:t> </a:t>
            </a:r>
            <a:r>
              <a:rPr lang="en-US" dirty="0"/>
              <a:t>who manage patients’ appointments.</a:t>
            </a:r>
            <a:endParaRPr lang="en-GB" dirty="0"/>
          </a:p>
          <a:p>
            <a:r>
              <a:rPr lang="en-US" dirty="0"/>
              <a:t>IT staff who are responsible for installing and maintaining the system.</a:t>
            </a:r>
            <a:endParaRPr lang="en-GB" dirty="0"/>
          </a:p>
          <a:p>
            <a:pPr>
              <a:buNone/>
            </a:pPr>
            <a:r>
              <a:rPr lang="en-US" dirty="0"/>
              <a:t>	</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453475377"/>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Mentcare system</a:t>
            </a:r>
          </a:p>
        </p:txBody>
      </p:sp>
      <p:sp>
        <p:nvSpPr>
          <p:cNvPr id="3" name="Content Placeholder 2"/>
          <p:cNvSpPr>
            <a:spLocks noGrp="1"/>
          </p:cNvSpPr>
          <p:nvPr>
            <p:ph idx="1"/>
          </p:nvPr>
        </p:nvSpPr>
        <p:spPr/>
        <p:txBody>
          <a:bodyPr/>
          <a:lstStyle/>
          <a:p>
            <a:r>
              <a:rPr lang="en-US" dirty="0"/>
              <a:t>A medical ethics manager who must ensure that the system meets current ethical guidelines for patient care.</a:t>
            </a:r>
            <a:endParaRPr lang="en-GB" dirty="0"/>
          </a:p>
          <a:p>
            <a:r>
              <a:rPr lang="en-US" dirty="0"/>
              <a:t>Health care managers</a:t>
            </a:r>
            <a:r>
              <a:rPr lang="en-US" i="1" dirty="0"/>
              <a:t> </a:t>
            </a:r>
            <a:r>
              <a:rPr lang="en-US" dirty="0"/>
              <a:t>who obtain management information from the system.</a:t>
            </a:r>
            <a:endParaRPr lang="en-GB" dirty="0"/>
          </a:p>
          <a:p>
            <a:r>
              <a:rPr lang="en-US" dirty="0"/>
              <a:t>Medical records staff</a:t>
            </a:r>
            <a:r>
              <a:rPr lang="en-US" i="1" dirty="0"/>
              <a:t> </a:t>
            </a:r>
            <a:r>
              <a:rPr lang="en-US" dirty="0"/>
              <a:t>who are responsible for ensuring that system information can be maintained and preserved, and that record keeping procedures have been properly implemented.</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743196010"/>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Functional and non-functional requirements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304085576"/>
      </p:ext>
    </p:extLst>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dirty="0"/>
              <a:t>Functional requirements</a:t>
            </a:r>
          </a:p>
          <a:p>
            <a:pPr lvl="1">
              <a:lnSpc>
                <a:spcPct val="90000"/>
              </a:lnSpc>
            </a:pPr>
            <a:r>
              <a:rPr lang="en-GB" dirty="0"/>
              <a:t>Statements of services the system should provide, how the system should react to particular inputs and how the system should behave in particular situations.</a:t>
            </a:r>
          </a:p>
          <a:p>
            <a:pPr lvl="1">
              <a:lnSpc>
                <a:spcPct val="90000"/>
              </a:lnSpc>
            </a:pPr>
            <a:r>
              <a:rPr lang="en-GB" dirty="0"/>
              <a:t>May state what the system should not do.</a:t>
            </a:r>
          </a:p>
          <a:p>
            <a:pPr>
              <a:lnSpc>
                <a:spcPct val="90000"/>
              </a:lnSpc>
            </a:pPr>
            <a:r>
              <a:rPr lang="en-GB" dirty="0"/>
              <a:t>Non-functional requirements</a:t>
            </a:r>
          </a:p>
          <a:p>
            <a:pPr lvl="1">
              <a:lnSpc>
                <a:spcPct val="90000"/>
              </a:lnSpc>
            </a:pPr>
            <a:r>
              <a:rPr lang="en-GB" dirty="0"/>
              <a:t>Constraints on the services or functions offered by the system such as timing constraints, constraints on the development process, standards, etc.</a:t>
            </a:r>
          </a:p>
          <a:p>
            <a:pPr lvl="1">
              <a:lnSpc>
                <a:spcPct val="90000"/>
              </a:lnSpc>
            </a:pPr>
            <a:r>
              <a:rPr lang="en-GB" dirty="0"/>
              <a:t>Often apply to the system as a whole rather than individual features or services.</a:t>
            </a:r>
          </a:p>
          <a:p>
            <a:pPr>
              <a:lnSpc>
                <a:spcPct val="90000"/>
              </a:lnSpc>
            </a:pPr>
            <a:r>
              <a:rPr lang="en-GB" dirty="0"/>
              <a:t>Domain requirements</a:t>
            </a:r>
          </a:p>
          <a:p>
            <a:pPr lvl="1">
              <a:lnSpc>
                <a:spcPct val="90000"/>
              </a:lnSpc>
            </a:pPr>
            <a:r>
              <a:rPr lang="en-GB" dirty="0"/>
              <a:t>Constraints on the system from the domain of operation</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do.</a:t>
            </a:r>
          </a:p>
          <a:p>
            <a:r>
              <a:rPr lang="en-GB" dirty="0"/>
              <a:t>Functional system requirements should describe the system services in detail.</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a:t>Mentcare system: functional requirements</a:t>
            </a:r>
          </a:p>
        </p:txBody>
      </p:sp>
      <p:sp>
        <p:nvSpPr>
          <p:cNvPr id="77827" name="Rectangle 3"/>
          <p:cNvSpPr>
            <a:spLocks noGrp="1" noChangeArrowheads="1"/>
          </p:cNvSpPr>
          <p:nvPr>
            <p:ph idx="1"/>
          </p:nvPr>
        </p:nvSpPr>
        <p:spPr/>
        <p:txBody>
          <a:bodyPr/>
          <a:lstStyle/>
          <a:p>
            <a:r>
              <a:rPr lang="en-US" dirty="0"/>
              <a:t>A user shall be able to search the appointments lists for all clinics.</a:t>
            </a:r>
            <a:endParaRPr lang="en-GB" dirty="0"/>
          </a:p>
          <a:p>
            <a:r>
              <a:rPr lang="en-US" dirty="0"/>
              <a:t>The system shall generate each day, for each clinic, a list of patients who are expected to attend appointments that day.</a:t>
            </a:r>
            <a:endParaRPr lang="en-GB" dirty="0"/>
          </a:p>
          <a:p>
            <a:r>
              <a:rPr lang="en-US" dirty="0"/>
              <a:t>Each staff member using the system shall be uniquely identified by his or her 8-digit employee number.</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imprecision</a:t>
            </a:r>
          </a:p>
        </p:txBody>
      </p:sp>
      <p:sp>
        <p:nvSpPr>
          <p:cNvPr id="41987" name="Rectangle 3"/>
          <p:cNvSpPr>
            <a:spLocks noGrp="1" noChangeArrowheads="1"/>
          </p:cNvSpPr>
          <p:nvPr>
            <p:ph idx="1"/>
          </p:nvPr>
        </p:nvSpPr>
        <p:spPr/>
        <p:txBody>
          <a:bodyPr/>
          <a:lstStyle/>
          <a:p>
            <a:r>
              <a:rPr lang="en-GB" dirty="0"/>
              <a:t>Problems arise when functional requirements are not precisely stated.</a:t>
            </a:r>
          </a:p>
          <a:p>
            <a:r>
              <a:rPr lang="en-GB" dirty="0"/>
              <a:t>Ambiguous requirements may be interpreted in different ways by developers and users.</a:t>
            </a:r>
          </a:p>
          <a:p>
            <a:r>
              <a:rPr lang="en-GB" dirty="0"/>
              <a:t>Consider the term ‘search’ in requirement 1</a:t>
            </a:r>
          </a:p>
          <a:p>
            <a:pPr lvl="1"/>
            <a:r>
              <a:rPr lang="en-GB" dirty="0"/>
              <a:t>User intention – search for a patient name across all appointments in all clinics;</a:t>
            </a:r>
          </a:p>
          <a:p>
            <a:pPr lvl="1"/>
            <a:r>
              <a:rPr lang="en-GB" dirty="0"/>
              <a:t>Developer interpretation – search for a patient name in an individual clinic. User chooses clinic then search.</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r>
              <a:rPr lang="en-GB" sz="2400" dirty="0"/>
              <a:t>In principle, requirements should be both complete and consistent.</a:t>
            </a:r>
          </a:p>
          <a:p>
            <a:r>
              <a:rPr lang="en-GB" sz="2400" dirty="0"/>
              <a:t>Complete</a:t>
            </a:r>
          </a:p>
          <a:p>
            <a:pPr lvl="1"/>
            <a:r>
              <a:rPr lang="en-GB" dirty="0"/>
              <a:t>They should include descriptions of all facilities required.</a:t>
            </a:r>
          </a:p>
          <a:p>
            <a:r>
              <a:rPr lang="en-GB" sz="2400" dirty="0"/>
              <a:t>Consistent</a:t>
            </a:r>
          </a:p>
          <a:p>
            <a:pPr lvl="1"/>
            <a:r>
              <a:rPr lang="en-GB" dirty="0"/>
              <a:t>There should be no conflicts or contradictions in the descriptions of the system facilities.</a:t>
            </a:r>
          </a:p>
          <a:p>
            <a:r>
              <a:rPr lang="en-GB" sz="2400" dirty="0"/>
              <a:t>In practice, because of system and environmental complexity, it is impossible to produce a complete and consistent requirements document.</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 IDE, programming language or development method.</a:t>
            </a:r>
          </a:p>
          <a:p>
            <a:pPr>
              <a:lnSpc>
                <a:spcPct val="90000"/>
              </a:lnSpc>
            </a:pPr>
            <a:r>
              <a:rPr lang="en-GB" dirty="0"/>
              <a:t>Non-functional requirements may be more critical than functional requirements. If these are not met, the system may be useless.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a:t>Types of nonfunctional requirement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pic>
        <p:nvPicPr>
          <p:cNvPr id="4" name="Picture 3" descr="4.3 Non-functionalReq.eps"/>
          <p:cNvPicPr>
            <a:picLocks noChangeAspect="1"/>
          </p:cNvPicPr>
          <p:nvPr/>
        </p:nvPicPr>
        <p:blipFill>
          <a:blip r:embed="rId2"/>
          <a:stretch>
            <a:fillRect/>
          </a:stretch>
        </p:blipFill>
        <p:spPr>
          <a:xfrm>
            <a:off x="990600" y="1911350"/>
            <a:ext cx="6915549" cy="38798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 implementation</a:t>
            </a:r>
          </a:p>
        </p:txBody>
      </p:sp>
      <p:sp>
        <p:nvSpPr>
          <p:cNvPr id="3" name="Content Placeholder 2"/>
          <p:cNvSpPr>
            <a:spLocks noGrp="1"/>
          </p:cNvSpPr>
          <p:nvPr>
            <p:ph idx="1"/>
          </p:nvPr>
        </p:nvSpPr>
        <p:spPr/>
        <p:txBody>
          <a:bodyPr/>
          <a:lstStyle/>
          <a:p>
            <a:r>
              <a:rPr lang="en-US" dirty="0"/>
              <a:t>Non-functional requirements may affect the overall architecture of a system rather than the individual components. </a:t>
            </a:r>
          </a:p>
          <a:p>
            <a:pPr lvl="1"/>
            <a:r>
              <a:rPr lang="en-US" dirty="0"/>
              <a:t>For example, to ensure that performance requirements are met, you may have to organize the system to minimize communications between components.</a:t>
            </a:r>
            <a:endParaRPr lang="en-GB" dirty="0"/>
          </a:p>
          <a:p>
            <a:r>
              <a:rPr lang="en-US" dirty="0"/>
              <a:t>A single non-functional requirement, such as a security requirement, may generate a number of related functional requirements that define system services that are required. </a:t>
            </a:r>
          </a:p>
          <a:p>
            <a:pPr lvl="1"/>
            <a:r>
              <a:rPr lang="en-US" dirty="0"/>
              <a:t>It may also generate requirements that restrict existing requirements. </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dirty="0"/>
              <a:t>Product requirements</a:t>
            </a:r>
          </a:p>
          <a:p>
            <a:pPr lvl="1"/>
            <a:r>
              <a:rPr lang="en-GB" sz="2000" dirty="0"/>
              <a:t>Requirements which specify that the delivered product must behave in a particular way e.g. execution speed, reliability, etc.</a:t>
            </a:r>
          </a:p>
          <a:p>
            <a:r>
              <a:rPr lang="en-GB" sz="2400" dirty="0"/>
              <a:t>Organisational requirements</a:t>
            </a:r>
          </a:p>
          <a:p>
            <a:pPr lvl="1"/>
            <a:r>
              <a:rPr lang="en-GB" sz="2000" dirty="0"/>
              <a:t>Requirements which are a consequence of organisational policies and procedures e.g. process standards used, implementation requirements, etc.</a:t>
            </a:r>
          </a:p>
          <a:p>
            <a:r>
              <a:rPr lang="en-GB" sz="2400" dirty="0"/>
              <a:t>External requirements</a:t>
            </a:r>
          </a:p>
          <a:p>
            <a:pPr lvl="1"/>
            <a:r>
              <a:rPr lang="en-GB" sz="2000" dirty="0"/>
              <a:t>Requirements which arise from factors which are external to the system and its development process e.g. interoperability requirements, legislative requirements, etc.</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a:t>Examples of nonfunctional requirements in the </a:t>
            </a:r>
            <a:r>
              <a:rPr lang="en-GB" dirty="0"/>
              <a:t>Mentcare system</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608666529"/>
              </p:ext>
            </p:extLst>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extLst>
                    <a:ext uri="{9D8B030D-6E8A-4147-A177-3AD203B41FA5}">
                      <a16:colId xmlns:a16="http://schemas.microsoft.com/office/drawing/2014/main" val="20000"/>
                    </a:ext>
                  </a:extLst>
                </a:gridCol>
              </a:tblGrid>
              <a:tr h="4495800">
                <a:tc>
                  <a:txBody>
                    <a:bodyPr/>
                    <a:lstStyle/>
                    <a:p>
                      <a:r>
                        <a:rPr lang="en-GB" sz="1800" b="1" kern="1200" dirty="0"/>
                        <a:t>Product requirement</a:t>
                      </a:r>
                    </a:p>
                    <a:p>
                      <a:r>
                        <a:rPr lang="en-GB" sz="1800" b="0" kern="1200" dirty="0"/>
                        <a:t>The Mentcare system shall be available to all clinics during normal working hours (Mon–Fri, 0830–17.30). Downtime within normal working hours shall not exceed five seconds in any one day.</a:t>
                      </a:r>
                    </a:p>
                    <a:p>
                      <a:endParaRPr lang="en-GB" sz="1800" b="0" kern="1200" dirty="0"/>
                    </a:p>
                    <a:p>
                      <a:r>
                        <a:rPr lang="en-GB" sz="1800" b="1" kern="1200" dirty="0"/>
                        <a:t>Organizational requirement</a:t>
                      </a:r>
                      <a:br>
                        <a:rPr lang="en-GB" sz="1800" b="0" kern="1200" dirty="0"/>
                      </a:br>
                      <a:r>
                        <a:rPr lang="en-GB" sz="1800" b="0" kern="1200" dirty="0"/>
                        <a:t>Users of the Mentcare system shall authenticate themselves using their health authority identity card.</a:t>
                      </a:r>
                    </a:p>
                    <a:p>
                      <a:endParaRPr lang="en-GB" sz="1800" b="0" kern="1200" dirty="0"/>
                    </a:p>
                    <a:p>
                      <a:r>
                        <a:rPr lang="en-GB" sz="1800" b="1" kern="1200" dirty="0"/>
                        <a:t>External requirement</a:t>
                      </a:r>
                      <a:br>
                        <a:rPr lang="en-GB" sz="1800" b="0" kern="1200" dirty="0"/>
                      </a:br>
                      <a:r>
                        <a:rPr lang="en-GB" sz="1800" b="0" kern="1200" dirty="0"/>
                        <a:t>The system shall implement patient privacy provisions as set out in HStan-03-2006-priv. </a:t>
                      </a:r>
                    </a:p>
                    <a:p>
                      <a:endParaRPr lang="en-US" b="0" dirty="0"/>
                    </a:p>
                  </a:txBody>
                  <a:tcPr/>
                </a:tc>
                <a:extLst>
                  <a:ext uri="{0D108BD9-81ED-4DB2-BD59-A6C34878D82A}">
                    <a16:rowId xmlns:a16="http://schemas.microsoft.com/office/drawing/2014/main" val="10000"/>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requirements</a:t>
            </a:r>
          </a:p>
        </p:txBody>
      </p:sp>
      <p:sp>
        <p:nvSpPr>
          <p:cNvPr id="3" name="Content Placeholder 2"/>
          <p:cNvSpPr>
            <a:spLocks noGrp="1"/>
          </p:cNvSpPr>
          <p:nvPr>
            <p:ph idx="1"/>
          </p:nvPr>
        </p:nvSpPr>
        <p:spPr/>
        <p:txBody>
          <a:bodyPr/>
          <a:lstStyle/>
          <a:p>
            <a:r>
              <a:rPr lang="en-US" dirty="0"/>
              <a:t>The system should be easy to use by medical staff and should be organized in such a way that user errors are minimized. (Goal)</a:t>
            </a:r>
          </a:p>
          <a:p>
            <a:r>
              <a:rPr lang="en-US" dirty="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a:p>
          <a:p>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a:t>Metrics for specifying nonfunctional requirements</a:t>
            </a:r>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22</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264571194"/>
              </p:ext>
            </p:extLst>
          </p:nvPr>
        </p:nvGraphicFramePr>
        <p:xfrm>
          <a:off x="990600" y="1600200"/>
          <a:ext cx="7620000" cy="4876800"/>
        </p:xfrm>
        <a:graphic>
          <a:graphicData uri="http://schemas.openxmlformats.org/drawingml/2006/table">
            <a:tbl>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idx="1"/>
          </p:nvPr>
        </p:nvSpPr>
        <p:spPr/>
        <p:txBody>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lvl="1">
              <a:lnSpc>
                <a:spcPct val="90000"/>
              </a:lnSpc>
            </a:pPr>
            <a:r>
              <a:rPr lang="en-GB" dirty="0"/>
              <a:t>Requirements elicitation;</a:t>
            </a:r>
          </a:p>
          <a:p>
            <a:pPr lvl="1">
              <a:lnSpc>
                <a:spcPct val="90000"/>
              </a:lnSpc>
            </a:pPr>
            <a:r>
              <a:rPr lang="en-GB" dirty="0"/>
              <a:t>Requirements analysis;</a:t>
            </a:r>
          </a:p>
          <a:p>
            <a:pPr lvl="1">
              <a:lnSpc>
                <a:spcPct val="90000"/>
              </a:lnSpc>
            </a:pPr>
            <a:r>
              <a:rPr lang="en-GB" dirty="0"/>
              <a:t>Requirements validation;</a:t>
            </a:r>
          </a:p>
          <a:p>
            <a:pPr lvl="1">
              <a:lnSpc>
                <a:spcPct val="90000"/>
              </a:lnSpc>
            </a:pPr>
            <a:r>
              <a:rPr lang="en-GB" dirty="0"/>
              <a:t>Requirements management.</a:t>
            </a:r>
          </a:p>
          <a:p>
            <a:pPr>
              <a:lnSpc>
                <a:spcPct val="90000"/>
              </a:lnSpc>
            </a:pPr>
            <a:r>
              <a:rPr lang="en-GB" dirty="0"/>
              <a:t>In practice, RE is an iterative activity in which these processes are interleaved.</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a:t>Requirements elicitation and analysis</a:t>
            </a:r>
          </a:p>
        </p:txBody>
      </p:sp>
      <p:sp>
        <p:nvSpPr>
          <p:cNvPr id="7171" name="Rectangle 3"/>
          <p:cNvSpPr>
            <a:spLocks noGrp="1" noChangeArrowheads="1"/>
          </p:cNvSpPr>
          <p:nvPr>
            <p:ph idx="1"/>
          </p:nvPr>
        </p:nvSpPr>
        <p:spPr>
          <a:noFill/>
          <a:ln/>
        </p:spPr>
        <p:txBody>
          <a:bodyPr lIns="90487" tIns="44450" rIns="90487" bIns="44450"/>
          <a:lstStyle/>
          <a:p>
            <a:r>
              <a:rPr lang="en-GB" sz="2400" dirty="0"/>
              <a:t>Sometimes called requirements elicitation or requirements discovery.</a:t>
            </a:r>
          </a:p>
          <a:p>
            <a:r>
              <a:rPr lang="en-GB" sz="2400" dirty="0"/>
              <a:t>Involves technical staff working with customers to find out about the application domain, the services that the system should provide and the system’s operational constraints.</a:t>
            </a:r>
          </a:p>
          <a:p>
            <a:r>
              <a:rPr lang="en-GB" sz="2400" dirty="0"/>
              <a:t>May involve end-users, managers, engineers involved in maintenance, domain experts, trade unions, etc. These are called </a:t>
            </a:r>
            <a:r>
              <a:rPr lang="en-GB" sz="2400" i="1" dirty="0"/>
              <a:t>stakeholders.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a:t>
            </a:r>
          </a:p>
        </p:txBody>
      </p:sp>
      <p:sp>
        <p:nvSpPr>
          <p:cNvPr id="3" name="Content Placeholder 2"/>
          <p:cNvSpPr>
            <a:spLocks noGrp="1"/>
          </p:cNvSpPr>
          <p:nvPr>
            <p:ph idx="1"/>
          </p:nvPr>
        </p:nvSpPr>
        <p:spPr/>
        <p:txBody>
          <a:bodyPr/>
          <a:lstStyle/>
          <a:p>
            <a:r>
              <a:rPr lang="en-US" dirty="0"/>
              <a:t>Software engineers work with a range of system stakeholders to find out about the application domain, the services that the system should provide, the required system performance, hardware constraints, other systems, etc.</a:t>
            </a:r>
          </a:p>
          <a:p>
            <a:r>
              <a:rPr lang="en-US" dirty="0"/>
              <a:t>Stages include:</a:t>
            </a:r>
          </a:p>
          <a:p>
            <a:pPr lvl="1"/>
            <a:r>
              <a:rPr lang="en-US" dirty="0"/>
              <a:t>Requirements discovery,</a:t>
            </a:r>
          </a:p>
          <a:p>
            <a:pPr lvl="1"/>
            <a:r>
              <a:rPr lang="en-US" dirty="0"/>
              <a:t>Requirements classification and organization,</a:t>
            </a:r>
          </a:p>
          <a:p>
            <a:pPr lvl="1"/>
            <a:r>
              <a:rPr lang="en-US" dirty="0"/>
              <a:t>Requirements prioritization and negotiation,</a:t>
            </a:r>
          </a:p>
          <a:p>
            <a:pPr lvl="1"/>
            <a:r>
              <a:rPr lang="en-US" dirty="0"/>
              <a:t>Requirements specification.</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dirty="0"/>
              <a:t>Problems of requirements elicitation</a:t>
            </a:r>
          </a:p>
        </p:txBody>
      </p:sp>
      <p:sp>
        <p:nvSpPr>
          <p:cNvPr id="8195" name="Rectangle 3"/>
          <p:cNvSpPr>
            <a:spLocks noGrp="1" noChangeArrowheads="1"/>
          </p:cNvSpPr>
          <p:nvPr>
            <p:ph idx="1"/>
          </p:nvPr>
        </p:nvSpPr>
        <p:spPr>
          <a:noFill/>
          <a:ln/>
        </p:spPr>
        <p:txBody>
          <a:bodyPr lIns="90487" tIns="44450" rIns="90487" bIns="44450"/>
          <a:lstStyle/>
          <a:p>
            <a:r>
              <a:rPr lang="en-GB" sz="2400" dirty="0"/>
              <a:t>Stakeholders don’t know what they really want.</a:t>
            </a:r>
          </a:p>
          <a:p>
            <a:r>
              <a:rPr lang="en-GB" sz="2400" dirty="0"/>
              <a:t>Stakeholders express requirements in their own terms.</a:t>
            </a:r>
          </a:p>
          <a:p>
            <a:r>
              <a:rPr lang="en-GB" sz="2400" dirty="0"/>
              <a:t>Different stakeholders may have conflicting requirements.</a:t>
            </a:r>
          </a:p>
          <a:p>
            <a:r>
              <a:rPr lang="en-GB" sz="2400" dirty="0"/>
              <a:t>Organisational and political factors may influence the system requirements.</a:t>
            </a:r>
          </a:p>
          <a:p>
            <a:r>
              <a:rPr lang="en-GB" sz="2400" dirty="0"/>
              <a:t>The requirements change during the analysis process. New stakeholders may emerge and the business environment may change.</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26</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a:t>The</a:t>
            </a:r>
            <a:r>
              <a:rPr lang="en-US" b="1" dirty="0"/>
              <a:t> </a:t>
            </a:r>
            <a:r>
              <a:rPr lang="en-US" dirty="0"/>
              <a:t>requirements elicitation and analysis process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27</a:t>
            </a:fld>
            <a:endParaRPr lang="en-US"/>
          </a:p>
        </p:txBody>
      </p:sp>
      <p:pic>
        <p:nvPicPr>
          <p:cNvPr id="4" name="Picture 3" descr="4.13 RequirementsElicitation.eps"/>
          <p:cNvPicPr>
            <a:picLocks noChangeAspect="1"/>
          </p:cNvPicPr>
          <p:nvPr/>
        </p:nvPicPr>
        <p:blipFill>
          <a:blip r:embed="rId2"/>
          <a:stretch>
            <a:fillRect/>
          </a:stretch>
        </p:blipFill>
        <p:spPr>
          <a:xfrm>
            <a:off x="1547664" y="1916832"/>
            <a:ext cx="5950107" cy="3908648"/>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7" tIns="44450" rIns="90487" bIns="44450"/>
          <a:lstStyle/>
          <a:p>
            <a:r>
              <a:rPr lang="en-GB"/>
              <a:t>Process activities</a:t>
            </a:r>
          </a:p>
        </p:txBody>
      </p:sp>
      <p:sp>
        <p:nvSpPr>
          <p:cNvPr id="10243" name="Rectangle 3"/>
          <p:cNvSpPr>
            <a:spLocks noGrp="1" noChangeArrowheads="1"/>
          </p:cNvSpPr>
          <p:nvPr>
            <p:ph idx="1"/>
          </p:nvPr>
        </p:nvSpPr>
        <p:spPr>
          <a:noFill/>
          <a:ln/>
        </p:spPr>
        <p:txBody>
          <a:bodyPr lIns="90487" tIns="44450" rIns="90487" bIns="44450"/>
          <a:lstStyle/>
          <a:p>
            <a:pPr>
              <a:lnSpc>
                <a:spcPct val="90000"/>
              </a:lnSpc>
            </a:pPr>
            <a:r>
              <a:rPr lang="en-GB" sz="2400" dirty="0"/>
              <a:t>Requirements discovery</a:t>
            </a:r>
          </a:p>
          <a:p>
            <a:pPr lvl="1">
              <a:lnSpc>
                <a:spcPct val="90000"/>
              </a:lnSpc>
            </a:pPr>
            <a:r>
              <a:rPr lang="en-GB" sz="2000" dirty="0"/>
              <a:t>Interacting with stakeholders to discover their requirements. Domain requirements are also discovered at this stage.</a:t>
            </a:r>
          </a:p>
          <a:p>
            <a:pPr>
              <a:lnSpc>
                <a:spcPct val="90000"/>
              </a:lnSpc>
            </a:pPr>
            <a:r>
              <a:rPr lang="en-GB" sz="2400" dirty="0"/>
              <a:t>Requirements classification and organisation</a:t>
            </a:r>
          </a:p>
          <a:p>
            <a:pPr lvl="1">
              <a:lnSpc>
                <a:spcPct val="90000"/>
              </a:lnSpc>
            </a:pPr>
            <a:r>
              <a:rPr lang="en-GB" sz="2000" dirty="0"/>
              <a:t>Groups related requirements and organises them into coherent clusters.</a:t>
            </a:r>
          </a:p>
          <a:p>
            <a:pPr>
              <a:lnSpc>
                <a:spcPct val="90000"/>
              </a:lnSpc>
            </a:pPr>
            <a:r>
              <a:rPr lang="en-GB" sz="2400" dirty="0"/>
              <a:t>Prioritisation and negotiation</a:t>
            </a:r>
          </a:p>
          <a:p>
            <a:pPr lvl="1">
              <a:lnSpc>
                <a:spcPct val="90000"/>
              </a:lnSpc>
            </a:pPr>
            <a:r>
              <a:rPr lang="en-GB" sz="2000" dirty="0"/>
              <a:t>Prioritising requirements and resolving requirements conflicts.</a:t>
            </a:r>
          </a:p>
          <a:p>
            <a:pPr>
              <a:lnSpc>
                <a:spcPct val="90000"/>
              </a:lnSpc>
            </a:pPr>
            <a:r>
              <a:rPr lang="en-GB" sz="2400" dirty="0"/>
              <a:t>Requirements specification</a:t>
            </a:r>
          </a:p>
          <a:p>
            <a:pPr lvl="1">
              <a:lnSpc>
                <a:spcPct val="90000"/>
              </a:lnSpc>
            </a:pPr>
            <a:r>
              <a:rPr lang="en-GB" sz="2000" dirty="0"/>
              <a:t>Requirements are documented and input into the next round of the spiral.</a:t>
            </a:r>
          </a:p>
        </p:txBody>
      </p:sp>
      <p:sp>
        <p:nvSpPr>
          <p:cNvPr id="2" name="Date Placeholder 1"/>
          <p:cNvSpPr>
            <a:spLocks noGrp="1"/>
          </p:cNvSpPr>
          <p:nvPr>
            <p:ph type="dt" sz="half" idx="10"/>
          </p:nvPr>
        </p:nvSpPr>
        <p:spPr/>
        <p:txBody>
          <a:bodyPr/>
          <a:lstStyle/>
          <a:p>
            <a:pPr>
              <a:defRPr/>
            </a:pPr>
            <a:r>
              <a:rPr lang="en-GB" dirty="0"/>
              <a:t>30/10/2014</a:t>
            </a:r>
            <a:endParaRPr lang="en-US" dirty="0"/>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28</a:t>
            </a:fld>
            <a:endParaRPr 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discovery</a:t>
            </a:r>
          </a:p>
        </p:txBody>
      </p:sp>
      <p:sp>
        <p:nvSpPr>
          <p:cNvPr id="3" name="Content Placeholder 2"/>
          <p:cNvSpPr>
            <a:spLocks noGrp="1"/>
          </p:cNvSpPr>
          <p:nvPr>
            <p:ph idx="1"/>
          </p:nvPr>
        </p:nvSpPr>
        <p:spPr/>
        <p:txBody>
          <a:bodyPr/>
          <a:lstStyle/>
          <a:p>
            <a:r>
              <a:rPr lang="en-US" dirty="0"/>
              <a:t>The process of gathering information about the required and existing systems and distilling the user and system requirements from this information.</a:t>
            </a:r>
          </a:p>
          <a:p>
            <a:r>
              <a:rPr lang="en-US" dirty="0"/>
              <a:t>Interaction is with system stakeholders from managers to external regulators.</a:t>
            </a:r>
          </a:p>
          <a:p>
            <a:r>
              <a:rPr lang="en-US" dirty="0"/>
              <a:t>Systems normally have a range of stakeholders.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Interviewing</a:t>
            </a:r>
          </a:p>
        </p:txBody>
      </p:sp>
      <p:sp>
        <p:nvSpPr>
          <p:cNvPr id="3" name="Content Placeholder 2"/>
          <p:cNvSpPr>
            <a:spLocks noGrp="1"/>
          </p:cNvSpPr>
          <p:nvPr>
            <p:ph idx="1"/>
          </p:nvPr>
        </p:nvSpPr>
        <p:spPr/>
        <p:txBody>
          <a:bodyPr/>
          <a:lstStyle/>
          <a:p>
            <a:r>
              <a:rPr lang="en-US" dirty="0"/>
              <a:t>Formal or informal interviews with stakeholders are part of most RE processes.</a:t>
            </a:r>
          </a:p>
          <a:p>
            <a:r>
              <a:rPr lang="en-US" dirty="0"/>
              <a:t>Types of interview</a:t>
            </a:r>
          </a:p>
          <a:p>
            <a:pPr lvl="1"/>
            <a:r>
              <a:rPr lang="en-US" dirty="0"/>
              <a:t>Closed interviews based on pre-determined list of questions</a:t>
            </a:r>
          </a:p>
          <a:p>
            <a:pPr lvl="1"/>
            <a:r>
              <a:rPr lang="en-US" dirty="0"/>
              <a:t>Open interviews where various issues are explored with stakeholders.</a:t>
            </a:r>
          </a:p>
          <a:p>
            <a:r>
              <a:rPr lang="en-US" dirty="0"/>
              <a:t>Effective interviewing</a:t>
            </a:r>
          </a:p>
          <a:p>
            <a:pPr lvl="1"/>
            <a:r>
              <a:rPr lang="en-US" dirty="0"/>
              <a:t>Be open-minded, avoid pre-conceived ideas about the requirements and are willing to listen to stakeholders. </a:t>
            </a:r>
            <a:endParaRPr lang="en-GB" dirty="0"/>
          </a:p>
          <a:p>
            <a:pPr lvl="1"/>
            <a:r>
              <a:rPr lang="en-US" dirty="0"/>
              <a:t>Prompt the interviewee to get discussions going using a springboard question, a requirements proposal, or by working together on a prototype system. </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30</a:t>
            </a:fld>
            <a:endParaRPr lang="en-US" dirty="0"/>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Interviews in practice</a:t>
            </a:r>
          </a:p>
        </p:txBody>
      </p:sp>
      <p:sp>
        <p:nvSpPr>
          <p:cNvPr id="94211" name="Rectangle 3"/>
          <p:cNvSpPr>
            <a:spLocks noGrp="1" noChangeArrowheads="1"/>
          </p:cNvSpPr>
          <p:nvPr>
            <p:ph idx="1"/>
          </p:nvPr>
        </p:nvSpPr>
        <p:spPr/>
        <p:txBody>
          <a:bodyPr/>
          <a:lstStyle/>
          <a:p>
            <a:pPr>
              <a:lnSpc>
                <a:spcPct val="90000"/>
              </a:lnSpc>
            </a:pPr>
            <a:r>
              <a:rPr lang="en-US" sz="2400" dirty="0"/>
              <a:t>Normally a mix of closed and open-ended interviewing.</a:t>
            </a:r>
          </a:p>
          <a:p>
            <a:pPr>
              <a:lnSpc>
                <a:spcPct val="90000"/>
              </a:lnSpc>
            </a:pPr>
            <a:r>
              <a:rPr lang="en-US" sz="2400" dirty="0"/>
              <a:t>Interviews are good for getting an overall understanding of what stakeholders do and how they might interact with the system.</a:t>
            </a:r>
          </a:p>
          <a:p>
            <a:pPr>
              <a:lnSpc>
                <a:spcPct val="90000"/>
              </a:lnSpc>
            </a:pPr>
            <a:r>
              <a:rPr lang="en-US" dirty="0"/>
              <a:t>Interviewers need to be open-minded without pre-conceived ideas of what the system should do</a:t>
            </a:r>
          </a:p>
          <a:p>
            <a:pPr>
              <a:lnSpc>
                <a:spcPct val="90000"/>
              </a:lnSpc>
            </a:pPr>
            <a:r>
              <a:rPr lang="en-US" sz="2400" dirty="0"/>
              <a:t>You need to prompt the use to talk about the system by suggesting requirements rather than simply asking them what they want.</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31</a:t>
            </a:fld>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interviews</a:t>
            </a:r>
          </a:p>
        </p:txBody>
      </p:sp>
      <p:sp>
        <p:nvSpPr>
          <p:cNvPr id="3" name="Content Placeholder 2"/>
          <p:cNvSpPr>
            <a:spLocks noGrp="1"/>
          </p:cNvSpPr>
          <p:nvPr>
            <p:ph idx="1"/>
          </p:nvPr>
        </p:nvSpPr>
        <p:spPr/>
        <p:txBody>
          <a:bodyPr/>
          <a:lstStyle/>
          <a:p>
            <a:pPr>
              <a:lnSpc>
                <a:spcPct val="90000"/>
              </a:lnSpc>
            </a:pPr>
            <a:r>
              <a:rPr lang="en-US" dirty="0"/>
              <a:t>Application specialists may use language to describe their work that isn’t easy for the requirements engineer to understand.</a:t>
            </a:r>
          </a:p>
          <a:p>
            <a:pPr>
              <a:lnSpc>
                <a:spcPct val="90000"/>
              </a:lnSpc>
            </a:pPr>
            <a:r>
              <a:rPr lang="en-US" dirty="0"/>
              <a:t>Interviews are not good for understanding domain requirements</a:t>
            </a:r>
          </a:p>
          <a:p>
            <a:pPr lvl="1">
              <a:lnSpc>
                <a:spcPct val="90000"/>
              </a:lnSpc>
            </a:pPr>
            <a:r>
              <a:rPr lang="en-US" dirty="0"/>
              <a:t>Requirements engineers cannot understand specific domain terminology;</a:t>
            </a:r>
          </a:p>
          <a:p>
            <a:pPr lvl="1">
              <a:lnSpc>
                <a:spcPct val="90000"/>
              </a:lnSpc>
            </a:pPr>
            <a:r>
              <a:rPr lang="en-US" dirty="0"/>
              <a:t>Some domain knowledge is so familiar that people find it hard to articulate or think that it isn’t worth articulating.</a:t>
            </a:r>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01127493"/>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dirty="0"/>
              <a:t>Stories and scenarios</a:t>
            </a:r>
          </a:p>
        </p:txBody>
      </p:sp>
      <p:sp>
        <p:nvSpPr>
          <p:cNvPr id="90115" name="Rectangle 3"/>
          <p:cNvSpPr>
            <a:spLocks noGrp="1" noChangeArrowheads="1"/>
          </p:cNvSpPr>
          <p:nvPr>
            <p:ph idx="1"/>
          </p:nvPr>
        </p:nvSpPr>
        <p:spPr/>
        <p:txBody>
          <a:bodyPr/>
          <a:lstStyle/>
          <a:p>
            <a:r>
              <a:rPr lang="en-US" dirty="0"/>
              <a:t>Scenarios and user stories are real-life examples of how a system can be used.</a:t>
            </a:r>
          </a:p>
          <a:p>
            <a:r>
              <a:rPr lang="en-US" dirty="0"/>
              <a:t>Stories and scenarios are a description of how a system may be used for a particular task.</a:t>
            </a:r>
          </a:p>
          <a:p>
            <a:r>
              <a:rPr lang="en-US" dirty="0"/>
              <a:t>Because they are based on a practical situation, stakeholders can relate to them and can comment on their situation with respect to the story.</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33</a:t>
            </a:fld>
            <a:endParaRPr lang="en-US"/>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specification</a:t>
            </a:r>
          </a:p>
        </p:txBody>
      </p:sp>
      <p:sp>
        <p:nvSpPr>
          <p:cNvPr id="3" name="Content Placeholder 2"/>
          <p:cNvSpPr>
            <a:spLocks noGrp="1"/>
          </p:cNvSpPr>
          <p:nvPr>
            <p:ph idx="1"/>
          </p:nvPr>
        </p:nvSpPr>
        <p:spPr/>
        <p:txBody>
          <a:bodyPr/>
          <a:lstStyle/>
          <a:p>
            <a:r>
              <a:rPr lang="en-US" dirty="0"/>
              <a:t>The process of writing down the user and system requirements in a requirements document.</a:t>
            </a:r>
          </a:p>
          <a:p>
            <a:r>
              <a:rPr lang="en-US" dirty="0"/>
              <a:t>User requirements have to be understandable by end-users and customers who do not have a technical background.</a:t>
            </a:r>
          </a:p>
          <a:p>
            <a:r>
              <a:rPr lang="en-US" dirty="0"/>
              <a:t>System requirements are more detailed requirements and may include more technical information.</a:t>
            </a:r>
          </a:p>
          <a:p>
            <a:r>
              <a:rPr lang="en-US" dirty="0"/>
              <a:t>The requirements may be part of a contract for the system development</a:t>
            </a:r>
          </a:p>
          <a:p>
            <a:pPr lvl="1"/>
            <a:r>
              <a:rPr lang="en-US" dirty="0"/>
              <a:t>It is therefore important that these are as complete as possible.</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673504293"/>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a:t>Ways of writing a system requirements specification </a:t>
            </a:r>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35</a:t>
            </a:fld>
            <a:endParaRPr lang="en-US"/>
          </a:p>
        </p:txBody>
      </p:sp>
      <p:graphicFrame>
        <p:nvGraphicFramePr>
          <p:cNvPr id="5" name="Table 4"/>
          <p:cNvGraphicFramePr>
            <a:graphicFrameLocks noGrp="1"/>
          </p:cNvGraphicFramePr>
          <p:nvPr/>
        </p:nvGraphicFramePr>
        <p:xfrm>
          <a:off x="685800" y="1595479"/>
          <a:ext cx="7924800" cy="4805322"/>
        </p:xfrm>
        <a:graphic>
          <a:graphicData uri="http://schemas.openxmlformats.org/drawingml/2006/table">
            <a:tbl>
              <a:tblPr/>
              <a:tblGrid>
                <a:gridCol w="17335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Notation</a:t>
                      </a:r>
                      <a:endParaRPr kumimoji="0" lang="en-US" sz="14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98201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871056423"/>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t>Requirements and design</a:t>
            </a:r>
          </a:p>
        </p:txBody>
      </p:sp>
      <p:sp>
        <p:nvSpPr>
          <p:cNvPr id="63491" name="Rectangle 3"/>
          <p:cNvSpPr>
            <a:spLocks noGrp="1" noChangeArrowheads="1"/>
          </p:cNvSpPr>
          <p:nvPr>
            <p:ph idx="1"/>
          </p:nvPr>
        </p:nvSpPr>
        <p:spPr/>
        <p:txBody>
          <a:bodyPr/>
          <a:lstStyle/>
          <a:p>
            <a:pPr>
              <a:lnSpc>
                <a:spcPct val="90000"/>
              </a:lnSpc>
            </a:pPr>
            <a:r>
              <a:rPr lang="en-GB" dirty="0"/>
              <a:t>In principle, requirements should state what the system should do and the design should describe how it does this.</a:t>
            </a:r>
          </a:p>
          <a:p>
            <a:pPr>
              <a:lnSpc>
                <a:spcPct val="90000"/>
              </a:lnSpc>
            </a:pPr>
            <a:r>
              <a:rPr lang="en-GB" dirty="0"/>
              <a:t>In practice, requirements and design are inseparable</a:t>
            </a:r>
          </a:p>
          <a:p>
            <a:pPr lvl="1">
              <a:lnSpc>
                <a:spcPct val="90000"/>
              </a:lnSpc>
            </a:pPr>
            <a:r>
              <a:rPr lang="en-GB" dirty="0"/>
              <a:t>A system architecture may be designed to structure the requirements;</a:t>
            </a:r>
          </a:p>
          <a:p>
            <a:pPr lvl="1">
              <a:lnSpc>
                <a:spcPct val="90000"/>
              </a:lnSpc>
            </a:pPr>
            <a:r>
              <a:rPr lang="en-GB" dirty="0"/>
              <a:t>The system may inter-operate with other systems that generate design requirements;</a:t>
            </a:r>
          </a:p>
          <a:p>
            <a:pPr lvl="1">
              <a:lnSpc>
                <a:spcPct val="90000"/>
              </a:lnSpc>
            </a:pPr>
            <a:r>
              <a:rPr lang="en-GB" dirty="0"/>
              <a:t>The use of a specific architecture to satisfy non-functional requirements may be a domain requirement.</a:t>
            </a:r>
            <a:endParaRPr lang="en-GB" sz="1800" dirty="0"/>
          </a:p>
          <a:p>
            <a:pPr lvl="1">
              <a:lnSpc>
                <a:spcPct val="90000"/>
              </a:lnSpc>
            </a:pPr>
            <a:r>
              <a:rPr lang="en-GB" sz="1800" dirty="0"/>
              <a:t>This may be the consequence of a regulatory requirement.</a:t>
            </a:r>
            <a:endParaRPr lang="en-GB" dirty="0"/>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36</a:t>
            </a:fld>
            <a:endParaRPr lang="en-US"/>
          </a:p>
        </p:txBody>
      </p:sp>
    </p:spTree>
    <p:extLst>
      <p:ext uri="{BB962C8B-B14F-4D97-AF65-F5344CB8AC3E}">
        <p14:creationId xmlns:p14="http://schemas.microsoft.com/office/powerpoint/2010/main" val="2042262479"/>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language specification</a:t>
            </a:r>
          </a:p>
        </p:txBody>
      </p:sp>
      <p:sp>
        <p:nvSpPr>
          <p:cNvPr id="3" name="Content Placeholder 2"/>
          <p:cNvSpPr>
            <a:spLocks noGrp="1"/>
          </p:cNvSpPr>
          <p:nvPr>
            <p:ph idx="1"/>
          </p:nvPr>
        </p:nvSpPr>
        <p:spPr/>
        <p:txBody>
          <a:bodyPr/>
          <a:lstStyle/>
          <a:p>
            <a:r>
              <a:rPr lang="en-US" dirty="0"/>
              <a:t>Requirements are written as natural language sentences supplemented by diagrams and tables.</a:t>
            </a:r>
          </a:p>
          <a:p>
            <a:r>
              <a:rPr lang="en-US" dirty="0"/>
              <a:t>Used for writing requirements because it is expressive, intuitive and universal. This means that the requirements  can be understood by users and customers.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726076218"/>
      </p:ext>
    </p:extLst>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a:t>Guidelines for writing requirements</a:t>
            </a:r>
          </a:p>
        </p:txBody>
      </p:sp>
      <p:sp>
        <p:nvSpPr>
          <p:cNvPr id="61443" name="Rectangle 3"/>
          <p:cNvSpPr>
            <a:spLocks noGrp="1" noChangeArrowheads="1"/>
          </p:cNvSpPr>
          <p:nvPr>
            <p:ph idx="1"/>
          </p:nvPr>
        </p:nvSpPr>
        <p:spPr/>
        <p:txBody>
          <a:bodyPr/>
          <a:lstStyle/>
          <a:p>
            <a:r>
              <a:rPr lang="en-GB" dirty="0"/>
              <a:t>Invent a standard format and use it for all requirements.</a:t>
            </a:r>
          </a:p>
          <a:p>
            <a:r>
              <a:rPr lang="en-GB" dirty="0"/>
              <a:t>Use language in a consistent way. Use shall for mandatory requirements, should for desirable requirements.</a:t>
            </a:r>
          </a:p>
          <a:p>
            <a:r>
              <a:rPr lang="en-GB" dirty="0"/>
              <a:t>Use text highlighting to identify key parts of the requirement.</a:t>
            </a:r>
          </a:p>
          <a:p>
            <a:r>
              <a:rPr lang="en-GB" dirty="0"/>
              <a:t>Avoid the use of computer jargon.</a:t>
            </a:r>
          </a:p>
          <a:p>
            <a:r>
              <a:rPr lang="en-GB" dirty="0"/>
              <a:t>Include an explanation (rationale) of why a requirement is necessary.</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38</a:t>
            </a:fld>
            <a:endParaRPr lang="en-US"/>
          </a:p>
        </p:txBody>
      </p:sp>
    </p:spTree>
    <p:extLst>
      <p:ext uri="{BB962C8B-B14F-4D97-AF65-F5344CB8AC3E}">
        <p14:creationId xmlns:p14="http://schemas.microsoft.com/office/powerpoint/2010/main" val="2790173008"/>
      </p:ext>
    </p:extLst>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Problems with natural language</a:t>
            </a:r>
          </a:p>
        </p:txBody>
      </p:sp>
      <p:sp>
        <p:nvSpPr>
          <p:cNvPr id="55299" name="Rectangle 3"/>
          <p:cNvSpPr>
            <a:spLocks noGrp="1" noChangeArrowheads="1"/>
          </p:cNvSpPr>
          <p:nvPr>
            <p:ph idx="1"/>
          </p:nvPr>
        </p:nvSpPr>
        <p:spPr/>
        <p:txBody>
          <a:bodyPr/>
          <a:lstStyle/>
          <a:p>
            <a:r>
              <a:rPr lang="en-GB" dirty="0"/>
              <a:t>Lack of clarity </a:t>
            </a:r>
          </a:p>
          <a:p>
            <a:pPr lvl="1"/>
            <a:r>
              <a:rPr lang="en-GB" dirty="0"/>
              <a:t>Precision is difficult without making the document difficult to read.</a:t>
            </a:r>
          </a:p>
          <a:p>
            <a:r>
              <a:rPr lang="en-GB" dirty="0"/>
              <a:t>Requirements confusion</a:t>
            </a:r>
          </a:p>
          <a:p>
            <a:pPr lvl="1"/>
            <a:r>
              <a:rPr lang="en-GB" dirty="0"/>
              <a:t>Functional and non-functional requirements tend to be mixed-up.</a:t>
            </a:r>
          </a:p>
          <a:p>
            <a:r>
              <a:rPr lang="en-GB" dirty="0"/>
              <a:t>Requirements amalgamation</a:t>
            </a:r>
          </a:p>
          <a:p>
            <a:pPr lvl="1"/>
            <a:r>
              <a:rPr lang="en-GB" dirty="0"/>
              <a:t>Several different requirements may be expressed together.</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39</a:t>
            </a:fld>
            <a:endParaRPr lang="en-US"/>
          </a:p>
        </p:txBody>
      </p:sp>
    </p:spTree>
    <p:extLst>
      <p:ext uri="{BB962C8B-B14F-4D97-AF65-F5344CB8AC3E}">
        <p14:creationId xmlns:p14="http://schemas.microsoft.com/office/powerpoint/2010/main" val="1186723185"/>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specifications</a:t>
            </a:r>
          </a:p>
        </p:txBody>
      </p:sp>
      <p:sp>
        <p:nvSpPr>
          <p:cNvPr id="3" name="Content Placeholder 2"/>
          <p:cNvSpPr>
            <a:spLocks noGrp="1"/>
          </p:cNvSpPr>
          <p:nvPr>
            <p:ph idx="1"/>
          </p:nvPr>
        </p:nvSpPr>
        <p:spPr/>
        <p:txBody>
          <a:bodyPr/>
          <a:lstStyle/>
          <a:p>
            <a:r>
              <a:rPr lang="en-US" dirty="0"/>
              <a:t>An approach to writing requirements where the freedom of the requirements writer is limited and requirements are written in a standard way.</a:t>
            </a:r>
          </a:p>
          <a:p>
            <a:r>
              <a:rPr lang="en-US" dirty="0"/>
              <a:t>This works well for some types of requirements e.g. requirements for embedded control system but is sometimes too rigid for writing business system requirements.</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830475239"/>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0487" tIns="44450" rIns="90487" bIns="44450"/>
          <a:lstStyle/>
          <a:p>
            <a:r>
              <a:rPr lang="en-GB"/>
              <a:t>Form-based specifications</a:t>
            </a:r>
          </a:p>
        </p:txBody>
      </p:sp>
      <p:sp>
        <p:nvSpPr>
          <p:cNvPr id="67587" name="Rectangle 3"/>
          <p:cNvSpPr>
            <a:spLocks noGrp="1" noChangeArrowheads="1"/>
          </p:cNvSpPr>
          <p:nvPr>
            <p:ph idx="1"/>
          </p:nvPr>
        </p:nvSpPr>
        <p:spPr>
          <a:noFill/>
          <a:ln/>
        </p:spPr>
        <p:txBody>
          <a:bodyPr lIns="90487" tIns="44450" rIns="90487" bIns="44450"/>
          <a:lstStyle/>
          <a:p>
            <a:r>
              <a:rPr lang="en-GB" dirty="0"/>
              <a:t>Definition of the function or entity.</a:t>
            </a:r>
          </a:p>
          <a:p>
            <a:r>
              <a:rPr lang="en-GB" dirty="0"/>
              <a:t>Description of inputs and where they come from.</a:t>
            </a:r>
          </a:p>
          <a:p>
            <a:r>
              <a:rPr lang="en-GB" dirty="0"/>
              <a:t>Description of outputs and where they go to.</a:t>
            </a:r>
          </a:p>
          <a:p>
            <a:r>
              <a:rPr lang="en-GB" dirty="0"/>
              <a:t>Information about the information needed for the computation and other entities used.</a:t>
            </a:r>
          </a:p>
          <a:p>
            <a:r>
              <a:rPr lang="en-GB" dirty="0"/>
              <a:t>Description of the action to be taken.</a:t>
            </a:r>
          </a:p>
          <a:p>
            <a:r>
              <a:rPr lang="en-GB" dirty="0"/>
              <a:t>Pre and post conditions (if appropriate).</a:t>
            </a:r>
          </a:p>
          <a:p>
            <a:r>
              <a:rPr lang="en-GB" dirty="0"/>
              <a:t>The side effects (if any) of the function.</a:t>
            </a:r>
          </a:p>
        </p:txBody>
      </p:sp>
      <p:sp>
        <p:nvSpPr>
          <p:cNvPr id="2" name="Date Placeholder 1"/>
          <p:cNvSpPr>
            <a:spLocks noGrp="1"/>
          </p:cNvSpPr>
          <p:nvPr>
            <p:ph type="dt" sz="half" idx="10"/>
          </p:nvPr>
        </p:nvSpPr>
        <p:spPr/>
        <p:txBody>
          <a:bodyPr/>
          <a:lstStyle/>
          <a:p>
            <a:pPr>
              <a:defRPr/>
            </a:pPr>
            <a:r>
              <a:rPr lang="en-GB"/>
              <a:t>30/10/2014</a:t>
            </a:r>
            <a:endParaRPr lang="en-US"/>
          </a:p>
        </p:txBody>
      </p:sp>
      <p:sp>
        <p:nvSpPr>
          <p:cNvPr id="3" name="Footer Placeholder 2"/>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41</a:t>
            </a:fld>
            <a:endParaRPr lang="en-US"/>
          </a:p>
        </p:txBody>
      </p:sp>
    </p:spTree>
    <p:extLst>
      <p:ext uri="{BB962C8B-B14F-4D97-AF65-F5344CB8AC3E}">
        <p14:creationId xmlns:p14="http://schemas.microsoft.com/office/powerpoint/2010/main" val="242320685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a:t>Users of a requirements document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42</a:t>
            </a:fld>
            <a:endParaRPr lang="en-US"/>
          </a:p>
        </p:txBody>
      </p:sp>
      <p:pic>
        <p:nvPicPr>
          <p:cNvPr id="4" name="Picture 3" descr="4.6 ReqDocUsers.eps"/>
          <p:cNvPicPr>
            <a:picLocks noChangeAspect="1"/>
          </p:cNvPicPr>
          <p:nvPr/>
        </p:nvPicPr>
        <p:blipFill>
          <a:blip r:embed="rId2"/>
          <a:stretch>
            <a:fillRect/>
          </a:stretch>
        </p:blipFill>
        <p:spPr>
          <a:xfrm>
            <a:off x="2514600" y="1486176"/>
            <a:ext cx="3810000" cy="4870174"/>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74181069"/>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lIns="90487" tIns="44450" rIns="90487" bIns="44450"/>
          <a:lstStyle/>
          <a:p>
            <a:r>
              <a:rPr lang="en-GB"/>
              <a:t>Requirements validation</a:t>
            </a:r>
          </a:p>
        </p:txBody>
      </p:sp>
      <p:sp>
        <p:nvSpPr>
          <p:cNvPr id="57347" name="Rectangle 3"/>
          <p:cNvSpPr>
            <a:spLocks noGrp="1" noChangeArrowheads="1"/>
          </p:cNvSpPr>
          <p:nvPr>
            <p:ph idx="1"/>
          </p:nvPr>
        </p:nvSpPr>
        <p:spPr>
          <a:noFill/>
          <a:ln/>
        </p:spPr>
        <p:txBody>
          <a:bodyPr lIns="90487" tIns="44450" rIns="90487" bIns="44450"/>
          <a:lstStyle/>
          <a:p>
            <a:r>
              <a:rPr lang="en-GB" dirty="0"/>
              <a:t>Concerned with demonstrating that the requirements define the system that the customer really wants.</a:t>
            </a:r>
          </a:p>
          <a:p>
            <a:r>
              <a:rPr lang="en-GB" dirty="0"/>
              <a:t>Requirements error costs are high so validation is very important</a:t>
            </a:r>
          </a:p>
          <a:p>
            <a:pPr lvl="1"/>
            <a:r>
              <a:rPr lang="en-GB" dirty="0"/>
              <a:t>Fixing a requirements error after delivery may cost up to 100 times the cost of fixing an implementation error.</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lIns="90487" tIns="44450" rIns="90487" bIns="44450"/>
          <a:lstStyle/>
          <a:p>
            <a:r>
              <a:rPr lang="en-GB"/>
              <a:t>Requirements checking</a:t>
            </a:r>
          </a:p>
        </p:txBody>
      </p:sp>
      <p:sp>
        <p:nvSpPr>
          <p:cNvPr id="58371" name="Rectangle 3"/>
          <p:cNvSpPr>
            <a:spLocks noGrp="1" noChangeArrowheads="1"/>
          </p:cNvSpPr>
          <p:nvPr>
            <p:ph idx="1"/>
          </p:nvPr>
        </p:nvSpPr>
        <p:spPr>
          <a:noFill/>
          <a:ln/>
        </p:spPr>
        <p:txBody>
          <a:bodyPr lIns="90487" tIns="44450" rIns="90487" bIns="44450"/>
          <a:lstStyle/>
          <a:p>
            <a:r>
              <a:rPr lang="en-GB" sz="2400" dirty="0">
                <a:solidFill>
                  <a:srgbClr val="000000"/>
                </a:solidFill>
              </a:rPr>
              <a:t>Validity. Does the system provide the functions which best support the customer’s needs?</a:t>
            </a:r>
          </a:p>
          <a:p>
            <a:r>
              <a:rPr lang="en-GB" sz="2400" dirty="0">
                <a:solidFill>
                  <a:srgbClr val="000000"/>
                </a:solidFill>
              </a:rPr>
              <a:t>Consistency. Are there any requirements conflicts?</a:t>
            </a:r>
          </a:p>
          <a:p>
            <a:r>
              <a:rPr lang="en-GB" sz="2400" dirty="0">
                <a:solidFill>
                  <a:srgbClr val="000000"/>
                </a:solidFill>
              </a:rPr>
              <a:t>Completeness. Are all functions required by the customer included?</a:t>
            </a:r>
          </a:p>
          <a:p>
            <a:r>
              <a:rPr lang="en-GB" sz="2400" dirty="0">
                <a:solidFill>
                  <a:srgbClr val="000000"/>
                </a:solidFill>
              </a:rPr>
              <a:t>Realism. Can the requirements be implemented given available budget and technology</a:t>
            </a:r>
          </a:p>
          <a:p>
            <a:r>
              <a:rPr lang="en-GB" sz="2400" dirty="0">
                <a:solidFill>
                  <a:srgbClr val="000000"/>
                </a:solidFill>
              </a:rPr>
              <a:t>Verifiability. Can the requirements be checked?</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1000" y="266700"/>
            <a:ext cx="8305800" cy="1104900"/>
          </a:xfrm>
        </p:spPr>
        <p:txBody>
          <a:bodyPr/>
          <a:lstStyle/>
          <a:p>
            <a:r>
              <a:rPr lang="en-GB"/>
              <a:t>Requirements validation techniques</a:t>
            </a:r>
          </a:p>
        </p:txBody>
      </p:sp>
      <p:sp>
        <p:nvSpPr>
          <p:cNvPr id="77827" name="Rectangle 3"/>
          <p:cNvSpPr>
            <a:spLocks noGrp="1" noChangeArrowheads="1"/>
          </p:cNvSpPr>
          <p:nvPr>
            <p:ph idx="1"/>
          </p:nvPr>
        </p:nvSpPr>
        <p:spPr/>
        <p:txBody>
          <a:bodyPr/>
          <a:lstStyle/>
          <a:p>
            <a:pPr>
              <a:lnSpc>
                <a:spcPct val="90000"/>
              </a:lnSpc>
            </a:pPr>
            <a:r>
              <a:rPr lang="en-GB" dirty="0"/>
              <a:t>Requirements reviews</a:t>
            </a:r>
          </a:p>
          <a:p>
            <a:pPr lvl="1">
              <a:lnSpc>
                <a:spcPct val="90000"/>
              </a:lnSpc>
            </a:pPr>
            <a:r>
              <a:rPr lang="en-GB" dirty="0"/>
              <a:t>Systematic manual analysis of the requirements.</a:t>
            </a:r>
          </a:p>
          <a:p>
            <a:pPr>
              <a:lnSpc>
                <a:spcPct val="90000"/>
              </a:lnSpc>
            </a:pPr>
            <a:r>
              <a:rPr lang="en-GB" dirty="0"/>
              <a:t>Prototyping</a:t>
            </a:r>
          </a:p>
          <a:p>
            <a:pPr lvl="1">
              <a:lnSpc>
                <a:spcPct val="90000"/>
              </a:lnSpc>
            </a:pPr>
            <a:r>
              <a:rPr lang="en-GB" dirty="0"/>
              <a:t>Using an executable model of the system to check requirements.</a:t>
            </a:r>
          </a:p>
          <a:p>
            <a:pPr>
              <a:lnSpc>
                <a:spcPct val="90000"/>
              </a:lnSpc>
            </a:pPr>
            <a:r>
              <a:rPr lang="en-GB" dirty="0"/>
              <a:t>Test-case generation</a:t>
            </a:r>
          </a:p>
          <a:p>
            <a:pPr lvl="1">
              <a:lnSpc>
                <a:spcPct val="90000"/>
              </a:lnSpc>
            </a:pPr>
            <a:r>
              <a:rPr lang="en-GB" dirty="0"/>
              <a:t>Developing tests for requirements to check testability.</a:t>
            </a:r>
          </a:p>
          <a:p>
            <a:pPr>
              <a:lnSpc>
                <a:spcPct val="90000"/>
              </a:lnSpc>
              <a:buFont typeface="Zapf Dingbats" charset="2"/>
              <a:buNone/>
            </a:pPr>
            <a:endParaRPr lang="en-GB"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45</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487" tIns="44450" rIns="90487" bIns="44450"/>
          <a:lstStyle/>
          <a:p>
            <a:r>
              <a:rPr lang="en-GB"/>
              <a:t>Requirements reviews</a:t>
            </a:r>
          </a:p>
        </p:txBody>
      </p:sp>
      <p:sp>
        <p:nvSpPr>
          <p:cNvPr id="59395" name="Rectangle 3"/>
          <p:cNvSpPr>
            <a:spLocks noGrp="1" noChangeArrowheads="1"/>
          </p:cNvSpPr>
          <p:nvPr>
            <p:ph idx="1"/>
          </p:nvPr>
        </p:nvSpPr>
        <p:spPr>
          <a:noFill/>
          <a:ln/>
        </p:spPr>
        <p:txBody>
          <a:bodyPr lIns="90487" tIns="44450" rIns="90487" bIns="44450"/>
          <a:lstStyle/>
          <a:p>
            <a:r>
              <a:rPr lang="en-GB"/>
              <a:t>Regular reviews should be held while the requirements definition is being formulated.</a:t>
            </a:r>
          </a:p>
          <a:p>
            <a:r>
              <a:rPr lang="en-GB"/>
              <a:t>Both client and contractor staff should be involved in reviews.</a:t>
            </a:r>
          </a:p>
          <a:p>
            <a:r>
              <a:rPr lang="en-GB"/>
              <a:t>Reviews may be formal (with completed documents) or informal. Good communications between developers, customers and users can resolve problems at an early stage.</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46</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lIns="90487" tIns="44450" rIns="90487" bIns="44450"/>
          <a:lstStyle/>
          <a:p>
            <a:r>
              <a:rPr lang="en-GB"/>
              <a:t>Review checks</a:t>
            </a:r>
          </a:p>
        </p:txBody>
      </p:sp>
      <p:sp>
        <p:nvSpPr>
          <p:cNvPr id="60419" name="Rectangle 3"/>
          <p:cNvSpPr>
            <a:spLocks noGrp="1" noChangeArrowheads="1"/>
          </p:cNvSpPr>
          <p:nvPr>
            <p:ph idx="1"/>
          </p:nvPr>
        </p:nvSpPr>
        <p:spPr>
          <a:noFill/>
          <a:ln/>
        </p:spPr>
        <p:txBody>
          <a:bodyPr lIns="90487" tIns="44450" rIns="90487" bIns="44450"/>
          <a:lstStyle/>
          <a:p>
            <a:pPr>
              <a:lnSpc>
                <a:spcPct val="90000"/>
              </a:lnSpc>
            </a:pPr>
            <a:r>
              <a:rPr lang="en-GB" dirty="0">
                <a:solidFill>
                  <a:srgbClr val="FF0000"/>
                </a:solidFill>
              </a:rPr>
              <a:t>Verifiability</a:t>
            </a:r>
            <a:endParaRPr lang="en-GB" dirty="0"/>
          </a:p>
          <a:p>
            <a:pPr lvl="1">
              <a:lnSpc>
                <a:spcPct val="90000"/>
              </a:lnSpc>
            </a:pPr>
            <a:r>
              <a:rPr lang="en-GB" dirty="0"/>
              <a:t>Is the requirement realistically testable?</a:t>
            </a:r>
          </a:p>
          <a:p>
            <a:pPr>
              <a:lnSpc>
                <a:spcPct val="90000"/>
              </a:lnSpc>
            </a:pPr>
            <a:r>
              <a:rPr lang="en-GB" dirty="0">
                <a:solidFill>
                  <a:srgbClr val="FF0000"/>
                </a:solidFill>
              </a:rPr>
              <a:t>Comprehensibility</a:t>
            </a:r>
            <a:endParaRPr lang="en-GB" dirty="0"/>
          </a:p>
          <a:p>
            <a:pPr lvl="1">
              <a:lnSpc>
                <a:spcPct val="90000"/>
              </a:lnSpc>
            </a:pPr>
            <a:r>
              <a:rPr lang="en-GB" dirty="0"/>
              <a:t>Is the requirement properly understood?</a:t>
            </a:r>
          </a:p>
          <a:p>
            <a:pPr>
              <a:lnSpc>
                <a:spcPct val="90000"/>
              </a:lnSpc>
            </a:pPr>
            <a:r>
              <a:rPr lang="en-GB" dirty="0">
                <a:solidFill>
                  <a:srgbClr val="FF0000"/>
                </a:solidFill>
              </a:rPr>
              <a:t>Traceability</a:t>
            </a:r>
            <a:endParaRPr lang="en-GB" dirty="0"/>
          </a:p>
          <a:p>
            <a:pPr lvl="1">
              <a:lnSpc>
                <a:spcPct val="90000"/>
              </a:lnSpc>
            </a:pPr>
            <a:r>
              <a:rPr lang="en-GB" dirty="0"/>
              <a:t>Is the origin of the requirement clearly stated?</a:t>
            </a:r>
          </a:p>
          <a:p>
            <a:pPr>
              <a:lnSpc>
                <a:spcPct val="90000"/>
              </a:lnSpc>
            </a:pPr>
            <a:r>
              <a:rPr lang="en-GB" dirty="0">
                <a:solidFill>
                  <a:srgbClr val="FF0000"/>
                </a:solidFill>
              </a:rPr>
              <a:t>Adaptability</a:t>
            </a:r>
            <a:endParaRPr lang="en-GB" dirty="0"/>
          </a:p>
          <a:p>
            <a:pPr lvl="1">
              <a:lnSpc>
                <a:spcPct val="90000"/>
              </a:lnSpc>
            </a:pPr>
            <a:r>
              <a:rPr lang="en-GB" dirty="0"/>
              <a:t>Can the requirement be changed without a large impact on other requirements?</a:t>
            </a:r>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p:txBody>
          <a:bodyPr/>
          <a:lstStyle/>
          <a:p>
            <a:r>
              <a:rPr lang="en-US" dirty="0"/>
              <a:t>The business and technical environment of the system always changes after installation. </a:t>
            </a:r>
          </a:p>
          <a:p>
            <a:pPr lvl="1"/>
            <a:r>
              <a:rPr lang="en-US" dirty="0"/>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lang="en-GB" dirty="0"/>
          </a:p>
          <a:p>
            <a:r>
              <a:rPr lang="en-US" dirty="0"/>
              <a:t>The people who pay for a system and the users of that system are rarely the same people. </a:t>
            </a:r>
          </a:p>
          <a:p>
            <a:pPr lvl="1"/>
            <a:r>
              <a:rPr lang="en-US" dirty="0"/>
              <a:t>System customers impose requirements because of organizational and budgetary constraints. These may conflict with end-user requirements and, after delivery, new features may have to be added for user support if the system is to meet its goals.</a:t>
            </a:r>
            <a:endParaRPr lang="en-GB" dirty="0"/>
          </a:p>
          <a:p>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p:txBody>
          <a:bodyPr/>
          <a:lstStyle/>
          <a:p>
            <a:r>
              <a:rPr lang="en-US" dirty="0"/>
              <a:t>Large systems usually have a diverse user community, with many users having different requirements and priorities that may be conflicting or contradictory. </a:t>
            </a:r>
          </a:p>
          <a:p>
            <a:pPr lvl="1"/>
            <a:r>
              <a:rPr lang="en-US" dirty="0"/>
              <a:t>The final system requirements are inevitably a compromise between them and, with experience, it is often discovered that the balance of support given to different users has to be changed.</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a:t>Requirements evolution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50</a:t>
            </a:fld>
            <a:endParaRPr lang="en-US"/>
          </a:p>
        </p:txBody>
      </p:sp>
      <p:pic>
        <p:nvPicPr>
          <p:cNvPr id="4" name="Picture 3" descr="4.17 ReqEvolution.eps"/>
          <p:cNvPicPr>
            <a:picLocks noChangeAspect="1"/>
          </p:cNvPicPr>
          <p:nvPr/>
        </p:nvPicPr>
        <p:blipFill>
          <a:blip r:embed="rId2"/>
          <a:stretch>
            <a:fillRect/>
          </a:stretch>
        </p:blipFill>
        <p:spPr>
          <a:xfrm>
            <a:off x="2133600" y="2514600"/>
            <a:ext cx="5005917" cy="25146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sp>
        <p:nvSpPr>
          <p:cNvPr id="55299" name="Rectangle 3"/>
          <p:cNvSpPr>
            <a:spLocks noGrp="1" noChangeArrowheads="1"/>
          </p:cNvSpPr>
          <p:nvPr>
            <p:ph idx="1"/>
          </p:nvPr>
        </p:nvSpPr>
        <p:spPr/>
        <p:txBody>
          <a:bodyPr/>
          <a:lstStyle/>
          <a:p>
            <a:r>
              <a:rPr lang="en-GB" sz="2400" dirty="0"/>
              <a:t>Requirements management is the process of managing changing requirements during the requirements engineering process and system development.</a:t>
            </a:r>
          </a:p>
          <a:p>
            <a:r>
              <a:rPr lang="en-GB" dirty="0"/>
              <a:t>New requirements emerge as a system is being developed and after it has gone into use.</a:t>
            </a:r>
          </a:p>
          <a:p>
            <a:r>
              <a:rPr lang="en-US" dirty="0"/>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a:t> </a:t>
            </a:r>
            <a:endParaRPr lang="en-GB" sz="2400" dirty="0"/>
          </a:p>
        </p:txBody>
      </p:sp>
      <p:sp>
        <p:nvSpPr>
          <p:cNvPr id="5" name="Footer Placeholder 4"/>
          <p:cNvSpPr>
            <a:spLocks noGrp="1"/>
          </p:cNvSpPr>
          <p:nvPr>
            <p:ph type="ftr" sz="quarter" idx="11"/>
          </p:nvPr>
        </p:nvSpPr>
        <p:spPr/>
        <p:txBody>
          <a:bodyPr/>
          <a:lstStyle/>
          <a:p>
            <a:pPr>
              <a:defRPr/>
            </a:pPr>
            <a:r>
              <a:rPr lang="en-US"/>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152130912"/>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management planning</a:t>
            </a:r>
          </a:p>
        </p:txBody>
      </p:sp>
      <p:sp>
        <p:nvSpPr>
          <p:cNvPr id="3" name="Content Placeholder 2"/>
          <p:cNvSpPr>
            <a:spLocks noGrp="1"/>
          </p:cNvSpPr>
          <p:nvPr>
            <p:ph idx="1"/>
          </p:nvPr>
        </p:nvSpPr>
        <p:spPr>
          <a:xfrm>
            <a:off x="179512" y="1524000"/>
            <a:ext cx="8812088" cy="4525963"/>
          </a:xfrm>
        </p:spPr>
        <p:txBody>
          <a:bodyPr/>
          <a:lstStyle/>
          <a:p>
            <a:r>
              <a:rPr lang="en-US" dirty="0"/>
              <a:t>Establishes the level of requirements management detail that is required.</a:t>
            </a:r>
          </a:p>
          <a:p>
            <a:r>
              <a:rPr lang="en-US" dirty="0"/>
              <a:t>Requirements management decisions:</a:t>
            </a:r>
          </a:p>
          <a:p>
            <a:pPr lvl="1"/>
            <a:r>
              <a:rPr lang="en-US" i="1" dirty="0">
                <a:solidFill>
                  <a:schemeClr val="tx1"/>
                </a:solidFill>
              </a:rPr>
              <a:t>Requirements identificati</a:t>
            </a:r>
            <a:r>
              <a:rPr lang="en-US" i="1" dirty="0">
                <a:solidFill>
                  <a:srgbClr val="000000"/>
                </a:solidFill>
              </a:rPr>
              <a:t>on</a:t>
            </a:r>
            <a:r>
              <a:rPr lang="en-US" dirty="0">
                <a:solidFill>
                  <a:srgbClr val="FF0000"/>
                </a:solidFill>
              </a:rPr>
              <a:t> </a:t>
            </a:r>
            <a:r>
              <a:rPr lang="en-US" dirty="0"/>
              <a:t>Each requirement must be uniquely identified so that it can be cross-referenced with other requirements. </a:t>
            </a:r>
            <a:endParaRPr lang="en-GB" dirty="0"/>
          </a:p>
          <a:p>
            <a:pPr lvl="1"/>
            <a:r>
              <a:rPr lang="en-US" i="1" dirty="0">
                <a:solidFill>
                  <a:srgbClr val="000000"/>
                </a:solidFill>
              </a:rPr>
              <a:t>A change management process</a:t>
            </a:r>
            <a:r>
              <a:rPr lang="en-US" dirty="0">
                <a:solidFill>
                  <a:srgbClr val="000000"/>
                </a:solidFill>
              </a:rPr>
              <a:t> </a:t>
            </a:r>
            <a:r>
              <a:rPr lang="en-US" dirty="0"/>
              <a:t>This is the set of activities that assess the impact and cost of changes. I discuss this process in more detail in the following section.</a:t>
            </a:r>
            <a:endParaRPr lang="en-GB" dirty="0"/>
          </a:p>
          <a:p>
            <a:pPr lvl="1"/>
            <a:r>
              <a:rPr lang="en-US" i="1" dirty="0">
                <a:solidFill>
                  <a:srgbClr val="000000"/>
                </a:solidFill>
              </a:rPr>
              <a:t>Traceability policies</a:t>
            </a:r>
            <a:r>
              <a:rPr lang="en-US" dirty="0">
                <a:solidFill>
                  <a:srgbClr val="000000"/>
                </a:solidFill>
              </a:rPr>
              <a:t> </a:t>
            </a:r>
            <a:r>
              <a:rPr lang="en-US" dirty="0"/>
              <a:t>These policies define the relationships between each requirement and between the requirements and the system design that should be recorded. </a:t>
            </a:r>
            <a:endParaRPr lang="en-GB" dirty="0"/>
          </a:p>
          <a:p>
            <a:pPr lvl="1"/>
            <a:r>
              <a:rPr lang="en-US" i="1" dirty="0">
                <a:solidFill>
                  <a:srgbClr val="000000"/>
                </a:solidFill>
              </a:rPr>
              <a:t>Tool support</a:t>
            </a:r>
            <a:r>
              <a:rPr lang="en-US" dirty="0">
                <a:solidFill>
                  <a:srgbClr val="000000"/>
                </a:solidFill>
              </a:rPr>
              <a:t> </a:t>
            </a:r>
            <a:r>
              <a:rPr lang="en-US" dirty="0"/>
              <a:t>Tools that may be used range from specialist requirements management systems to spreadsheets and simple database systems.</a:t>
            </a:r>
            <a:endParaRPr lang="en-GB" dirty="0"/>
          </a:p>
          <a:p>
            <a:endParaRPr lang="en-US" dirty="0"/>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52</a:t>
            </a:fld>
            <a:endParaRPr lang="en-US" dirty="0"/>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change management</a:t>
            </a:r>
          </a:p>
        </p:txBody>
      </p:sp>
      <p:sp>
        <p:nvSpPr>
          <p:cNvPr id="3" name="Content Placeholder 2"/>
          <p:cNvSpPr>
            <a:spLocks noGrp="1"/>
          </p:cNvSpPr>
          <p:nvPr>
            <p:ph idx="1"/>
          </p:nvPr>
        </p:nvSpPr>
        <p:spPr>
          <a:xfrm>
            <a:off x="457200" y="1600200"/>
            <a:ext cx="8229600" cy="5121275"/>
          </a:xfrm>
        </p:spPr>
        <p:txBody>
          <a:bodyPr/>
          <a:lstStyle/>
          <a:p>
            <a:r>
              <a:rPr lang="en-US" dirty="0">
                <a:solidFill>
                  <a:srgbClr val="000000"/>
                </a:solidFill>
              </a:rPr>
              <a:t>Deciding if a requirements change should be accepted</a:t>
            </a:r>
          </a:p>
          <a:p>
            <a:pPr lvl="1"/>
            <a:r>
              <a:rPr lang="en-US" i="1" dirty="0">
                <a:solidFill>
                  <a:srgbClr val="000000"/>
                </a:solidFill>
              </a:rPr>
              <a:t>Problem analysis and change specification</a:t>
            </a:r>
            <a:r>
              <a:rPr lang="en-US" dirty="0">
                <a:solidFill>
                  <a:srgbClr val="000000"/>
                </a:solidFill>
              </a:rPr>
              <a:t> </a:t>
            </a:r>
          </a:p>
          <a:p>
            <a:pPr lvl="2"/>
            <a:r>
              <a:rPr lang="en-US" dirty="0">
                <a:solidFill>
                  <a:srgbClr val="000000"/>
                </a:solidFill>
              </a:rPr>
              <a:t>During this stage, the problem or the change proposal is analyzed to check that it is valid. This analysis is fed back to the change requestor who may respond with a more specific requirements change proposal or decide to withdraw the request.</a:t>
            </a:r>
            <a:endParaRPr lang="en-GB" dirty="0">
              <a:solidFill>
                <a:srgbClr val="000000"/>
              </a:solidFill>
            </a:endParaRPr>
          </a:p>
          <a:p>
            <a:pPr lvl="1"/>
            <a:r>
              <a:rPr lang="en-US" i="1" dirty="0">
                <a:solidFill>
                  <a:srgbClr val="000000"/>
                </a:solidFill>
              </a:rPr>
              <a:t>Change analysis and costing</a:t>
            </a:r>
            <a:r>
              <a:rPr lang="en-US" dirty="0">
                <a:solidFill>
                  <a:srgbClr val="000000"/>
                </a:solidFill>
              </a:rPr>
              <a:t> </a:t>
            </a:r>
          </a:p>
          <a:p>
            <a:pPr lvl="2"/>
            <a:r>
              <a:rPr lang="en-US" dirty="0">
                <a:solidFill>
                  <a:srgbClr val="000000"/>
                </a:solidFill>
              </a:rPr>
              <a:t>The effect of the proposed change is assessed using traceability information and general knowledge of the system requirements. Once this analysis is completed, a decision is made whether or not to proceed with the requirements change.</a:t>
            </a:r>
            <a:endParaRPr lang="en-GB" dirty="0">
              <a:solidFill>
                <a:srgbClr val="000000"/>
              </a:solidFill>
            </a:endParaRPr>
          </a:p>
          <a:p>
            <a:pPr lvl="1"/>
            <a:r>
              <a:rPr lang="en-US" dirty="0">
                <a:solidFill>
                  <a:srgbClr val="000000"/>
                </a:solidFill>
              </a:rPr>
              <a:t>Change implementation </a:t>
            </a:r>
          </a:p>
          <a:p>
            <a:pPr lvl="2"/>
            <a:r>
              <a:rPr lang="en-US" dirty="0">
                <a:solidFill>
                  <a:srgbClr val="000000"/>
                </a:solidFill>
              </a:rPr>
              <a:t>The requirements document and, where necessary, the system design and implementation, are modified. Ideally, the document should be organized so that changes can be easily implemented.</a:t>
            </a:r>
          </a:p>
        </p:txBody>
      </p:sp>
      <p:sp>
        <p:nvSpPr>
          <p:cNvPr id="4" name="Footer Placeholder 3"/>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a:t>Requirements change management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54</a:t>
            </a:fld>
            <a:endParaRPr lang="en-US"/>
          </a:p>
        </p:txBody>
      </p:sp>
      <p:pic>
        <p:nvPicPr>
          <p:cNvPr id="4" name="Picture 3" descr="4.18 ReqChangeMan.eps"/>
          <p:cNvPicPr>
            <a:picLocks noChangeAspect="1"/>
          </p:cNvPicPr>
          <p:nvPr/>
        </p:nvPicPr>
        <p:blipFill>
          <a:blip r:embed="rId2"/>
          <a:stretch>
            <a:fillRect/>
          </a:stretch>
        </p:blipFill>
        <p:spPr>
          <a:xfrm>
            <a:off x="228600" y="3136900"/>
            <a:ext cx="8661952" cy="10541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51578</TotalTime>
  <Words>3407</Words>
  <Application>Microsoft Macintosh PowerPoint</Application>
  <PresentationFormat>On-screen Show (4:3)</PresentationFormat>
  <Paragraphs>456</Paragraphs>
  <Slides>54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Wingdings</vt:lpstr>
      <vt:lpstr>Zapf Dingbats</vt:lpstr>
      <vt:lpstr>SE10 slides</vt:lpstr>
      <vt:lpstr>Chapter 4 – Requirements Engineering</vt:lpstr>
      <vt:lpstr>Topics covered</vt:lpstr>
      <vt:lpstr>Requirements engineering</vt:lpstr>
      <vt:lpstr>Types of requirement</vt:lpstr>
      <vt:lpstr>User and system requirements </vt:lpstr>
      <vt:lpstr>Readers of different types of requirements specification </vt:lpstr>
      <vt:lpstr>System stakeholders</vt:lpstr>
      <vt:lpstr>Stakeholders in the Mentcare system</vt:lpstr>
      <vt:lpstr>Stakeholders in the Mentcare system</vt:lpstr>
      <vt:lpstr>Functional and non-functional requirements</vt:lpstr>
      <vt:lpstr>Functional and non-functional requirements</vt:lpstr>
      <vt:lpstr>Functional requirements</vt:lpstr>
      <vt:lpstr>Mentcare system: functional requirements</vt:lpstr>
      <vt:lpstr>Requirements imprecision</vt:lpstr>
      <vt:lpstr>Requirements completeness and consistency</vt:lpstr>
      <vt:lpstr>Non-functional requirements</vt:lpstr>
      <vt:lpstr>Types of nonfunctional requirement </vt:lpstr>
      <vt:lpstr>Non-functional requirements implementation</vt:lpstr>
      <vt:lpstr>Non-functional classifications</vt:lpstr>
      <vt:lpstr>Examples of nonfunctional requirements in the Mentcare system</vt:lpstr>
      <vt:lpstr>Usability requirements</vt:lpstr>
      <vt:lpstr>Metrics for specifying nonfunctional requirements</vt:lpstr>
      <vt:lpstr>Requirements engineering processes</vt:lpstr>
      <vt:lpstr>Requirements elicitation and analysis</vt:lpstr>
      <vt:lpstr>Requirements elicitation</vt:lpstr>
      <vt:lpstr>Problems of requirements elicitation</vt:lpstr>
      <vt:lpstr>The requirements elicitation and analysis process </vt:lpstr>
      <vt:lpstr>Process activities</vt:lpstr>
      <vt:lpstr>Requirements discovery</vt:lpstr>
      <vt:lpstr>Interviewing</vt:lpstr>
      <vt:lpstr>Interviews in practice</vt:lpstr>
      <vt:lpstr>Problems with interviews</vt:lpstr>
      <vt:lpstr>Stories and scenarios</vt:lpstr>
      <vt:lpstr>Requirements specification</vt:lpstr>
      <vt:lpstr>Ways of writing a system requirements specification </vt:lpstr>
      <vt:lpstr>Requirements and design</vt:lpstr>
      <vt:lpstr>Natural language specification</vt:lpstr>
      <vt:lpstr>Guidelines for writing requirements</vt:lpstr>
      <vt:lpstr>Problems with natural language</vt:lpstr>
      <vt:lpstr>Structured specifications</vt:lpstr>
      <vt:lpstr>Form-based specifications</vt:lpstr>
      <vt:lpstr>Users of a requirements document </vt:lpstr>
      <vt:lpstr>Requirements validation</vt:lpstr>
      <vt:lpstr>Requirements checking</vt:lpstr>
      <vt:lpstr>Requirements validation techniques</vt:lpstr>
      <vt:lpstr>Requirements reviews</vt:lpstr>
      <vt:lpstr>Review checks</vt:lpstr>
      <vt:lpstr>Changing requirements</vt:lpstr>
      <vt:lpstr>Changing requirements</vt:lpstr>
      <vt:lpstr>Requirements evolution </vt:lpstr>
      <vt:lpstr>Requirements management</vt:lpstr>
      <vt:lpstr>Requirements management planning</vt:lpstr>
      <vt:lpstr>Requirements change management</vt:lpstr>
      <vt:lpstr>Requirements change management </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MONA GHOTAISH RADAH ALKHOZAE</cp:lastModifiedBy>
  <cp:revision>51</cp:revision>
  <cp:lastPrinted>2010-01-11T10:54:43Z</cp:lastPrinted>
  <dcterms:created xsi:type="dcterms:W3CDTF">2010-01-08T19:43:52Z</dcterms:created>
  <dcterms:modified xsi:type="dcterms:W3CDTF">2025-09-06T09:17:13Z</dcterms:modified>
</cp:coreProperties>
</file>